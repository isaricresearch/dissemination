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9" r:id="rId2"/>
  </p:sldMasterIdLst>
  <p:notesMasterIdLst>
    <p:notesMasterId r:id="rId36"/>
  </p:notesMasterIdLst>
  <p:sldIdLst>
    <p:sldId id="256" r:id="rId3"/>
    <p:sldId id="257" r:id="rId4"/>
    <p:sldId id="258" r:id="rId5"/>
    <p:sldId id="259" r:id="rId6"/>
    <p:sldId id="260" r:id="rId7"/>
    <p:sldId id="261" r:id="rId8"/>
    <p:sldId id="262" r:id="rId9"/>
    <p:sldId id="288" r:id="rId10"/>
    <p:sldId id="289"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12192000" cy="6858000"/>
  <p:notesSz cx="6858000" cy="9144000"/>
  <p:embeddedFontLst>
    <p:embeddedFont>
      <p:font typeface="Calibri" panose="020F0502020204030204" pitchFamily="34" charset="0"/>
      <p:regular r:id="rId37"/>
      <p:bold r:id="rId38"/>
      <p:italic r:id="rId39"/>
      <p:boldItalic r:id="rId40"/>
    </p:embeddedFont>
    <p:embeddedFont>
      <p:font typeface="Calibri Light" panose="020F0302020204030204" pitchFamily="34" charset="0"/>
      <p:regular r:id="rId41"/>
      <p:italic r:id="rId42"/>
    </p:embeddedFont>
    <p:embeddedFont>
      <p:font typeface="Noto Sans" panose="020B0502040504020204" pitchFamily="34" charset="0"/>
      <p:regular r:id="rId43"/>
      <p:bold r:id="rId44"/>
      <p:italic r:id="rId45"/>
      <p:boldItalic r:id="rId46"/>
    </p:embeddedFont>
    <p:embeddedFont>
      <p:font typeface="Noto Sans SemiBold" panose="020B0604020202020204" charset="0"/>
      <p:regular r:id="rId47"/>
      <p:bold r:id="rId48"/>
      <p:italic r:id="rId49"/>
      <p:boldItalic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221"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3.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8.fntdata"/><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7.fntdata"/><Relationship Id="rId48" Type="http://schemas.openxmlformats.org/officeDocument/2006/relationships/font" Target="fonts/font12.fntdata"/><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8.xml"/><Relationship Id="rId41" Type="http://schemas.openxmlformats.org/officeDocument/2006/relationships/font" Target="fonts/font5.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49" Type="http://schemas.openxmlformats.org/officeDocument/2006/relationships/font" Target="fonts/font1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eban Garcia" userId="6ed11bed-e8f2-467c-a1c5-7a34c4f9f419" providerId="ADAL" clId="{E493B328-EA12-4787-998C-9ABA0BF64CE7}"/>
    <pc:docChg chg="custSel addSld delSld modSld">
      <pc:chgData name="Esteban Garcia" userId="6ed11bed-e8f2-467c-a1c5-7a34c4f9f419" providerId="ADAL" clId="{E493B328-EA12-4787-998C-9ABA0BF64CE7}" dt="2026-10-04T02:39:33.722" v="74" actId="20577"/>
      <pc:docMkLst>
        <pc:docMk/>
      </pc:docMkLst>
      <pc:sldChg chg="modSp mod">
        <pc:chgData name="Esteban Garcia" userId="6ed11bed-e8f2-467c-a1c5-7a34c4f9f419" providerId="ADAL" clId="{E493B328-EA12-4787-998C-9ABA0BF64CE7}" dt="2026-10-04T02:39:33.722" v="74" actId="20577"/>
        <pc:sldMkLst>
          <pc:docMk/>
          <pc:sldMk cId="1586529670" sldId="256"/>
        </pc:sldMkLst>
        <pc:spChg chg="mod">
          <ac:chgData name="Esteban Garcia" userId="6ed11bed-e8f2-467c-a1c5-7a34c4f9f419" providerId="ADAL" clId="{E493B328-EA12-4787-998C-9ABA0BF64CE7}" dt="2026-10-04T02:39:33.722" v="74" actId="20577"/>
          <ac:spMkLst>
            <pc:docMk/>
            <pc:sldMk cId="1586529670" sldId="256"/>
            <ac:spMk id="2" creationId="{5CB0B2F6-21DA-459E-A645-BC5A7195F629}"/>
          </ac:spMkLst>
        </pc:spChg>
      </pc:sldChg>
      <pc:sldChg chg="del">
        <pc:chgData name="Esteban Garcia" userId="6ed11bed-e8f2-467c-a1c5-7a34c4f9f419" providerId="ADAL" clId="{E493B328-EA12-4787-998C-9ABA0BF64CE7}" dt="2026-10-04T02:38:01.368" v="65" actId="47"/>
        <pc:sldMkLst>
          <pc:docMk/>
          <pc:sldMk cId="2599726774" sldId="263"/>
        </pc:sldMkLst>
      </pc:sldChg>
      <pc:sldChg chg="addSp delSp modSp add mod">
        <pc:chgData name="Esteban Garcia" userId="6ed11bed-e8f2-467c-a1c5-7a34c4f9f419" providerId="ADAL" clId="{E493B328-EA12-4787-998C-9ABA0BF64CE7}" dt="2026-10-04T02:38:43.112" v="73" actId="313"/>
        <pc:sldMkLst>
          <pc:docMk/>
          <pc:sldMk cId="3807518878" sldId="288"/>
        </pc:sldMkLst>
        <pc:spChg chg="mod">
          <ac:chgData name="Esteban Garcia" userId="6ed11bed-e8f2-467c-a1c5-7a34c4f9f419" providerId="ADAL" clId="{E493B328-EA12-4787-998C-9ABA0BF64CE7}" dt="2026-10-04T02:38:43.112" v="73" actId="313"/>
          <ac:spMkLst>
            <pc:docMk/>
            <pc:sldMk cId="3807518878" sldId="288"/>
            <ac:spMk id="2" creationId="{1FCFFD5B-A529-48D2-9776-0D65789763D0}"/>
          </ac:spMkLst>
        </pc:spChg>
        <pc:picChg chg="del">
          <ac:chgData name="Esteban Garcia" userId="6ed11bed-e8f2-467c-a1c5-7a34c4f9f419" providerId="ADAL" clId="{E493B328-EA12-4787-998C-9ABA0BF64CE7}" dt="2026-10-04T02:38:13.335" v="69" actId="478"/>
          <ac:picMkLst>
            <pc:docMk/>
            <pc:sldMk cId="3807518878" sldId="288"/>
            <ac:picMk id="6" creationId="{00000000-0000-0000-0000-000000000000}"/>
          </ac:picMkLst>
        </pc:picChg>
        <pc:picChg chg="add del mod">
          <ac:chgData name="Esteban Garcia" userId="6ed11bed-e8f2-467c-a1c5-7a34c4f9f419" providerId="ADAL" clId="{E493B328-EA12-4787-998C-9ABA0BF64CE7}" dt="2026-10-04T02:38:09.360" v="67"/>
          <ac:picMkLst>
            <pc:docMk/>
            <pc:sldMk cId="3807518878" sldId="288"/>
            <ac:picMk id="7" creationId="{D86C1595-A174-4625-8BDF-A6E314867F5D}"/>
          </ac:picMkLst>
        </pc:picChg>
      </pc:sldChg>
      <pc:sldChg chg="modSp add mod">
        <pc:chgData name="Esteban Garcia" userId="6ed11bed-e8f2-467c-a1c5-7a34c4f9f419" providerId="ADAL" clId="{E493B328-EA12-4787-998C-9ABA0BF64CE7}" dt="2026-10-04T02:38:39.660" v="72"/>
        <pc:sldMkLst>
          <pc:docMk/>
          <pc:sldMk cId="4093352556" sldId="289"/>
        </pc:sldMkLst>
        <pc:spChg chg="mod">
          <ac:chgData name="Esteban Garcia" userId="6ed11bed-e8f2-467c-a1c5-7a34c4f9f419" providerId="ADAL" clId="{E493B328-EA12-4787-998C-9ABA0BF64CE7}" dt="2026-10-04T02:38:39.660" v="72"/>
          <ac:spMkLst>
            <pc:docMk/>
            <pc:sldMk cId="4093352556" sldId="289"/>
            <ac:spMk id="2" creationId="{1FCFFD5B-A529-48D2-9776-0D65789763D0}"/>
          </ac:spMkLst>
        </pc:spChg>
        <pc:picChg chg="mod modCrop">
          <ac:chgData name="Esteban Garcia" userId="6ed11bed-e8f2-467c-a1c5-7a34c4f9f419" providerId="ADAL" clId="{E493B328-EA12-4787-998C-9ABA0BF64CE7}" dt="2026-10-04T02:38:26.453" v="71" actId="732"/>
          <ac:picMkLst>
            <pc:docMk/>
            <pc:sldMk cId="4093352556" sldId="289"/>
            <ac:picMk id="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Session 1. General principles and shared language. Duration: 45 minutes. Suggested timing: slides 1–7 foundations 10 minutes, slides 8–24 taxonomy and its applications 20 minutes, slides 25–27 privacy and consequences 6 minutes, slides 28–31 techniques, research issues and closing discussion 9 minutes. Reference slide 32 remains available. Taxonomy transition slides take around 15 seconds each. Use discussion prompts selectively. Session 2 introduces the clinical characterisation scenario.</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Z., Ji, H., Zhu, Y., Wang, D. and Han, Z. A Survey on Federated Analytics: Taxonomy, Enabling Techniques, Applications and Open Issues. IEEE Communications Surveys &amp; Tutorials 28 (2026), 2457–2496. Online 10 April 2025. DOI: 10.1109/COMST.2025.3558755.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The survey motivates federation through growing edge data, communication demands and concerns about disclosure. Benefits depend on the task: compact summaries can reduce transfer, but repeated rounds and cryptography can increase workload. Avoid assuming that federation is always cheaper or that every output is safe.</a:t>
            </a:r>
          </a:p>
          <a:p>
            <a:pPr marL="0" lvl="0" indent="0" algn="l">
              <a:spcBef>
                <a:spcPts val="0"/>
              </a:spcBef>
              <a:spcAft>
                <a:spcPts val="0"/>
              </a:spcAft>
              <a:buNone/>
            </a:pPr>
            <a:endParaRPr/>
          </a:p>
          <a:p>
            <a:pPr marL="0" lvl="0" indent="0" algn="l">
              <a:spcBef>
                <a:spcPts val="0"/>
              </a:spcBef>
              <a:spcAft>
                <a:spcPts val="0"/>
              </a:spcAft>
              <a:buNone/>
            </a:pPr>
            <a:r>
              <a:t>Discussion prompt (choose according to time):</a:t>
            </a:r>
          </a:p>
          <a:p>
            <a:pPr marL="0" lvl="0" indent="0" algn="l">
              <a:spcBef>
                <a:spcPts val="0"/>
              </a:spcBef>
              <a:spcAft>
                <a:spcPts val="0"/>
              </a:spcAft>
              <a:buNone/>
            </a:pPr>
            <a:r>
              <a:t>When might moving a computation be easier than moving the underlying data?</a:t>
            </a:r>
          </a:p>
          <a:p>
            <a:pPr marL="0" lvl="0" indent="0" algn="l">
              <a:spcBef>
                <a:spcPts val="0"/>
              </a:spcBef>
              <a:spcAft>
                <a:spcPts val="0"/>
              </a:spcAft>
              <a:buNone/>
            </a:pPr>
            <a:endParaRPr/>
          </a:p>
          <a:p>
            <a:pPr marL="0" lvl="0" indent="0" algn="l">
              <a:spcBef>
                <a:spcPts val="0"/>
              </a:spcBef>
              <a:spcAft>
                <a:spcPts val="0"/>
              </a:spcAft>
              <a:buNone/>
            </a:pPr>
            <a:r>
              <a:t>Survey source: I.</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The survey uses insight for an intermediate result. It can be a count, a compact encoding, a centroid or another structure. It is not a general label for a conclusion. Clients may be devices or institutions. A server often coordinates them, although other coordination models exist.</a:t>
            </a:r>
          </a:p>
          <a:p>
            <a:pPr marL="0" lvl="0" indent="0" algn="l">
              <a:spcBef>
                <a:spcPts val="0"/>
              </a:spcBef>
              <a:spcAft>
                <a:spcPts val="0"/>
              </a:spcAft>
              <a:buNone/>
            </a:pPr>
            <a:endParaRPr/>
          </a:p>
          <a:p>
            <a:pPr marL="0" lvl="0" indent="0" algn="l">
              <a:spcBef>
                <a:spcPts val="0"/>
              </a:spcBef>
              <a:spcAft>
                <a:spcPts val="0"/>
              </a:spcAft>
              <a:buNone/>
            </a:pPr>
            <a:r>
              <a:t>Discussion prompt (choose according to time):</a:t>
            </a:r>
          </a:p>
          <a:p>
            <a:pPr marL="0" lvl="0" indent="0" algn="l">
              <a:spcBef>
                <a:spcPts val="0"/>
              </a:spcBef>
              <a:spcAft>
                <a:spcPts val="0"/>
              </a:spcAft>
              <a:buNone/>
            </a:pPr>
            <a:r>
              <a:t>What could an insight contain for a task that counts the use of an application feature?</a:t>
            </a:r>
          </a:p>
          <a:p>
            <a:pPr marL="0" lvl="0" indent="0" algn="l">
              <a:spcBef>
                <a:spcPts val="0"/>
              </a:spcBef>
              <a:spcAft>
                <a:spcPts val="0"/>
              </a:spcAft>
              <a:buNone/>
            </a:pPr>
            <a:endParaRPr/>
          </a:p>
          <a:p>
            <a:pPr marL="0" lvl="0" indent="0" algn="l">
              <a:spcBef>
                <a:spcPts val="0"/>
              </a:spcBef>
              <a:spcAft>
                <a:spcPts val="0"/>
              </a:spcAft>
              <a:buNone/>
            </a:pPr>
            <a:r>
              <a:t>Survey source: III-A and III-B.</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The original figure shows local insight extraction and server aggregation on the left. The right-hand side shows repeated computation-model distribution, local computation, insight upload and aggregation. One-shot tasks complete after one round. The locks represent privacy mechanisms in the design, which need explicit assumptions.</a:t>
            </a:r>
          </a:p>
          <a:p>
            <a:pPr marL="0" lvl="0" indent="0" algn="l">
              <a:spcBef>
                <a:spcPts val="0"/>
              </a:spcBef>
              <a:spcAft>
                <a:spcPts val="0"/>
              </a:spcAft>
              <a:buNone/>
            </a:pPr>
            <a:endParaRPr/>
          </a:p>
          <a:p>
            <a:pPr marL="0" lvl="0" indent="0" algn="l">
              <a:spcBef>
                <a:spcPts val="0"/>
              </a:spcBef>
              <a:spcAft>
                <a:spcPts val="0"/>
              </a:spcAft>
              <a:buNone/>
            </a:pPr>
            <a:r>
              <a:t>Discussion prompt (choose according to time):</a:t>
            </a:r>
          </a:p>
          <a:p>
            <a:pPr marL="0" lvl="0" indent="0" algn="l">
              <a:spcBef>
                <a:spcPts val="0"/>
              </a:spcBef>
              <a:spcAft>
                <a:spcPts val="0"/>
              </a:spcAft>
              <a:buNone/>
            </a:pPr>
            <a:r>
              <a:t>Which parts happen at the client and which at the server?</a:t>
            </a:r>
          </a:p>
          <a:p>
            <a:pPr marL="0" lvl="0" indent="0" algn="l">
              <a:spcBef>
                <a:spcPts val="0"/>
              </a:spcBef>
              <a:spcAft>
                <a:spcPts val="0"/>
              </a:spcAft>
              <a:buNone/>
            </a:pPr>
            <a:endParaRPr/>
          </a:p>
          <a:p>
            <a:pPr marL="0" lvl="0" indent="0" algn="l">
              <a:spcBef>
                <a:spcPts val="0"/>
              </a:spcBef>
              <a:spcAft>
                <a:spcPts val="0"/>
              </a:spcAft>
              <a:buNone/>
            </a:pPr>
            <a:r>
              <a:t>Survey source: III-A, Figure 2.</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Section III-B formulates the target as F(x1,…,xn) and the federated result as A({I(xi)}). The design question is whether these match, or how close the approximation is. Different clients can sometimes use different insight functions. In iterative designs, earlier aggregated results change later local computations. This slide uses verbal definitions to avoid requiring mathematical notation.</a:t>
            </a:r>
          </a:p>
          <a:p>
            <a:pPr marL="0" lvl="0" indent="0" algn="l">
              <a:spcBef>
                <a:spcPts val="0"/>
              </a:spcBef>
              <a:spcAft>
                <a:spcPts val="0"/>
              </a:spcAft>
              <a:buNone/>
            </a:pPr>
            <a:endParaRPr/>
          </a:p>
          <a:p>
            <a:pPr marL="0" lvl="0" indent="0" algn="l">
              <a:spcBef>
                <a:spcPts val="0"/>
              </a:spcBef>
              <a:spcAft>
                <a:spcPts val="0"/>
              </a:spcAft>
              <a:buNone/>
            </a:pPr>
            <a:r>
              <a:t>Discussion prompt (choose according to time):</a:t>
            </a:r>
          </a:p>
          <a:p>
            <a:pPr marL="0" lvl="0" indent="0" algn="l">
              <a:spcBef>
                <a:spcPts val="0"/>
              </a:spcBef>
              <a:spcAft>
                <a:spcPts val="0"/>
              </a:spcAft>
              <a:buNone/>
            </a:pPr>
            <a:r>
              <a:t>Could the same local output support both a mean and a median?</a:t>
            </a:r>
          </a:p>
          <a:p>
            <a:pPr marL="0" lvl="0" indent="0" algn="l">
              <a:spcBef>
                <a:spcPts val="0"/>
              </a:spcBef>
              <a:spcAft>
                <a:spcPts val="0"/>
              </a:spcAft>
              <a:buNone/>
            </a:pPr>
            <a:endParaRPr/>
          </a:p>
          <a:p>
            <a:pPr marL="0" lvl="0" indent="0" algn="l">
              <a:spcBef>
                <a:spcPts val="0"/>
              </a:spcBef>
              <a:spcAft>
                <a:spcPts val="0"/>
              </a:spcAft>
              <a:buNone/>
            </a:pPr>
            <a:r>
              <a:t>Survey source: III-B.</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Section III-B formulates the target as F(x1,…,xn) and the federated result as A({I(xi)}). The design question is whether these match, or how close the approximation is. Different clients can sometimes use different insight functions. In iterative designs, earlier aggregated results change later local computations. This slide uses verbal definitions to avoid requiring mathematical notation.</a:t>
            </a:r>
          </a:p>
          <a:p>
            <a:pPr marL="0" lvl="0" indent="0" algn="l">
              <a:spcBef>
                <a:spcPts val="0"/>
              </a:spcBef>
              <a:spcAft>
                <a:spcPts val="0"/>
              </a:spcAft>
              <a:buNone/>
            </a:pPr>
            <a:r>
              <a:t>Discussion prompt (choose according to time):</a:t>
            </a:r>
          </a:p>
          <a:p>
            <a:pPr marL="0" lvl="0" indent="0" algn="l">
              <a:spcBef>
                <a:spcPts val="0"/>
              </a:spcBef>
              <a:spcAft>
                <a:spcPts val="0"/>
              </a:spcAft>
              <a:buNone/>
            </a:pPr>
            <a:r>
              <a:t>Could the same local output support both a mean and a median?</a:t>
            </a:r>
          </a:p>
          <a:p>
            <a:pPr marL="0" lvl="0" indent="0" algn="l">
              <a:spcBef>
                <a:spcPts val="0"/>
              </a:spcBef>
              <a:spcAft>
                <a:spcPts val="0"/>
              </a:spcAft>
              <a:buNone/>
            </a:pPr>
            <a:r>
              <a:t>Survey source: III-B.</a:t>
            </a: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The objective is to design I and A to reproduce the task result exactly or with an acceptable approximation. Counts and means can be exact under suitable assumptions. Sketching, sampling or differential privacy can introduce error. Distinguish the error introduced by the protocol from the usual statistical uncertainty. Discussion: Which tasks require exact results, and where would an approximation be acceptable?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The survey positions FA within distributed and privacy-preserving data mining. Distributed processing can occur inside a trusted system and may permit movement of raw data. Privacy-preserving analysis can also occur on a central dataset. FA combines distributed ownership with local retention of raw data and privacy mechanisms. The term may be recent while some relevant techniques predate it.</a:t>
            </a:r>
          </a:p>
          <a:p>
            <a:pPr marL="0" lvl="0" indent="0" algn="l">
              <a:spcBef>
                <a:spcPts val="0"/>
              </a:spcBef>
              <a:spcAft>
                <a:spcPts val="0"/>
              </a:spcAft>
              <a:buNone/>
            </a:pPr>
            <a:endParaRPr/>
          </a:p>
          <a:p>
            <a:pPr marL="0" lvl="0" indent="0" algn="l">
              <a:spcBef>
                <a:spcPts val="0"/>
              </a:spcBef>
              <a:spcAft>
                <a:spcPts val="0"/>
              </a:spcAft>
              <a:buNone/>
            </a:pPr>
            <a:r>
              <a:t>Discussion prompt (choose according to time):</a:t>
            </a:r>
          </a:p>
          <a:p>
            <a:pPr marL="0" lvl="0" indent="0" algn="l">
              <a:spcBef>
                <a:spcPts val="0"/>
              </a:spcBef>
              <a:spcAft>
                <a:spcPts val="0"/>
              </a:spcAft>
              <a:buNone/>
            </a:pPr>
            <a:r>
              <a:t>What additional assumptions arise when separate owners control the data?</a:t>
            </a:r>
          </a:p>
          <a:p>
            <a:pPr marL="0" lvl="0" indent="0" algn="l">
              <a:spcBef>
                <a:spcPts val="0"/>
              </a:spcBef>
              <a:spcAft>
                <a:spcPts val="0"/>
              </a:spcAft>
              <a:buNone/>
            </a:pPr>
            <a:endParaRPr/>
          </a:p>
          <a:p>
            <a:pPr marL="0" lvl="0" indent="0" algn="l">
              <a:spcBef>
                <a:spcPts val="0"/>
              </a:spcBef>
              <a:spcAft>
                <a:spcPts val="0"/>
              </a:spcAft>
              <a:buNone/>
            </a:pPr>
            <a:r>
              <a:t>Survey source: II and III-C2–C3.</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transition. Briefly locate the highlighted topic within the taxonomy. The survey has five dimensions. Data distribution strategy is the workshop extension based on Zhu et al. Spend around 15 seconds on this roadmap.</a:t>
            </a:r>
          </a:p>
          <a:p>
            <a:endParaRPr/>
          </a:p>
          <a:p>
            <a:r>
              <a:t>Sources:</a:t>
            </a:r>
          </a:p>
          <a:p>
            <a:r>
              <a:t>Wang, Z., Ji, H., Zhu, Y., Wang, D. and Han, Z. A Survey on Federated Analytics: Taxonomy, Enabling Techniques, Applications and Open Issues. IEEE Communications Surveys &amp; Tutorials 28 (2026), 2457–2496. Online 10 April 2025. DOI: 10.1109/COMST.2025.3558755.</a:t>
            </a:r>
          </a:p>
          <a:p>
            <a:endParaRPr/>
          </a:p>
          <a:p>
            <a:r>
              <a:t>Zhu, S. Y., Tang, W., Xie, Y. T. and Xie, L. Z. A comprehensive review of federated learning for multi-center medical data. Biomedical Engineering Communications 4(2) (2025):9. DOI: 10.53388/BMEC2025009. CC BY 4.0.</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885161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transition. Briefly locate the highlighted topic within the taxonomy. The survey has five dimensions. Data distribution strategy is the workshop extension based on Zhu et al. Spend around 15 seconds on this roadmap.</a:t>
            </a:r>
          </a:p>
          <a:p>
            <a:endParaRPr/>
          </a:p>
          <a:p>
            <a:r>
              <a:t>Sources:</a:t>
            </a:r>
          </a:p>
          <a:p>
            <a:r>
              <a:t>Wang, Z., Ji, H., Zhu, Y., Wang, D. and Han, Z. A Survey on Federated Analytics: Taxonomy, Enabling Techniques, Applications and Open Issues. IEEE Communications Surveys &amp; Tutorials 28 (2026), 2457–2496. Online 10 April 2025. DOI: 10.1109/COMST.2025.3558755.</a:t>
            </a:r>
          </a:p>
          <a:p>
            <a:endParaRPr/>
          </a:p>
          <a:p>
            <a:r>
              <a:t>Zhu, S. Y., Tang, W., Xie, Y. T. and Xie, L. Z. A comprehensive review of federated learning for multi-center medical data. Biomedical Engineering Communications 4(2) (2025):9. DOI: 10.53388/BMEC2025009. CC BY 4.0.</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83986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These are the four application subsections in Section VI. An exact mean can use the sum of local sums divided by the sum of local counts before privacy perturbation. Averaging local medians does not generally recover the global median; the survey reviews dedicated percentile protocols. Clustering can involve local centres and iteration. Graph analysis needs a clear model of where nodes and edges are held and what relationships the protocol reveals.</a:t>
            </a:r>
          </a:p>
          <a:p>
            <a:pPr marL="0" lvl="0" indent="0" algn="l">
              <a:spcBef>
                <a:spcPts val="0"/>
              </a:spcBef>
              <a:spcAft>
                <a:spcPts val="0"/>
              </a:spcAft>
              <a:buNone/>
            </a:pPr>
            <a:endParaRPr/>
          </a:p>
          <a:p>
            <a:pPr marL="0" lvl="0" indent="0" algn="l">
              <a:spcBef>
                <a:spcPts val="0"/>
              </a:spcBef>
              <a:spcAft>
                <a:spcPts val="0"/>
              </a:spcAft>
              <a:buNone/>
            </a:pPr>
            <a:r>
              <a:t>Discussion prompt (choose according to time):</a:t>
            </a:r>
          </a:p>
          <a:p>
            <a:pPr marL="0" lvl="0" indent="0" algn="l">
              <a:spcBef>
                <a:spcPts val="0"/>
              </a:spcBef>
              <a:spcAft>
                <a:spcPts val="0"/>
              </a:spcAft>
              <a:buNone/>
            </a:pPr>
            <a:r>
              <a:t>Which of these results can be reconstructed from a few additive summaries?</a:t>
            </a:r>
          </a:p>
          <a:p>
            <a:pPr marL="0" lvl="0" indent="0" algn="l">
              <a:spcBef>
                <a:spcPts val="0"/>
              </a:spcBef>
              <a:spcAft>
                <a:spcPts val="0"/>
              </a:spcAft>
              <a:buNone/>
            </a:pPr>
            <a:endParaRPr/>
          </a:p>
          <a:p>
            <a:pPr marL="0" lvl="0" indent="0" algn="l">
              <a:spcBef>
                <a:spcPts val="0"/>
              </a:spcBef>
              <a:spcAft>
                <a:spcPts val="0"/>
              </a:spcAft>
              <a:buNone/>
            </a:pPr>
            <a:r>
              <a:t>Survey source: VI-A–VI-D.</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A frequency oracle is a representation that supports subsequent frequency estimates. Heavy hitters identify common items; frequent pattern mining can find all items above a threshold or the top k. Complexity grows with the data domain: a small known category list differs from arbitrary strings or long sequences. The survey reviews LDP, threshold, tree and cryptographic approaches. User counts and occurrence counts should be distinguished when defining a real task.</a:t>
            </a:r>
          </a:p>
          <a:p>
            <a:pPr marL="0" lvl="0" indent="0" algn="l">
              <a:spcBef>
                <a:spcPts val="0"/>
              </a:spcBef>
              <a:spcAft>
                <a:spcPts val="0"/>
              </a:spcAft>
              <a:buNone/>
            </a:pPr>
            <a:endParaRPr/>
          </a:p>
          <a:p>
            <a:pPr marL="0" lvl="0" indent="0" algn="l">
              <a:spcBef>
                <a:spcPts val="0"/>
              </a:spcBef>
              <a:spcAft>
                <a:spcPts val="0"/>
              </a:spcAft>
              <a:buNone/>
            </a:pPr>
            <a:r>
              <a:t>Discussion prompt (choose according to time):</a:t>
            </a:r>
          </a:p>
          <a:p>
            <a:pPr marL="0" lvl="0" indent="0" algn="l">
              <a:spcBef>
                <a:spcPts val="0"/>
              </a:spcBef>
              <a:spcAft>
                <a:spcPts val="0"/>
              </a:spcAft>
              <a:buNone/>
            </a:pPr>
            <a:r>
              <a:t>What changes when the possible answers are unknown in advance?</a:t>
            </a:r>
          </a:p>
          <a:p>
            <a:pPr marL="0" lvl="0" indent="0" algn="l">
              <a:spcBef>
                <a:spcPts val="0"/>
              </a:spcBef>
              <a:spcAft>
                <a:spcPts val="0"/>
              </a:spcAft>
              <a:buNone/>
            </a:pPr>
            <a:endParaRPr/>
          </a:p>
          <a:p>
            <a:pPr marL="0" lvl="0" indent="0" algn="l">
              <a:spcBef>
                <a:spcPts val="0"/>
              </a:spcBef>
              <a:spcAft>
                <a:spcPts val="0"/>
              </a:spcAft>
              <a:buNone/>
            </a:pPr>
            <a:r>
              <a:t>Survey source: VII.</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Section VIII reviews SQL-based federation. Query planning can keep suitable work local and reserve secure computation for cross-party steps such as joins or comparisons. General query engines trade broad support against overhead, while specialised engines can optimise particular operations. SMCQL, Conclave, Senate, SAQE, Orchard and Arboretum are examples reviewed by the survey. Approximate query engines can use sampling and DP. A distributed SQL connection alone is not a privacy guarantee.</a:t>
            </a:r>
          </a:p>
          <a:p>
            <a:pPr marL="0" lvl="0" indent="0" algn="l">
              <a:spcBef>
                <a:spcPts val="0"/>
              </a:spcBef>
              <a:spcAft>
                <a:spcPts val="0"/>
              </a:spcAft>
              <a:buNone/>
            </a:pPr>
            <a:endParaRPr/>
          </a:p>
          <a:p>
            <a:pPr marL="0" lvl="0" indent="0" algn="l">
              <a:spcBef>
                <a:spcPts val="0"/>
              </a:spcBef>
              <a:spcAft>
                <a:spcPts val="0"/>
              </a:spcAft>
              <a:buNone/>
            </a:pPr>
            <a:r>
              <a:t>Discussion prompt (choose according to time):</a:t>
            </a:r>
          </a:p>
          <a:p>
            <a:pPr marL="0" lvl="0" indent="0" algn="l">
              <a:spcBef>
                <a:spcPts val="0"/>
              </a:spcBef>
              <a:spcAft>
                <a:spcPts val="0"/>
              </a:spcAft>
              <a:buNone/>
            </a:pPr>
            <a:r>
              <a:t>Which query operations need information from more than one participant?</a:t>
            </a:r>
          </a:p>
          <a:p>
            <a:pPr marL="0" lvl="0" indent="0" algn="l">
              <a:spcBef>
                <a:spcPts val="0"/>
              </a:spcBef>
              <a:spcAft>
                <a:spcPts val="0"/>
              </a:spcAft>
              <a:buNone/>
            </a:pPr>
            <a:endParaRPr/>
          </a:p>
          <a:p>
            <a:pPr marL="0" lvl="0" indent="0" algn="l">
              <a:spcBef>
                <a:spcPts val="0"/>
              </a:spcBef>
              <a:spcAft>
                <a:spcPts val="0"/>
              </a:spcAft>
              <a:buNone/>
            </a:pPr>
            <a:r>
              <a:t>Survey source: VIII.</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Section IX separates client quality evaluation, client clustering for personalisation and model evaluation. Local losses, performance statistics or derived features can become insights. Selection may improve training speed or accuracy but can change representation and fairness. In evaluation, compatible counts and losses can be combined, but some metrics need richer information for an exact pooled result. Evaluation performs inference rather than fitting the model.</a:t>
            </a:r>
          </a:p>
          <a:p>
            <a:pPr marL="0" lvl="0" indent="0" algn="l">
              <a:spcBef>
                <a:spcPts val="0"/>
              </a:spcBef>
              <a:spcAft>
                <a:spcPts val="0"/>
              </a:spcAft>
              <a:buNone/>
            </a:pPr>
            <a:endParaRPr/>
          </a:p>
          <a:p>
            <a:pPr marL="0" lvl="0" indent="0" algn="l">
              <a:spcBef>
                <a:spcPts val="0"/>
              </a:spcBef>
              <a:spcAft>
                <a:spcPts val="0"/>
              </a:spcAft>
              <a:buNone/>
            </a:pPr>
            <a:r>
              <a:t>Discussion prompt (choose according to time):</a:t>
            </a:r>
          </a:p>
          <a:p>
            <a:pPr marL="0" lvl="0" indent="0" algn="l">
              <a:spcBef>
                <a:spcPts val="0"/>
              </a:spcBef>
              <a:spcAft>
                <a:spcPts val="0"/>
              </a:spcAft>
              <a:buNone/>
            </a:pPr>
            <a:r>
              <a:t>Could selecting only clients that improve training performance give a misleading evaluation?</a:t>
            </a:r>
          </a:p>
          <a:p>
            <a:pPr marL="0" lvl="0" indent="0" algn="l">
              <a:spcBef>
                <a:spcPts val="0"/>
              </a:spcBef>
              <a:spcAft>
                <a:spcPts val="0"/>
              </a:spcAft>
              <a:buNone/>
            </a:pPr>
            <a:endParaRPr/>
          </a:p>
          <a:p>
            <a:pPr marL="0" lvl="0" indent="0" algn="l">
              <a:spcBef>
                <a:spcPts val="0"/>
              </a:spcBef>
              <a:spcAft>
                <a:spcPts val="0"/>
              </a:spcAft>
              <a:buNone/>
            </a:pPr>
            <a:r>
              <a:t>Survey source: IX-A–IX-C.</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Section X separates wireless network model optimisation from assistance to wireless FL. Examples include clustering network signatures, mobile edge task allocation, content caching and combining predictions or labels. The survey reports that the wireless applications it reviewed mainly hide raw data rather than use advanced privacy guarantees. Wireless networks are an application area and a communication constraint. These examples describe the surveyed literature, not a claim about every current wireless system.</a:t>
            </a:r>
          </a:p>
          <a:p>
            <a:pPr marL="0" lvl="0" indent="0" algn="l">
              <a:spcBef>
                <a:spcPts val="0"/>
              </a:spcBef>
              <a:spcAft>
                <a:spcPts val="0"/>
              </a:spcAft>
              <a:buNone/>
            </a:pPr>
            <a:endParaRPr/>
          </a:p>
          <a:p>
            <a:pPr marL="0" lvl="0" indent="0" algn="l">
              <a:spcBef>
                <a:spcPts val="0"/>
              </a:spcBef>
              <a:spcAft>
                <a:spcPts val="0"/>
              </a:spcAft>
              <a:buNone/>
            </a:pPr>
            <a:r>
              <a:t>Discussion prompt (choose according to time):</a:t>
            </a:r>
          </a:p>
          <a:p>
            <a:pPr marL="0" lvl="0" indent="0" algn="l">
              <a:spcBef>
                <a:spcPts val="0"/>
              </a:spcBef>
              <a:spcAft>
                <a:spcPts val="0"/>
              </a:spcAft>
              <a:buNone/>
            </a:pPr>
            <a:r>
              <a:t>How could changing connectivity affect both the result and the time needed to obtain it?</a:t>
            </a:r>
          </a:p>
          <a:p>
            <a:pPr marL="0" lvl="0" indent="0" algn="l">
              <a:spcBef>
                <a:spcPts val="0"/>
              </a:spcBef>
              <a:spcAft>
                <a:spcPts val="0"/>
              </a:spcAft>
              <a:buNone/>
            </a:pPr>
            <a:endParaRPr/>
          </a:p>
          <a:p>
            <a:pPr marL="0" lvl="0" indent="0" algn="l">
              <a:spcBef>
                <a:spcPts val="0"/>
              </a:spcBef>
              <a:spcAft>
                <a:spcPts val="0"/>
              </a:spcAft>
              <a:buNone/>
            </a:pPr>
            <a:r>
              <a:t>Survey source: X-A–X-B.</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transition. Briefly locate the highlighted topic within the taxonomy. The survey has five dimensions. Data distribution strategy is the workshop extension based on Zhu et al. Spend around 15 seconds on this roadmap.</a:t>
            </a:r>
          </a:p>
          <a:p>
            <a:endParaRPr/>
          </a:p>
          <a:p>
            <a:r>
              <a:t>Sources:</a:t>
            </a:r>
          </a:p>
          <a:p>
            <a:r>
              <a:t>Wang, Z., Ji, H., Zhu, Y., Wang, D. and Han, Z. A Survey on Federated Analytics: Taxonomy, Enabling Techniques, Applications and Open Issues. IEEE Communications Surveys &amp; Tutorials 28 (2026), 2457–2496. Online 10 April 2025. DOI: 10.1109/COMST.2025.3558755.</a:t>
            </a:r>
          </a:p>
          <a:p>
            <a:endParaRPr/>
          </a:p>
          <a:p>
            <a:r>
              <a:t>Zhu, S. Y., Tang, W., Xie, Y. T. and Xie, L. Z. A comprehensive review of federated learning for multi-center medical data. Biomedical Engineering Communications 4(2) (2025):9. DOI: 10.53388/BMEC2025009. CC BY 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These are typical characteristics, not absolute rules. Device-scale systems must account for availability and communication limits. Organisations may have clear collaboration objectives, but can still differ in resources. The survey discusses differential privacy as common in large device systems and resource-intensive cryptography as more practical in smaller silo settings. Neither association is a requirement.</a:t>
            </a:r>
          </a:p>
          <a:p>
            <a:pPr marL="0" lvl="0" indent="0" algn="l">
              <a:spcBef>
                <a:spcPts val="0"/>
              </a:spcBef>
              <a:spcAft>
                <a:spcPts val="0"/>
              </a:spcAft>
              <a:buNone/>
            </a:pPr>
            <a:endParaRPr/>
          </a:p>
          <a:p>
            <a:pPr marL="0" lvl="0" indent="0" algn="l">
              <a:spcBef>
                <a:spcPts val="0"/>
              </a:spcBef>
              <a:spcAft>
                <a:spcPts val="0"/>
              </a:spcAft>
              <a:buNone/>
            </a:pPr>
            <a:r>
              <a:t>Discussion prompt (choose according to time):</a:t>
            </a:r>
          </a:p>
          <a:p>
            <a:pPr marL="0" lvl="0" indent="0" algn="l">
              <a:spcBef>
                <a:spcPts val="0"/>
              </a:spcBef>
              <a:spcAft>
                <a:spcPts val="0"/>
              </a:spcAft>
              <a:buNone/>
            </a:pPr>
            <a:r>
              <a:t>How would a design change when moving from ten organisations to a million devices?</a:t>
            </a:r>
          </a:p>
          <a:p>
            <a:pPr marL="0" lvl="0" indent="0" algn="l">
              <a:spcBef>
                <a:spcPts val="0"/>
              </a:spcBef>
              <a:spcAft>
                <a:spcPts val="0"/>
              </a:spcAft>
              <a:buNone/>
            </a:pPr>
            <a:endParaRPr/>
          </a:p>
          <a:p>
            <a:pPr marL="0" lvl="0" indent="0" algn="l">
              <a:spcBef>
                <a:spcPts val="0"/>
              </a:spcBef>
              <a:spcAft>
                <a:spcPts val="0"/>
              </a:spcAft>
              <a:buNone/>
            </a:pPr>
            <a:r>
              <a:t>Survey source: III-D2.</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transition. Briefly locate the highlighted topic within the taxonomy. The survey has five dimensions. Data distribution strategy is the workshop extension based on Zhu et al. Spend around 15 seconds on this roadmap.</a:t>
            </a:r>
          </a:p>
          <a:p>
            <a:endParaRPr/>
          </a:p>
          <a:p>
            <a:r>
              <a:t>Sources:</a:t>
            </a:r>
          </a:p>
          <a:p>
            <a:r>
              <a:t>Wang, Z., Ji, H., Zhu, Y., Wang, D. and Han, Z. A Survey on Federated Analytics: Taxonomy, Enabling Techniques, Applications and Open Issues. IEEE Communications Surveys &amp; Tutorials 28 (2026), 2457–2496. Online 10 April 2025. DOI: 10.1109/COMST.2025.3558755.</a:t>
            </a:r>
          </a:p>
          <a:p>
            <a:endParaRPr/>
          </a:p>
          <a:p>
            <a:r>
              <a:t>Zhu, S. Y., Tang, W., Xie, Y. T. and Xie, L. Z. A comprehensive review of federated learning for multi-center medical data. Biomedical Engineering Communications 4(2) (2025):9. DOI: 10.53388/BMEC2025009. CC BY 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Horizontal federation: different patients with comparable features. Vertical federation: overlapping patients with different features, requiring appropriate entity alignment. Federated transfer learning: limited overlap in samples and features, with knowledge transfer across datasets. These are primarily federated learning categories and extend the survey taxonomy in this workshop.</a:t>
            </a:r>
          </a:p>
          <a:p>
            <a:r>
              <a:t>Discussion: Which overlap do we need to agree before choosing an analysis?</a:t>
            </a:r>
          </a:p>
          <a:p>
            <a:endParaRPr/>
          </a:p>
          <a:p>
            <a:r>
              <a:t>Sources:</a:t>
            </a:r>
          </a:p>
          <a:p>
            <a:r>
              <a:t>Zhu, S. Y., Tang, W., Xie, Y. T. and Xie, L. Z. A comprehensive review of federated learning for multi-center medical data. Biomedical Engineering Communications 4(2) (2025):9. DOI: 10.53388/BMEC2025009. CC BY 4.0.</a:t>
            </a:r>
          </a:p>
          <a:p>
            <a:endParaRPr/>
          </a:p>
          <a:p>
            <a:r>
              <a:t>Wang, Z., Ji, H., Zhu, Y., Wang, D. and Han, Z. A Survey on Federated Analytics: Taxonomy, Enabling Techniques, Applications and Open Issues. IEEE Communications Surveys &amp; Tutorials 28 (2026), 2457–2496. Online 10 April 2025. DOI: 10.1109/COMST.2025.3558755.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transition. Briefly locate the highlighted topic within the taxonomy. The survey has five dimensions. Data distribution strategy is the workshop extension based on Zhu et al. Spend around 15 seconds on this roadmap.</a:t>
            </a:r>
          </a:p>
          <a:p>
            <a:endParaRPr/>
          </a:p>
          <a:p>
            <a:r>
              <a:t>Sources:</a:t>
            </a:r>
          </a:p>
          <a:p>
            <a:r>
              <a:t>Wang, Z., Ji, H., Zhu, Y., Wang, D. and Han, Z. A Survey on Federated Analytics: Taxonomy, Enabling Techniques, Applications and Open Issues. IEEE Communications Surveys &amp; Tutorials 28 (2026), 2457–2496. Online 10 April 2025. DOI: 10.1109/COMST.2025.3558755.</a:t>
            </a:r>
          </a:p>
          <a:p>
            <a:endParaRPr/>
          </a:p>
          <a:p>
            <a:r>
              <a:t>Zhu, S. Y., Tang, W., Xie, Y. T. and Xie, L. Z. A comprehensive review of federated learning for multi-center medical data. Biomedical Engineering Communications 4(2) (2025):9. DOI: 10.53388/BMEC2025009. CC BY 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One round contains distribution of a computation, local work, insight upload and aggregation. Repeated rounds may solve dependent subproblems or refine a model until convergence. Iteration does not by itself make a task federated learning. Counts and sums can support a one-shot mean before additional privacy protections. Each further round creates communication, availability and potentially privacy costs.</a:t>
            </a:r>
          </a:p>
          <a:p>
            <a:pPr marL="0" lvl="0" indent="0" algn="l">
              <a:spcBef>
                <a:spcPts val="0"/>
              </a:spcBef>
              <a:spcAft>
                <a:spcPts val="0"/>
              </a:spcAft>
              <a:buNone/>
            </a:pPr>
            <a:endParaRPr/>
          </a:p>
          <a:p>
            <a:pPr marL="0" lvl="0" indent="0" algn="l">
              <a:spcBef>
                <a:spcPts val="0"/>
              </a:spcBef>
              <a:spcAft>
                <a:spcPts val="0"/>
              </a:spcAft>
              <a:buNone/>
            </a:pPr>
            <a:r>
              <a:t>Discussion prompt (choose according to time):</a:t>
            </a:r>
          </a:p>
          <a:p>
            <a:pPr marL="0" lvl="0" indent="0" algn="l">
              <a:spcBef>
                <a:spcPts val="0"/>
              </a:spcBef>
              <a:spcAft>
                <a:spcPts val="0"/>
              </a:spcAft>
              <a:buNone/>
            </a:pPr>
            <a:r>
              <a:t>What would make an analytical task require a second round?</a:t>
            </a:r>
          </a:p>
          <a:p>
            <a:pPr marL="0" lvl="0" indent="0" algn="l">
              <a:spcBef>
                <a:spcPts val="0"/>
              </a:spcBef>
              <a:spcAft>
                <a:spcPts val="0"/>
              </a:spcAft>
              <a:buNone/>
            </a:pPr>
            <a:endParaRPr/>
          </a:p>
          <a:p>
            <a:pPr marL="0" lvl="0" indent="0" algn="l">
              <a:spcBef>
                <a:spcPts val="0"/>
              </a:spcBef>
              <a:spcAft>
                <a:spcPts val="0"/>
              </a:spcAft>
              <a:buNone/>
            </a:pPr>
            <a:r>
              <a:t>Survey source: III-D3.</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The original figure shows local insight extraction and server aggregation on the left. The right-hand side shows repeated computation-model distribution, local computation, insight upload and aggregation. One-shot tasks complete after one round. The locks represent privacy mechanisms in the design, which need explicit assumptions.</a:t>
            </a:r>
          </a:p>
          <a:p>
            <a:pPr marL="0" lvl="0" indent="0" algn="l">
              <a:spcBef>
                <a:spcPts val="0"/>
              </a:spcBef>
              <a:spcAft>
                <a:spcPts val="0"/>
              </a:spcAft>
              <a:buNone/>
            </a:pPr>
            <a:r>
              <a:t>Discussion prompt (choose according to time):</a:t>
            </a:r>
          </a:p>
          <a:p>
            <a:pPr marL="0" lvl="0" indent="0" algn="l">
              <a:spcBef>
                <a:spcPts val="0"/>
              </a:spcBef>
              <a:spcAft>
                <a:spcPts val="0"/>
              </a:spcAft>
              <a:buNone/>
            </a:pPr>
            <a:r>
              <a:t>Which parts happen at the client and which at the server?</a:t>
            </a:r>
          </a:p>
          <a:p>
            <a:pPr marL="0" lvl="0" indent="0" algn="l">
              <a:spcBef>
                <a:spcPts val="0"/>
              </a:spcBef>
              <a:spcAft>
                <a:spcPts val="0"/>
              </a:spcAft>
              <a:buNone/>
            </a:pPr>
            <a:r>
              <a:t>Survey source: III-A, Figure 2.</a:t>
            </a: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Use the workflow to explain iteration. One-shot protocols collect one contribution per client for the task. Iterative protocols repeat query, local computation and aggregation, with each round potentially depending on earlier results. The figure illustrates a general workflow rather than claiming that every task needs several rounds. Discussion: What would make a second round necessary?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transition. Briefly locate the highlighted topic within the taxonomy. The survey has five dimensions. Data distribution strategy is the workshop extension based on Zhu et al. Spend around 15 seconds on this roadmap.</a:t>
            </a:r>
          </a:p>
          <a:p>
            <a:endParaRPr/>
          </a:p>
          <a:p>
            <a:r>
              <a:t>Sources:</a:t>
            </a:r>
          </a:p>
          <a:p>
            <a:r>
              <a:t>Wang, Z., Ji, H., Zhu, Y., Wang, D. and Han, Z. A Survey on Federated Analytics: Taxonomy, Enabling Techniques, Applications and Open Issues. IEEE Communications Surveys &amp; Tutorials 28 (2026), 2457–2496. Online 10 April 2025. DOI: 10.1109/COMST.2025.3558755.</a:t>
            </a:r>
          </a:p>
          <a:p>
            <a:endParaRPr/>
          </a:p>
          <a:p>
            <a:r>
              <a:t>Zhu, S. Y., Tang, W., Xie, Y. T. and Xie, L. Z. A comprehensive review of federated learning for multi-center medical data. Biomedical Engineering Communications 4(2) (2025):9. DOI: 10.53388/BMEC2025009. CC BY 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Server-client corresponds to the centralized coordination shown in the left panel. Decentralized coordination appears in the middle panel. Hybrid coordination appears on the right. The figure depicts federated learning, but illustrates coordination architectures also relevant to federated analytics. A central coordinator does not imply centralized raw records.</a:t>
            </a:r>
          </a:p>
          <a:p>
            <a:pPr marL="0" lvl="0" indent="0" algn="l">
              <a:spcBef>
                <a:spcPts val="0"/>
              </a:spcBef>
              <a:spcAft>
                <a:spcPts val="0"/>
              </a:spcAft>
              <a:buNone/>
            </a:pPr>
            <a:r>
              <a:t>Discussion: Who coordinates the task, and which participants communicate directly?</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Zhu, S. Y., Tang, W., Xie, Y. T. and Xie, L. Z. A comprehensive review of federated learning for multi-center medical data. Biomedical Engineering Communications 4(2) (2025):9. DOI: 10.53388/BMEC2025009. CC BY 4.0.</a:t>
            </a:r>
          </a:p>
          <a:p>
            <a:pPr marL="0" lvl="0" indent="0" algn="l">
              <a:spcBef>
                <a:spcPts val="0"/>
              </a:spcBef>
              <a:spcAft>
                <a:spcPts val="0"/>
              </a:spcAft>
              <a:buNone/>
            </a:pPr>
            <a:endParaRPr/>
          </a:p>
          <a:p>
            <a:pPr marL="0" lvl="0" indent="0" algn="l">
              <a:spcBef>
                <a:spcPts val="0"/>
              </a:spcBef>
              <a:spcAft>
                <a:spcPts val="0"/>
              </a:spcAft>
              <a:buNone/>
            </a:pPr>
            <a:r>
              <a:t>Wang, Z., Ji, H., Zhu, Y., Wang, D. and Han, Z. A Survey on Federated Analytics: Taxonomy, Enabling Techniques, Applications and Open Issues. IEEE Communications Surveys &amp; Tutorials 28 (2026), 2457–2496. Online 10 April 2025. DOI: 10.1109/COMST.2025.3558755.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transition. Briefly locate the highlighted topic within the taxonomy. The survey has five dimensions. Data distribution strategy is the workshop extension based on Zhu et al. Spend around 15 seconds on this roadmap.</a:t>
            </a:r>
          </a:p>
          <a:p>
            <a:endParaRPr/>
          </a:p>
          <a:p>
            <a:r>
              <a:t>Sources:</a:t>
            </a:r>
          </a:p>
          <a:p>
            <a:r>
              <a:t>Wang, Z., Ji, H., Zhu, Y., Wang, D. and Han, Z. A Survey on Federated Analytics: Taxonomy, Enabling Techniques, Applications and Open Issues. IEEE Communications Surveys &amp; Tutorials 28 (2026), 2457–2496. Online 10 April 2025. DOI: 10.1109/COMST.2025.3558755.</a:t>
            </a:r>
          </a:p>
          <a:p>
            <a:endParaRPr/>
          </a:p>
          <a:p>
            <a:r>
              <a:t>Zhu, S. Y., Tang, W., Xie, Y. T. and Xie, L. Z. A comprehensive review of federated learning for multi-center medical data. Biomedical Engineering Communications 4(2) (2025):9. DOI: 10.53388/BMEC2025009. CC BY 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Suggested time: 2 minutes. These protection points are complementary and do not form a ranking from weak to strong. Cryptography protects contributions during communication or joint computation. It does not automatically make the final result safe. Differential privacy bounds disclosure through randomisation under a defined neighbouring-data relation and privacy budget. Classic k-anonymity applies to released records whose quasi-identifiers match in groups of at least k. The survey also discusses releasing items supported by at least k clients. Such thresholds are a different condition, and do not provide the same guarantee as classic k-anonymity or differential privacy. Raw retention alone offers no formal guarantee against information revealed by outputs.</a:t>
            </a:r>
          </a:p>
          <a:p>
            <a:pPr marL="0" lvl="0" indent="0" algn="l">
              <a:spcBef>
                <a:spcPts val="0"/>
              </a:spcBef>
              <a:spcAft>
                <a:spcPts val="0"/>
              </a:spcAft>
              <a:buNone/>
            </a:pPr>
            <a:r>
              <a:t>Discussion: Which information could still be revealed after records remain local? Example for discussion: a mean for a group of one reveals that individual value. Source: survey III-D5 and V.</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Z., Ji, H., Zhu, Y., Wang, D. and Han, Z. A Survey on Federated Analytics: Taxonomy, Enabling Techniques, Applications and Open Issues. IEEE Communications Surveys &amp; Tutorials 28 (2026), 2457–2496. Online 10 April 2025. DOI: 10.1109/COMST.2025.3558755.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Suggested time: 2 minutes. DP is a formal property of a randomised mechanism. Define the protected unit, for example a person, a record or an organisation, and the neighbouring-data relation. Central DP can permit more accurate results for a given target guarantee but requires trust in the curator. Local DP protects before sharing, often with a greater accuracy cost. Distributed DP uses collective randomisation and secure computation to obtain a central-style guarantee under explicit protocol, dropout and collusion assumptions. Distributed DP is not guaranteed merely because clients compute locally. Repeated releases consume a cumulative privacy budget. Avoid a detailed cryptographic example here.</a:t>
            </a:r>
          </a:p>
          <a:p>
            <a:pPr marL="0" lvl="0" indent="0" algn="l">
              <a:spcBef>
                <a:spcPts val="0"/>
              </a:spcBef>
              <a:spcAft>
                <a:spcPts val="0"/>
              </a:spcAft>
              <a:buNone/>
            </a:pPr>
            <a:r>
              <a:t>Discussion: Which party can see the unprotected contributions in each model? Source: survey III-D5, V and XI-D.</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Z., Ji, H., Zhu, Y., Wang, D. and Han, Z. A Survey on Federated Analytics: Taxonomy, Enabling Techniques, Applications and Open Issues. IEEE Communications Surveys &amp; Tutorials 28 (2026), 2457–2496. Online 10 April 2025. DOI: 10.1109/COMST.2025.3558755.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Suggested time: 1 minute. These are possible costs, not an inevitable ranking of approaches. Error and workload depend on data volume, the mechanism, number of queries, network architecture and implementation. Sampling and sketches introduce additional accuracy and resource trade-offs, covered next.</a:t>
            </a:r>
          </a:p>
          <a:p>
            <a:pPr marL="0" lvl="0" indent="0" algn="l">
              <a:spcBef>
                <a:spcPts val="0"/>
              </a:spcBef>
              <a:spcAft>
                <a:spcPts val="0"/>
              </a:spcAft>
              <a:buNone/>
            </a:pPr>
            <a:r>
              <a:t>Discussion: Which results must remain available, and how much error is acceptable? Source: survey V and XI.</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Z., Ji, H., Zhu, Y., Wang, D. and Han, Z. A Survey on Federated Analytics: Taxonomy, Enabling Techniques, Applications and Open Issues. IEEE Communications Surveys &amp; Tutorials 28 (2026), 2457–2496. Online 10 April 2025. DOI: 10.1109/COMST.2025.3558755.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Suggested time: 2 minutes. Sketches are compact summaries for approximate tasks, including cardinality and frequency estimation. Mergeable structures allow combining local summaries. Trie and summation tree structures support specific frequency and aggregation tasks. Sampling can lower workload. Privacy amplification by sampling depends on a valid sampling scheme and its assumptions, and should not be claimed for arbitrary selection. Optimisation balances resources, accuracy and privacy. Incentive and game-theoretic methods address strategic behaviour, participation and fairness.</a:t>
            </a:r>
          </a:p>
          <a:p>
            <a:pPr marL="0" lvl="0" indent="0" algn="l">
              <a:spcBef>
                <a:spcPts val="0"/>
              </a:spcBef>
              <a:spcAft>
                <a:spcPts val="0"/>
              </a:spcAft>
              <a:buNone/>
            </a:pPr>
            <a:r>
              <a:t>Discussion: Which technique addresses a computational limit, and which addresses a participation limit? Source: survey V-A to V-E.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Z., Ji, H., Zhu, Y., Wang, D. and Han, Z. A Survey on Federated Analytics: Taxonomy, Enabling Techniques, Applications and Open Issues. IEEE Communications Surveys &amp; Tutorials 28 (2026), 2457–2496. Online 10 April 2025. DOI: 10.1109/COMST.2025.3558755.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Teaching notes:</a:t>
            </a:r>
          </a:p>
          <a:p>
            <a:pPr marL="0" lvl="0" indent="0" algn="l">
              <a:spcBef>
                <a:spcPts val="0"/>
              </a:spcBef>
              <a:spcAft>
                <a:spcPts val="0"/>
              </a:spcAft>
              <a:buNone/>
            </a:pPr>
            <a:r>
              <a:t>Section IV lists six challenges: task diversity, the accuracy/privacy/performance trade-off, intensive computation, wireless communication, limited privacy resource and data heterogeneity. The preceding slide covers the trade-off. Slow participants create a straggler effect. Privacy costs need explicit composition accounting when DP applies. Participation failures can affect both performance and the population represented.</a:t>
            </a:r>
          </a:p>
          <a:p>
            <a:pPr marL="0" lvl="0" indent="0" algn="l">
              <a:spcBef>
                <a:spcPts val="0"/>
              </a:spcBef>
              <a:spcAft>
                <a:spcPts val="0"/>
              </a:spcAft>
              <a:buNone/>
            </a:pPr>
            <a:endParaRPr/>
          </a:p>
          <a:p>
            <a:pPr marL="0" lvl="0" indent="0" algn="l">
              <a:spcBef>
                <a:spcPts val="0"/>
              </a:spcBef>
              <a:spcAft>
                <a:spcPts val="0"/>
              </a:spcAft>
              <a:buNone/>
            </a:pPr>
            <a:r>
              <a:t>Discussion prompt (choose according to time):</a:t>
            </a:r>
          </a:p>
          <a:p>
            <a:pPr marL="0" lvl="0" indent="0" algn="l">
              <a:spcBef>
                <a:spcPts val="0"/>
              </a:spcBef>
              <a:spcAft>
                <a:spcPts val="0"/>
              </a:spcAft>
              <a:buNone/>
            </a:pPr>
            <a:r>
              <a:t>What could change if the slowest participants are systematically different from the fastest?</a:t>
            </a:r>
          </a:p>
          <a:p>
            <a:pPr marL="0" lvl="0" indent="0" algn="l">
              <a:spcBef>
                <a:spcPts val="0"/>
              </a:spcBef>
              <a:spcAft>
                <a:spcPts val="0"/>
              </a:spcAft>
              <a:buNone/>
            </a:pPr>
            <a:endParaRPr/>
          </a:p>
          <a:p>
            <a:pPr marL="0" lvl="0" indent="0" algn="l">
              <a:spcBef>
                <a:spcPts val="0"/>
              </a:spcBef>
              <a:spcAft>
                <a:spcPts val="0"/>
              </a:spcAft>
              <a:buNone/>
            </a:pPr>
            <a:r>
              <a:t>Survey source: IV-A–IV-F.</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Suggested time: 2 minutes. This slide groups the seven open issues in section XI. A: more complex data analytics scenarios. B: a unified framework for FA. C: privacy at scale. D: formal privacy measurement and comparison. E: system-efficient FA. F: wireless communication for FA, including over-the-air computation. G: resource management. The grouping is a teaching summary rather than a new taxonomy.</a:t>
            </a:r>
          </a:p>
          <a:p>
            <a:pPr marL="0" lvl="0" indent="0" algn="l">
              <a:spcBef>
                <a:spcPts val="0"/>
              </a:spcBef>
              <a:spcAft>
                <a:spcPts val="0"/>
              </a:spcAft>
              <a:buNone/>
            </a:pPr>
            <a:r>
              <a:t>Discussion: Which issue is most likely to limit a real deployment? Source: survey XI-A to XI-G.</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Z., Ji, H., Zhu, Y., Wang, D. and Han, Z. A Survey on Federated Analytics: Taxonomy, Enabling Techniques, Applications and Open Issues. IEEE Communications Surveys &amp; Tutorials 28 (2026), 2457–2496. Online 10 April 2025. DOI: 10.1109/COMST.2025.3558755.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Suggested time: 2 minutes including discussion. Recap the distinction between a statistical target and a distributed protocol. Identify which data and outputs require protection, then specify architecture, trust and acceptable error. These are general principles before introducing the outbreak clinical characterisation context in session 2.</a:t>
            </a:r>
          </a:p>
          <a:p>
            <a:pPr marL="0" lvl="0" indent="0" algn="l">
              <a:spcBef>
                <a:spcPts val="0"/>
              </a:spcBef>
              <a:spcAft>
                <a:spcPts val="0"/>
              </a:spcAft>
              <a:buNone/>
            </a:pPr>
            <a:r>
              <a:t>Closing discussion: For one analytical task, what would each client compute, what would be combined, and what could the output disclose?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Z., Ji, H., Zhu, Y., Wang, D. and Han, Z. A Survey on Federated Analytics: Taxonomy, Enabling Techniques, Applications and Open Issues. IEEE Communications Surveys &amp; Tutorials 28 (2026), 2457–2496. Online 10 April 2025. DOI: 10.1109/COMST.2025.3558755.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 FA survey is the main source for this session. The medical review provides Figures 3 and 4 and the additional data distribution dimension. Zhu et al. figures are reproduced under CC BY 4.0.</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Wang, Z., Ji, H., Zhu, Y., Wang, D. and Han, Z. A Survey on Federated Analytics: Taxonomy, Enabling Techniques, Applications and Open Issues. IEEE Communications Surveys &amp; Tutorials 28 (2026), 2457–2496. Online 10 April 2025. DOI: 10.1109/COMST.2025.3558755.</a:t>
            </a:r>
          </a:p>
          <a:p>
            <a:pPr marL="0" lvl="0" indent="0" algn="l">
              <a:spcBef>
                <a:spcPts val="0"/>
              </a:spcBef>
              <a:spcAft>
                <a:spcPts val="0"/>
              </a:spcAft>
              <a:buNone/>
            </a:pPr>
            <a:endParaRPr/>
          </a:p>
          <a:p>
            <a:pPr marL="0" lvl="0" indent="0" algn="l">
              <a:spcBef>
                <a:spcPts val="0"/>
              </a:spcBef>
              <a:spcAft>
                <a:spcPts val="0"/>
              </a:spcAft>
              <a:buNone/>
            </a:pPr>
            <a:r>
              <a:t>Zhu, S. Y., Tang, W., Xie, Y. T. and Xie, L. Z. A comprehensive review of federated learning for multi-center medical data. Biomedical Engineering Communications 4(2) (2025):9. DOI: 10.53388/BMEC2025009. CC BY 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4_Main Title Slide" userDrawn="1">
  <p:cSld name="4_Main Title Slide">
    <p:spTree>
      <p:nvGrpSpPr>
        <p:cNvPr id="1" name=""/>
        <p:cNvGrpSpPr/>
        <p:nvPr/>
      </p:nvGrpSpPr>
      <p:grpSpPr>
        <a:xfrm>
          <a:off x="0" y="0"/>
          <a:ext cx="0" cy="0"/>
          <a:chOff x="0" y="0"/>
          <a:chExt cx="0" cy="0"/>
        </a:xfrm>
      </p:grpSpPr>
      <p:pic>
        <p:nvPicPr>
          <p:cNvPr id="2" name="Imagen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Four column list acknowledgement">
  <p:cSld name="Four column list acknowledgement">
    <p:spTree>
      <p:nvGrpSpPr>
        <p:cNvPr id="1" name=""/>
        <p:cNvGrpSpPr/>
        <p:nvPr/>
      </p:nvGrpSpPr>
      <p:grpSpPr>
        <a:xfrm>
          <a:off x="0" y="0"/>
          <a:ext cx="0" cy="0"/>
          <a:chOff x="0" y="0"/>
          <a:chExt cx="0" cy="0"/>
        </a:xfrm>
      </p:grpSpPr>
      <p:pic>
        <p:nvPicPr>
          <p:cNvPr id="54" name="Google Shape;46;p5"/>
          <p:cNvPicPr>
            <a:picLocks noChangeAspect="1"/>
          </p:cNvPicPr>
          <p:nvPr/>
        </p:nvPicPr>
        <p:blipFill rotWithShape="1">
          <a:blip r:embed="rId2">
            <a:alphaModFix amt="10000"/>
          </a:blip>
          <a:srcRect t="14912" r="21635" b="31073"/>
          <a:stretch/>
        </p:blipFill>
        <p:spPr>
          <a:xfrm>
            <a:off x="1980961" y="0"/>
            <a:ext cx="10220871" cy="6356351"/>
          </a:xfrm>
          <a:prstGeom prst="rect">
            <a:avLst/>
          </a:prstGeom>
          <a:ln>
            <a:noFill/>
          </a:ln>
        </p:spPr>
      </p:pic>
      <p:sp>
        <p:nvSpPr>
          <p:cNvPr id="47" name="Google Shape;47;p5">
            <a:extLst>
              <a:ext uri="{FF2B5EF4-FFF2-40B4-BE49-F238E27FC236}">
                <a16:creationId xmlns:a16="http://schemas.microsoft.com/office/drawing/2014/main" id="{2468A4C3-F46E-4B6B-A642-19AF0D869CD0}"/>
              </a:ext>
            </a:extLst>
          </p:cNvPr>
          <p:cNvSpPr>
            <a:spLocks noGrp="1"/>
          </p:cNvSpPr>
          <p:nvPr>
            <p:ph type="title"/>
          </p:nvPr>
        </p:nvSpPr>
        <p:spPr>
          <a:xfrm>
            <a:off x="127000" y="365125"/>
            <a:ext cx="11937998"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4000"/>
              <a:buFont typeface="Noto Sans SemiBold"/>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48" name="Google Shape;48;p5">
            <a:extLst>
              <a:ext uri="{FF2B5EF4-FFF2-40B4-BE49-F238E27FC236}">
                <a16:creationId xmlns:a16="http://schemas.microsoft.com/office/drawing/2014/main" id="{C66B2B6E-E0F5-458A-A70D-C7F7C20D3A9B}"/>
              </a:ext>
            </a:extLst>
          </p:cNvPr>
          <p:cNvSpPr>
            <a:spLocks noGrp="1"/>
          </p:cNvSpPr>
          <p:nvPr>
            <p:ph type="body" idx="1"/>
          </p:nvPr>
        </p:nvSpPr>
        <p:spPr>
          <a:xfrm>
            <a:off x="127000" y="1885443"/>
            <a:ext cx="11937999" cy="4054111"/>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49" name="Google Shape;49;p5">
            <a:extLst>
              <a:ext uri="{FF2B5EF4-FFF2-40B4-BE49-F238E27FC236}">
                <a16:creationId xmlns:a16="http://schemas.microsoft.com/office/drawing/2014/main" id="{E09517A5-37B5-42C9-90F8-C2F22C49922B}"/>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b="0" i="0" u="none" cap="none">
              <a:solidFill>
                <a:schemeClr val="lt1"/>
              </a:solidFill>
              <a:latin typeface="Arial"/>
              <a:ea typeface="Arial"/>
              <a:cs typeface="Arial"/>
            </a:endParaRPr>
          </a:p>
        </p:txBody>
      </p:sp>
      <p:sp>
        <p:nvSpPr>
          <p:cNvPr id="50" name="Google Shape;50;p5">
            <a:extLst>
              <a:ext uri="{FF2B5EF4-FFF2-40B4-BE49-F238E27FC236}">
                <a16:creationId xmlns:a16="http://schemas.microsoft.com/office/drawing/2014/main" id="{1EC3B6E8-08C0-416D-9CA9-61011191B01A}"/>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b="0" i="0" u="none" cap="none">
                <a:solidFill>
                  <a:schemeClr val="lt1"/>
                </a:solidFill>
                <a:latin typeface="Arial"/>
                <a:ea typeface="Arial"/>
                <a:cs typeface="Arial"/>
              </a:rPr>
              <a:t>lac.tghn.org</a:t>
            </a:r>
          </a:p>
        </p:txBody>
      </p:sp>
      <p:sp>
        <p:nvSpPr>
          <p:cNvPr id="51" name="Google Shape;51;p5">
            <a:extLst>
              <a:ext uri="{FF2B5EF4-FFF2-40B4-BE49-F238E27FC236}">
                <a16:creationId xmlns:a16="http://schemas.microsoft.com/office/drawing/2014/main" id="{BFF46A0B-EB8C-46C5-AC4F-2575680E1AFC}"/>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b="0" i="0" u="none" cap="none">
                <a:solidFill>
                  <a:schemeClr val="lt1"/>
                </a:solidFill>
                <a:latin typeface="Arial"/>
                <a:ea typeface="Arial"/>
                <a:cs typeface="Arial"/>
              </a:rPr>
              <a:t>‹#›</a:t>
            </a:fld>
            <a:endParaRPr sz="1400" b="0" i="0" u="none" cap="none">
              <a:solidFill>
                <a:schemeClr val="lt1"/>
              </a:solidFill>
              <a:latin typeface="Arial"/>
              <a:ea typeface="Arial"/>
              <a:cs typeface="Arial"/>
            </a:endParaRPr>
          </a:p>
        </p:txBody>
      </p:sp>
      <p:pic>
        <p:nvPicPr>
          <p:cNvPr id="60" name="Google Shape;67;p7"/>
          <p:cNvPicPr>
            <a:picLocks noChangeAspect="1"/>
          </p:cNvPicPr>
          <p:nvPr/>
        </p:nvPicPr>
        <p:blipFill>
          <a:blip r:embed="rId3"/>
          <a:srcRect/>
          <a:stretch/>
        </p:blipFill>
        <p:spPr>
          <a:xfrm>
            <a:off x="2846685" y="161363"/>
            <a:ext cx="6498629" cy="735971"/>
          </a:xfrm>
          <a:prstGeom prst="rect">
            <a:avLst/>
          </a:prstGeom>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62" name="Google Shape;62;p7">
            <a:extLst>
              <a:ext uri="{FF2B5EF4-FFF2-40B4-BE49-F238E27FC236}">
                <a16:creationId xmlns:a16="http://schemas.microsoft.com/office/drawing/2014/main" id="{1E27E7C5-896F-41D7-AB08-802322FDDC07}"/>
              </a:ext>
            </a:extLst>
          </p:cNvPr>
          <p:cNvSpPr>
            <a:spLocks noGrp="1"/>
          </p:cNvSpPr>
          <p:nvPr>
            <p:ph type="title"/>
          </p:nvPr>
        </p:nvSpPr>
        <p:spPr>
          <a:xfrm>
            <a:off x="831850" y="2466753"/>
            <a:ext cx="10515600" cy="2095722"/>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6000"/>
              <a:buFont typeface="Noto Sans SemiBold"/>
              <a:buNone/>
              <a:defRPr sz="60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63" name="Google Shape;63;p7">
            <a:extLst>
              <a:ext uri="{FF2B5EF4-FFF2-40B4-BE49-F238E27FC236}">
                <a16:creationId xmlns:a16="http://schemas.microsoft.com/office/drawing/2014/main" id="{6E96A398-2CEF-46A4-9500-35E397F12043}"/>
              </a:ext>
            </a:extLst>
          </p:cNvPr>
          <p:cNvSpPr>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rgbClr val="757575"/>
              </a:buClr>
              <a:buSzPts val="2400"/>
              <a:buNone/>
              <a:defRPr sz="2400">
                <a:solidFill>
                  <a:srgbClr val="757575"/>
                </a:solidFill>
              </a:defRPr>
            </a:lvl1pPr>
            <a:lvl2pPr marL="914400" indent="-228600" algn="l">
              <a:lnSpc>
                <a:spcPct val="90000"/>
              </a:lnSpc>
              <a:spcBef>
                <a:spcPts val="500"/>
              </a:spcBef>
              <a:spcAft>
                <a:spcPts val="0"/>
              </a:spcAft>
              <a:buClr>
                <a:srgbClr val="757575"/>
              </a:buClr>
              <a:buSzPts val="2000"/>
              <a:buNone/>
              <a:defRPr sz="2000">
                <a:solidFill>
                  <a:srgbClr val="757575"/>
                </a:solidFill>
              </a:defRPr>
            </a:lvl2pPr>
            <a:lvl3pPr marL="1371600" indent="-228600" algn="l">
              <a:lnSpc>
                <a:spcPct val="90000"/>
              </a:lnSpc>
              <a:spcBef>
                <a:spcPts val="500"/>
              </a:spcBef>
              <a:spcAft>
                <a:spcPts val="0"/>
              </a:spcAft>
              <a:buClr>
                <a:srgbClr val="757575"/>
              </a:buClr>
              <a:buSzPts val="1800"/>
              <a:buNone/>
              <a:defRPr sz="1800">
                <a:solidFill>
                  <a:srgbClr val="757575"/>
                </a:solidFill>
              </a:defRPr>
            </a:lvl3pPr>
            <a:lvl4pPr marL="1828800" indent="-228600" algn="l">
              <a:lnSpc>
                <a:spcPct val="90000"/>
              </a:lnSpc>
              <a:spcBef>
                <a:spcPts val="500"/>
              </a:spcBef>
              <a:spcAft>
                <a:spcPts val="0"/>
              </a:spcAft>
              <a:buClr>
                <a:srgbClr val="757575"/>
              </a:buClr>
              <a:buSzPts val="1600"/>
              <a:buNone/>
              <a:defRPr sz="1600">
                <a:solidFill>
                  <a:srgbClr val="757575"/>
                </a:solidFill>
              </a:defRPr>
            </a:lvl4pPr>
            <a:lvl5pPr marL="2286000" indent="-228600" algn="l">
              <a:lnSpc>
                <a:spcPct val="90000"/>
              </a:lnSpc>
              <a:spcBef>
                <a:spcPts val="500"/>
              </a:spcBef>
              <a:spcAft>
                <a:spcPts val="0"/>
              </a:spcAft>
              <a:buClr>
                <a:srgbClr val="757575"/>
              </a:buClr>
              <a:buSzPts val="1600"/>
              <a:buNone/>
              <a:defRPr sz="1600">
                <a:solidFill>
                  <a:srgbClr val="757575"/>
                </a:solidFill>
              </a:defRPr>
            </a:lvl5pPr>
            <a:lvl6pPr marL="2743200" indent="-228600" algn="l">
              <a:lnSpc>
                <a:spcPct val="90000"/>
              </a:lnSpc>
              <a:spcBef>
                <a:spcPts val="500"/>
              </a:spcBef>
              <a:spcAft>
                <a:spcPts val="0"/>
              </a:spcAft>
              <a:buClr>
                <a:srgbClr val="757575"/>
              </a:buClr>
              <a:buSzPts val="1600"/>
              <a:buNone/>
              <a:defRPr sz="1600">
                <a:solidFill>
                  <a:srgbClr val="757575"/>
                </a:solidFill>
              </a:defRPr>
            </a:lvl6pPr>
            <a:lvl7pPr marL="3200400" indent="-228600" algn="l">
              <a:lnSpc>
                <a:spcPct val="90000"/>
              </a:lnSpc>
              <a:spcBef>
                <a:spcPts val="500"/>
              </a:spcBef>
              <a:spcAft>
                <a:spcPts val="0"/>
              </a:spcAft>
              <a:buClr>
                <a:srgbClr val="757575"/>
              </a:buClr>
              <a:buSzPts val="1600"/>
              <a:buNone/>
              <a:defRPr sz="1600">
                <a:solidFill>
                  <a:srgbClr val="757575"/>
                </a:solidFill>
              </a:defRPr>
            </a:lvl7pPr>
            <a:lvl8pPr marL="3657600" indent="-228600" algn="l">
              <a:lnSpc>
                <a:spcPct val="90000"/>
              </a:lnSpc>
              <a:spcBef>
                <a:spcPts val="500"/>
              </a:spcBef>
              <a:spcAft>
                <a:spcPts val="0"/>
              </a:spcAft>
              <a:buClr>
                <a:srgbClr val="757575"/>
              </a:buClr>
              <a:buSzPts val="1600"/>
              <a:buNone/>
              <a:defRPr sz="1600">
                <a:solidFill>
                  <a:srgbClr val="757575"/>
                </a:solidFill>
              </a:defRPr>
            </a:lvl8pPr>
            <a:lvl9pPr marL="4114800"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64" name="Google Shape;64;p7">
            <a:extLst>
              <a:ext uri="{FF2B5EF4-FFF2-40B4-BE49-F238E27FC236}">
                <a16:creationId xmlns:a16="http://schemas.microsoft.com/office/drawing/2014/main" id="{4F5FB7F1-F552-4B6D-BFD6-73FF4D153B5E}"/>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b="0" i="0" u="none" cap="none">
              <a:solidFill>
                <a:schemeClr val="lt1"/>
              </a:solidFill>
              <a:latin typeface="Arial"/>
              <a:ea typeface="Arial"/>
              <a:cs typeface="Arial"/>
            </a:endParaRPr>
          </a:p>
        </p:txBody>
      </p:sp>
      <p:sp>
        <p:nvSpPr>
          <p:cNvPr id="65" name="Google Shape;65;p7">
            <a:extLst>
              <a:ext uri="{FF2B5EF4-FFF2-40B4-BE49-F238E27FC236}">
                <a16:creationId xmlns:a16="http://schemas.microsoft.com/office/drawing/2014/main" id="{AD8A5FE7-8AD7-47A1-813F-F7CC76FDD47D}"/>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b="0" i="0" u="none" cap="none">
                <a:solidFill>
                  <a:schemeClr val="lt1"/>
                </a:solidFill>
                <a:latin typeface="Arial"/>
                <a:ea typeface="Arial"/>
                <a:cs typeface="Arial"/>
              </a:rPr>
              <a:t>lac.tghn.org</a:t>
            </a:r>
          </a:p>
        </p:txBody>
      </p:sp>
      <p:sp>
        <p:nvSpPr>
          <p:cNvPr id="66" name="Google Shape;66;p7">
            <a:extLst>
              <a:ext uri="{FF2B5EF4-FFF2-40B4-BE49-F238E27FC236}">
                <a16:creationId xmlns:a16="http://schemas.microsoft.com/office/drawing/2014/main" id="{9EA6B9FB-4C37-4AFA-AC90-9B397F371295}"/>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b="0" i="0" u="none" cap="none">
                <a:solidFill>
                  <a:schemeClr val="lt1"/>
                </a:solidFill>
                <a:latin typeface="Arial"/>
                <a:ea typeface="Arial"/>
                <a:cs typeface="Arial"/>
              </a:rPr>
              <a:t>‹#›</a:t>
            </a:fld>
            <a:endParaRPr sz="1400" b="0" i="0" u="none" cap="none">
              <a:solidFill>
                <a:schemeClr val="lt1"/>
              </a:solidFill>
              <a:latin typeface="Arial"/>
              <a:ea typeface="Arial"/>
              <a:cs typeface="Arial"/>
            </a:endParaRPr>
          </a:p>
        </p:txBody>
      </p:sp>
      <p:pic>
        <p:nvPicPr>
          <p:cNvPr id="73" name="Google Shape;67;p7"/>
          <p:cNvPicPr>
            <a:picLocks noChangeAspect="1"/>
          </p:cNvPicPr>
          <p:nvPr/>
        </p:nvPicPr>
        <p:blipFill>
          <a:blip r:embed="rId2"/>
          <a:srcRect/>
          <a:stretch/>
        </p:blipFill>
        <p:spPr>
          <a:xfrm>
            <a:off x="2846685" y="161363"/>
            <a:ext cx="6498629" cy="735971"/>
          </a:xfrm>
          <a:prstGeom prst="rect">
            <a:avLst/>
          </a:prstGeom>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Four column list acknowledgement">
  <p:cSld name="1_Four column list acknowledgement">
    <p:spTree>
      <p:nvGrpSpPr>
        <p:cNvPr id="1" name=""/>
        <p:cNvGrpSpPr/>
        <p:nvPr/>
      </p:nvGrpSpPr>
      <p:grpSpPr>
        <a:xfrm>
          <a:off x="0" y="0"/>
          <a:ext cx="0" cy="0"/>
          <a:chOff x="0" y="0"/>
          <a:chExt cx="0" cy="0"/>
        </a:xfrm>
      </p:grpSpPr>
      <p:pic>
        <p:nvPicPr>
          <p:cNvPr id="101" name="Google Shape;90;p11"/>
          <p:cNvPicPr>
            <a:picLocks noChangeAspect="1"/>
          </p:cNvPicPr>
          <p:nvPr/>
        </p:nvPicPr>
        <p:blipFill rotWithShape="1">
          <a:blip r:embed="rId2">
            <a:alphaModFix amt="10000"/>
          </a:blip>
          <a:srcRect t="14912" r="21635" b="31073"/>
          <a:stretch/>
        </p:blipFill>
        <p:spPr>
          <a:xfrm>
            <a:off x="1980961" y="0"/>
            <a:ext cx="10220871" cy="6356351"/>
          </a:xfrm>
          <a:prstGeom prst="rect">
            <a:avLst/>
          </a:prstGeom>
          <a:ln>
            <a:noFill/>
          </a:ln>
        </p:spPr>
      </p:pic>
      <p:sp>
        <p:nvSpPr>
          <p:cNvPr id="91" name="Google Shape;91;p11">
            <a:extLst>
              <a:ext uri="{FF2B5EF4-FFF2-40B4-BE49-F238E27FC236}">
                <a16:creationId xmlns:a16="http://schemas.microsoft.com/office/drawing/2014/main" id="{F1D7EF1B-3663-4821-84F9-550DE4ACC8B2}"/>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b="0" i="0" u="none" cap="none">
              <a:solidFill>
                <a:schemeClr val="lt1"/>
              </a:solidFill>
              <a:latin typeface="Arial"/>
              <a:ea typeface="Arial"/>
              <a:cs typeface="Arial"/>
            </a:endParaRPr>
          </a:p>
        </p:txBody>
      </p:sp>
      <p:sp>
        <p:nvSpPr>
          <p:cNvPr id="92" name="Google Shape;92;p11">
            <a:extLst>
              <a:ext uri="{FF2B5EF4-FFF2-40B4-BE49-F238E27FC236}">
                <a16:creationId xmlns:a16="http://schemas.microsoft.com/office/drawing/2014/main" id="{BE559E15-4B6E-42D7-9971-63DD916A8AAE}"/>
              </a:ext>
            </a:extLst>
          </p:cNvPr>
          <p:cNvSpPr>
            <a:spLocks noGrp="1"/>
          </p:cNvSpPr>
          <p:nvPr>
            <p:ph type="sldNum" idx="12"/>
          </p:nvPr>
        </p:nvSpPr>
        <p:spPr>
          <a:xfrm>
            <a:off x="8610599" y="6393638"/>
            <a:ext cx="3375213" cy="365125"/>
          </a:xfrm>
          <a:prstGeom prst="rect">
            <a:avLst/>
          </a:prstGeom>
          <a:noFill/>
          <a:ln>
            <a:noFill/>
          </a:ln>
        </p:spPr>
        <p:txBody>
          <a:bodyPr spcFirstLastPara="1" wrap="square" lIns="91425" tIns="45700" rIns="91425" bIns="45700" anchor="ctr">
            <a:noAutofit/>
          </a:bodyPr>
          <a:lstStyle>
            <a:lvl1pPr marL="0" marR="0" indent="0" algn="r">
              <a:spcBef>
                <a:spcPts val="0"/>
              </a:spcBef>
              <a:buNone/>
              <a:defRPr sz="1200" b="0" i="0" u="none" cap="none">
                <a:solidFill>
                  <a:schemeClr val="lt1"/>
                </a:solidFill>
                <a:latin typeface="Arial"/>
                <a:ea typeface="Arial"/>
                <a:cs typeface="Arial"/>
              </a:defRPr>
            </a:lvl1pPr>
            <a:lvl2pPr marL="0" marR="0" indent="0" algn="r">
              <a:spcBef>
                <a:spcPts val="0"/>
              </a:spcBef>
              <a:buNone/>
              <a:defRPr sz="1200" b="0" i="0" u="none" cap="none">
                <a:solidFill>
                  <a:schemeClr val="lt1"/>
                </a:solidFill>
                <a:latin typeface="Arial"/>
                <a:ea typeface="Arial"/>
                <a:cs typeface="Arial"/>
              </a:defRPr>
            </a:lvl2pPr>
            <a:lvl3pPr marL="0" marR="0" indent="0" algn="r">
              <a:spcBef>
                <a:spcPts val="0"/>
              </a:spcBef>
              <a:buNone/>
              <a:defRPr sz="1200" b="0" i="0" u="none" cap="none">
                <a:solidFill>
                  <a:schemeClr val="lt1"/>
                </a:solidFill>
                <a:latin typeface="Arial"/>
                <a:ea typeface="Arial"/>
                <a:cs typeface="Arial"/>
              </a:defRPr>
            </a:lvl3pPr>
            <a:lvl4pPr marL="0" marR="0" indent="0" algn="r">
              <a:spcBef>
                <a:spcPts val="0"/>
              </a:spcBef>
              <a:buNone/>
              <a:defRPr sz="1200" b="0" i="0" u="none" cap="none">
                <a:solidFill>
                  <a:schemeClr val="lt1"/>
                </a:solidFill>
                <a:latin typeface="Arial"/>
                <a:ea typeface="Arial"/>
                <a:cs typeface="Arial"/>
              </a:defRPr>
            </a:lvl4pPr>
            <a:lvl5pPr marL="0" marR="0" indent="0" algn="r">
              <a:spcBef>
                <a:spcPts val="0"/>
              </a:spcBef>
              <a:buNone/>
              <a:defRPr sz="1200" b="0" i="0" u="none" cap="none">
                <a:solidFill>
                  <a:schemeClr val="lt1"/>
                </a:solidFill>
                <a:latin typeface="Arial"/>
                <a:ea typeface="Arial"/>
                <a:cs typeface="Arial"/>
              </a:defRPr>
            </a:lvl5pPr>
            <a:lvl6pPr marL="0" marR="0" indent="0" algn="r">
              <a:spcBef>
                <a:spcPts val="0"/>
              </a:spcBef>
              <a:buNone/>
              <a:defRPr sz="1200" b="0" i="0" u="none" cap="none">
                <a:solidFill>
                  <a:schemeClr val="lt1"/>
                </a:solidFill>
                <a:latin typeface="Arial"/>
                <a:ea typeface="Arial"/>
                <a:cs typeface="Arial"/>
              </a:defRPr>
            </a:lvl6pPr>
            <a:lvl7pPr marL="0" marR="0" indent="0" algn="r">
              <a:spcBef>
                <a:spcPts val="0"/>
              </a:spcBef>
              <a:buNone/>
              <a:defRPr sz="1200" b="0" i="0" u="none" cap="none">
                <a:solidFill>
                  <a:schemeClr val="lt1"/>
                </a:solidFill>
                <a:latin typeface="Arial"/>
                <a:ea typeface="Arial"/>
                <a:cs typeface="Arial"/>
              </a:defRPr>
            </a:lvl7pPr>
            <a:lvl8pPr marL="0" marR="0" indent="0" algn="r">
              <a:spcBef>
                <a:spcPts val="0"/>
              </a:spcBef>
              <a:buNone/>
              <a:defRPr sz="1200" b="0" i="0" u="none" cap="none">
                <a:solidFill>
                  <a:schemeClr val="lt1"/>
                </a:solidFill>
                <a:latin typeface="Arial"/>
                <a:ea typeface="Arial"/>
                <a:cs typeface="Arial"/>
              </a:defRPr>
            </a:lvl8pPr>
            <a:lvl9pPr marL="0" marR="0" indent="0" algn="r">
              <a:spcBef>
                <a:spcPts val="0"/>
              </a:spcBef>
              <a:buNone/>
              <a:defRPr sz="1200" b="0" i="0" u="none" cap="none">
                <a:solidFill>
                  <a:schemeClr val="lt1"/>
                </a:solidFill>
                <a:latin typeface="Arial"/>
                <a:ea typeface="Arial"/>
                <a:cs typeface="Arial"/>
              </a:defRPr>
            </a:lvl9pPr>
          </a:lstStyle>
          <a:p>
            <a:pPr marL="0" lvl="0" indent="0" algn="r">
              <a:spcBef>
                <a:spcPts val="0"/>
              </a:spcBef>
              <a:spcAft>
                <a:spcPts val="0"/>
              </a:spcAft>
              <a:buNone/>
            </a:pPr>
            <a:fld id="{00000000-1234-1234-1234-123412341234}" type="slidenum">
              <a:t>‹#›</a:t>
            </a:fld>
            <a:endParaRPr/>
          </a:p>
        </p:txBody>
      </p:sp>
      <p:sp>
        <p:nvSpPr>
          <p:cNvPr id="93" name="Google Shape;93;p11">
            <a:extLst>
              <a:ext uri="{FF2B5EF4-FFF2-40B4-BE49-F238E27FC236}">
                <a16:creationId xmlns:a16="http://schemas.microsoft.com/office/drawing/2014/main" id="{20D51340-1F91-4104-A1E5-EAD2E19B94AD}"/>
              </a:ext>
            </a:extLst>
          </p:cNvPr>
          <p:cNvSpPr>
            <a:spLocks noGrp="1"/>
          </p:cNvSpPr>
          <p:nvPr/>
        </p:nvSpPr>
        <p:spPr>
          <a:xfrm>
            <a:off x="206188" y="6389431"/>
            <a:ext cx="5250426" cy="369332"/>
          </a:xfrm>
          <a:prstGeom prst="rect">
            <a:avLst/>
          </a:prstGeom>
          <a:noFill/>
          <a:ln>
            <a:noFill/>
          </a:ln>
        </p:spPr>
        <p:txBody>
          <a:bodyPr spcFirstLastPara="1" wrap="square" lIns="91425" tIns="45700" rIns="91425" bIns="45700" anchor="t">
            <a:spAutoFit/>
          </a:bodyPr>
          <a:lstStyle/>
          <a:p>
            <a:pPr marL="0" marR="0" lvl="0" indent="0" algn="l">
              <a:spcBef>
                <a:spcPts val="0"/>
              </a:spcBef>
              <a:spcAft>
                <a:spcPts val="0"/>
              </a:spcAft>
              <a:buNone/>
            </a:pPr>
            <a:r>
              <a:rPr sz="1800" b="0" i="0" u="none" cap="none">
                <a:solidFill>
                  <a:schemeClr val="lt1"/>
                </a:solidFill>
                <a:latin typeface="Arial"/>
                <a:ea typeface="Arial"/>
                <a:cs typeface="Arial"/>
              </a:rPr>
              <a:t>www.theglobalhealthnetwork.org</a:t>
            </a:r>
            <a:endParaRPr sz="1800">
              <a:solidFill>
                <a:schemeClr val="lt1"/>
              </a:solidFill>
              <a:latin typeface="Arial"/>
              <a:ea typeface="Arial"/>
              <a:cs typeface="Arial"/>
            </a:endParaRPr>
          </a:p>
        </p:txBody>
      </p:sp>
      <p:sp>
        <p:nvSpPr>
          <p:cNvPr id="94" name="Google Shape;94;p11">
            <a:extLst>
              <a:ext uri="{FF2B5EF4-FFF2-40B4-BE49-F238E27FC236}">
                <a16:creationId xmlns:a16="http://schemas.microsoft.com/office/drawing/2014/main" id="{AF1B1C78-C13C-44E7-96F1-3EB038CF879D}"/>
              </a:ext>
            </a:extLst>
          </p:cNvPr>
          <p:cNvSpPr>
            <a:spLocks noGrp="1"/>
          </p:cNvSpPr>
          <p:nvPr>
            <p:ph type="title"/>
          </p:nvPr>
        </p:nvSpPr>
        <p:spPr>
          <a:xfrm>
            <a:off x="206188" y="365125"/>
            <a:ext cx="11779624"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4000"/>
              <a:buFont typeface="Noto Sans SemiBold"/>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95" name="Google Shape;95;p11">
            <a:extLst>
              <a:ext uri="{FF2B5EF4-FFF2-40B4-BE49-F238E27FC236}">
                <a16:creationId xmlns:a16="http://schemas.microsoft.com/office/drawing/2014/main" id="{B0500C0D-11E1-42F4-91EA-4E1F0C602DCB}"/>
              </a:ext>
            </a:extLst>
          </p:cNvPr>
          <p:cNvSpPr>
            <a:spLocks noGrp="1"/>
          </p:cNvSpPr>
          <p:nvPr>
            <p:ph type="body" idx="1"/>
          </p:nvPr>
        </p:nvSpPr>
        <p:spPr>
          <a:xfrm>
            <a:off x="206188" y="1885443"/>
            <a:ext cx="11779623" cy="4054111"/>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96" name="Google Shape;96;p11">
            <a:extLst>
              <a:ext uri="{FF2B5EF4-FFF2-40B4-BE49-F238E27FC236}">
                <a16:creationId xmlns:a16="http://schemas.microsoft.com/office/drawing/2014/main" id="{AA67C027-6CFF-4711-B1BF-B416F16357B3}"/>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97" name="Google Shape;97;p11">
            <a:extLst>
              <a:ext uri="{FF2B5EF4-FFF2-40B4-BE49-F238E27FC236}">
                <a16:creationId xmlns:a16="http://schemas.microsoft.com/office/drawing/2014/main" id="{468EDE98-31F3-4F7B-A82B-D6054875DAB7}"/>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98" name="Google Shape;98;p11">
            <a:extLst>
              <a:ext uri="{FF2B5EF4-FFF2-40B4-BE49-F238E27FC236}">
                <a16:creationId xmlns:a16="http://schemas.microsoft.com/office/drawing/2014/main" id="{58E17797-15F2-4B7B-9902-DEEC5465F306}"/>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pic>
        <p:nvPicPr>
          <p:cNvPr id="110" name="Google Shape;67;p7"/>
          <p:cNvPicPr>
            <a:picLocks noChangeAspect="1"/>
          </p:cNvPicPr>
          <p:nvPr/>
        </p:nvPicPr>
        <p:blipFill>
          <a:blip r:embed="rId3"/>
          <a:srcRect/>
          <a:stretch/>
        </p:blipFill>
        <p:spPr>
          <a:xfrm>
            <a:off x="2846685" y="161363"/>
            <a:ext cx="6498629" cy="735971"/>
          </a:xfrm>
          <a:prstGeom prst="rect">
            <a:avLst/>
          </a:prstGeom>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Title Slide">
  <p:cSld name="Main Title Slide">
    <p:spTree>
      <p:nvGrpSpPr>
        <p:cNvPr id="1" name=""/>
        <p:cNvGrpSpPr/>
        <p:nvPr/>
      </p:nvGrpSpPr>
      <p:grpSpPr>
        <a:xfrm>
          <a:off x="0" y="0"/>
          <a:ext cx="0" cy="0"/>
          <a:chOff x="0" y="0"/>
          <a:chExt cx="0" cy="0"/>
        </a:xfrm>
      </p:grpSpPr>
      <p:sp>
        <p:nvSpPr>
          <p:cNvPr id="140" name="Google Shape;140;p15">
            <a:extLst>
              <a:ext uri="{FF2B5EF4-FFF2-40B4-BE49-F238E27FC236}">
                <a16:creationId xmlns:a16="http://schemas.microsoft.com/office/drawing/2014/main" id="{6D1C97BC-DD79-46D2-B540-40D88CC15CF9}"/>
              </a:ext>
            </a:extLst>
          </p:cNvPr>
          <p:cNvSpPr>
            <a:spLocks noGrp="1"/>
          </p:cNvSpPr>
          <p:nvPr/>
        </p:nvSpPr>
        <p:spPr>
          <a:xfrm>
            <a:off x="9832" y="1884834"/>
            <a:ext cx="12192000" cy="4973166"/>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pic>
        <p:nvPicPr>
          <p:cNvPr id="147" name="Google Shape;141;p15"/>
          <p:cNvPicPr>
            <a:picLocks noChangeAspect="1"/>
          </p:cNvPicPr>
          <p:nvPr/>
        </p:nvPicPr>
        <p:blipFill rotWithShape="1">
          <a:blip r:embed="rId2">
            <a:alphaModFix amt="10000"/>
          </a:blip>
          <a:srcRect t="10864" r="4297" b="45730"/>
          <a:stretch/>
        </p:blipFill>
        <p:spPr>
          <a:xfrm>
            <a:off x="-9832" y="1876813"/>
            <a:ext cx="12192000" cy="4989208"/>
          </a:xfrm>
          <a:prstGeom prst="rect">
            <a:avLst/>
          </a:prstGeom>
          <a:ln>
            <a:noFill/>
          </a:ln>
        </p:spPr>
      </p:pic>
      <p:sp>
        <p:nvSpPr>
          <p:cNvPr id="142" name="Google Shape;142;p15">
            <a:extLst>
              <a:ext uri="{FF2B5EF4-FFF2-40B4-BE49-F238E27FC236}">
                <a16:creationId xmlns:a16="http://schemas.microsoft.com/office/drawing/2014/main" id="{8AD05C52-4176-4829-B937-30A6C304D9B5}"/>
              </a:ext>
            </a:extLst>
          </p:cNvPr>
          <p:cNvSpPr>
            <a:spLocks noGrp="1"/>
          </p:cNvSpPr>
          <p:nvPr>
            <p:ph type="ctrTitle"/>
          </p:nvPr>
        </p:nvSpPr>
        <p:spPr>
          <a:xfrm>
            <a:off x="206188" y="2494210"/>
            <a:ext cx="9429425" cy="1944037"/>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lt1"/>
              </a:buClr>
              <a:buSzPts val="6000"/>
              <a:buFont typeface="Noto Sans SemiBold"/>
              <a:buNone/>
              <a:defRPr sz="6000" b="1" i="0">
                <a:solidFill>
                  <a:schemeClr val="lt1"/>
                </a:solidFill>
                <a:latin typeface="Noto Sans SemiBold"/>
                <a:ea typeface="Noto Sans SemiBold"/>
                <a:cs typeface="Noto Sans SemiBold"/>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43" name="Google Shape;143;p15">
            <a:extLst>
              <a:ext uri="{FF2B5EF4-FFF2-40B4-BE49-F238E27FC236}">
                <a16:creationId xmlns:a16="http://schemas.microsoft.com/office/drawing/2014/main" id="{69665E06-4E2D-4B65-8E11-842B3320AEE8}"/>
              </a:ext>
            </a:extLst>
          </p:cNvPr>
          <p:cNvSpPr>
            <a:spLocks noGrp="1"/>
          </p:cNvSpPr>
          <p:nvPr>
            <p:ph type="subTitle" idx="1"/>
          </p:nvPr>
        </p:nvSpPr>
        <p:spPr>
          <a:xfrm>
            <a:off x="206188" y="4676105"/>
            <a:ext cx="9429425" cy="1458357"/>
          </a:xfrm>
          <a:prstGeom prst="rect">
            <a:avLst/>
          </a:prstGeom>
          <a:noFill/>
          <a:ln>
            <a:noFill/>
          </a:ln>
        </p:spPr>
        <p:txBody>
          <a:bodyPr spcFirstLastPara="1" wrap="square" lIns="91425" tIns="45700" rIns="91425" bIns="45700" anchor="t">
            <a:normAutofit/>
          </a:bodyPr>
          <a:lstStyle>
            <a:lvl1pPr algn="l">
              <a:lnSpc>
                <a:spcPct val="90000"/>
              </a:lnSpc>
              <a:spcBef>
                <a:spcPts val="1000"/>
              </a:spcBef>
              <a:spcAft>
                <a:spcPts val="0"/>
              </a:spcAft>
              <a:buClr>
                <a:schemeClr val="lt1"/>
              </a:buClr>
              <a:buSzPts val="2400"/>
              <a:buNone/>
              <a:defRPr sz="2400" b="0" i="0">
                <a:solidFill>
                  <a:schemeClr val="lt1"/>
                </a:solidFill>
                <a:latin typeface="Noto Sans"/>
                <a:ea typeface="Noto Sans"/>
                <a:cs typeface="Noto Sans"/>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a:endParaRPr/>
          </a:p>
        </p:txBody>
      </p:sp>
      <p:pic>
        <p:nvPicPr>
          <p:cNvPr id="150" name="Google Shape;67;p7"/>
          <p:cNvPicPr>
            <a:picLocks noChangeAspect="1"/>
          </p:cNvPicPr>
          <p:nvPr/>
        </p:nvPicPr>
        <p:blipFill>
          <a:blip r:embed="rId3"/>
          <a:srcRect/>
          <a:stretch/>
        </p:blipFill>
        <p:spPr>
          <a:xfrm>
            <a:off x="2846685" y="161363"/>
            <a:ext cx="6498629" cy="735971"/>
          </a:xfrm>
          <a:prstGeom prst="rect">
            <a:avLst/>
          </a:prstGeom>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
        <p:cNvGrpSpPr/>
        <p:nvPr/>
      </p:nvGrpSpPr>
      <p:grpSpPr>
        <a:xfrm>
          <a:off x="0" y="0"/>
          <a:ext cx="0" cy="0"/>
          <a:chOff x="0" y="0"/>
          <a:chExt cx="0" cy="0"/>
        </a:xfrm>
      </p:grpSpPr>
      <p:sp>
        <p:nvSpPr>
          <p:cNvPr id="146" name="Google Shape;146;p16">
            <a:extLst>
              <a:ext uri="{FF2B5EF4-FFF2-40B4-BE49-F238E27FC236}">
                <a16:creationId xmlns:a16="http://schemas.microsoft.com/office/drawing/2014/main" id="{58A37C1E-8E64-46FA-9598-D16A2CE7101A}"/>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47" name="Google Shape;147;p16">
            <a:extLst>
              <a:ext uri="{FF2B5EF4-FFF2-40B4-BE49-F238E27FC236}">
                <a16:creationId xmlns:a16="http://schemas.microsoft.com/office/drawing/2014/main" id="{D6C2540C-2A2D-4560-9692-656B584701EF}"/>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48" name="Google Shape;148;p16">
            <a:extLst>
              <a:ext uri="{FF2B5EF4-FFF2-40B4-BE49-F238E27FC236}">
                <a16:creationId xmlns:a16="http://schemas.microsoft.com/office/drawing/2014/main" id="{1DE3C341-90D1-4B4E-8B32-4150BED0D59D}"/>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
        <p:nvSpPr>
          <p:cNvPr id="149" name="Google Shape;149;p16">
            <a:extLst>
              <a:ext uri="{FF2B5EF4-FFF2-40B4-BE49-F238E27FC236}">
                <a16:creationId xmlns:a16="http://schemas.microsoft.com/office/drawing/2014/main" id="{F306D267-B537-4B37-A705-90CD993231A4}"/>
              </a:ext>
            </a:extLst>
          </p:cNvPr>
          <p:cNvSpPr>
            <a:spLocks noGrp="1"/>
          </p:cNvSpPr>
          <p:nvPr>
            <p:ph type="title"/>
          </p:nvPr>
        </p:nvSpPr>
        <p:spPr>
          <a:xfrm>
            <a:off x="127000" y="365125"/>
            <a:ext cx="11937998"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4000"/>
              <a:buFont typeface="Noto Sans SemiBold"/>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
        <p:cNvGrpSpPr/>
        <p:nvPr/>
      </p:nvGrpSpPr>
      <p:grpSpPr>
        <a:xfrm>
          <a:off x="0" y="0"/>
          <a:ext cx="0" cy="0"/>
          <a:chOff x="0" y="0"/>
          <a:chExt cx="0" cy="0"/>
        </a:xfrm>
      </p:grpSpPr>
      <p:sp>
        <p:nvSpPr>
          <p:cNvPr id="151" name="Google Shape;151;p17">
            <a:extLst>
              <a:ext uri="{FF2B5EF4-FFF2-40B4-BE49-F238E27FC236}">
                <a16:creationId xmlns:a16="http://schemas.microsoft.com/office/drawing/2014/main" id="{E4F07900-9622-4080-8681-4BD2ACDAE2F8}"/>
              </a:ext>
            </a:extLst>
          </p:cNvPr>
          <p:cNvSpPr>
            <a:spLocks noGrp="1"/>
          </p:cNvSpPr>
          <p:nvPr>
            <p:ph type="title"/>
          </p:nvPr>
        </p:nvSpPr>
        <p:spPr>
          <a:xfrm>
            <a:off x="127000" y="457200"/>
            <a:ext cx="4645025" cy="1600200"/>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3200"/>
              <a:buFont typeface="Noto Sans SemiBold"/>
              <a:buNone/>
              <a:defRPr sz="32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52" name="Google Shape;152;p17">
            <a:extLst>
              <a:ext uri="{FF2B5EF4-FFF2-40B4-BE49-F238E27FC236}">
                <a16:creationId xmlns:a16="http://schemas.microsoft.com/office/drawing/2014/main" id="{3FD8A73F-FF2C-4DC4-9839-8FDFF644A9BE}"/>
              </a:ext>
            </a:extLst>
          </p:cNvPr>
          <p:cNvSpPr>
            <a:spLocks noGrp="1"/>
          </p:cNvSpPr>
          <p:nvPr>
            <p:ph type="pic" idx="2"/>
          </p:nvPr>
        </p:nvSpPr>
        <p:spPr>
          <a:xfrm>
            <a:off x="5183188" y="987425"/>
            <a:ext cx="6259304" cy="4873625"/>
          </a:xfrm>
          <a:prstGeom prst="rect">
            <a:avLst/>
          </a:prstGeom>
          <a:noFill/>
          <a:ln>
            <a:noFill/>
          </a:ln>
        </p:spPr>
      </p:sp>
      <p:sp>
        <p:nvSpPr>
          <p:cNvPr id="153" name="Google Shape;153;p17">
            <a:extLst>
              <a:ext uri="{FF2B5EF4-FFF2-40B4-BE49-F238E27FC236}">
                <a16:creationId xmlns:a16="http://schemas.microsoft.com/office/drawing/2014/main" id="{89D5857F-1CF6-4008-AA90-1B4573A5936E}"/>
              </a:ext>
            </a:extLst>
          </p:cNvPr>
          <p:cNvSpPr>
            <a:spLocks noGrp="1"/>
          </p:cNvSpPr>
          <p:nvPr>
            <p:ph type="body" idx="1"/>
          </p:nvPr>
        </p:nvSpPr>
        <p:spPr>
          <a:xfrm>
            <a:off x="749508" y="2057400"/>
            <a:ext cx="4022517" cy="381158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a:endParaRPr/>
          </a:p>
        </p:txBody>
      </p:sp>
      <p:sp>
        <p:nvSpPr>
          <p:cNvPr id="154" name="Google Shape;154;p17">
            <a:extLst>
              <a:ext uri="{FF2B5EF4-FFF2-40B4-BE49-F238E27FC236}">
                <a16:creationId xmlns:a16="http://schemas.microsoft.com/office/drawing/2014/main" id="{368D7CFB-E3EC-469E-B974-838CF4296B1C}"/>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55" name="Google Shape;155;p17">
            <a:extLst>
              <a:ext uri="{FF2B5EF4-FFF2-40B4-BE49-F238E27FC236}">
                <a16:creationId xmlns:a16="http://schemas.microsoft.com/office/drawing/2014/main" id="{B16A661E-CD8E-4CAA-8741-242B3CAFB794}"/>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56" name="Google Shape;156;p17">
            <a:extLst>
              <a:ext uri="{FF2B5EF4-FFF2-40B4-BE49-F238E27FC236}">
                <a16:creationId xmlns:a16="http://schemas.microsoft.com/office/drawing/2014/main" id="{8E1D8B5B-D9D1-4133-9BBE-B268486595B7}"/>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
        <p:cNvGrpSpPr/>
        <p:nvPr/>
      </p:nvGrpSpPr>
      <p:grpSpPr>
        <a:xfrm>
          <a:off x="0" y="0"/>
          <a:ext cx="0" cy="0"/>
          <a:chOff x="0" y="0"/>
          <a:chExt cx="0" cy="0"/>
        </a:xfrm>
      </p:grpSpPr>
      <p:sp>
        <p:nvSpPr>
          <p:cNvPr id="158" name="Google Shape;158;p18">
            <a:extLst>
              <a:ext uri="{FF2B5EF4-FFF2-40B4-BE49-F238E27FC236}">
                <a16:creationId xmlns:a16="http://schemas.microsoft.com/office/drawing/2014/main" id="{264C7AD3-A260-448D-9237-AD9C42A20373}"/>
              </a:ext>
            </a:extLst>
          </p:cNvPr>
          <p:cNvSpPr>
            <a:spLocks noGrp="1"/>
          </p:cNvSpPr>
          <p:nvPr>
            <p:ph type="title"/>
          </p:nvPr>
        </p:nvSpPr>
        <p:spPr>
          <a:xfrm>
            <a:off x="838200" y="365125"/>
            <a:ext cx="11226800" cy="1387475"/>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59" name="Google Shape;159;p18">
            <a:extLst>
              <a:ext uri="{FF2B5EF4-FFF2-40B4-BE49-F238E27FC236}">
                <a16:creationId xmlns:a16="http://schemas.microsoft.com/office/drawing/2014/main" id="{FABBFE80-DF22-439A-8886-23AA2B9B70FB}"/>
              </a:ext>
            </a:extLst>
          </p:cNvPr>
          <p:cNvSpPr>
            <a:spLocks noGrp="1"/>
          </p:cNvSpPr>
          <p:nvPr>
            <p:ph type="body" idx="1"/>
          </p:nvPr>
        </p:nvSpPr>
        <p:spPr>
          <a:xfrm rot="5400000">
            <a:off x="4698805" y="-1189232"/>
            <a:ext cx="4691063" cy="1004132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160" name="Google Shape;160;p18">
            <a:extLst>
              <a:ext uri="{FF2B5EF4-FFF2-40B4-BE49-F238E27FC236}">
                <a16:creationId xmlns:a16="http://schemas.microsoft.com/office/drawing/2014/main" id="{5340A304-6EA4-4217-9F6A-33F779F127F2}"/>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61" name="Google Shape;161;p18">
            <a:extLst>
              <a:ext uri="{FF2B5EF4-FFF2-40B4-BE49-F238E27FC236}">
                <a16:creationId xmlns:a16="http://schemas.microsoft.com/office/drawing/2014/main" id="{8FB9ED0A-2776-48EC-8CF3-BCDA1452FF6F}"/>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62" name="Google Shape;162;p18">
            <a:extLst>
              <a:ext uri="{FF2B5EF4-FFF2-40B4-BE49-F238E27FC236}">
                <a16:creationId xmlns:a16="http://schemas.microsoft.com/office/drawing/2014/main" id="{2FF50A1A-141D-47FC-A20A-0E5F3A418CC5}"/>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
        <p:cNvGrpSpPr/>
        <p:nvPr/>
      </p:nvGrpSpPr>
      <p:grpSpPr>
        <a:xfrm>
          <a:off x="0" y="0"/>
          <a:ext cx="0" cy="0"/>
          <a:chOff x="0" y="0"/>
          <a:chExt cx="0" cy="0"/>
        </a:xfrm>
      </p:grpSpPr>
      <p:sp>
        <p:nvSpPr>
          <p:cNvPr id="164" name="Google Shape;164;p19">
            <a:extLst>
              <a:ext uri="{FF2B5EF4-FFF2-40B4-BE49-F238E27FC236}">
                <a16:creationId xmlns:a16="http://schemas.microsoft.com/office/drawing/2014/main" id="{01C27AC0-7788-42B8-B2F5-78FA4045081A}"/>
              </a:ext>
            </a:extLst>
          </p:cNvPr>
          <p:cNvSpPr>
            <a:spLocks noGrp="1"/>
          </p:cNvSpPr>
          <p:nvPr>
            <p:ph type="title"/>
          </p:nvPr>
        </p:nvSpPr>
        <p:spPr>
          <a:xfrm rot="5400000">
            <a:off x="7489031" y="1600994"/>
            <a:ext cx="5811838" cy="3340100"/>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65" name="Google Shape;165;p19">
            <a:extLst>
              <a:ext uri="{FF2B5EF4-FFF2-40B4-BE49-F238E27FC236}">
                <a16:creationId xmlns:a16="http://schemas.microsoft.com/office/drawing/2014/main" id="{34AE6E28-079F-48C5-85D9-328841E85173}"/>
              </a:ext>
            </a:extLst>
          </p:cNvPr>
          <p:cNvSpPr>
            <a:spLocks noGrp="1"/>
          </p:cNvSpPr>
          <p:nvPr>
            <p:ph type="body" idx="1"/>
          </p:nvPr>
        </p:nvSpPr>
        <p:spPr>
          <a:xfrm rot="5400000">
            <a:off x="1443831" y="-951706"/>
            <a:ext cx="5811838" cy="8445500"/>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166" name="Google Shape;166;p19">
            <a:extLst>
              <a:ext uri="{FF2B5EF4-FFF2-40B4-BE49-F238E27FC236}">
                <a16:creationId xmlns:a16="http://schemas.microsoft.com/office/drawing/2014/main" id="{7179F033-F1CD-486F-9338-E32076ECE0A7}"/>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67" name="Google Shape;167;p19">
            <a:extLst>
              <a:ext uri="{FF2B5EF4-FFF2-40B4-BE49-F238E27FC236}">
                <a16:creationId xmlns:a16="http://schemas.microsoft.com/office/drawing/2014/main" id="{07EE1CFB-4D74-4A96-BD42-949422977C1B}"/>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68" name="Google Shape;168;p19">
            <a:extLst>
              <a:ext uri="{FF2B5EF4-FFF2-40B4-BE49-F238E27FC236}">
                <a16:creationId xmlns:a16="http://schemas.microsoft.com/office/drawing/2014/main" id="{08E55D8E-EB1B-4A17-A2D9-227DE1B8FC1B}"/>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
        <p:cNvGrpSpPr/>
        <p:nvPr/>
      </p:nvGrpSpPr>
      <p:grpSpPr>
        <a:xfrm>
          <a:off x="0" y="0"/>
          <a:ext cx="0" cy="0"/>
          <a:chOff x="0" y="0"/>
          <a:chExt cx="0" cy="0"/>
        </a:xfrm>
      </p:grpSpPr>
      <p:sp>
        <p:nvSpPr>
          <p:cNvPr id="170" name="Google Shape;170;p20">
            <a:extLst>
              <a:ext uri="{FF2B5EF4-FFF2-40B4-BE49-F238E27FC236}">
                <a16:creationId xmlns:a16="http://schemas.microsoft.com/office/drawing/2014/main" id="{059C8C22-4D7B-4434-9E53-5D9B81CED931}"/>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71" name="Google Shape;171;p20">
            <a:extLst>
              <a:ext uri="{FF2B5EF4-FFF2-40B4-BE49-F238E27FC236}">
                <a16:creationId xmlns:a16="http://schemas.microsoft.com/office/drawing/2014/main" id="{A4EFE70B-A33C-4709-B00D-ED506129237B}"/>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72" name="Google Shape;172;p20">
            <a:extLst>
              <a:ext uri="{FF2B5EF4-FFF2-40B4-BE49-F238E27FC236}">
                <a16:creationId xmlns:a16="http://schemas.microsoft.com/office/drawing/2014/main" id="{BE67EF6C-B483-4D9D-B2BD-C12C7371CBD3}"/>
              </a:ext>
            </a:extLst>
          </p:cNvPr>
          <p:cNvSpPr>
            <a:spLocks noGrp="1"/>
          </p:cNvSpPr>
          <p:nvPr/>
        </p:nvSpPr>
        <p:spPr>
          <a:xfrm>
            <a:off x="8816787" y="4382770"/>
            <a:ext cx="3375213"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None/>
            </a:pPr>
            <a:fld id="{00000000-1234-1234-1234-123412341234}" type="slidenum">
              <a:rPr sz="1200">
                <a:solidFill>
                  <a:schemeClr val="lt1"/>
                </a:solidFill>
                <a:latin typeface="Arial"/>
                <a:ea typeface="Arial"/>
                <a:cs typeface="Arial"/>
              </a:rPr>
              <a:t>‹#›</a:t>
            </a:fld>
            <a:endParaRPr sz="1200">
              <a:solidFill>
                <a:schemeClr val="lt1"/>
              </a:solidFill>
              <a:latin typeface="Arial"/>
              <a:ea typeface="Arial"/>
              <a:cs typeface="Arial"/>
            </a:endParaRPr>
          </a:p>
        </p:txBody>
      </p:sp>
      <p:sp>
        <p:nvSpPr>
          <p:cNvPr id="173" name="Google Shape;173;p20">
            <a:extLst>
              <a:ext uri="{FF2B5EF4-FFF2-40B4-BE49-F238E27FC236}">
                <a16:creationId xmlns:a16="http://schemas.microsoft.com/office/drawing/2014/main" id="{A0EC6E0A-8B43-41B9-BBF4-ED1D813DC44C}"/>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E4F96F-8F72-42AA-A830-A0E3809246B0}"/>
              </a:ext>
            </a:extLst>
          </p:cNvPr>
          <p:cNvSpPr>
            <a:spLocks noGrp="1"/>
          </p:cNvSpPr>
          <p:nvPr>
            <p:ph type="ctrTitle"/>
          </p:nvPr>
        </p:nvSpPr>
        <p:spPr>
          <a:xfrm>
            <a:off x="1524000" y="1122363"/>
            <a:ext cx="9144000" cy="2387600"/>
          </a:xfrm>
        </p:spPr>
        <p:txBody>
          <a:bodyPr anchor="b"/>
          <a:lstStyle>
            <a:lvl1pPr algn="ctr">
              <a:buNone/>
              <a:defRPr sz="6000"/>
            </a:lvl1pPr>
          </a:lstStyle>
          <a:p>
            <a:r>
              <a:t>Haz clic para modificar el estilo de título del patrón</a:t>
            </a:r>
          </a:p>
        </p:txBody>
      </p:sp>
      <p:sp>
        <p:nvSpPr>
          <p:cNvPr id="3" name="Subtítulo 2">
            <a:extLst>
              <a:ext uri="{FF2B5EF4-FFF2-40B4-BE49-F238E27FC236}">
                <a16:creationId xmlns:a16="http://schemas.microsoft.com/office/drawing/2014/main" id="{62FC1A8F-408C-49E7-BC11-8DB03E679A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Haz clic para editar el estilo de subtítulo del patrón</a:t>
            </a:r>
          </a:p>
        </p:txBody>
      </p:sp>
      <p:sp>
        <p:nvSpPr>
          <p:cNvPr id="4" name="Marcador de fecha 3">
            <a:extLst>
              <a:ext uri="{FF2B5EF4-FFF2-40B4-BE49-F238E27FC236}">
                <a16:creationId xmlns:a16="http://schemas.microsoft.com/office/drawing/2014/main" id="{C715ABDB-8A25-4CE5-8FA4-A83E75AC8948}"/>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004D3370-BAA1-422C-8F8B-AD255E545EAD}"/>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D6A4B5AF-298D-4A41-9C43-8A942868F725}"/>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9EDC9D-05C8-43F2-BFF8-2B3D6C314F4E}"/>
              </a:ext>
            </a:extLst>
          </p:cNvPr>
          <p:cNvSpPr>
            <a:spLocks noGrp="1"/>
          </p:cNvSpPr>
          <p:nvPr>
            <p:ph type="title"/>
          </p:nvPr>
        </p:nvSpPr>
        <p:spPr/>
        <p:txBody>
          <a:bodyPr/>
          <a:lstStyle/>
          <a:p>
            <a:r>
              <a:t>Haz clic para modificar el estilo de título del patrón</a:t>
            </a:r>
          </a:p>
        </p:txBody>
      </p:sp>
      <p:sp>
        <p:nvSpPr>
          <p:cNvPr id="3" name="Marcador de contenido 2">
            <a:extLst>
              <a:ext uri="{FF2B5EF4-FFF2-40B4-BE49-F238E27FC236}">
                <a16:creationId xmlns:a16="http://schemas.microsoft.com/office/drawing/2014/main" id="{C145C3B5-F63E-4B19-ACC5-CEF14D07904F}"/>
              </a:ext>
            </a:extLst>
          </p:cNvPr>
          <p:cNvSpPr>
            <a:spLocks noGrp="1"/>
          </p:cNvSpPr>
          <p:nvPr>
            <p:ph idx="1"/>
          </p:nvPr>
        </p:nvSpPr>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2EE9140F-A1C7-4CDC-B9EB-1E88AB997A99}"/>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EC441BAD-AE44-4F3A-A469-633D090C1CC1}"/>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21C69355-8B2D-4D94-8A7C-BB960A00A92F}"/>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40A942-2659-469A-96B1-B1682C1A6F14}"/>
              </a:ext>
            </a:extLst>
          </p:cNvPr>
          <p:cNvSpPr>
            <a:spLocks noGrp="1"/>
          </p:cNvSpPr>
          <p:nvPr>
            <p:ph type="title"/>
          </p:nvPr>
        </p:nvSpPr>
        <p:spPr>
          <a:xfrm>
            <a:off x="831850" y="1709738"/>
            <a:ext cx="10515600" cy="2852737"/>
          </a:xfrm>
        </p:spPr>
        <p:txBody>
          <a:bodyPr anchor="b"/>
          <a:lstStyle>
            <a:lvl1pPr>
              <a:buNone/>
              <a:defRPr sz="6000"/>
            </a:lvl1pPr>
          </a:lstStyle>
          <a:p>
            <a:r>
              <a:t>Haz clic para modificar el estilo de título del patrón</a:t>
            </a:r>
          </a:p>
        </p:txBody>
      </p:sp>
      <p:sp>
        <p:nvSpPr>
          <p:cNvPr id="3" name="Marcador de texto 2">
            <a:extLst>
              <a:ext uri="{FF2B5EF4-FFF2-40B4-BE49-F238E27FC236}">
                <a16:creationId xmlns:a16="http://schemas.microsoft.com/office/drawing/2014/main" id="{A66D8770-FC43-4E13-BB6E-56F4293D4B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Haga clic para modificar los estilos de texto del patrón</a:t>
            </a:r>
          </a:p>
        </p:txBody>
      </p:sp>
      <p:sp>
        <p:nvSpPr>
          <p:cNvPr id="4" name="Marcador de fecha 3">
            <a:extLst>
              <a:ext uri="{FF2B5EF4-FFF2-40B4-BE49-F238E27FC236}">
                <a16:creationId xmlns:a16="http://schemas.microsoft.com/office/drawing/2014/main" id="{65BDF625-DEA1-4CD4-99D6-09126F49C4A6}"/>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D518CB36-A5BE-4360-8438-EE069D2436E7}"/>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2D110941-6122-4A96-B0B9-837401AC8DD4}"/>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2DA1D2-61E3-4076-A24A-57C8C8FF663A}"/>
              </a:ext>
            </a:extLst>
          </p:cNvPr>
          <p:cNvSpPr>
            <a:spLocks noGrp="1"/>
          </p:cNvSpPr>
          <p:nvPr>
            <p:ph type="title"/>
          </p:nvPr>
        </p:nvSpPr>
        <p:spPr/>
        <p:txBody>
          <a:bodyPr/>
          <a:lstStyle/>
          <a:p>
            <a:r>
              <a:t>Haz clic para modificar el estilo de título del patrón</a:t>
            </a:r>
          </a:p>
        </p:txBody>
      </p:sp>
      <p:sp>
        <p:nvSpPr>
          <p:cNvPr id="3" name="Marcador de contenido 2">
            <a:extLst>
              <a:ext uri="{FF2B5EF4-FFF2-40B4-BE49-F238E27FC236}">
                <a16:creationId xmlns:a16="http://schemas.microsoft.com/office/drawing/2014/main" id="{360C5A68-CCB3-4B07-B11D-2F9063C8BE77}"/>
              </a:ext>
            </a:extLst>
          </p:cNvPr>
          <p:cNvSpPr>
            <a:spLocks noGrp="1"/>
          </p:cNvSpPr>
          <p:nvPr>
            <p:ph idx="1"/>
          </p:nvPr>
        </p:nvSpPr>
        <p:spPr>
          <a:xfrm>
            <a:off x="838200" y="1825625"/>
            <a:ext cx="5181600" cy="435133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contenido 3">
            <a:extLst>
              <a:ext uri="{FF2B5EF4-FFF2-40B4-BE49-F238E27FC236}">
                <a16:creationId xmlns:a16="http://schemas.microsoft.com/office/drawing/2014/main" id="{34F30839-7E32-4EF4-98F5-B8CFDE5145B0}"/>
              </a:ext>
            </a:extLst>
          </p:cNvPr>
          <p:cNvSpPr>
            <a:spLocks noGrp="1"/>
          </p:cNvSpPr>
          <p:nvPr>
            <p:ph idx="2"/>
          </p:nvPr>
        </p:nvSpPr>
        <p:spPr>
          <a:xfrm>
            <a:off x="6172200" y="1825625"/>
            <a:ext cx="5181600" cy="435133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fecha 4">
            <a:extLst>
              <a:ext uri="{FF2B5EF4-FFF2-40B4-BE49-F238E27FC236}">
                <a16:creationId xmlns:a16="http://schemas.microsoft.com/office/drawing/2014/main" id="{978BC141-8D36-4B86-8A3E-3B8EED3491A1}"/>
              </a:ext>
            </a:extLst>
          </p:cNvPr>
          <p:cNvSpPr>
            <a:spLocks noGrp="1"/>
          </p:cNvSpPr>
          <p:nvPr>
            <p:ph type="dt" idx="10"/>
          </p:nvPr>
        </p:nvSpPr>
        <p:spPr/>
        <p:txBody>
          <a:bodyPr/>
          <a:lstStyle/>
          <a:p>
            <a:fld id="{93E9D6B8-5579-43BB-B455-9065CD0ADFC9}" type="datetimeFigureOut">
              <a:t>10/4/2026</a:t>
            </a:fld>
            <a:endParaRPr/>
          </a:p>
        </p:txBody>
      </p:sp>
      <p:sp>
        <p:nvSpPr>
          <p:cNvPr id="6" name="Marcador de pie de página 5">
            <a:extLst>
              <a:ext uri="{FF2B5EF4-FFF2-40B4-BE49-F238E27FC236}">
                <a16:creationId xmlns:a16="http://schemas.microsoft.com/office/drawing/2014/main" id="{0EB82771-11DA-4C33-8E36-A3D010AA9D3D}"/>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0F0E41EA-7EEC-4B11-911C-5B52655F8433}"/>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188004-2276-4511-ADB3-AF8DC1418D32}"/>
              </a:ext>
            </a:extLst>
          </p:cNvPr>
          <p:cNvSpPr>
            <a:spLocks noGrp="1"/>
          </p:cNvSpPr>
          <p:nvPr>
            <p:ph type="title"/>
          </p:nvPr>
        </p:nvSpPr>
        <p:spPr>
          <a:xfrm>
            <a:off x="839788" y="365125"/>
            <a:ext cx="10515600" cy="1325563"/>
          </a:xfrm>
        </p:spPr>
        <p:txBody>
          <a:bodyPr/>
          <a:lstStyle/>
          <a:p>
            <a:r>
              <a:t>Haz clic para modificar el estilo de título del patrón</a:t>
            </a:r>
          </a:p>
        </p:txBody>
      </p:sp>
      <p:sp>
        <p:nvSpPr>
          <p:cNvPr id="3" name="Marcador de texto 2">
            <a:extLst>
              <a:ext uri="{FF2B5EF4-FFF2-40B4-BE49-F238E27FC236}">
                <a16:creationId xmlns:a16="http://schemas.microsoft.com/office/drawing/2014/main" id="{F0D45D54-F2D6-4C67-A262-C8E71DF986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los estilos de texto del patrón</a:t>
            </a:r>
          </a:p>
        </p:txBody>
      </p:sp>
      <p:sp>
        <p:nvSpPr>
          <p:cNvPr id="4" name="Marcador de contenido 3">
            <a:extLst>
              <a:ext uri="{FF2B5EF4-FFF2-40B4-BE49-F238E27FC236}">
                <a16:creationId xmlns:a16="http://schemas.microsoft.com/office/drawing/2014/main" id="{DAF44F1B-F6B9-486C-A32E-B9E1AD228A35}"/>
              </a:ext>
            </a:extLst>
          </p:cNvPr>
          <p:cNvSpPr>
            <a:spLocks noGrp="1"/>
          </p:cNvSpPr>
          <p:nvPr>
            <p:ph idx="2"/>
          </p:nvPr>
        </p:nvSpPr>
        <p:spPr>
          <a:xfrm>
            <a:off x="839788" y="2505075"/>
            <a:ext cx="5157787"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texto 4">
            <a:extLst>
              <a:ext uri="{FF2B5EF4-FFF2-40B4-BE49-F238E27FC236}">
                <a16:creationId xmlns:a16="http://schemas.microsoft.com/office/drawing/2014/main" id="{0B0B35D0-AC0D-4F38-8BA6-F142A129A7C6}"/>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los estilos de texto del patrón</a:t>
            </a:r>
          </a:p>
        </p:txBody>
      </p:sp>
      <p:sp>
        <p:nvSpPr>
          <p:cNvPr id="6" name="Marcador de contenido 5">
            <a:extLst>
              <a:ext uri="{FF2B5EF4-FFF2-40B4-BE49-F238E27FC236}">
                <a16:creationId xmlns:a16="http://schemas.microsoft.com/office/drawing/2014/main" id="{A1E2750E-4A92-48D5-A3D7-F789EDBC9DCB}"/>
              </a:ext>
            </a:extLst>
          </p:cNvPr>
          <p:cNvSpPr>
            <a:spLocks noGrp="1"/>
          </p:cNvSpPr>
          <p:nvPr>
            <p:ph idx="4"/>
          </p:nvPr>
        </p:nvSpPr>
        <p:spPr>
          <a:xfrm>
            <a:off x="6172200" y="2505075"/>
            <a:ext cx="5183188"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7" name="Marcador de fecha 6">
            <a:extLst>
              <a:ext uri="{FF2B5EF4-FFF2-40B4-BE49-F238E27FC236}">
                <a16:creationId xmlns:a16="http://schemas.microsoft.com/office/drawing/2014/main" id="{86EF02BB-19B7-4E3C-B37F-38F643782894}"/>
              </a:ext>
            </a:extLst>
          </p:cNvPr>
          <p:cNvSpPr>
            <a:spLocks noGrp="1"/>
          </p:cNvSpPr>
          <p:nvPr>
            <p:ph type="dt" idx="10"/>
          </p:nvPr>
        </p:nvSpPr>
        <p:spPr/>
        <p:txBody>
          <a:bodyPr/>
          <a:lstStyle/>
          <a:p>
            <a:fld id="{93E9D6B8-5579-43BB-B455-9065CD0ADFC9}" type="datetimeFigureOut">
              <a:t>10/4/2026</a:t>
            </a:fld>
            <a:endParaRPr/>
          </a:p>
        </p:txBody>
      </p:sp>
      <p:sp>
        <p:nvSpPr>
          <p:cNvPr id="8" name="Marcador de pie de página 7">
            <a:extLst>
              <a:ext uri="{FF2B5EF4-FFF2-40B4-BE49-F238E27FC236}">
                <a16:creationId xmlns:a16="http://schemas.microsoft.com/office/drawing/2014/main" id="{EE04AECE-A522-4AD6-A703-EDA07245EBD7}"/>
              </a:ext>
            </a:extLst>
          </p:cNvPr>
          <p:cNvSpPr>
            <a:spLocks noGrp="1"/>
          </p:cNvSpPr>
          <p:nvPr>
            <p:ph type="ftr" idx="11"/>
          </p:nvPr>
        </p:nvSpPr>
        <p:spPr/>
        <p:txBody>
          <a:bodyPr/>
          <a:lstStyle/>
          <a:p>
            <a:endParaRPr/>
          </a:p>
        </p:txBody>
      </p:sp>
      <p:sp>
        <p:nvSpPr>
          <p:cNvPr id="9" name="Marcador de número de diapositiva 8">
            <a:extLst>
              <a:ext uri="{FF2B5EF4-FFF2-40B4-BE49-F238E27FC236}">
                <a16:creationId xmlns:a16="http://schemas.microsoft.com/office/drawing/2014/main" id="{1F67E73B-7679-4D78-A03D-10B39C6C5F39}"/>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4BACF1-2609-431A-AAAF-4C02EE3785C8}"/>
              </a:ext>
            </a:extLst>
          </p:cNvPr>
          <p:cNvSpPr>
            <a:spLocks noGrp="1"/>
          </p:cNvSpPr>
          <p:nvPr>
            <p:ph type="title"/>
          </p:nvPr>
        </p:nvSpPr>
        <p:spPr/>
        <p:txBody>
          <a:bodyPr/>
          <a:lstStyle/>
          <a:p>
            <a:r>
              <a:t>Haz clic para modificar el estilo de título del patrón</a:t>
            </a:r>
          </a:p>
        </p:txBody>
      </p:sp>
      <p:sp>
        <p:nvSpPr>
          <p:cNvPr id="3" name="Marcador de fecha 2">
            <a:extLst>
              <a:ext uri="{FF2B5EF4-FFF2-40B4-BE49-F238E27FC236}">
                <a16:creationId xmlns:a16="http://schemas.microsoft.com/office/drawing/2014/main" id="{F02BE7A7-3C3C-4AD5-A98D-B6C877A5E473}"/>
              </a:ext>
            </a:extLst>
          </p:cNvPr>
          <p:cNvSpPr>
            <a:spLocks noGrp="1"/>
          </p:cNvSpPr>
          <p:nvPr>
            <p:ph type="dt" idx="10"/>
          </p:nvPr>
        </p:nvSpPr>
        <p:spPr/>
        <p:txBody>
          <a:bodyPr/>
          <a:lstStyle/>
          <a:p>
            <a:fld id="{93E9D6B8-5579-43BB-B455-9065CD0ADFC9}" type="datetimeFigureOut">
              <a:t>10/4/2026</a:t>
            </a:fld>
            <a:endParaRPr/>
          </a:p>
        </p:txBody>
      </p:sp>
      <p:sp>
        <p:nvSpPr>
          <p:cNvPr id="4" name="Marcador de pie de página 3">
            <a:extLst>
              <a:ext uri="{FF2B5EF4-FFF2-40B4-BE49-F238E27FC236}">
                <a16:creationId xmlns:a16="http://schemas.microsoft.com/office/drawing/2014/main" id="{9DBBE023-F0F6-42B0-9D47-ADF36C3B572B}"/>
              </a:ext>
            </a:extLst>
          </p:cNvPr>
          <p:cNvSpPr>
            <a:spLocks noGrp="1"/>
          </p:cNvSpPr>
          <p:nvPr>
            <p:ph type="ftr" idx="11"/>
          </p:nvPr>
        </p:nvSpPr>
        <p:spPr/>
        <p:txBody>
          <a:bodyPr/>
          <a:lstStyle/>
          <a:p>
            <a:endParaRPr/>
          </a:p>
        </p:txBody>
      </p:sp>
      <p:sp>
        <p:nvSpPr>
          <p:cNvPr id="5" name="Marcador de número de diapositiva 4">
            <a:extLst>
              <a:ext uri="{FF2B5EF4-FFF2-40B4-BE49-F238E27FC236}">
                <a16:creationId xmlns:a16="http://schemas.microsoft.com/office/drawing/2014/main" id="{74705CE0-A244-487D-9341-93CAF3AE9EDE}"/>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D62BE20-FB31-4FDF-BD72-6C0D2C14B4EE}"/>
              </a:ext>
            </a:extLst>
          </p:cNvPr>
          <p:cNvSpPr>
            <a:spLocks noGrp="1"/>
          </p:cNvSpPr>
          <p:nvPr>
            <p:ph type="dt" idx="10"/>
          </p:nvPr>
        </p:nvSpPr>
        <p:spPr/>
        <p:txBody>
          <a:bodyPr/>
          <a:lstStyle/>
          <a:p>
            <a:fld id="{93E9D6B8-5579-43BB-B455-9065CD0ADFC9}" type="datetimeFigureOut">
              <a:t>10/4/2026</a:t>
            </a:fld>
            <a:endParaRPr/>
          </a:p>
        </p:txBody>
      </p:sp>
      <p:sp>
        <p:nvSpPr>
          <p:cNvPr id="3" name="Marcador de pie de página 2">
            <a:extLst>
              <a:ext uri="{FF2B5EF4-FFF2-40B4-BE49-F238E27FC236}">
                <a16:creationId xmlns:a16="http://schemas.microsoft.com/office/drawing/2014/main" id="{5E76A5CB-3CC0-47BD-9541-6DC8D57C6AAA}"/>
              </a:ext>
            </a:extLst>
          </p:cNvPr>
          <p:cNvSpPr>
            <a:spLocks noGrp="1"/>
          </p:cNvSpPr>
          <p:nvPr>
            <p:ph type="ftr" idx="11"/>
          </p:nvPr>
        </p:nvSpPr>
        <p:spPr/>
        <p:txBody>
          <a:bodyPr/>
          <a:lstStyle/>
          <a:p>
            <a:endParaRPr/>
          </a:p>
        </p:txBody>
      </p:sp>
      <p:sp>
        <p:nvSpPr>
          <p:cNvPr id="4" name="Marcador de número de diapositiva 3">
            <a:extLst>
              <a:ext uri="{FF2B5EF4-FFF2-40B4-BE49-F238E27FC236}">
                <a16:creationId xmlns:a16="http://schemas.microsoft.com/office/drawing/2014/main" id="{5581B8F2-74E0-473D-BC37-B0BA5EDF3E0F}"/>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DAA823-B37A-410C-A618-7D624CC88B50}"/>
              </a:ext>
            </a:extLst>
          </p:cNvPr>
          <p:cNvSpPr>
            <a:spLocks noGrp="1"/>
          </p:cNvSpPr>
          <p:nvPr>
            <p:ph type="title"/>
          </p:nvPr>
        </p:nvSpPr>
        <p:spPr>
          <a:xfrm>
            <a:off x="839788" y="457200"/>
            <a:ext cx="3932237" cy="1600200"/>
          </a:xfrm>
        </p:spPr>
        <p:txBody>
          <a:bodyPr anchor="b"/>
          <a:lstStyle>
            <a:lvl1pPr>
              <a:buNone/>
              <a:defRPr sz="3200"/>
            </a:lvl1pPr>
          </a:lstStyle>
          <a:p>
            <a:r>
              <a:t>Haz clic para modificar el estilo de título del patrón</a:t>
            </a:r>
          </a:p>
        </p:txBody>
      </p:sp>
      <p:sp>
        <p:nvSpPr>
          <p:cNvPr id="3" name="Marcador de contenido 2">
            <a:extLst>
              <a:ext uri="{FF2B5EF4-FFF2-40B4-BE49-F238E27FC236}">
                <a16:creationId xmlns:a16="http://schemas.microsoft.com/office/drawing/2014/main" id="{F4E13B61-8112-4EA1-96D8-AC4BB05B36EA}"/>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texto 3">
            <a:extLst>
              <a:ext uri="{FF2B5EF4-FFF2-40B4-BE49-F238E27FC236}">
                <a16:creationId xmlns:a16="http://schemas.microsoft.com/office/drawing/2014/main" id="{6D965709-2EF8-44C4-B192-B013E112C40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Haga clic para modificar los estilos de texto del patrón</a:t>
            </a:r>
          </a:p>
        </p:txBody>
      </p:sp>
      <p:sp>
        <p:nvSpPr>
          <p:cNvPr id="5" name="Marcador de fecha 4">
            <a:extLst>
              <a:ext uri="{FF2B5EF4-FFF2-40B4-BE49-F238E27FC236}">
                <a16:creationId xmlns:a16="http://schemas.microsoft.com/office/drawing/2014/main" id="{E35D09C0-BFD1-4178-B973-34B5BCE054E0}"/>
              </a:ext>
            </a:extLst>
          </p:cNvPr>
          <p:cNvSpPr>
            <a:spLocks noGrp="1"/>
          </p:cNvSpPr>
          <p:nvPr>
            <p:ph type="dt" idx="10"/>
          </p:nvPr>
        </p:nvSpPr>
        <p:spPr/>
        <p:txBody>
          <a:bodyPr/>
          <a:lstStyle/>
          <a:p>
            <a:fld id="{93E9D6B8-5579-43BB-B455-9065CD0ADFC9}" type="datetimeFigureOut">
              <a:t>10/4/2026</a:t>
            </a:fld>
            <a:endParaRPr/>
          </a:p>
        </p:txBody>
      </p:sp>
      <p:sp>
        <p:nvSpPr>
          <p:cNvPr id="6" name="Marcador de pie de página 5">
            <a:extLst>
              <a:ext uri="{FF2B5EF4-FFF2-40B4-BE49-F238E27FC236}">
                <a16:creationId xmlns:a16="http://schemas.microsoft.com/office/drawing/2014/main" id="{83A6232D-2C65-4DDF-809D-E82D0A0DCC26}"/>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C9A3A7C5-3E94-4218-89DA-37895AB9490B}"/>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A8FA8-412B-42AB-A7F6-5F7A1015689E}"/>
              </a:ext>
            </a:extLst>
          </p:cNvPr>
          <p:cNvSpPr>
            <a:spLocks noGrp="1"/>
          </p:cNvSpPr>
          <p:nvPr>
            <p:ph type="title"/>
          </p:nvPr>
        </p:nvSpPr>
        <p:spPr>
          <a:xfrm>
            <a:off x="839788" y="457200"/>
            <a:ext cx="3932237" cy="1600200"/>
          </a:xfrm>
        </p:spPr>
        <p:txBody>
          <a:bodyPr anchor="b"/>
          <a:lstStyle>
            <a:lvl1pPr>
              <a:buNone/>
              <a:defRPr sz="3200"/>
            </a:lvl1pPr>
          </a:lstStyle>
          <a:p>
            <a:r>
              <a:t>Haz clic para modificar el estilo de título del patrón</a:t>
            </a:r>
          </a:p>
        </p:txBody>
      </p:sp>
      <p:sp>
        <p:nvSpPr>
          <p:cNvPr id="3" name="Marcador de posición de imagen 2">
            <a:extLst>
              <a:ext uri="{FF2B5EF4-FFF2-40B4-BE49-F238E27FC236}">
                <a16:creationId xmlns:a16="http://schemas.microsoft.com/office/drawing/2014/main" id="{AB145078-AAE2-4ECB-AA08-5AABE51D31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Marcador de texto 3">
            <a:extLst>
              <a:ext uri="{FF2B5EF4-FFF2-40B4-BE49-F238E27FC236}">
                <a16:creationId xmlns:a16="http://schemas.microsoft.com/office/drawing/2014/main" id="{6567B250-0BE0-4D45-82D1-2A0DBBEAAC17}"/>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Haga clic para modificar los estilos de texto del patrón</a:t>
            </a:r>
          </a:p>
        </p:txBody>
      </p:sp>
      <p:sp>
        <p:nvSpPr>
          <p:cNvPr id="5" name="Marcador de fecha 4">
            <a:extLst>
              <a:ext uri="{FF2B5EF4-FFF2-40B4-BE49-F238E27FC236}">
                <a16:creationId xmlns:a16="http://schemas.microsoft.com/office/drawing/2014/main" id="{78E8E942-A1E0-4016-95C8-9B9BF89AF8C3}"/>
              </a:ext>
            </a:extLst>
          </p:cNvPr>
          <p:cNvSpPr>
            <a:spLocks noGrp="1"/>
          </p:cNvSpPr>
          <p:nvPr>
            <p:ph type="dt" idx="10"/>
          </p:nvPr>
        </p:nvSpPr>
        <p:spPr/>
        <p:txBody>
          <a:bodyPr/>
          <a:lstStyle/>
          <a:p>
            <a:fld id="{93E9D6B8-5579-43BB-B455-9065CD0ADFC9}" type="datetimeFigureOut">
              <a:t>10/4/2026</a:t>
            </a:fld>
            <a:endParaRPr/>
          </a:p>
        </p:txBody>
      </p:sp>
      <p:sp>
        <p:nvSpPr>
          <p:cNvPr id="6" name="Marcador de pie de página 5">
            <a:extLst>
              <a:ext uri="{FF2B5EF4-FFF2-40B4-BE49-F238E27FC236}">
                <a16:creationId xmlns:a16="http://schemas.microsoft.com/office/drawing/2014/main" id="{11955E18-5513-4AE6-B234-4D7C68EFF218}"/>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FC1378B4-1B1F-4C5F-8872-C41FF35852EF}"/>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7E4E18-2990-483E-88E0-43DF74DAA6B6}"/>
              </a:ext>
            </a:extLst>
          </p:cNvPr>
          <p:cNvSpPr>
            <a:spLocks noGrp="1"/>
          </p:cNvSpPr>
          <p:nvPr>
            <p:ph type="title"/>
          </p:nvPr>
        </p:nvSpPr>
        <p:spPr/>
        <p:txBody>
          <a:bodyPr/>
          <a:lstStyle/>
          <a:p>
            <a:r>
              <a:t>Haz clic para modificar el estilo de título del patrón</a:t>
            </a:r>
          </a:p>
        </p:txBody>
      </p:sp>
      <p:sp>
        <p:nvSpPr>
          <p:cNvPr id="3" name="Marcador de texto vertical 2">
            <a:extLst>
              <a:ext uri="{FF2B5EF4-FFF2-40B4-BE49-F238E27FC236}">
                <a16:creationId xmlns:a16="http://schemas.microsoft.com/office/drawing/2014/main" id="{DBD4B2C7-D083-46AA-8E5A-D003959E8507}"/>
              </a:ext>
            </a:extLst>
          </p:cNvPr>
          <p:cNvSpPr>
            <a:spLocks noGrp="1"/>
          </p:cNvSpPr>
          <p:nvPr>
            <p:ph type="body" idx="1"/>
          </p:nvPr>
        </p:nvSpPr>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FD6C4379-68F4-457A-BA8D-C77E63F51A45}"/>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DC6ED189-6619-461C-A861-98582B5036A4}"/>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FA1ACA52-8342-415B-9FF6-9420BAE42F55}"/>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0C05042-F31B-46E1-89C3-EB12F1454A8F}"/>
              </a:ext>
            </a:extLst>
          </p:cNvPr>
          <p:cNvSpPr>
            <a:spLocks noGrp="1"/>
          </p:cNvSpPr>
          <p:nvPr>
            <p:ph type="title"/>
          </p:nvPr>
        </p:nvSpPr>
        <p:spPr>
          <a:xfrm>
            <a:off x="8724900" y="365125"/>
            <a:ext cx="2628900" cy="5811838"/>
          </a:xfrm>
        </p:spPr>
        <p:txBody>
          <a:bodyPr vert="eaVert"/>
          <a:lstStyle/>
          <a:p>
            <a:r>
              <a:t>Haz clic para modificar el estilo de título del patrón</a:t>
            </a:r>
          </a:p>
        </p:txBody>
      </p:sp>
      <p:sp>
        <p:nvSpPr>
          <p:cNvPr id="3" name="Marcador de texto vertical 2">
            <a:extLst>
              <a:ext uri="{FF2B5EF4-FFF2-40B4-BE49-F238E27FC236}">
                <a16:creationId xmlns:a16="http://schemas.microsoft.com/office/drawing/2014/main" id="{D8D980B7-5C1A-42C0-B044-528FDD08A1FF}"/>
              </a:ext>
            </a:extLst>
          </p:cNvPr>
          <p:cNvSpPr>
            <a:spLocks noGrp="1"/>
          </p:cNvSpPr>
          <p:nvPr>
            <p:ph type="body" idx="1"/>
          </p:nvPr>
        </p:nvSpPr>
        <p:spPr>
          <a:xfrm>
            <a:off x="838200" y="365125"/>
            <a:ext cx="7734300" cy="5811838"/>
          </a:xfrm>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15D63FF1-7E5D-4612-B288-E5EB4E4C0984}"/>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7C5C76A6-39D9-4184-87DD-073172AF0862}"/>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4CE04071-4B44-4CBB-82A1-C0A60DBDC393}"/>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 name="Google Shape;10;p1">
            <a:extLst>
              <a:ext uri="{FF2B5EF4-FFF2-40B4-BE49-F238E27FC236}">
                <a16:creationId xmlns:a16="http://schemas.microsoft.com/office/drawing/2014/main" id="{8F542F18-E681-4CE3-AA73-97302119900A}"/>
              </a:ext>
            </a:extLst>
          </p:cNvPr>
          <p:cNvSpPr>
            <a:spLocks noGrp="1"/>
          </p:cNvSpPr>
          <p:nvPr>
            <p:ph type="body" idx="1"/>
          </p:nvPr>
        </p:nvSpPr>
        <p:spPr>
          <a:xfrm>
            <a:off x="127000" y="1485900"/>
            <a:ext cx="11226800" cy="4691063"/>
          </a:xfrm>
          <a:prstGeom prst="rect">
            <a:avLst/>
          </a:prstGeom>
          <a:noFill/>
          <a:ln>
            <a:noFill/>
          </a:ln>
        </p:spPr>
        <p:txBody>
          <a:bodyPr spcFirstLastPara="1" wrap="square" lIns="91425" tIns="45700" rIns="91425" bIns="45700" anchor="t">
            <a:normAutofit/>
          </a:bodyPr>
          <a:lstStyle>
            <a:lvl1pPr marL="457200" marR="0" indent="-406400" algn="l">
              <a:lnSpc>
                <a:spcPct val="90000"/>
              </a:lnSpc>
              <a:spcBef>
                <a:spcPts val="1000"/>
              </a:spcBef>
              <a:spcAft>
                <a:spcPts val="0"/>
              </a:spcAft>
              <a:buClr>
                <a:schemeClr val="dk1"/>
              </a:buClr>
              <a:buSzPts val="2800"/>
              <a:buFont typeface="Arial"/>
              <a:buChar char="•"/>
              <a:defRPr sz="2800" b="0" i="0" u="none" cap="none">
                <a:solidFill>
                  <a:schemeClr val="dk1"/>
                </a:solidFill>
                <a:latin typeface="Noto Sans"/>
                <a:ea typeface="Noto Sans"/>
                <a:cs typeface="Noto Sans"/>
              </a:defRPr>
            </a:lvl1pPr>
            <a:lvl2pPr marL="914400" marR="0" indent="-381000" algn="l">
              <a:lnSpc>
                <a:spcPct val="90000"/>
              </a:lnSpc>
              <a:spcBef>
                <a:spcPts val="500"/>
              </a:spcBef>
              <a:spcAft>
                <a:spcPts val="0"/>
              </a:spcAft>
              <a:buClr>
                <a:schemeClr val="dk1"/>
              </a:buClr>
              <a:buSzPts val="2400"/>
              <a:buFont typeface="Arial"/>
              <a:buChar char="•"/>
              <a:defRPr sz="2400" b="0" i="0" u="none" cap="none">
                <a:solidFill>
                  <a:schemeClr val="dk1"/>
                </a:solidFill>
                <a:latin typeface="Noto Sans"/>
                <a:ea typeface="Noto Sans"/>
                <a:cs typeface="Noto Sans"/>
              </a:defRPr>
            </a:lvl2pPr>
            <a:lvl3pPr marL="1371600" marR="0" indent="-355600" algn="l">
              <a:lnSpc>
                <a:spcPct val="90000"/>
              </a:lnSpc>
              <a:spcBef>
                <a:spcPts val="500"/>
              </a:spcBef>
              <a:spcAft>
                <a:spcPts val="0"/>
              </a:spcAft>
              <a:buClr>
                <a:schemeClr val="dk1"/>
              </a:buClr>
              <a:buSzPts val="2000"/>
              <a:buFont typeface="Arial"/>
              <a:buChar char="•"/>
              <a:defRPr sz="2000" b="0" i="0" u="none" cap="none">
                <a:solidFill>
                  <a:schemeClr val="dk1"/>
                </a:solidFill>
                <a:latin typeface="Noto Sans"/>
                <a:ea typeface="Noto Sans"/>
                <a:cs typeface="Noto Sans"/>
              </a:defRPr>
            </a:lvl3pPr>
            <a:lvl4pPr marL="1828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Noto Sans"/>
                <a:ea typeface="Noto Sans"/>
                <a:cs typeface="Noto Sans"/>
              </a:defRPr>
            </a:lvl4pPr>
            <a:lvl5pPr marL="22860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Noto Sans"/>
                <a:ea typeface="Noto Sans"/>
                <a:cs typeface="Noto Sans"/>
              </a:defRPr>
            </a:lvl5pPr>
            <a:lvl6pPr marL="27432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6pPr>
            <a:lvl7pPr marL="32004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7pPr>
            <a:lvl8pPr marL="36576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8pPr>
            <a:lvl9pPr marL="4114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9pPr>
          </a:lstStyle>
          <a:p>
            <a:endParaRPr/>
          </a:p>
        </p:txBody>
      </p:sp>
      <p:sp>
        <p:nvSpPr>
          <p:cNvPr id="11" name="Google Shape;11;p1">
            <a:extLst>
              <a:ext uri="{FF2B5EF4-FFF2-40B4-BE49-F238E27FC236}">
                <a16:creationId xmlns:a16="http://schemas.microsoft.com/office/drawing/2014/main" id="{44E70A9C-E5E9-4238-8FB5-444002E1137F}"/>
              </a:ext>
            </a:extLst>
          </p:cNvPr>
          <p:cNvSpPr>
            <a:spLocks noGrp="1"/>
          </p:cNvSpPr>
          <p:nvPr>
            <p:ph type="title"/>
          </p:nvPr>
        </p:nvSpPr>
        <p:spPr>
          <a:xfrm>
            <a:off x="127000" y="217365"/>
            <a:ext cx="11226800" cy="1127670"/>
          </a:xfrm>
          <a:prstGeom prst="rect">
            <a:avLst/>
          </a:prstGeom>
          <a:noFill/>
          <a:ln>
            <a:noFill/>
          </a:ln>
        </p:spPr>
        <p:txBody>
          <a:bodyPr spcFirstLastPara="1" wrap="square" lIns="91425" tIns="45700" rIns="91425" bIns="45700" anchor="ctr">
            <a:normAutofit/>
          </a:bodyPr>
          <a:lstStyle>
            <a:lvl1pPr marR="0" algn="l">
              <a:lnSpc>
                <a:spcPct val="90000"/>
              </a:lnSpc>
              <a:spcBef>
                <a:spcPts val="0"/>
              </a:spcBef>
              <a:spcAft>
                <a:spcPts val="0"/>
              </a:spcAft>
              <a:buClr>
                <a:schemeClr val="dk1"/>
              </a:buClr>
              <a:buSzPts val="4000"/>
              <a:buFont typeface="Noto Sans SemiBold"/>
              <a:buNone/>
              <a:defRPr sz="4000" b="1" i="0" u="none" cap="none">
                <a:solidFill>
                  <a:schemeClr val="dk1"/>
                </a:solidFill>
                <a:latin typeface="Noto Sans SemiBold"/>
                <a:ea typeface="Noto Sans SemiBold"/>
                <a:cs typeface="Noto Sans SemiBold"/>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22EB26D-21A2-43A1-93C1-372F295E198C}"/>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Haz clic para modificar el estilo de título del patrón</a:t>
            </a:r>
          </a:p>
        </p:txBody>
      </p:sp>
      <p:sp>
        <p:nvSpPr>
          <p:cNvPr id="3" name="Marcador de texto 2">
            <a:extLst>
              <a:ext uri="{FF2B5EF4-FFF2-40B4-BE49-F238E27FC236}">
                <a16:creationId xmlns:a16="http://schemas.microsoft.com/office/drawing/2014/main" id="{B1FED00D-CAD3-42C6-B212-6DAE6F6D2E1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B8C1317E-59CB-4E30-B479-59C77FF64F0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FF3BE975-65F2-47B6-A241-AD12E1E412F7}"/>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Marcador de número de diapositiva 5">
            <a:extLst>
              <a:ext uri="{FF2B5EF4-FFF2-40B4-BE49-F238E27FC236}">
                <a16:creationId xmlns:a16="http://schemas.microsoft.com/office/drawing/2014/main" id="{072F7CAF-34CC-47FA-9F49-B78FC094B846}"/>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02EE436-99F1-4F6D-A5FC-68F56FAEBAFB}" type="slidenum">
              <a:t>‹#›</a:t>
            </a:fld>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ssion_title">
            <a:extLst>
              <a:ext uri="{FF2B5EF4-FFF2-40B4-BE49-F238E27FC236}">
                <a16:creationId xmlns:a16="http://schemas.microsoft.com/office/drawing/2014/main" id="{702DB2F6-1A72-43FD-9E09-42F647095175}"/>
              </a:ext>
            </a:extLst>
          </p:cNvPr>
          <p:cNvSpPr>
            <a:spLocks noGrp="1"/>
          </p:cNvSpPr>
          <p:nvPr/>
        </p:nvSpPr>
        <p:spPr>
          <a:xfrm>
            <a:off x="714375" y="2762250"/>
            <a:ext cx="10763250" cy="1666875"/>
          </a:xfrm>
          <a:prstGeom prst="rect">
            <a:avLst/>
          </a:prstGeom>
          <a:noFill/>
          <a:ln w="0">
            <a:noFill/>
          </a:ln>
        </p:spPr>
        <p:txBody>
          <a:bodyPr lIns="0" tIns="0" rIns="0" bIns="0" anchor="t">
            <a:noAutofit/>
          </a:bodyPr>
          <a:lstStyle/>
          <a:p>
            <a:pPr>
              <a:buNone/>
              <a:defRPr sz="4275" b="1">
                <a:solidFill>
                  <a:srgbClr val="FFFFFF"/>
                </a:solidFill>
                <a:latin typeface="Noto Sans"/>
                <a:ea typeface="Noto Sans"/>
                <a:cs typeface="Noto Sans"/>
              </a:defRPr>
            </a:pPr>
            <a:r>
              <a:rPr sz="4275" b="1">
                <a:solidFill>
                  <a:srgbClr val="FFFFFF"/>
                </a:solidFill>
                <a:latin typeface="Noto Sans"/>
                <a:ea typeface="Noto Sans"/>
                <a:cs typeface="Noto Sans"/>
              </a:rPr>
              <a:t>Federated analytics</a:t>
            </a:r>
          </a:p>
          <a:p>
            <a:pPr>
              <a:buNone/>
              <a:defRPr sz="4275" b="1">
                <a:solidFill>
                  <a:srgbClr val="FFFFFF"/>
                </a:solidFill>
                <a:latin typeface="Noto Sans"/>
                <a:ea typeface="Noto Sans"/>
                <a:cs typeface="Noto Sans"/>
              </a:defRPr>
            </a:pPr>
            <a:r>
              <a:rPr sz="4275" b="1">
                <a:solidFill>
                  <a:srgbClr val="FFFFFF"/>
                </a:solidFill>
                <a:latin typeface="Noto Sans"/>
                <a:ea typeface="Noto Sans"/>
                <a:cs typeface="Noto Sans"/>
              </a:rPr>
              <a:t>Principles and shared language</a:t>
            </a:r>
          </a:p>
        </p:txBody>
      </p:sp>
      <p:sp>
        <p:nvSpPr>
          <p:cNvPr id="2" name="session_subtitle">
            <a:extLst>
              <a:ext uri="{FF2B5EF4-FFF2-40B4-BE49-F238E27FC236}">
                <a16:creationId xmlns:a16="http://schemas.microsoft.com/office/drawing/2014/main" id="{5CB0B2F6-21DA-459E-A645-BC5A7195F629}"/>
              </a:ext>
            </a:extLst>
          </p:cNvPr>
          <p:cNvSpPr>
            <a:spLocks noGrp="1"/>
          </p:cNvSpPr>
          <p:nvPr/>
        </p:nvSpPr>
        <p:spPr>
          <a:xfrm>
            <a:off x="742950" y="4762500"/>
            <a:ext cx="10620375" cy="1285875"/>
          </a:xfrm>
          <a:prstGeom prst="rect">
            <a:avLst/>
          </a:prstGeom>
          <a:noFill/>
          <a:ln w="0">
            <a:noFill/>
          </a:ln>
        </p:spPr>
        <p:txBody>
          <a:bodyPr lIns="0" tIns="0" rIns="0" bIns="0" anchor="t">
            <a:noAutofit/>
          </a:bodyPr>
          <a:lstStyle/>
          <a:p>
            <a:pPr>
              <a:buNone/>
              <a:defRPr sz="2025" b="0">
                <a:solidFill>
                  <a:srgbClr val="FFFFFF"/>
                </a:solidFill>
                <a:latin typeface="Noto Sans"/>
                <a:ea typeface="Noto Sans"/>
                <a:cs typeface="Noto Sans"/>
              </a:defRPr>
            </a:pPr>
            <a:endParaRPr sz="2025" b="0" dirty="0">
              <a:solidFill>
                <a:srgbClr val="FFFFFF"/>
              </a:solidFill>
              <a:latin typeface="Noto Sans"/>
              <a:ea typeface="Noto Sans"/>
              <a:cs typeface="Noto Sans"/>
            </a:endParaRPr>
          </a:p>
        </p:txBody>
      </p:sp>
    </p:spTree>
    <p:extLst>
      <p:ext uri="{BB962C8B-B14F-4D97-AF65-F5344CB8AC3E}">
        <p14:creationId xmlns:p14="http://schemas.microsoft.com/office/powerpoint/2010/main" val="1586529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7689AE16-A05D-4A0E-8E1B-4D34ABBBD801}"/>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Motivation for federated analytics</a:t>
            </a:r>
          </a:p>
        </p:txBody>
      </p:sp>
      <p:sp>
        <p:nvSpPr>
          <p:cNvPr id="2" name="body">
            <a:extLst>
              <a:ext uri="{FF2B5EF4-FFF2-40B4-BE49-F238E27FC236}">
                <a16:creationId xmlns:a16="http://schemas.microsoft.com/office/drawing/2014/main" id="{9F9A7638-5C66-4311-83B9-754E949134FF}"/>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buNone/>
              <a:defRPr sz="2700" b="0">
                <a:solidFill>
                  <a:srgbClr val="202020"/>
                </a:solidFill>
                <a:latin typeface="Noto Sans"/>
                <a:ea typeface="Noto Sans"/>
                <a:cs typeface="Noto Sans"/>
              </a:defRPr>
            </a:pPr>
            <a:r>
              <a:t>Useful data sit across devices and organisations</a:t>
            </a:r>
          </a:p>
          <a:p>
            <a:pPr>
              <a:spcAft>
                <a:spcPts val="1800"/>
              </a:spcAft>
              <a:buNone/>
              <a:defRPr sz="2700" b="0">
                <a:solidFill>
                  <a:srgbClr val="202020"/>
                </a:solidFill>
                <a:latin typeface="Noto Sans"/>
                <a:ea typeface="Noto Sans"/>
                <a:cs typeface="Noto Sans"/>
              </a:defRPr>
            </a:pPr>
            <a:r>
              <a:t>Moving raw records can create privacy and transfer costs</a:t>
            </a:r>
          </a:p>
          <a:p>
            <a:pPr>
              <a:spcAft>
                <a:spcPts val="1800"/>
              </a:spcAft>
              <a:buNone/>
              <a:defRPr sz="2700" b="0">
                <a:solidFill>
                  <a:srgbClr val="202020"/>
                </a:solidFill>
                <a:latin typeface="Noto Sans"/>
                <a:ea typeface="Noto Sans"/>
                <a:cs typeface="Noto Sans"/>
              </a:defRPr>
            </a:pPr>
            <a:r>
              <a:t>Local computation supports analysis across data holders</a:t>
            </a:r>
          </a:p>
        </p:txBody>
      </p:sp>
    </p:spTree>
    <p:extLst>
      <p:ext uri="{BB962C8B-B14F-4D97-AF65-F5344CB8AC3E}">
        <p14:creationId xmlns:p14="http://schemas.microsoft.com/office/powerpoint/2010/main" val="1988743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C13BA79B-E419-44FE-B941-A7C029AC7819}"/>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Definition and shared vocabulary</a:t>
            </a:r>
          </a:p>
        </p:txBody>
      </p:sp>
      <p:graphicFrame>
        <p:nvGraphicFramePr>
          <p:cNvPr id="6" name="Table 3"/>
          <p:cNvGraphicFramePr/>
          <p:nvPr/>
        </p:nvGraphicFramePr>
        <p:xfrm>
          <a:off x="685800" y="2009775"/>
          <a:ext cx="10820400" cy="352425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704850">
                <a:tc>
                  <a:txBody>
                    <a:bodyPr/>
                    <a:lstStyle/>
                    <a:p>
                      <a:r>
                        <a:rPr sz="1800" b="1">
                          <a:solidFill>
                            <a:srgbClr val="FFFFFF"/>
                          </a:solidFill>
                          <a:latin typeface="Noto Sans"/>
                          <a:ea typeface="Noto Sans"/>
                          <a:cs typeface="Noto Sans"/>
                        </a:rPr>
                        <a:t>Term</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Meaning</a:t>
                      </a:r>
                    </a:p>
                  </a:txBody>
                  <a:tcPr marL="114300" marR="114300" marT="76200" marB="76200" anchor="ctr">
                    <a:solidFill>
                      <a:srgbClr val="0874B8"/>
                    </a:solidFill>
                  </a:tcPr>
                </a:tc>
                <a:extLst>
                  <a:ext uri="{0D108BD9-81ED-4DB2-BD59-A6C34878D82A}">
                    <a16:rowId xmlns:a16="http://schemas.microsoft.com/office/drawing/2014/main" val="10000"/>
                  </a:ext>
                </a:extLst>
              </a:tr>
              <a:tr h="704850">
                <a:tc>
                  <a:txBody>
                    <a:bodyPr/>
                    <a:lstStyle/>
                    <a:p>
                      <a:r>
                        <a:rPr sz="1800">
                          <a:solidFill>
                            <a:srgbClr val="202020"/>
                          </a:solidFill>
                          <a:latin typeface="Noto Sans"/>
                          <a:ea typeface="Noto Sans"/>
                          <a:cs typeface="Noto Sans"/>
                        </a:rPr>
                        <a:t>Federated analytics (FA)</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Collaborative analysis with raw data kept locally</a:t>
                      </a:r>
                    </a:p>
                  </a:txBody>
                  <a:tcPr marL="114300" marR="114300" marT="76200" marB="7620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202020"/>
                          </a:solidFill>
                          <a:latin typeface="Noto Sans"/>
                          <a:ea typeface="Noto Sans"/>
                          <a:cs typeface="Noto Sans"/>
                        </a:rPr>
                        <a:t>Client / data owner</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Participant holding the local dataset</a:t>
                      </a:r>
                    </a:p>
                  </a:txBody>
                  <a:tcPr marL="114300" marR="114300" marT="76200" marB="76200" anchor="ctr">
                    <a:solidFill>
                      <a:srgbClr val="FFFFFF"/>
                    </a:solidFill>
                  </a:tcPr>
                </a:tc>
                <a:extLst>
                  <a:ext uri="{0D108BD9-81ED-4DB2-BD59-A6C34878D82A}">
                    <a16:rowId xmlns:a16="http://schemas.microsoft.com/office/drawing/2014/main" val="10002"/>
                  </a:ext>
                </a:extLst>
              </a:tr>
              <a:tr h="704850">
                <a:tc>
                  <a:txBody>
                    <a:bodyPr/>
                    <a:lstStyle/>
                    <a:p>
                      <a:r>
                        <a:rPr sz="1800">
                          <a:solidFill>
                            <a:srgbClr val="202020"/>
                          </a:solidFill>
                          <a:latin typeface="Noto Sans"/>
                          <a:ea typeface="Noto Sans"/>
                          <a:cs typeface="Noto Sans"/>
                        </a:rPr>
                        <a:t>Insight</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Task-specific output of local computation</a:t>
                      </a:r>
                    </a:p>
                  </a:txBody>
                  <a:tcPr marL="114300" marR="114300" marT="76200" marB="76200" anchor="ctr">
                    <a:solidFill>
                      <a:srgbClr val="FFFFFF"/>
                    </a:solidFill>
                  </a:tcPr>
                </a:tc>
                <a:extLst>
                  <a:ext uri="{0D108BD9-81ED-4DB2-BD59-A6C34878D82A}">
                    <a16:rowId xmlns:a16="http://schemas.microsoft.com/office/drawing/2014/main" val="10003"/>
                  </a:ext>
                </a:extLst>
              </a:tr>
              <a:tr h="704850">
                <a:tc>
                  <a:txBody>
                    <a:bodyPr/>
                    <a:lstStyle/>
                    <a:p>
                      <a:r>
                        <a:rPr sz="1800">
                          <a:solidFill>
                            <a:srgbClr val="202020"/>
                          </a:solidFill>
                          <a:latin typeface="Noto Sans"/>
                          <a:ea typeface="Noto Sans"/>
                          <a:cs typeface="Noto Sans"/>
                        </a:rPr>
                        <a:t>Aggregation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Computation combining the local insights</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88743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467DAA21-D822-40E6-B015-4FC1055D11F8}"/>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Federated analytics workflow</a:t>
            </a:r>
          </a:p>
        </p:txBody>
      </p:sp>
      <p:sp>
        <p:nvSpPr>
          <p:cNvPr id="3" name="figure_reference">
            <a:extLst>
              <a:ext uri="{FF2B5EF4-FFF2-40B4-BE49-F238E27FC236}">
                <a16:creationId xmlns:a16="http://schemas.microsoft.com/office/drawing/2014/main" id="{14C2FE22-F7CF-4A45-9DFA-864BB7FAF0AE}"/>
              </a:ext>
            </a:extLst>
          </p:cNvPr>
          <p:cNvSpPr>
            <a:spLocks noGrp="1"/>
          </p:cNvSpPr>
          <p:nvPr/>
        </p:nvSpPr>
        <p:spPr>
          <a:xfrm>
            <a:off x="723900" y="5791200"/>
            <a:ext cx="10744200" cy="333375"/>
          </a:xfrm>
          <a:prstGeom prst="rect">
            <a:avLst/>
          </a:prstGeom>
          <a:noFill/>
          <a:ln w="0">
            <a:noFill/>
          </a:ln>
        </p:spPr>
        <p:txBody>
          <a:bodyPr lIns="0" tIns="0" rIns="0" bIns="0" anchor="t">
            <a:noAutofit/>
          </a:bodyPr>
          <a:lstStyle/>
          <a:p>
            <a:pPr>
              <a:buNone/>
              <a:defRPr sz="1425" b="0">
                <a:solidFill>
                  <a:srgbClr val="454545"/>
                </a:solidFill>
                <a:latin typeface="Noto Sans"/>
                <a:ea typeface="Noto Sans"/>
                <a:cs typeface="Noto Sans"/>
              </a:defRPr>
            </a:pPr>
            <a:r>
              <a:rPr sz="1425" b="0">
                <a:solidFill>
                  <a:srgbClr val="454545"/>
                </a:solidFill>
                <a:latin typeface="Noto Sans"/>
                <a:ea typeface="Noto Sans"/>
                <a:cs typeface="Noto Sans"/>
              </a:rPr>
              <a:t>Wang et al. (2025), Figure 2</a:t>
            </a:r>
            <a:r>
              <a:rPr sz="1425">
                <a:solidFill>
                  <a:srgbClr val="454545"/>
                </a:solidFill>
                <a:latin typeface="Noto Sans"/>
                <a:ea typeface="Noto Sans"/>
                <a:cs typeface="Noto Sans"/>
              </a:rPr>
              <a:t>.</a:t>
            </a:r>
            <a:endParaRPr sz="1425" b="0">
              <a:solidFill>
                <a:srgbClr val="454545"/>
              </a:solidFill>
              <a:latin typeface="Noto Sans"/>
              <a:ea typeface="Noto Sans"/>
              <a:cs typeface="Noto Sans"/>
            </a:endParaRPr>
          </a:p>
        </p:txBody>
      </p:sp>
      <p:pic>
        <p:nvPicPr>
          <p:cNvPr id="10" name="Picture 4"/>
          <p:cNvPicPr>
            <a:picLocks noChangeAspect="1"/>
          </p:cNvPicPr>
          <p:nvPr/>
        </p:nvPicPr>
        <p:blipFill rotWithShape="1">
          <a:blip r:embed="rId3"/>
          <a:srcRect r="27647" b="8555"/>
          <a:stretch/>
        </p:blipFill>
        <p:spPr>
          <a:xfrm>
            <a:off x="3569474" y="1443487"/>
            <a:ext cx="7960973" cy="4750279"/>
          </a:xfrm>
          <a:prstGeom prst="rect">
            <a:avLst/>
          </a:prstGeom>
        </p:spPr>
      </p:pic>
      <p:sp>
        <p:nvSpPr>
          <p:cNvPr id="2" name="Rectangle 1">
            <a:extLst>
              <a:ext uri="{FF2B5EF4-FFF2-40B4-BE49-F238E27FC236}">
                <a16:creationId xmlns:a16="http://schemas.microsoft.com/office/drawing/2014/main" id="{2953DC39-B7B1-44E9-BA18-0C8A72030CF9}"/>
              </a:ext>
            </a:extLst>
          </p:cNvPr>
          <p:cNvSpPr>
            <a:spLocks noGrp="1"/>
          </p:cNvSpPr>
          <p:nvPr/>
        </p:nvSpPr>
        <p:spPr>
          <a:xfrm>
            <a:off x="10242430" y="1081177"/>
            <a:ext cx="1805796" cy="29847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2F638241-23E4-474C-A941-10087541B3E8}"/>
              </a:ext>
            </a:extLst>
          </p:cNvPr>
          <p:cNvSpPr>
            <a:spLocks noGrp="1"/>
          </p:cNvSpPr>
          <p:nvPr/>
        </p:nvSpPr>
        <p:spPr>
          <a:xfrm>
            <a:off x="11208589" y="3088257"/>
            <a:ext cx="983411" cy="29847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988743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p:cNvPicPr>
          <p:nvPr/>
        </p:nvPicPr>
        <p:blipFill>
          <a:blip r:embed="rId3"/>
          <a:stretch>
            <a:fillRect/>
          </a:stretch>
        </p:blipFill>
        <p:spPr>
          <a:xfrm>
            <a:off x="2288451" y="1790162"/>
            <a:ext cx="7544727" cy="1097778"/>
          </a:xfrm>
          <a:prstGeom prst="rect">
            <a:avLst/>
          </a:prstGeom>
        </p:spPr>
      </p:pic>
      <p:sp>
        <p:nvSpPr>
          <p:cNvPr id="3" name="slide_title">
            <a:extLst>
              <a:ext uri="{FF2B5EF4-FFF2-40B4-BE49-F238E27FC236}">
                <a16:creationId xmlns:a16="http://schemas.microsoft.com/office/drawing/2014/main" id="{D58159EF-3BF5-4CA6-9048-2AE59CA12D49}"/>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The analytical task and its computation</a:t>
            </a:r>
          </a:p>
        </p:txBody>
      </p:sp>
      <p:sp>
        <p:nvSpPr>
          <p:cNvPr id="2" name="body">
            <a:extLst>
              <a:ext uri="{FF2B5EF4-FFF2-40B4-BE49-F238E27FC236}">
                <a16:creationId xmlns:a16="http://schemas.microsoft.com/office/drawing/2014/main" id="{2B7FDCC6-4342-4702-AB05-E81059D5319F}"/>
              </a:ext>
            </a:extLst>
          </p:cNvPr>
          <p:cNvSpPr>
            <a:spLocks noGrp="1"/>
          </p:cNvSpPr>
          <p:nvPr/>
        </p:nvSpPr>
        <p:spPr>
          <a:xfrm>
            <a:off x="723900" y="2866487"/>
            <a:ext cx="10744200" cy="3037443"/>
          </a:xfrm>
          <a:prstGeom prst="rect">
            <a:avLst/>
          </a:prstGeom>
          <a:noFill/>
          <a:ln w="0">
            <a:noFill/>
          </a:ln>
        </p:spPr>
        <p:txBody>
          <a:bodyPr lIns="0" tIns="0" rIns="0" bIns="0" anchor="t">
            <a:noAutofit/>
          </a:bodyPr>
          <a:lstStyle/>
          <a:p>
            <a:pPr>
              <a:spcAft>
                <a:spcPts val="1800"/>
              </a:spcAft>
              <a:buNone/>
              <a:defRPr sz="2700" b="0">
                <a:solidFill>
                  <a:srgbClr val="202020"/>
                </a:solidFill>
                <a:latin typeface="Noto Sans"/>
                <a:ea typeface="Noto Sans"/>
                <a:cs typeface="Noto Sans"/>
              </a:defRPr>
            </a:pPr>
            <a:r>
              <a:rPr sz="2400"/>
              <a:t>Task function F: the overall result we want</a:t>
            </a:r>
          </a:p>
          <a:p>
            <a:pPr>
              <a:spcAft>
                <a:spcPts val="1800"/>
              </a:spcAft>
              <a:buNone/>
              <a:defRPr sz="2700" b="0">
                <a:solidFill>
                  <a:srgbClr val="202020"/>
                </a:solidFill>
                <a:latin typeface="Noto Sans"/>
                <a:ea typeface="Noto Sans"/>
                <a:cs typeface="Noto Sans"/>
              </a:defRPr>
            </a:pPr>
            <a:r>
              <a:rPr sz="2400"/>
              <a:t>x</a:t>
            </a:r>
            <a:r>
              <a:rPr sz="1200"/>
              <a:t>i</a:t>
            </a:r>
            <a:r>
              <a:rPr sz="2400"/>
              <a:t>: </a:t>
            </a:r>
            <a:r>
              <a:rPr sz="2400">
                <a:solidFill>
                  <a:srgbClr val="202020"/>
                </a:solidFill>
                <a:latin typeface="Noto Sans"/>
                <a:ea typeface="Noto Sans"/>
                <a:cs typeface="Noto Sans"/>
              </a:rPr>
              <a:t>Local client data </a:t>
            </a:r>
          </a:p>
          <a:p>
            <a:pPr>
              <a:spcAft>
                <a:spcPts val="1800"/>
              </a:spcAft>
              <a:buNone/>
              <a:defRPr sz="2700" b="0">
                <a:solidFill>
                  <a:srgbClr val="202020"/>
                </a:solidFill>
                <a:latin typeface="Noto Sans"/>
                <a:ea typeface="Noto Sans"/>
                <a:cs typeface="Noto Sans"/>
              </a:defRPr>
            </a:pPr>
            <a:r>
              <a:rPr sz="2400">
                <a:solidFill>
                  <a:srgbClr val="202020"/>
                </a:solidFill>
                <a:latin typeface="Noto Sans"/>
                <a:ea typeface="Noto Sans"/>
                <a:cs typeface="Noto Sans"/>
              </a:rPr>
              <a:t>DO: Data owners</a:t>
            </a:r>
          </a:p>
          <a:p>
            <a:pPr>
              <a:spcAft>
                <a:spcPts val="1800"/>
              </a:spcAft>
              <a:buNone/>
              <a:defRPr sz="2700" b="0">
                <a:solidFill>
                  <a:srgbClr val="202020"/>
                </a:solidFill>
                <a:latin typeface="Noto Sans"/>
                <a:ea typeface="Noto Sans"/>
                <a:cs typeface="Noto Sans"/>
              </a:defRPr>
            </a:pPr>
            <a:r>
              <a:rPr sz="2400"/>
              <a:t>Insight function I: what each client calculates</a:t>
            </a:r>
          </a:p>
          <a:p>
            <a:pPr>
              <a:spcAft>
                <a:spcPts val="1800"/>
              </a:spcAft>
              <a:buNone/>
              <a:defRPr sz="2700" b="0">
                <a:solidFill>
                  <a:srgbClr val="202020"/>
                </a:solidFill>
                <a:latin typeface="Noto Sans"/>
                <a:ea typeface="Noto Sans"/>
                <a:cs typeface="Noto Sans"/>
              </a:defRPr>
            </a:pPr>
            <a:r>
              <a:rPr sz="2400"/>
              <a:t>Aggregation function A: how insights produce the result</a:t>
            </a:r>
          </a:p>
        </p:txBody>
      </p:sp>
    </p:spTree>
    <p:extLst>
      <p:ext uri="{BB962C8B-B14F-4D97-AF65-F5344CB8AC3E}">
        <p14:creationId xmlns:p14="http://schemas.microsoft.com/office/powerpoint/2010/main" val="1988743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p:cNvPicPr>
            <a:picLocks noChangeAspect="1"/>
          </p:cNvPicPr>
          <p:nvPr/>
        </p:nvPicPr>
        <p:blipFill>
          <a:blip r:embed="rId3"/>
          <a:stretch>
            <a:fillRect/>
          </a:stretch>
        </p:blipFill>
        <p:spPr>
          <a:xfrm>
            <a:off x="2288451" y="1790162"/>
            <a:ext cx="7544727" cy="1097778"/>
          </a:xfrm>
          <a:prstGeom prst="rect">
            <a:avLst/>
          </a:prstGeom>
        </p:spPr>
      </p:pic>
      <p:sp>
        <p:nvSpPr>
          <p:cNvPr id="3" name="slide_title">
            <a:extLst>
              <a:ext uri="{FF2B5EF4-FFF2-40B4-BE49-F238E27FC236}">
                <a16:creationId xmlns:a16="http://schemas.microsoft.com/office/drawing/2014/main" id="{D58159EF-3BF5-4CA6-9048-2AE59CA12D49}"/>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Exact and approximate results</a:t>
            </a:r>
          </a:p>
        </p:txBody>
      </p:sp>
      <p:sp>
        <p:nvSpPr>
          <p:cNvPr id="2" name="body">
            <a:extLst>
              <a:ext uri="{FF2B5EF4-FFF2-40B4-BE49-F238E27FC236}">
                <a16:creationId xmlns:a16="http://schemas.microsoft.com/office/drawing/2014/main" id="{2B7FDCC6-4342-4702-AB05-E81059D5319F}"/>
              </a:ext>
            </a:extLst>
          </p:cNvPr>
          <p:cNvSpPr>
            <a:spLocks noGrp="1"/>
          </p:cNvSpPr>
          <p:nvPr/>
        </p:nvSpPr>
        <p:spPr>
          <a:xfrm>
            <a:off x="723900" y="2866487"/>
            <a:ext cx="10744200" cy="3037443"/>
          </a:xfrm>
          <a:prstGeom prst="rect">
            <a:avLst/>
          </a:prstGeom>
          <a:noFill/>
          <a:ln w="0">
            <a:noFill/>
          </a:ln>
        </p:spPr>
        <p:txBody>
          <a:bodyPr lIns="0" tIns="0" rIns="0" bIns="0" anchor="t">
            <a:noAutofit/>
          </a:bodyPr>
          <a:lstStyle/>
          <a:p>
            <a:pPr>
              <a:spcAft>
                <a:spcPts val="1800"/>
              </a:spcAft>
              <a:buNone/>
              <a:defRPr sz="2700" b="0">
                <a:solidFill>
                  <a:srgbClr val="202020"/>
                </a:solidFill>
                <a:latin typeface="Noto Sans"/>
                <a:ea typeface="Noto Sans"/>
                <a:cs typeface="Noto Sans"/>
              </a:defRPr>
            </a:pPr>
            <a:r>
              <a:rPr sz="2400"/>
              <a:t>The researchers need to design insight derivation function I and</a:t>
            </a:r>
          </a:p>
          <a:p>
            <a:pPr>
              <a:spcAft>
                <a:spcPts val="1800"/>
              </a:spcAft>
              <a:buNone/>
              <a:defRPr sz="2700" b="0">
                <a:solidFill>
                  <a:srgbClr val="202020"/>
                </a:solidFill>
                <a:latin typeface="Noto Sans"/>
                <a:ea typeface="Noto Sans"/>
                <a:cs typeface="Noto Sans"/>
              </a:defRPr>
            </a:pPr>
            <a:r>
              <a:rPr sz="2400"/>
              <a:t>aggregation function A so that the FA result </a:t>
            </a:r>
          </a:p>
          <a:p>
            <a:pPr>
              <a:spcAft>
                <a:spcPts val="1800"/>
              </a:spcAft>
              <a:buNone/>
              <a:defRPr sz="2700" b="0">
                <a:solidFill>
                  <a:srgbClr val="202020"/>
                </a:solidFill>
                <a:latin typeface="Noto Sans"/>
                <a:ea typeface="Noto Sans"/>
                <a:cs typeface="Noto Sans"/>
              </a:defRPr>
            </a:pPr>
            <a:endParaRPr sz="2400"/>
          </a:p>
          <a:p>
            <a:pPr>
              <a:spcAft>
                <a:spcPts val="1800"/>
              </a:spcAft>
              <a:buNone/>
              <a:defRPr sz="2700" b="0">
                <a:solidFill>
                  <a:srgbClr val="202020"/>
                </a:solidFill>
                <a:latin typeface="Noto Sans"/>
                <a:ea typeface="Noto Sans"/>
                <a:cs typeface="Noto Sans"/>
              </a:defRPr>
            </a:pPr>
            <a:r>
              <a:rPr sz="2400"/>
              <a:t>should be identical (or close to) the result of the task</a:t>
            </a:r>
          </a:p>
        </p:txBody>
      </p:sp>
      <p:pic>
        <p:nvPicPr>
          <p:cNvPr id="10" name="Picture 4"/>
          <p:cNvPicPr>
            <a:picLocks noChangeAspect="1"/>
          </p:cNvPicPr>
          <p:nvPr/>
        </p:nvPicPr>
        <p:blipFill rotWithShape="1">
          <a:blip r:embed="rId3"/>
          <a:srcRect l="40426" t="3588"/>
          <a:stretch/>
        </p:blipFill>
        <p:spPr>
          <a:xfrm>
            <a:off x="4517478" y="3857750"/>
            <a:ext cx="3157043" cy="743409"/>
          </a:xfrm>
          <a:prstGeom prst="rect">
            <a:avLst/>
          </a:prstGeom>
        </p:spPr>
      </p:pic>
      <p:pic>
        <p:nvPicPr>
          <p:cNvPr id="11" name="Picture 6"/>
          <p:cNvPicPr>
            <a:picLocks noChangeAspect="1"/>
          </p:cNvPicPr>
          <p:nvPr/>
        </p:nvPicPr>
        <p:blipFill rotWithShape="1">
          <a:blip r:embed="rId3"/>
          <a:srcRect r="66619"/>
          <a:stretch/>
        </p:blipFill>
        <p:spPr>
          <a:xfrm>
            <a:off x="5146072" y="5247514"/>
            <a:ext cx="1829483" cy="797436"/>
          </a:xfrm>
          <a:prstGeom prst="rect">
            <a:avLst/>
          </a:prstGeom>
        </p:spPr>
      </p:pic>
    </p:spTree>
    <p:extLst>
      <p:ext uri="{BB962C8B-B14F-4D97-AF65-F5344CB8AC3E}">
        <p14:creationId xmlns:p14="http://schemas.microsoft.com/office/powerpoint/2010/main" val="1061146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C022940E-A04E-409E-87D1-3E7E41F3E37F}"/>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Related fields</a:t>
            </a:r>
          </a:p>
        </p:txBody>
      </p:sp>
      <p:pic>
        <p:nvPicPr>
          <p:cNvPr id="11" name="Picture 4"/>
          <p:cNvPicPr>
            <a:picLocks noChangeAspect="1"/>
          </p:cNvPicPr>
          <p:nvPr/>
        </p:nvPicPr>
        <p:blipFill>
          <a:blip r:embed="rId3"/>
          <a:stretch>
            <a:fillRect/>
          </a:stretch>
        </p:blipFill>
        <p:spPr>
          <a:xfrm>
            <a:off x="463495" y="1711179"/>
            <a:ext cx="4589439" cy="3895096"/>
          </a:xfrm>
          <a:prstGeom prst="rect">
            <a:avLst/>
          </a:prstGeom>
        </p:spPr>
      </p:pic>
      <p:sp>
        <p:nvSpPr>
          <p:cNvPr id="6" name="figure_reference">
            <a:extLst>
              <a:ext uri="{FF2B5EF4-FFF2-40B4-BE49-F238E27FC236}">
                <a16:creationId xmlns:a16="http://schemas.microsoft.com/office/drawing/2014/main" id="{8A2F0FFE-A67A-4A7E-9512-86CB0B205C00}"/>
              </a:ext>
            </a:extLst>
          </p:cNvPr>
          <p:cNvSpPr>
            <a:spLocks noGrp="1"/>
          </p:cNvSpPr>
          <p:nvPr/>
        </p:nvSpPr>
        <p:spPr>
          <a:xfrm>
            <a:off x="723900" y="5791200"/>
            <a:ext cx="10744200" cy="333375"/>
          </a:xfrm>
          <a:prstGeom prst="rect">
            <a:avLst/>
          </a:prstGeom>
          <a:noFill/>
          <a:ln w="0">
            <a:noFill/>
          </a:ln>
        </p:spPr>
        <p:txBody>
          <a:bodyPr lIns="0" tIns="0" rIns="0" bIns="0" anchor="t">
            <a:noAutofit/>
          </a:bodyPr>
          <a:lstStyle/>
          <a:p>
            <a:pPr>
              <a:buNone/>
              <a:defRPr sz="1425" b="0">
                <a:solidFill>
                  <a:srgbClr val="454545"/>
                </a:solidFill>
                <a:latin typeface="Noto Sans"/>
                <a:ea typeface="Noto Sans"/>
                <a:cs typeface="Noto Sans"/>
              </a:defRPr>
            </a:pPr>
            <a:r>
              <a:rPr sz="1425" b="0">
                <a:solidFill>
                  <a:srgbClr val="454545"/>
                </a:solidFill>
                <a:latin typeface="Noto Sans"/>
                <a:ea typeface="Noto Sans"/>
                <a:cs typeface="Noto Sans"/>
              </a:rPr>
              <a:t>Wang et al. (2025), Figure </a:t>
            </a:r>
            <a:r>
              <a:rPr sz="1425">
                <a:solidFill>
                  <a:srgbClr val="454545"/>
                </a:solidFill>
                <a:latin typeface="Noto Sans"/>
                <a:ea typeface="Noto Sans"/>
                <a:cs typeface="Noto Sans"/>
              </a:rPr>
              <a:t>3.</a:t>
            </a:r>
            <a:endParaRPr sz="1425" b="0">
              <a:solidFill>
                <a:srgbClr val="454545"/>
              </a:solidFill>
              <a:latin typeface="Noto Sans"/>
              <a:ea typeface="Noto Sans"/>
              <a:cs typeface="Noto Sans"/>
            </a:endParaRPr>
          </a:p>
        </p:txBody>
      </p:sp>
      <p:sp>
        <p:nvSpPr>
          <p:cNvPr id="8" name="body">
            <a:extLst>
              <a:ext uri="{FF2B5EF4-FFF2-40B4-BE49-F238E27FC236}">
                <a16:creationId xmlns:a16="http://schemas.microsoft.com/office/drawing/2014/main" id="{17AE24C4-0F3E-4414-8B4F-843515DB4D32}"/>
              </a:ext>
            </a:extLst>
          </p:cNvPr>
          <p:cNvSpPr>
            <a:spLocks noGrp="1"/>
          </p:cNvSpPr>
          <p:nvPr/>
        </p:nvSpPr>
        <p:spPr>
          <a:xfrm>
            <a:off x="5234151" y="1042191"/>
            <a:ext cx="6666561" cy="5082384"/>
          </a:xfrm>
          <a:prstGeom prst="rect">
            <a:avLst/>
          </a:prstGeom>
          <a:noFill/>
          <a:ln w="0">
            <a:noFill/>
          </a:ln>
        </p:spPr>
        <p:txBody>
          <a:bodyPr lIns="0" tIns="0" rIns="0" bIns="0" anchor="t">
            <a:noAutofit/>
          </a:bodyPr>
          <a:lstStyle/>
          <a:p>
            <a:pPr marL="342900" indent="-342900">
              <a:spcAft>
                <a:spcPts val="1800"/>
              </a:spcAft>
              <a:buFont typeface="Arial"/>
              <a:buChar char="•"/>
              <a:defRPr sz="2700" b="0">
                <a:solidFill>
                  <a:srgbClr val="202020"/>
                </a:solidFill>
                <a:latin typeface="Noto Sans"/>
                <a:ea typeface="Noto Sans"/>
                <a:cs typeface="Noto Sans"/>
              </a:defRPr>
            </a:pPr>
            <a:r>
              <a:rPr sz="2400"/>
              <a:t>Distributed data mining: analyses data across multiple locations.</a:t>
            </a:r>
          </a:p>
          <a:p>
            <a:pPr marL="342900" indent="-342900">
              <a:spcAft>
                <a:spcPts val="1800"/>
              </a:spcAft>
              <a:buFont typeface="Arial"/>
              <a:buChar char="•"/>
              <a:defRPr sz="2700" b="0">
                <a:solidFill>
                  <a:srgbClr val="202020"/>
                </a:solidFill>
                <a:latin typeface="Noto Sans"/>
                <a:ea typeface="Noto Sans"/>
                <a:cs typeface="Noto Sans"/>
              </a:defRPr>
            </a:pPr>
            <a:r>
              <a:rPr sz="2400"/>
              <a:t>Privacy-preserving data mining: protects sensitive information during analysis.</a:t>
            </a:r>
          </a:p>
          <a:p>
            <a:pPr marL="342900" indent="-342900">
              <a:spcAft>
                <a:spcPts val="1800"/>
              </a:spcAft>
              <a:buFont typeface="Arial"/>
              <a:buChar char="•"/>
              <a:defRPr sz="2700" b="0">
                <a:solidFill>
                  <a:srgbClr val="202020"/>
                </a:solidFill>
                <a:latin typeface="Noto Sans"/>
                <a:ea typeface="Noto Sans"/>
                <a:cs typeface="Noto Sans"/>
              </a:defRPr>
            </a:pPr>
            <a:r>
              <a:rPr sz="2400"/>
              <a:t>Federated computation: keeps raw data local and shares computational outputs.</a:t>
            </a:r>
          </a:p>
          <a:p>
            <a:pPr marL="342900" indent="-342900">
              <a:spcAft>
                <a:spcPts val="1800"/>
              </a:spcAft>
              <a:buFont typeface="Arial"/>
              <a:buChar char="•"/>
              <a:defRPr sz="2700" b="0">
                <a:solidFill>
                  <a:srgbClr val="202020"/>
                </a:solidFill>
                <a:latin typeface="Noto Sans"/>
                <a:ea typeface="Noto Sans"/>
                <a:cs typeface="Noto Sans"/>
              </a:defRPr>
            </a:pPr>
            <a:r>
              <a:rPr sz="2400"/>
              <a:t>Federated analytics: combines these approaches for descriptive and exploratory analysis.</a:t>
            </a:r>
          </a:p>
          <a:p>
            <a:pPr marL="342900" indent="-342900">
              <a:spcAft>
                <a:spcPts val="1800"/>
              </a:spcAft>
              <a:buFont typeface="Arial"/>
              <a:buChar char="•"/>
              <a:defRPr sz="2700" b="0">
                <a:solidFill>
                  <a:srgbClr val="202020"/>
                </a:solidFill>
                <a:latin typeface="Noto Sans"/>
                <a:ea typeface="Noto Sans"/>
                <a:cs typeface="Noto Sans"/>
              </a:defRPr>
            </a:pPr>
            <a:r>
              <a:rPr sz="2400"/>
              <a:t>Federated learning: uses federated computation to train predictive models.</a:t>
            </a:r>
          </a:p>
        </p:txBody>
      </p:sp>
    </p:spTree>
    <p:extLst>
      <p:ext uri="{BB962C8B-B14F-4D97-AF65-F5344CB8AC3E}">
        <p14:creationId xmlns:p14="http://schemas.microsoft.com/office/powerpoint/2010/main" val="1988743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p:cNvPicPr>
            <a:picLocks noChangeAspect="1"/>
          </p:cNvPicPr>
          <p:nvPr/>
        </p:nvPicPr>
        <p:blipFill rotWithShape="1">
          <a:blip r:embed="rId3">
            <a:clrChange>
              <a:clrFrom>
                <a:srgbClr val="FFFFFF"/>
              </a:clrFrom>
              <a:clrTo>
                <a:srgbClr val="FFFFFF">
                  <a:alpha val="0"/>
                </a:srgbClr>
              </a:clrTo>
            </a:clrChange>
            <a:duotone>
              <a:prstClr val="black"/>
              <a:schemeClr val="tx2">
                <a:tint val="45000"/>
                <a:satMod val="400000"/>
              </a:schemeClr>
            </a:duotone>
          </a:blip>
          <a:srcRect b="71801"/>
          <a:stretch/>
        </p:blipFill>
        <p:spPr>
          <a:xfrm>
            <a:off x="0" y="767271"/>
            <a:ext cx="12117050" cy="1546211"/>
          </a:xfrm>
          <a:prstGeom prst="rect">
            <a:avLst/>
          </a:prstGeom>
        </p:spPr>
      </p:pic>
      <p:sp>
        <p:nvSpPr>
          <p:cNvPr id="2" name="Title 1">
            <a:extLst>
              <a:ext uri="{FF2B5EF4-FFF2-40B4-BE49-F238E27FC236}">
                <a16:creationId xmlns:a16="http://schemas.microsoft.com/office/drawing/2014/main" id="{1FCFFD5B-A529-48D2-9776-0D65789763D0}"/>
              </a:ext>
            </a:extLst>
          </p:cNvPr>
          <p:cNvSpPr>
            <a:spLocks noGrp="1"/>
          </p:cNvSpPr>
          <p:nvPr>
            <p:ph type="title"/>
          </p:nvPr>
        </p:nvSpPr>
        <p:spPr>
          <a:xfrm>
            <a:off x="228600" y="342900"/>
            <a:ext cx="11734800" cy="571500"/>
          </a:xfrm>
        </p:spPr>
        <p:txBody>
          <a:bodyPr lIns="0" tIns="0" rIns="0" bIns="0" anchor="t">
            <a:noAutofit/>
          </a:bodyPr>
          <a:lstStyle/>
          <a:p>
            <a:pPr>
              <a:defRPr sz="3300" b="1">
                <a:solidFill>
                  <a:srgbClr val="202020"/>
                </a:solidFill>
                <a:latin typeface="Noto Sans"/>
                <a:ea typeface="Noto Sans"/>
                <a:cs typeface="Noto Sans"/>
              </a:defRPr>
            </a:pPr>
            <a:r>
              <a:rPr lang="en-GB" dirty="0"/>
              <a:t>Federated analytics dimensions</a:t>
            </a:r>
            <a:endParaRPr dirty="0"/>
          </a:p>
        </p:txBody>
      </p:sp>
    </p:spTree>
    <p:extLst>
      <p:ext uri="{BB962C8B-B14F-4D97-AF65-F5344CB8AC3E}">
        <p14:creationId xmlns:p14="http://schemas.microsoft.com/office/powerpoint/2010/main" val="3807518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p:cNvPicPr>
            <a:picLocks noChangeAspect="1"/>
          </p:cNvPicPr>
          <p:nvPr/>
        </p:nvPicPr>
        <p:blipFill rotWithShape="1">
          <a:blip r:embed="rId3">
            <a:clrChange>
              <a:clrFrom>
                <a:srgbClr val="FFFFFF"/>
              </a:clrFrom>
              <a:clrTo>
                <a:srgbClr val="FFFFFF">
                  <a:alpha val="0"/>
                </a:srgbClr>
              </a:clrTo>
            </a:clrChange>
            <a:duotone>
              <a:prstClr val="black"/>
              <a:schemeClr val="tx2">
                <a:tint val="45000"/>
                <a:satMod val="400000"/>
              </a:schemeClr>
            </a:duotone>
          </a:blip>
          <a:srcRect b="71801"/>
          <a:stretch/>
        </p:blipFill>
        <p:spPr>
          <a:xfrm>
            <a:off x="0" y="767271"/>
            <a:ext cx="12117050" cy="1546211"/>
          </a:xfrm>
          <a:prstGeom prst="rect">
            <a:avLst/>
          </a:prstGeom>
        </p:spPr>
      </p:pic>
      <p:pic>
        <p:nvPicPr>
          <p:cNvPr id="6" name="Picture 6"/>
          <p:cNvPicPr>
            <a:picLocks noChangeAspect="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blip>
          <a:srcRect l="616" t="18630" r="88589"/>
          <a:stretch/>
        </p:blipFill>
        <p:spPr>
          <a:xfrm>
            <a:off x="74951" y="1788825"/>
            <a:ext cx="1307910" cy="4461665"/>
          </a:xfrm>
          <a:prstGeom prst="rect">
            <a:avLst/>
          </a:prstGeom>
        </p:spPr>
      </p:pic>
      <p:sp>
        <p:nvSpPr>
          <p:cNvPr id="2" name="Title 1">
            <a:extLst>
              <a:ext uri="{FF2B5EF4-FFF2-40B4-BE49-F238E27FC236}">
                <a16:creationId xmlns:a16="http://schemas.microsoft.com/office/drawing/2014/main" id="{1FCFFD5B-A529-48D2-9776-0D65789763D0}"/>
              </a:ext>
            </a:extLst>
          </p:cNvPr>
          <p:cNvSpPr>
            <a:spLocks noGrp="1"/>
          </p:cNvSpPr>
          <p:nvPr>
            <p:ph type="title"/>
          </p:nvPr>
        </p:nvSpPr>
        <p:spPr>
          <a:xfrm>
            <a:off x="228600" y="342900"/>
            <a:ext cx="11734800" cy="571500"/>
          </a:xfrm>
        </p:spPr>
        <p:txBody>
          <a:bodyPr lIns="0" tIns="0" rIns="0" bIns="0" anchor="t">
            <a:noAutofit/>
          </a:bodyPr>
          <a:lstStyle/>
          <a:p>
            <a:pPr>
              <a:defRPr sz="3300" b="1">
                <a:solidFill>
                  <a:srgbClr val="202020"/>
                </a:solidFill>
                <a:latin typeface="Noto Sans"/>
                <a:ea typeface="Noto Sans"/>
                <a:cs typeface="Noto Sans"/>
              </a:defRPr>
            </a:pPr>
            <a:r>
              <a:rPr lang="en-GB" dirty="0"/>
              <a:t>Data analysis task</a:t>
            </a:r>
            <a:endParaRPr dirty="0"/>
          </a:p>
        </p:txBody>
      </p:sp>
    </p:spTree>
    <p:extLst>
      <p:ext uri="{BB962C8B-B14F-4D97-AF65-F5344CB8AC3E}">
        <p14:creationId xmlns:p14="http://schemas.microsoft.com/office/powerpoint/2010/main" val="4093352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5F4F1-6A9F-4F32-88D9-201CD6FE7145}"/>
              </a:ext>
            </a:extLst>
          </p:cNvPr>
          <p:cNvSpPr>
            <a:spLocks noGrp="1"/>
          </p:cNvSpPr>
          <p:nvPr>
            <p:ph type="title"/>
          </p:nvPr>
        </p:nvSpPr>
        <p:spPr/>
        <p:txBody>
          <a:bodyPr/>
          <a:lstStyle/>
          <a:p>
            <a:r>
              <a:rPr dirty="0"/>
              <a:t>Data analysis task</a:t>
            </a:r>
          </a:p>
        </p:txBody>
      </p:sp>
      <p:graphicFrame>
        <p:nvGraphicFramePr>
          <p:cNvPr id="5" name="Table 2"/>
          <p:cNvGraphicFramePr/>
          <p:nvPr/>
        </p:nvGraphicFramePr>
        <p:xfrm>
          <a:off x="482599" y="1851804"/>
          <a:ext cx="11226800" cy="4201792"/>
        </p:xfrm>
        <a:graphic>
          <a:graphicData uri="http://schemas.openxmlformats.org/drawingml/2006/table">
            <a:tbl>
              <a:tblPr/>
              <a:tblGrid>
                <a:gridCol w="5613400">
                  <a:extLst>
                    <a:ext uri="{9D8B030D-6E8A-4147-A177-3AD203B41FA5}">
                      <a16:colId xmlns:a16="http://schemas.microsoft.com/office/drawing/2014/main" val="20000"/>
                    </a:ext>
                  </a:extLst>
                </a:gridCol>
                <a:gridCol w="5613400">
                  <a:extLst>
                    <a:ext uri="{9D8B030D-6E8A-4147-A177-3AD203B41FA5}">
                      <a16:colId xmlns:a16="http://schemas.microsoft.com/office/drawing/2014/main" val="20001"/>
                    </a:ext>
                  </a:extLst>
                </a:gridCol>
              </a:tblGrid>
              <a:tr h="466866">
                <a:tc>
                  <a:txBody>
                    <a:bodyPr/>
                    <a:lstStyle/>
                    <a:p>
                      <a:r>
                        <a:rPr sz="1800" b="1">
                          <a:solidFill>
                            <a:schemeClr val="bg1"/>
                          </a:solidFill>
                          <a:latin typeface="Noto Sans"/>
                          <a:ea typeface="Noto Sans"/>
                          <a:cs typeface="Noto Sans"/>
                        </a:rPr>
                        <a:t>Data analytics task</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solidFill>
                  </a:tcPr>
                </a:tc>
                <a:tc>
                  <a:txBody>
                    <a:bodyPr/>
                    <a:lstStyle/>
                    <a:p>
                      <a:r>
                        <a:rPr sz="1800" b="1">
                          <a:solidFill>
                            <a:schemeClr val="bg1"/>
                          </a:solidFill>
                          <a:latin typeface="Noto Sans"/>
                          <a:ea typeface="Noto Sans"/>
                          <a:cs typeface="Noto Sans"/>
                        </a:rPr>
                        <a:t>Examples</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solidFill>
                  </a:tcPr>
                </a:tc>
                <a:extLst>
                  <a:ext uri="{0D108BD9-81ED-4DB2-BD59-A6C34878D82A}">
                    <a16:rowId xmlns:a16="http://schemas.microsoft.com/office/drawing/2014/main" val="10000"/>
                  </a:ext>
                </a:extLst>
              </a:tr>
              <a:tr h="817015">
                <a:tc>
                  <a:txBody>
                    <a:bodyPr/>
                    <a:lstStyle/>
                    <a:p>
                      <a:r>
                        <a:rPr sz="1800" b="1">
                          <a:latin typeface="Noto Sans"/>
                          <a:ea typeface="Noto Sans"/>
                          <a:cs typeface="Noto Sans"/>
                        </a:rPr>
                        <a:t>Statistical metrics</a:t>
                      </a:r>
                      <a:endParaRPr sz="1800">
                        <a:latin typeface="Noto Sans"/>
                        <a:ea typeface="Noto Sans"/>
                        <a:cs typeface="Noto Sans"/>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r>
                        <a:rPr sz="1800">
                          <a:latin typeface="Noto Sans"/>
                          <a:ea typeface="Noto Sans"/>
                          <a:cs typeface="Noto Sans"/>
                        </a:rPr>
                        <a:t>Calculate means, percentiles, clusters and graph metrics.</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1"/>
                  </a:ext>
                </a:extLst>
              </a:tr>
              <a:tr h="817015">
                <a:tc>
                  <a:txBody>
                    <a:bodyPr/>
                    <a:lstStyle/>
                    <a:p>
                      <a:r>
                        <a:rPr sz="1800" b="1">
                          <a:latin typeface="Noto Sans"/>
                          <a:ea typeface="Noto Sans"/>
                          <a:cs typeface="Noto Sans"/>
                        </a:rPr>
                        <a:t>Frequency-related applications</a:t>
                      </a:r>
                      <a:endParaRPr sz="1800">
                        <a:latin typeface="Noto Sans"/>
                        <a:ea typeface="Noto Sans"/>
                        <a:cs typeface="Noto Sans"/>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r>
                        <a:rPr sz="1800">
                          <a:latin typeface="Noto Sans"/>
                          <a:ea typeface="Noto Sans"/>
                          <a:cs typeface="Noto Sans"/>
                        </a:rPr>
                        <a:t>Estimate frequencies and identify common items or patterns.</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2"/>
                  </a:ext>
                </a:extLst>
              </a:tr>
              <a:tr h="466866">
                <a:tc>
                  <a:txBody>
                    <a:bodyPr/>
                    <a:lstStyle/>
                    <a:p>
                      <a:r>
                        <a:rPr sz="1800" b="1">
                          <a:latin typeface="Noto Sans"/>
                          <a:ea typeface="Noto Sans"/>
                          <a:cs typeface="Noto Sans"/>
                        </a:rPr>
                        <a:t>Database operations</a:t>
                      </a:r>
                      <a:endParaRPr sz="1800">
                        <a:latin typeface="Noto Sans"/>
                        <a:ea typeface="Noto Sans"/>
                        <a:cs typeface="Noto Sans"/>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r>
                        <a:rPr sz="1800">
                          <a:latin typeface="Noto Sans"/>
                          <a:ea typeface="Noto Sans"/>
                          <a:cs typeface="Noto Sans"/>
                        </a:rPr>
                        <a:t>Execute queries across distributed databases.</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3"/>
                  </a:ext>
                </a:extLst>
              </a:tr>
              <a:tr h="817015">
                <a:tc>
                  <a:txBody>
                    <a:bodyPr/>
                    <a:lstStyle/>
                    <a:p>
                      <a:r>
                        <a:rPr sz="1800" b="1">
                          <a:latin typeface="Noto Sans"/>
                          <a:ea typeface="Noto Sans"/>
                          <a:cs typeface="Noto Sans"/>
                        </a:rPr>
                        <a:t>Assisting federated learning</a:t>
                      </a:r>
                      <a:endParaRPr sz="1800">
                        <a:latin typeface="Noto Sans"/>
                        <a:ea typeface="Noto Sans"/>
                        <a:cs typeface="Noto Sans"/>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r>
                        <a:rPr sz="1800">
                          <a:latin typeface="Noto Sans"/>
                          <a:ea typeface="Noto Sans"/>
                          <a:cs typeface="Noto Sans"/>
                        </a:rPr>
                        <a:t>Support client selection, personalisation and model evaluation.</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4"/>
                  </a:ext>
                </a:extLst>
              </a:tr>
              <a:tr h="817015">
                <a:tc>
                  <a:txBody>
                    <a:bodyPr/>
                    <a:lstStyle/>
                    <a:p>
                      <a:r>
                        <a:rPr sz="1800" b="1">
                          <a:latin typeface="Noto Sans"/>
                          <a:ea typeface="Noto Sans"/>
                          <a:cs typeface="Noto Sans"/>
                        </a:rPr>
                        <a:t>Wireless network applications</a:t>
                      </a:r>
                      <a:endParaRPr sz="1800">
                        <a:latin typeface="Noto Sans"/>
                        <a:ea typeface="Noto Sans"/>
                        <a:cs typeface="Noto Sans"/>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r>
                        <a:rPr sz="1800">
                          <a:latin typeface="Noto Sans"/>
                          <a:ea typeface="Noto Sans"/>
                          <a:cs typeface="Noto Sans"/>
                        </a:rPr>
                        <a:t>Support network analysis, planning and optimisation.</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13780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D4EEF4A3-F58E-4268-8885-21644DD3B2A4}"/>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Statistical metrics</a:t>
            </a:r>
          </a:p>
        </p:txBody>
      </p:sp>
      <p:graphicFrame>
        <p:nvGraphicFramePr>
          <p:cNvPr id="6" name="Table 3"/>
          <p:cNvGraphicFramePr/>
          <p:nvPr/>
        </p:nvGraphicFramePr>
        <p:xfrm>
          <a:off x="685800" y="2009775"/>
          <a:ext cx="10820400" cy="352425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704850">
                <a:tc>
                  <a:txBody>
                    <a:bodyPr/>
                    <a:lstStyle/>
                    <a:p>
                      <a:r>
                        <a:rPr sz="1800" b="1">
                          <a:solidFill>
                            <a:srgbClr val="FFFFFF"/>
                          </a:solidFill>
                          <a:latin typeface="Noto Sans"/>
                          <a:ea typeface="Noto Sans"/>
                          <a:cs typeface="Noto Sans"/>
                        </a:rPr>
                        <a:t>Task</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Federated design consideration</a:t>
                      </a:r>
                    </a:p>
                  </a:txBody>
                  <a:tcPr marL="114300" marR="114300" marT="76200" marB="76200" anchor="ctr">
                    <a:solidFill>
                      <a:srgbClr val="0874B8"/>
                    </a:solidFill>
                  </a:tcPr>
                </a:tc>
                <a:extLst>
                  <a:ext uri="{0D108BD9-81ED-4DB2-BD59-A6C34878D82A}">
                    <a16:rowId xmlns:a16="http://schemas.microsoft.com/office/drawing/2014/main" val="10000"/>
                  </a:ext>
                </a:extLst>
              </a:tr>
              <a:tr h="704850">
                <a:tc>
                  <a:txBody>
                    <a:bodyPr/>
                    <a:lstStyle/>
                    <a:p>
                      <a:r>
                        <a:rPr sz="1800">
                          <a:solidFill>
                            <a:srgbClr val="202020"/>
                          </a:solidFill>
                          <a:latin typeface="Noto Sans"/>
                          <a:ea typeface="Noto Sans"/>
                          <a:cs typeface="Noto Sans"/>
                        </a:rPr>
                        <a:t>Means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Combine compatible counts and sums</a:t>
                      </a:r>
                    </a:p>
                  </a:txBody>
                  <a:tcPr marL="114300" marR="114300" marT="76200" marB="7620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202020"/>
                          </a:solidFill>
                          <a:latin typeface="Noto Sans"/>
                          <a:ea typeface="Noto Sans"/>
                          <a:cs typeface="Noto Sans"/>
                        </a:rPr>
                        <a:t>Medians and percentiles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Need information about the global ordering</a:t>
                      </a:r>
                    </a:p>
                  </a:txBody>
                  <a:tcPr marL="114300" marR="114300" marT="76200" marB="76200" anchor="ctr">
                    <a:solidFill>
                      <a:srgbClr val="FFFFFF"/>
                    </a:solidFill>
                  </a:tcPr>
                </a:tc>
                <a:extLst>
                  <a:ext uri="{0D108BD9-81ED-4DB2-BD59-A6C34878D82A}">
                    <a16:rowId xmlns:a16="http://schemas.microsoft.com/office/drawing/2014/main" val="10002"/>
                  </a:ext>
                </a:extLst>
              </a:tr>
              <a:tr h="704850">
                <a:tc>
                  <a:txBody>
                    <a:bodyPr/>
                    <a:lstStyle/>
                    <a:p>
                      <a:r>
                        <a:rPr sz="1800">
                          <a:solidFill>
                            <a:srgbClr val="202020"/>
                          </a:solidFill>
                          <a:latin typeface="Noto Sans"/>
                          <a:ea typeface="Noto Sans"/>
                          <a:cs typeface="Noto Sans"/>
                        </a:rPr>
                        <a:t>Clustering</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Combine or refine cluster information</a:t>
                      </a:r>
                    </a:p>
                  </a:txBody>
                  <a:tcPr marL="114300" marR="114300" marT="76200" marB="76200" anchor="ctr">
                    <a:solidFill>
                      <a:srgbClr val="FFFFFF"/>
                    </a:solidFill>
                  </a:tcPr>
                </a:tc>
                <a:extLst>
                  <a:ext uri="{0D108BD9-81ED-4DB2-BD59-A6C34878D82A}">
                    <a16:rowId xmlns:a16="http://schemas.microsoft.com/office/drawing/2014/main" val="10003"/>
                  </a:ext>
                </a:extLst>
              </a:tr>
              <a:tr h="704850">
                <a:tc>
                  <a:txBody>
                    <a:bodyPr/>
                    <a:lstStyle/>
                    <a:p>
                      <a:r>
                        <a:rPr sz="1800">
                          <a:solidFill>
                            <a:srgbClr val="202020"/>
                          </a:solidFill>
                          <a:latin typeface="Noto Sans"/>
                          <a:ea typeface="Noto Sans"/>
                          <a:cs typeface="Noto Sans"/>
                        </a:rPr>
                        <a:t>Graph metrics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Protect relationships as well as values</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61938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76103AE5-CCF4-4CF4-9E56-D817EE2925E7}"/>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Frequency-related applications</a:t>
            </a:r>
          </a:p>
        </p:txBody>
      </p:sp>
      <p:graphicFrame>
        <p:nvGraphicFramePr>
          <p:cNvPr id="6" name="Table 3"/>
          <p:cNvGraphicFramePr/>
          <p:nvPr/>
        </p:nvGraphicFramePr>
        <p:xfrm>
          <a:off x="685800" y="2009775"/>
          <a:ext cx="10820400" cy="281940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704850">
                <a:tc>
                  <a:txBody>
                    <a:bodyPr/>
                    <a:lstStyle/>
                    <a:p>
                      <a:r>
                        <a:rPr sz="1800" b="1">
                          <a:solidFill>
                            <a:srgbClr val="FFFFFF"/>
                          </a:solidFill>
                          <a:latin typeface="Noto Sans"/>
                          <a:ea typeface="Noto Sans"/>
                          <a:cs typeface="Noto Sans"/>
                        </a:rPr>
                        <a:t>Task</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Question</a:t>
                      </a:r>
                    </a:p>
                  </a:txBody>
                  <a:tcPr marL="114300" marR="114300" marT="76200" marB="76200" anchor="ctr">
                    <a:solidFill>
                      <a:srgbClr val="0874B8"/>
                    </a:solidFill>
                  </a:tcPr>
                </a:tc>
                <a:extLst>
                  <a:ext uri="{0D108BD9-81ED-4DB2-BD59-A6C34878D82A}">
                    <a16:rowId xmlns:a16="http://schemas.microsoft.com/office/drawing/2014/main" val="10000"/>
                  </a:ext>
                </a:extLst>
              </a:tr>
              <a:tr h="704850">
                <a:tc>
                  <a:txBody>
                    <a:bodyPr/>
                    <a:lstStyle/>
                    <a:p>
                      <a:r>
                        <a:rPr sz="1800">
                          <a:solidFill>
                            <a:srgbClr val="202020"/>
                          </a:solidFill>
                          <a:latin typeface="Noto Sans"/>
                          <a:ea typeface="Noto Sans"/>
                          <a:cs typeface="Noto Sans"/>
                        </a:rPr>
                        <a:t>Frequency oracle</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How frequent is a queried item?</a:t>
                      </a:r>
                    </a:p>
                  </a:txBody>
                  <a:tcPr marL="114300" marR="114300" marT="76200" marB="7620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202020"/>
                          </a:solidFill>
                          <a:latin typeface="Noto Sans"/>
                          <a:ea typeface="Noto Sans"/>
                          <a:cs typeface="Noto Sans"/>
                        </a:rPr>
                        <a:t>Heavy hitters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Which items occur most often?</a:t>
                      </a:r>
                    </a:p>
                  </a:txBody>
                  <a:tcPr marL="114300" marR="114300" marT="76200" marB="76200" anchor="ctr">
                    <a:solidFill>
                      <a:srgbClr val="FFFFFF"/>
                    </a:solidFill>
                  </a:tcPr>
                </a:tc>
                <a:extLst>
                  <a:ext uri="{0D108BD9-81ED-4DB2-BD59-A6C34878D82A}">
                    <a16:rowId xmlns:a16="http://schemas.microsoft.com/office/drawing/2014/main" val="10002"/>
                  </a:ext>
                </a:extLst>
              </a:tr>
              <a:tr h="704850">
                <a:tc>
                  <a:txBody>
                    <a:bodyPr/>
                    <a:lstStyle/>
                    <a:p>
                      <a:r>
                        <a:rPr sz="1800">
                          <a:solidFill>
                            <a:srgbClr val="202020"/>
                          </a:solidFill>
                          <a:latin typeface="Noto Sans"/>
                          <a:ea typeface="Noto Sans"/>
                          <a:cs typeface="Noto Sans"/>
                        </a:rPr>
                        <a:t>Frequent pattern mining</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Which items, sets or sequences are common?</a:t>
                      </a:r>
                    </a:p>
                  </a:txBody>
                  <a:tcPr marL="114300" marR="114300" marT="76200" marB="7620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285480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3754A205-34E7-40F6-9F1C-214FDB8FF10D}"/>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Federated database operations</a:t>
            </a:r>
          </a:p>
        </p:txBody>
      </p:sp>
      <p:sp>
        <p:nvSpPr>
          <p:cNvPr id="2" name="body">
            <a:extLst>
              <a:ext uri="{FF2B5EF4-FFF2-40B4-BE49-F238E27FC236}">
                <a16:creationId xmlns:a16="http://schemas.microsoft.com/office/drawing/2014/main" id="{78B89290-57D5-4587-990A-FEC7888219BC}"/>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buNone/>
              <a:defRPr sz="2700" b="0">
                <a:solidFill>
                  <a:srgbClr val="202020"/>
                </a:solidFill>
                <a:latin typeface="Noto Sans"/>
                <a:ea typeface="Noto Sans"/>
                <a:cs typeface="Noto Sans"/>
              </a:defRPr>
            </a:pPr>
            <a:r>
              <a:t>Express analysis as queries across local databases</a:t>
            </a:r>
          </a:p>
          <a:p>
            <a:pPr>
              <a:spcAft>
                <a:spcPts val="1800"/>
              </a:spcAft>
              <a:buNone/>
              <a:defRPr sz="2700" b="0">
                <a:solidFill>
                  <a:srgbClr val="202020"/>
                </a:solidFill>
                <a:latin typeface="Noto Sans"/>
                <a:ea typeface="Noto Sans"/>
                <a:cs typeface="Noto Sans"/>
              </a:defRPr>
            </a:pPr>
            <a:r>
              <a:t>A query plan splits local and joint operations</a:t>
            </a:r>
          </a:p>
          <a:p>
            <a:pPr>
              <a:spcAft>
                <a:spcPts val="1800"/>
              </a:spcAft>
              <a:buNone/>
              <a:defRPr sz="2700" b="0">
                <a:solidFill>
                  <a:srgbClr val="202020"/>
                </a:solidFill>
                <a:latin typeface="Noto Sans"/>
                <a:ea typeface="Noto Sans"/>
                <a:cs typeface="Noto Sans"/>
              </a:defRPr>
            </a:pPr>
            <a:r>
              <a:t>Cryptography can protect joint computation</a:t>
            </a:r>
          </a:p>
          <a:p>
            <a:pPr>
              <a:spcAft>
                <a:spcPts val="1800"/>
              </a:spcAft>
              <a:buNone/>
              <a:defRPr sz="2700" b="0">
                <a:solidFill>
                  <a:srgbClr val="202020"/>
                </a:solidFill>
                <a:latin typeface="Noto Sans"/>
                <a:ea typeface="Noto Sans"/>
                <a:cs typeface="Noto Sans"/>
              </a:defRPr>
            </a:pPr>
            <a:r>
              <a:t>Broader query support can increase execution costs</a:t>
            </a:r>
          </a:p>
        </p:txBody>
      </p:sp>
    </p:spTree>
    <p:extLst>
      <p:ext uri="{BB962C8B-B14F-4D97-AF65-F5344CB8AC3E}">
        <p14:creationId xmlns:p14="http://schemas.microsoft.com/office/powerpoint/2010/main" val="3474843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8863FB69-776F-483C-9611-7609F3B91B4C}"/>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Analytics supporting federated learning</a:t>
            </a:r>
          </a:p>
        </p:txBody>
      </p:sp>
      <p:graphicFrame>
        <p:nvGraphicFramePr>
          <p:cNvPr id="6" name="Table 3"/>
          <p:cNvGraphicFramePr/>
          <p:nvPr/>
        </p:nvGraphicFramePr>
        <p:xfrm>
          <a:off x="685800" y="2009775"/>
          <a:ext cx="10820400" cy="281940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704850">
                <a:tc>
                  <a:txBody>
                    <a:bodyPr/>
                    <a:lstStyle/>
                    <a:p>
                      <a:r>
                        <a:rPr sz="1800" b="1">
                          <a:solidFill>
                            <a:srgbClr val="FFFFFF"/>
                          </a:solidFill>
                          <a:latin typeface="Noto Sans"/>
                          <a:ea typeface="Noto Sans"/>
                          <a:cs typeface="Noto Sans"/>
                        </a:rPr>
                        <a:t>Stage</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FA contribution</a:t>
                      </a:r>
                    </a:p>
                  </a:txBody>
                  <a:tcPr marL="114300" marR="114300" marT="76200" marB="76200" anchor="ctr">
                    <a:solidFill>
                      <a:srgbClr val="0874B8"/>
                    </a:solidFill>
                  </a:tcPr>
                </a:tc>
                <a:extLst>
                  <a:ext uri="{0D108BD9-81ED-4DB2-BD59-A6C34878D82A}">
                    <a16:rowId xmlns:a16="http://schemas.microsoft.com/office/drawing/2014/main" val="10000"/>
                  </a:ext>
                </a:extLst>
              </a:tr>
              <a:tr h="704850">
                <a:tc>
                  <a:txBody>
                    <a:bodyPr/>
                    <a:lstStyle/>
                    <a:p>
                      <a:r>
                        <a:rPr sz="1800">
                          <a:solidFill>
                            <a:srgbClr val="202020"/>
                          </a:solidFill>
                          <a:latin typeface="Noto Sans"/>
                          <a:ea typeface="Noto Sans"/>
                          <a:cs typeface="Noto Sans"/>
                        </a:rPr>
                        <a:t>Before or during training</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Evaluate client data and guide selection</a:t>
                      </a:r>
                    </a:p>
                  </a:txBody>
                  <a:tcPr marL="114300" marR="114300" marT="76200" marB="7620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202020"/>
                          </a:solidFill>
                          <a:latin typeface="Noto Sans"/>
                          <a:ea typeface="Noto Sans"/>
                          <a:cs typeface="Noto Sans"/>
                        </a:rPr>
                        <a:t>Personalisation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Cluster clients with similar characteristics</a:t>
                      </a:r>
                    </a:p>
                  </a:txBody>
                  <a:tcPr marL="114300" marR="114300" marT="76200" marB="76200" anchor="ctr">
                    <a:solidFill>
                      <a:srgbClr val="FFFFFF"/>
                    </a:solidFill>
                  </a:tcPr>
                </a:tc>
                <a:extLst>
                  <a:ext uri="{0D108BD9-81ED-4DB2-BD59-A6C34878D82A}">
                    <a16:rowId xmlns:a16="http://schemas.microsoft.com/office/drawing/2014/main" val="10002"/>
                  </a:ext>
                </a:extLst>
              </a:tr>
              <a:tr h="704850">
                <a:tc>
                  <a:txBody>
                    <a:bodyPr/>
                    <a:lstStyle/>
                    <a:p>
                      <a:r>
                        <a:rPr sz="1800">
                          <a:solidFill>
                            <a:srgbClr val="202020"/>
                          </a:solidFill>
                          <a:latin typeface="Noto Sans"/>
                          <a:ea typeface="Noto Sans"/>
                          <a:cs typeface="Noto Sans"/>
                        </a:rPr>
                        <a:t>After training</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Evaluate the model on distributed data</a:t>
                      </a:r>
                    </a:p>
                  </a:txBody>
                  <a:tcPr marL="114300" marR="114300" marT="76200" marB="7620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73049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370C65EE-EC4A-4068-BCF3-2D565C2ED3DE}"/>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Wireless network applications</a:t>
            </a:r>
          </a:p>
        </p:txBody>
      </p:sp>
      <p:sp>
        <p:nvSpPr>
          <p:cNvPr id="2" name="body">
            <a:extLst>
              <a:ext uri="{FF2B5EF4-FFF2-40B4-BE49-F238E27FC236}">
                <a16:creationId xmlns:a16="http://schemas.microsoft.com/office/drawing/2014/main" id="{09BDBE3C-7201-4BED-BB64-95B023F095BF}"/>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buNone/>
              <a:defRPr sz="2700" b="0">
                <a:solidFill>
                  <a:srgbClr val="202020"/>
                </a:solidFill>
                <a:latin typeface="Noto Sans"/>
                <a:ea typeface="Noto Sans"/>
                <a:cs typeface="Noto Sans"/>
              </a:defRPr>
            </a:pPr>
            <a:r>
              <a:t>Analytics can support network planning and optimisation</a:t>
            </a:r>
          </a:p>
          <a:p>
            <a:pPr>
              <a:spcAft>
                <a:spcPts val="1800"/>
              </a:spcAft>
              <a:buNone/>
              <a:defRPr sz="2700" b="0">
                <a:solidFill>
                  <a:srgbClr val="202020"/>
                </a:solidFill>
                <a:latin typeface="Noto Sans"/>
                <a:ea typeface="Noto Sans"/>
                <a:cs typeface="Noto Sans"/>
              </a:defRPr>
            </a:pPr>
            <a:r>
              <a:t>Examples include anomaly detection and task allocation</a:t>
            </a:r>
          </a:p>
          <a:p>
            <a:pPr>
              <a:spcAft>
                <a:spcPts val="1800"/>
              </a:spcAft>
              <a:buNone/>
              <a:defRPr sz="2700" b="0">
                <a:solidFill>
                  <a:srgbClr val="202020"/>
                </a:solidFill>
                <a:latin typeface="Noto Sans"/>
                <a:ea typeface="Noto Sans"/>
                <a:cs typeface="Noto Sans"/>
              </a:defRPr>
            </a:pPr>
            <a:r>
              <a:t>FA can also assist FL operating in wireless networks</a:t>
            </a:r>
          </a:p>
          <a:p>
            <a:pPr>
              <a:spcAft>
                <a:spcPts val="1800"/>
              </a:spcAft>
              <a:buNone/>
              <a:defRPr sz="2700" b="0">
                <a:solidFill>
                  <a:srgbClr val="202020"/>
                </a:solidFill>
                <a:latin typeface="Noto Sans"/>
                <a:ea typeface="Noto Sans"/>
                <a:cs typeface="Noto Sans"/>
              </a:defRPr>
            </a:pPr>
            <a:r>
              <a:t>Bandwidth, energy and channel conditions shape the design</a:t>
            </a:r>
          </a:p>
        </p:txBody>
      </p:sp>
    </p:spTree>
    <p:extLst>
      <p:ext uri="{BB962C8B-B14F-4D97-AF65-F5344CB8AC3E}">
        <p14:creationId xmlns:p14="http://schemas.microsoft.com/office/powerpoint/2010/main" val="584669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p:cNvPicPr>
            <a:picLocks noChangeAspect="1"/>
          </p:cNvPicPr>
          <p:nvPr/>
        </p:nvPicPr>
        <p:blipFill rotWithShape="1">
          <a:blip r:embed="rId3">
            <a:clrChange>
              <a:clrFrom>
                <a:srgbClr val="FFFFFF"/>
              </a:clrFrom>
              <a:clrTo>
                <a:srgbClr val="FFFFFF">
                  <a:alpha val="0"/>
                </a:srgbClr>
              </a:clrTo>
            </a:clrChange>
            <a:duotone>
              <a:prstClr val="black"/>
              <a:schemeClr val="tx2">
                <a:tint val="45000"/>
                <a:satMod val="400000"/>
              </a:schemeClr>
            </a:duotone>
          </a:blip>
          <a:srcRect b="71801"/>
          <a:stretch/>
        </p:blipFill>
        <p:spPr>
          <a:xfrm>
            <a:off x="0" y="767271"/>
            <a:ext cx="12117050" cy="1546211"/>
          </a:xfrm>
          <a:prstGeom prst="rect">
            <a:avLst/>
          </a:prstGeom>
        </p:spPr>
      </p:pic>
      <p:pic>
        <p:nvPicPr>
          <p:cNvPr id="6" name="Picture 6"/>
          <p:cNvPicPr>
            <a:picLocks noChangeAspect="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blip>
          <a:srcRect l="11505" t="18630" r="77774"/>
          <a:stretch/>
        </p:blipFill>
        <p:spPr>
          <a:xfrm>
            <a:off x="1394085" y="1788825"/>
            <a:ext cx="1299148" cy="4461665"/>
          </a:xfrm>
          <a:prstGeom prst="rect">
            <a:avLst/>
          </a:prstGeom>
        </p:spPr>
      </p:pic>
      <p:sp>
        <p:nvSpPr>
          <p:cNvPr id="2" name="Title 1">
            <a:extLst>
              <a:ext uri="{FF2B5EF4-FFF2-40B4-BE49-F238E27FC236}">
                <a16:creationId xmlns:a16="http://schemas.microsoft.com/office/drawing/2014/main" id="{1FCFFD5B-A529-48D2-9776-0D65789763D0}"/>
              </a:ext>
            </a:extLst>
          </p:cNvPr>
          <p:cNvSpPr>
            <a:spLocks noGrp="1"/>
          </p:cNvSpPr>
          <p:nvPr>
            <p:ph type="title"/>
          </p:nvPr>
        </p:nvSpPr>
        <p:spPr>
          <a:xfrm>
            <a:off x="228600" y="342900"/>
            <a:ext cx="11734800" cy="571500"/>
          </a:xfrm>
        </p:spPr>
        <p:txBody>
          <a:bodyPr lIns="0" tIns="0" rIns="0" bIns="0" anchor="t">
            <a:noAutofit/>
          </a:bodyPr>
          <a:lstStyle/>
          <a:p>
            <a:pPr>
              <a:defRPr sz="3300" b="1">
                <a:solidFill>
                  <a:srgbClr val="202020"/>
                </a:solidFill>
                <a:latin typeface="Noto Sans"/>
                <a:ea typeface="Noto Sans"/>
                <a:cs typeface="Noto Sans"/>
              </a:defRPr>
            </a:pPr>
            <a:r>
              <a:rPr sz="3300" b="1">
                <a:solidFill>
                  <a:srgbClr val="202020"/>
                </a:solidFill>
                <a:latin typeface="Noto Sans"/>
                <a:ea typeface="Noto Sans"/>
                <a:cs typeface="Noto Sans"/>
              </a:rPr>
              <a:t>Data owner type</a:t>
            </a:r>
            <a:endParaRPr/>
          </a:p>
        </p:txBody>
      </p:sp>
    </p:spTree>
    <p:extLst>
      <p:ext uri="{BB962C8B-B14F-4D97-AF65-F5344CB8AC3E}">
        <p14:creationId xmlns:p14="http://schemas.microsoft.com/office/powerpoint/2010/main" val="254708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12B25D13-0CE2-463D-9AA0-2678E45B982B}"/>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Data owner type</a:t>
            </a:r>
          </a:p>
        </p:txBody>
      </p:sp>
      <p:graphicFrame>
        <p:nvGraphicFramePr>
          <p:cNvPr id="6" name="Table 3"/>
          <p:cNvGraphicFramePr/>
          <p:nvPr/>
        </p:nvGraphicFramePr>
        <p:xfrm>
          <a:off x="685800" y="2009775"/>
          <a:ext cx="10820400" cy="352425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704850">
                <a:tc>
                  <a:txBody>
                    <a:bodyPr/>
                    <a:lstStyle/>
                    <a:p>
                      <a:r>
                        <a:rPr sz="1800" b="1">
                          <a:solidFill>
                            <a:srgbClr val="FFFFFF"/>
                          </a:solidFill>
                          <a:latin typeface="Noto Sans"/>
                          <a:ea typeface="Noto Sans"/>
                          <a:cs typeface="Noto Sans"/>
                        </a:rPr>
                        <a:t>Cross-device</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Cross-silo</a:t>
                      </a:r>
                    </a:p>
                  </a:txBody>
                  <a:tcPr marL="114300" marR="114300" marT="76200" marB="76200" anchor="ctr">
                    <a:solidFill>
                      <a:srgbClr val="0874B8"/>
                    </a:solidFill>
                  </a:tcPr>
                </a:tc>
                <a:extLst>
                  <a:ext uri="{0D108BD9-81ED-4DB2-BD59-A6C34878D82A}">
                    <a16:rowId xmlns:a16="http://schemas.microsoft.com/office/drawing/2014/main" val="10000"/>
                  </a:ext>
                </a:extLst>
              </a:tr>
              <a:tr h="704850">
                <a:tc>
                  <a:txBody>
                    <a:bodyPr/>
                    <a:lstStyle/>
                    <a:p>
                      <a:r>
                        <a:rPr sz="1800">
                          <a:solidFill>
                            <a:srgbClr val="202020"/>
                          </a:solidFill>
                          <a:latin typeface="Noto Sans"/>
                          <a:ea typeface="Noto Sans"/>
                          <a:cs typeface="Noto Sans"/>
                        </a:rPr>
                        <a:t>Many phones, sensors or other devices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Fewer organisations with larger datasets</a:t>
                      </a:r>
                    </a:p>
                  </a:txBody>
                  <a:tcPr marL="114300" marR="114300" marT="76200" marB="7620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202020"/>
                          </a:solidFill>
                          <a:latin typeface="Noto Sans"/>
                          <a:ea typeface="Noto Sans"/>
                          <a:cs typeface="Noto Sans"/>
                        </a:rPr>
                        <a:t>Limited local resources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Often stronger computing capacity</a:t>
                      </a:r>
                    </a:p>
                  </a:txBody>
                  <a:tcPr marL="114300" marR="114300" marT="76200" marB="76200" anchor="ctr">
                    <a:solidFill>
                      <a:srgbClr val="FFFFFF"/>
                    </a:solidFill>
                  </a:tcPr>
                </a:tc>
                <a:extLst>
                  <a:ext uri="{0D108BD9-81ED-4DB2-BD59-A6C34878D82A}">
                    <a16:rowId xmlns:a16="http://schemas.microsoft.com/office/drawing/2014/main" val="10002"/>
                  </a:ext>
                </a:extLst>
              </a:tr>
              <a:tr h="704850">
                <a:tc>
                  <a:txBody>
                    <a:bodyPr/>
                    <a:lstStyle/>
                    <a:p>
                      <a:r>
                        <a:rPr sz="1800">
                          <a:solidFill>
                            <a:srgbClr val="202020"/>
                          </a:solidFill>
                          <a:latin typeface="Noto Sans"/>
                          <a:ea typeface="Noto Sans"/>
                          <a:cs typeface="Noto Sans"/>
                        </a:rPr>
                        <a:t>Participation can change frequently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Participation is often more stable</a:t>
                      </a:r>
                    </a:p>
                  </a:txBody>
                  <a:tcPr marL="114300" marR="114300" marT="76200" marB="76200" anchor="ctr">
                    <a:solidFill>
                      <a:srgbClr val="FFFFFF"/>
                    </a:solidFill>
                  </a:tcPr>
                </a:tc>
                <a:extLst>
                  <a:ext uri="{0D108BD9-81ED-4DB2-BD59-A6C34878D82A}">
                    <a16:rowId xmlns:a16="http://schemas.microsoft.com/office/drawing/2014/main" val="10003"/>
                  </a:ext>
                </a:extLst>
              </a:tr>
              <a:tr h="704850">
                <a:tc>
                  <a:txBody>
                    <a:bodyPr/>
                    <a:lstStyle/>
                    <a:p>
                      <a:r>
                        <a:rPr sz="1800">
                          <a:solidFill>
                            <a:srgbClr val="202020"/>
                          </a:solidFill>
                          <a:latin typeface="Noto Sans"/>
                          <a:ea typeface="Noto Sans"/>
                          <a:cs typeface="Noto Sans"/>
                        </a:rPr>
                        <a:t>Scalability and lightweight tasks matter</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Detailed computation may be feasible</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88743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p:cNvPicPr>
            <a:picLocks noChangeAspect="1"/>
          </p:cNvPicPr>
          <p:nvPr/>
        </p:nvPicPr>
        <p:blipFill rotWithShape="1">
          <a:blip r:embed="rId3">
            <a:clrChange>
              <a:clrFrom>
                <a:srgbClr val="FFFFFF"/>
              </a:clrFrom>
              <a:clrTo>
                <a:srgbClr val="FFFFFF">
                  <a:alpha val="0"/>
                </a:srgbClr>
              </a:clrTo>
            </a:clrChange>
            <a:duotone>
              <a:prstClr val="black"/>
              <a:schemeClr val="tx2">
                <a:tint val="45000"/>
                <a:satMod val="400000"/>
              </a:schemeClr>
            </a:duotone>
          </a:blip>
          <a:srcRect b="71801"/>
          <a:stretch/>
        </p:blipFill>
        <p:spPr>
          <a:xfrm>
            <a:off x="0" y="767271"/>
            <a:ext cx="12117050" cy="1546211"/>
          </a:xfrm>
          <a:prstGeom prst="rect">
            <a:avLst/>
          </a:prstGeom>
        </p:spPr>
      </p:pic>
      <p:pic>
        <p:nvPicPr>
          <p:cNvPr id="6" name="Picture 6"/>
          <p:cNvPicPr>
            <a:picLocks noChangeAspect="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blip>
          <a:srcRect l="22060" t="18630" r="67342"/>
          <a:stretch/>
        </p:blipFill>
        <p:spPr>
          <a:xfrm>
            <a:off x="2673246" y="1788825"/>
            <a:ext cx="1284157" cy="4461665"/>
          </a:xfrm>
          <a:prstGeom prst="rect">
            <a:avLst/>
          </a:prstGeom>
        </p:spPr>
      </p:pic>
      <p:sp>
        <p:nvSpPr>
          <p:cNvPr id="2" name="Title 1">
            <a:extLst>
              <a:ext uri="{FF2B5EF4-FFF2-40B4-BE49-F238E27FC236}">
                <a16:creationId xmlns:a16="http://schemas.microsoft.com/office/drawing/2014/main" id="{1FCFFD5B-A529-48D2-9776-0D65789763D0}"/>
              </a:ext>
            </a:extLst>
          </p:cNvPr>
          <p:cNvSpPr>
            <a:spLocks noGrp="1"/>
          </p:cNvSpPr>
          <p:nvPr>
            <p:ph type="title"/>
          </p:nvPr>
        </p:nvSpPr>
        <p:spPr>
          <a:xfrm>
            <a:off x="228600" y="342900"/>
            <a:ext cx="11734800" cy="571500"/>
          </a:xfrm>
        </p:spPr>
        <p:txBody>
          <a:bodyPr lIns="0" tIns="0" rIns="0" bIns="0" anchor="t">
            <a:noAutofit/>
          </a:bodyPr>
          <a:lstStyle/>
          <a:p>
            <a:pPr>
              <a:defRPr sz="3300" b="1">
                <a:solidFill>
                  <a:srgbClr val="202020"/>
                </a:solidFill>
                <a:latin typeface="Noto Sans"/>
                <a:ea typeface="Noto Sans"/>
                <a:cs typeface="Noto Sans"/>
              </a:defRPr>
            </a:pPr>
            <a:r>
              <a:rPr sz="3300" b="1">
                <a:solidFill>
                  <a:srgbClr val="202020"/>
                </a:solidFill>
                <a:latin typeface="Noto Sans"/>
                <a:ea typeface="Noto Sans"/>
                <a:cs typeface="Noto Sans"/>
              </a:rPr>
              <a:t>Data distribution strategy</a:t>
            </a:r>
            <a:endParaRPr/>
          </a:p>
        </p:txBody>
      </p:sp>
    </p:spTree>
    <p:extLst>
      <p:ext uri="{BB962C8B-B14F-4D97-AF65-F5344CB8AC3E}">
        <p14:creationId xmlns:p14="http://schemas.microsoft.com/office/powerpoint/2010/main" val="1339639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AEBC1-55C6-4EEF-85A3-9BBCC721C3D5}"/>
              </a:ext>
            </a:extLst>
          </p:cNvPr>
          <p:cNvSpPr>
            <a:spLocks noGrp="1"/>
          </p:cNvSpPr>
          <p:nvPr>
            <p:ph type="title"/>
          </p:nvPr>
        </p:nvSpPr>
        <p:spPr/>
        <p:txBody>
          <a:bodyPr/>
          <a:lstStyle/>
          <a:p>
            <a:r>
              <a:t>Data distribution strategy</a:t>
            </a:r>
          </a:p>
        </p:txBody>
      </p:sp>
      <p:pic>
        <p:nvPicPr>
          <p:cNvPr id="6" name="Picture 3"/>
          <p:cNvPicPr>
            <a:picLocks noChangeAspect="1"/>
          </p:cNvPicPr>
          <p:nvPr/>
        </p:nvPicPr>
        <p:blipFill>
          <a:blip r:embed="rId3"/>
          <a:stretch>
            <a:fillRect/>
          </a:stretch>
        </p:blipFill>
        <p:spPr>
          <a:xfrm>
            <a:off x="1544174" y="1359814"/>
            <a:ext cx="8739078" cy="4777837"/>
          </a:xfrm>
          <a:prstGeom prst="rect">
            <a:avLst/>
          </a:prstGeom>
        </p:spPr>
      </p:pic>
      <p:sp>
        <p:nvSpPr>
          <p:cNvPr id="4" name="figure_reference">
            <a:extLst>
              <a:ext uri="{FF2B5EF4-FFF2-40B4-BE49-F238E27FC236}">
                <a16:creationId xmlns:a16="http://schemas.microsoft.com/office/drawing/2014/main" id="{CB182130-7E86-477F-85BA-A8619D3B0E75}"/>
              </a:ext>
            </a:extLst>
          </p:cNvPr>
          <p:cNvSpPr>
            <a:spLocks noGrp="1"/>
          </p:cNvSpPr>
          <p:nvPr/>
        </p:nvSpPr>
        <p:spPr>
          <a:xfrm>
            <a:off x="723900" y="6115050"/>
            <a:ext cx="10744200" cy="200025"/>
          </a:xfrm>
          <a:prstGeom prst="rect">
            <a:avLst/>
          </a:prstGeom>
          <a:noFill/>
          <a:ln w="0">
            <a:noFill/>
          </a:ln>
        </p:spPr>
        <p:txBody>
          <a:bodyPr lIns="0" tIns="0" rIns="0" bIns="0" anchor="t">
            <a:noAutofit/>
          </a:bodyPr>
          <a:lstStyle/>
          <a:p>
            <a:pPr>
              <a:defRPr sz="1275" b="0">
                <a:solidFill>
                  <a:srgbClr val="454545"/>
                </a:solidFill>
                <a:latin typeface="Noto Sans"/>
                <a:ea typeface="Noto Sans"/>
                <a:cs typeface="Noto Sans"/>
              </a:defRPr>
            </a:pPr>
            <a:r>
              <a:rPr sz="1275" b="0">
                <a:solidFill>
                  <a:srgbClr val="454545"/>
                </a:solidFill>
                <a:latin typeface="Noto Sans"/>
                <a:ea typeface="Noto Sans"/>
                <a:cs typeface="Noto Sans"/>
              </a:rPr>
              <a:t>Zhu et al. (2025), Figure 4. CC BY 4.0.</a:t>
            </a:r>
          </a:p>
        </p:txBody>
      </p:sp>
    </p:spTree>
    <p:extLst>
      <p:ext uri="{BB962C8B-B14F-4D97-AF65-F5344CB8AC3E}">
        <p14:creationId xmlns:p14="http://schemas.microsoft.com/office/powerpoint/2010/main" val="3716454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p:cNvPicPr>
            <a:picLocks noChangeAspect="1"/>
          </p:cNvPicPr>
          <p:nvPr/>
        </p:nvPicPr>
        <p:blipFill rotWithShape="1">
          <a:blip r:embed="rId3">
            <a:clrChange>
              <a:clrFrom>
                <a:srgbClr val="FFFFFF"/>
              </a:clrFrom>
              <a:clrTo>
                <a:srgbClr val="FFFFFF">
                  <a:alpha val="0"/>
                </a:srgbClr>
              </a:clrTo>
            </a:clrChange>
            <a:duotone>
              <a:prstClr val="black"/>
              <a:schemeClr val="tx2">
                <a:tint val="45000"/>
                <a:satMod val="400000"/>
              </a:schemeClr>
            </a:duotone>
          </a:blip>
          <a:srcRect b="71801"/>
          <a:stretch/>
        </p:blipFill>
        <p:spPr>
          <a:xfrm>
            <a:off x="0" y="767271"/>
            <a:ext cx="12117050" cy="1546211"/>
          </a:xfrm>
          <a:prstGeom prst="rect">
            <a:avLst/>
          </a:prstGeom>
        </p:spPr>
      </p:pic>
      <p:pic>
        <p:nvPicPr>
          <p:cNvPr id="6" name="Picture 6"/>
          <p:cNvPicPr>
            <a:picLocks noChangeAspect="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blip>
          <a:srcRect l="32906" t="18630" r="56620"/>
          <a:stretch/>
        </p:blipFill>
        <p:spPr>
          <a:xfrm>
            <a:off x="3987384" y="1788825"/>
            <a:ext cx="1269166" cy="4461665"/>
          </a:xfrm>
          <a:prstGeom prst="rect">
            <a:avLst/>
          </a:prstGeom>
        </p:spPr>
      </p:pic>
      <p:sp>
        <p:nvSpPr>
          <p:cNvPr id="2" name="Title 1">
            <a:extLst>
              <a:ext uri="{FF2B5EF4-FFF2-40B4-BE49-F238E27FC236}">
                <a16:creationId xmlns:a16="http://schemas.microsoft.com/office/drawing/2014/main" id="{1FCFFD5B-A529-48D2-9776-0D65789763D0}"/>
              </a:ext>
            </a:extLst>
          </p:cNvPr>
          <p:cNvSpPr>
            <a:spLocks noGrp="1"/>
          </p:cNvSpPr>
          <p:nvPr>
            <p:ph type="title"/>
          </p:nvPr>
        </p:nvSpPr>
        <p:spPr>
          <a:xfrm>
            <a:off x="228600" y="342900"/>
            <a:ext cx="11734800" cy="571500"/>
          </a:xfrm>
        </p:spPr>
        <p:txBody>
          <a:bodyPr lIns="0" tIns="0" rIns="0" bIns="0" anchor="t">
            <a:noAutofit/>
          </a:bodyPr>
          <a:lstStyle/>
          <a:p>
            <a:pPr>
              <a:defRPr sz="3300" b="1">
                <a:solidFill>
                  <a:srgbClr val="202020"/>
                </a:solidFill>
                <a:latin typeface="Noto Sans"/>
                <a:ea typeface="Noto Sans"/>
                <a:cs typeface="Noto Sans"/>
              </a:defRPr>
            </a:pPr>
            <a:r>
              <a:rPr sz="3300" b="1">
                <a:solidFill>
                  <a:srgbClr val="202020"/>
                </a:solidFill>
                <a:latin typeface="Noto Sans"/>
                <a:ea typeface="Noto Sans"/>
                <a:cs typeface="Noto Sans"/>
              </a:rPr>
              <a:t>Iteration pattern</a:t>
            </a:r>
            <a:endParaRPr/>
          </a:p>
        </p:txBody>
      </p:sp>
    </p:spTree>
    <p:extLst>
      <p:ext uri="{BB962C8B-B14F-4D97-AF65-F5344CB8AC3E}">
        <p14:creationId xmlns:p14="http://schemas.microsoft.com/office/powerpoint/2010/main" val="4008002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F98B9B88-F2EA-4136-A3F6-D556D089D5BD}"/>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Iteration pattern</a:t>
            </a:r>
          </a:p>
        </p:txBody>
      </p:sp>
      <p:graphicFrame>
        <p:nvGraphicFramePr>
          <p:cNvPr id="6" name="Table 3"/>
          <p:cNvGraphicFramePr/>
          <p:nvPr/>
        </p:nvGraphicFramePr>
        <p:xfrm>
          <a:off x="685800" y="2009775"/>
          <a:ext cx="10820400" cy="281940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704850">
                <a:tc>
                  <a:txBody>
                    <a:bodyPr/>
                    <a:lstStyle/>
                    <a:p>
                      <a:r>
                        <a:rPr sz="1800" b="1">
                          <a:solidFill>
                            <a:srgbClr val="FFFFFF"/>
                          </a:solidFill>
                          <a:latin typeface="Noto Sans"/>
                          <a:ea typeface="Noto Sans"/>
                          <a:cs typeface="Noto Sans"/>
                        </a:rPr>
                        <a:t>One-shot</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Iterative</a:t>
                      </a:r>
                    </a:p>
                  </a:txBody>
                  <a:tcPr marL="114300" marR="114300" marT="76200" marB="76200" anchor="ctr">
                    <a:solidFill>
                      <a:srgbClr val="0874B8"/>
                    </a:solidFill>
                  </a:tcPr>
                </a:tc>
                <a:extLst>
                  <a:ext uri="{0D108BD9-81ED-4DB2-BD59-A6C34878D82A}">
                    <a16:rowId xmlns:a16="http://schemas.microsoft.com/office/drawing/2014/main" val="10000"/>
                  </a:ext>
                </a:extLst>
              </a:tr>
              <a:tr h="704850">
                <a:tc>
                  <a:txBody>
                    <a:bodyPr/>
                    <a:lstStyle/>
                    <a:p>
                      <a:r>
                        <a:rPr sz="1800">
                          <a:solidFill>
                            <a:srgbClr val="202020"/>
                          </a:solidFill>
                          <a:latin typeface="Noto Sans"/>
                          <a:ea typeface="Noto Sans"/>
                          <a:cs typeface="Noto Sans"/>
                        </a:rPr>
                        <a:t>One round produces the result</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Several rounds produce the result</a:t>
                      </a:r>
                    </a:p>
                  </a:txBody>
                  <a:tcPr marL="114300" marR="114300" marT="76200" marB="7620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202020"/>
                          </a:solidFill>
                          <a:latin typeface="Noto Sans"/>
                          <a:ea typeface="Noto Sans"/>
                          <a:cs typeface="Noto Sans"/>
                        </a:rPr>
                        <a:t>Fixed local computation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Later computation uses earlier results</a:t>
                      </a:r>
                    </a:p>
                  </a:txBody>
                  <a:tcPr marL="114300" marR="114300" marT="76200" marB="76200" anchor="ctr">
                    <a:solidFill>
                      <a:srgbClr val="FFFFFF"/>
                    </a:solidFill>
                  </a:tcPr>
                </a:tc>
                <a:extLst>
                  <a:ext uri="{0D108BD9-81ED-4DB2-BD59-A6C34878D82A}">
                    <a16:rowId xmlns:a16="http://schemas.microsoft.com/office/drawing/2014/main" val="10002"/>
                  </a:ext>
                </a:extLst>
              </a:tr>
              <a:tr h="704850">
                <a:tc>
                  <a:txBody>
                    <a:bodyPr/>
                    <a:lstStyle/>
                    <a:p>
                      <a:r>
                        <a:rPr sz="1800">
                          <a:solidFill>
                            <a:srgbClr val="202020"/>
                          </a:solidFill>
                          <a:latin typeface="Noto Sans"/>
                          <a:ea typeface="Noto Sans"/>
                          <a:cs typeface="Noto Sans"/>
                        </a:rPr>
                        <a:t>Example: counts and sums for a mean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Example: progressively finding frequent sequences</a:t>
                      </a:r>
                    </a:p>
                  </a:txBody>
                  <a:tcPr marL="114300" marR="114300" marT="76200" marB="7620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88743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467DAA21-D822-40E6-B015-4FC1055D11F8}"/>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One-shot and iterative workflows</a:t>
            </a:r>
          </a:p>
        </p:txBody>
      </p:sp>
      <p:pic>
        <p:nvPicPr>
          <p:cNvPr id="7" name="Picture 4"/>
          <p:cNvPicPr>
            <a:picLocks noChangeAspect="1"/>
          </p:cNvPicPr>
          <p:nvPr/>
        </p:nvPicPr>
        <p:blipFill>
          <a:blip r:embed="rId3"/>
          <a:stretch/>
        </p:blipFill>
        <p:spPr>
          <a:xfrm>
            <a:off x="2212252" y="1905000"/>
            <a:ext cx="7767497" cy="3667125"/>
          </a:xfrm>
          <a:prstGeom prst="rect">
            <a:avLst/>
          </a:prstGeom>
        </p:spPr>
      </p:pic>
      <p:sp>
        <p:nvSpPr>
          <p:cNvPr id="3" name="figure_reference">
            <a:extLst>
              <a:ext uri="{FF2B5EF4-FFF2-40B4-BE49-F238E27FC236}">
                <a16:creationId xmlns:a16="http://schemas.microsoft.com/office/drawing/2014/main" id="{14C2FE22-F7CF-4A45-9DFA-864BB7FAF0AE}"/>
              </a:ext>
            </a:extLst>
          </p:cNvPr>
          <p:cNvSpPr>
            <a:spLocks noGrp="1"/>
          </p:cNvSpPr>
          <p:nvPr/>
        </p:nvSpPr>
        <p:spPr>
          <a:xfrm>
            <a:off x="723900" y="5791200"/>
            <a:ext cx="10744200" cy="333375"/>
          </a:xfrm>
          <a:prstGeom prst="rect">
            <a:avLst/>
          </a:prstGeom>
          <a:noFill/>
          <a:ln w="0">
            <a:noFill/>
          </a:ln>
        </p:spPr>
        <p:txBody>
          <a:bodyPr lIns="0" tIns="0" rIns="0" bIns="0" anchor="t">
            <a:noAutofit/>
          </a:bodyPr>
          <a:lstStyle/>
          <a:p>
            <a:pPr>
              <a:buNone/>
              <a:defRPr sz="1425" b="0">
                <a:solidFill>
                  <a:srgbClr val="454545"/>
                </a:solidFill>
                <a:latin typeface="Noto Sans"/>
                <a:ea typeface="Noto Sans"/>
                <a:cs typeface="Noto Sans"/>
              </a:defRPr>
            </a:pPr>
            <a:r>
              <a:rPr sz="1425" b="0">
                <a:solidFill>
                  <a:srgbClr val="454545"/>
                </a:solidFill>
                <a:latin typeface="Noto Sans"/>
                <a:ea typeface="Noto Sans"/>
                <a:cs typeface="Noto Sans"/>
              </a:rPr>
              <a:t>Wang et al. (2025), Figure 2</a:t>
            </a:r>
            <a:r>
              <a:rPr sz="1425">
                <a:solidFill>
                  <a:srgbClr val="454545"/>
                </a:solidFill>
                <a:latin typeface="Noto Sans"/>
                <a:ea typeface="Noto Sans"/>
                <a:cs typeface="Noto Sans"/>
              </a:rPr>
              <a:t>.</a:t>
            </a:r>
            <a:endParaRPr sz="1425" b="0">
              <a:solidFill>
                <a:srgbClr val="454545"/>
              </a:solidFill>
              <a:latin typeface="Noto Sans"/>
              <a:ea typeface="Noto Sans"/>
              <a:cs typeface="Noto Sans"/>
            </a:endParaRPr>
          </a:p>
        </p:txBody>
      </p:sp>
    </p:spTree>
    <p:extLst>
      <p:ext uri="{BB962C8B-B14F-4D97-AF65-F5344CB8AC3E}">
        <p14:creationId xmlns:p14="http://schemas.microsoft.com/office/powerpoint/2010/main" val="17926864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p:cNvPicPr>
            <a:picLocks noChangeAspect="1"/>
          </p:cNvPicPr>
          <p:nvPr/>
        </p:nvPicPr>
        <p:blipFill rotWithShape="1">
          <a:blip r:embed="rId3">
            <a:clrChange>
              <a:clrFrom>
                <a:srgbClr val="FFFFFF"/>
              </a:clrFrom>
              <a:clrTo>
                <a:srgbClr val="FFFFFF">
                  <a:alpha val="0"/>
                </a:srgbClr>
              </a:clrTo>
            </a:clrChange>
            <a:duotone>
              <a:prstClr val="black"/>
              <a:schemeClr val="tx2">
                <a:tint val="45000"/>
                <a:satMod val="400000"/>
              </a:schemeClr>
            </a:duotone>
          </a:blip>
          <a:srcRect b="71801"/>
          <a:stretch/>
        </p:blipFill>
        <p:spPr>
          <a:xfrm>
            <a:off x="0" y="767271"/>
            <a:ext cx="12117050" cy="1546211"/>
          </a:xfrm>
          <a:prstGeom prst="rect">
            <a:avLst/>
          </a:prstGeom>
        </p:spPr>
      </p:pic>
      <p:pic>
        <p:nvPicPr>
          <p:cNvPr id="6" name="Picture 6"/>
          <p:cNvPicPr>
            <a:picLocks noChangeAspect="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blip>
          <a:srcRect l="43379" t="18630" r="45157"/>
          <a:stretch/>
        </p:blipFill>
        <p:spPr>
          <a:xfrm>
            <a:off x="5256549" y="1788825"/>
            <a:ext cx="1389089" cy="4461665"/>
          </a:xfrm>
          <a:prstGeom prst="rect">
            <a:avLst/>
          </a:prstGeom>
        </p:spPr>
      </p:pic>
      <p:sp>
        <p:nvSpPr>
          <p:cNvPr id="2" name="Title 1">
            <a:extLst>
              <a:ext uri="{FF2B5EF4-FFF2-40B4-BE49-F238E27FC236}">
                <a16:creationId xmlns:a16="http://schemas.microsoft.com/office/drawing/2014/main" id="{1FCFFD5B-A529-48D2-9776-0D65789763D0}"/>
              </a:ext>
            </a:extLst>
          </p:cNvPr>
          <p:cNvSpPr>
            <a:spLocks noGrp="1"/>
          </p:cNvSpPr>
          <p:nvPr>
            <p:ph type="title"/>
          </p:nvPr>
        </p:nvSpPr>
        <p:spPr>
          <a:xfrm>
            <a:off x="228600" y="342900"/>
            <a:ext cx="11734800" cy="571500"/>
          </a:xfrm>
        </p:spPr>
        <p:txBody>
          <a:bodyPr lIns="0" tIns="0" rIns="0" bIns="0" anchor="t">
            <a:noAutofit/>
          </a:bodyPr>
          <a:lstStyle/>
          <a:p>
            <a:pPr>
              <a:defRPr sz="3300" b="1">
                <a:solidFill>
                  <a:srgbClr val="202020"/>
                </a:solidFill>
                <a:latin typeface="Noto Sans"/>
                <a:ea typeface="Noto Sans"/>
                <a:cs typeface="Noto Sans"/>
              </a:defRPr>
            </a:pPr>
            <a:r>
              <a:rPr sz="3300" b="1">
                <a:solidFill>
                  <a:srgbClr val="202020"/>
                </a:solidFill>
                <a:latin typeface="Noto Sans"/>
                <a:ea typeface="Noto Sans"/>
                <a:cs typeface="Noto Sans"/>
              </a:rPr>
              <a:t>Coordination model</a:t>
            </a:r>
            <a:endParaRPr/>
          </a:p>
        </p:txBody>
      </p:sp>
    </p:spTree>
    <p:extLst>
      <p:ext uri="{BB962C8B-B14F-4D97-AF65-F5344CB8AC3E}">
        <p14:creationId xmlns:p14="http://schemas.microsoft.com/office/powerpoint/2010/main" val="1439063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082B56D5-BE69-4502-AE73-DC76106D1AAA}"/>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Coordination models</a:t>
            </a:r>
          </a:p>
        </p:txBody>
      </p:sp>
      <p:graphicFrame>
        <p:nvGraphicFramePr>
          <p:cNvPr id="8" name="Table 3"/>
          <p:cNvGraphicFramePr/>
          <p:nvPr/>
        </p:nvGraphicFramePr>
        <p:xfrm>
          <a:off x="685800" y="1555451"/>
          <a:ext cx="10820400" cy="170688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420583">
                <a:tc>
                  <a:txBody>
                    <a:bodyPr/>
                    <a:lstStyle/>
                    <a:p>
                      <a:r>
                        <a:rPr sz="1800" b="1">
                          <a:solidFill>
                            <a:srgbClr val="FFFFFF"/>
                          </a:solidFill>
                          <a:latin typeface="Noto Sans"/>
                          <a:ea typeface="Noto Sans"/>
                          <a:cs typeface="Noto Sans"/>
                        </a:rPr>
                        <a:t>Model</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Communication pattern</a:t>
                      </a:r>
                    </a:p>
                  </a:txBody>
                  <a:tcPr marL="114300" marR="114300" marT="76200" marB="76200" anchor="ctr">
                    <a:solidFill>
                      <a:srgbClr val="0874B8"/>
                    </a:solidFill>
                  </a:tcPr>
                </a:tc>
                <a:extLst>
                  <a:ext uri="{0D108BD9-81ED-4DB2-BD59-A6C34878D82A}">
                    <a16:rowId xmlns:a16="http://schemas.microsoft.com/office/drawing/2014/main" val="10000"/>
                  </a:ext>
                </a:extLst>
              </a:tr>
              <a:tr h="420583">
                <a:tc>
                  <a:txBody>
                    <a:bodyPr/>
                    <a:lstStyle/>
                    <a:p>
                      <a:r>
                        <a:rPr sz="1800">
                          <a:solidFill>
                            <a:srgbClr val="202020"/>
                          </a:solidFill>
                          <a:latin typeface="Noto Sans"/>
                          <a:ea typeface="Noto Sans"/>
                          <a:cs typeface="Noto Sans"/>
                        </a:rPr>
                        <a:t>Server-client</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Clients communicate with a central coordinator</a:t>
                      </a:r>
                    </a:p>
                  </a:txBody>
                  <a:tcPr marL="114300" marR="114300" marT="76200" marB="76200" anchor="ctr">
                    <a:solidFill>
                      <a:srgbClr val="FFFFFF"/>
                    </a:solidFill>
                  </a:tcPr>
                </a:tc>
                <a:extLst>
                  <a:ext uri="{0D108BD9-81ED-4DB2-BD59-A6C34878D82A}">
                    <a16:rowId xmlns:a16="http://schemas.microsoft.com/office/drawing/2014/main" val="10001"/>
                  </a:ext>
                </a:extLst>
              </a:tr>
              <a:tr h="420583">
                <a:tc>
                  <a:txBody>
                    <a:bodyPr/>
                    <a:lstStyle/>
                    <a:p>
                      <a:r>
                        <a:rPr sz="1800">
                          <a:solidFill>
                            <a:srgbClr val="202020"/>
                          </a:solidFill>
                          <a:latin typeface="Noto Sans"/>
                          <a:ea typeface="Noto Sans"/>
                          <a:cs typeface="Noto Sans"/>
                        </a:rPr>
                        <a:t>Hybrid</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Coordinator plus communication between clients</a:t>
                      </a:r>
                    </a:p>
                  </a:txBody>
                  <a:tcPr marL="114300" marR="114300" marT="76200" marB="76200" anchor="ctr">
                    <a:solidFill>
                      <a:srgbClr val="FFFFFF"/>
                    </a:solidFill>
                  </a:tcPr>
                </a:tc>
                <a:extLst>
                  <a:ext uri="{0D108BD9-81ED-4DB2-BD59-A6C34878D82A}">
                    <a16:rowId xmlns:a16="http://schemas.microsoft.com/office/drawing/2014/main" val="10002"/>
                  </a:ext>
                </a:extLst>
              </a:tr>
              <a:tr h="420583">
                <a:tc>
                  <a:txBody>
                    <a:bodyPr/>
                    <a:lstStyle/>
                    <a:p>
                      <a:r>
                        <a:rPr sz="1800">
                          <a:solidFill>
                            <a:srgbClr val="202020"/>
                          </a:solidFill>
                          <a:latin typeface="Noto Sans"/>
                          <a:ea typeface="Noto Sans"/>
                          <a:cs typeface="Noto Sans"/>
                        </a:rPr>
                        <a:t>Fully decentralised</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Participants coordinate without a central server</a:t>
                      </a:r>
                    </a:p>
                  </a:txBody>
                  <a:tcPr marL="114300" marR="114300" marT="76200" marB="76200" anchor="ctr">
                    <a:solidFill>
                      <a:srgbClr val="FFFFFF"/>
                    </a:solidFill>
                  </a:tcPr>
                </a:tc>
                <a:extLst>
                  <a:ext uri="{0D108BD9-81ED-4DB2-BD59-A6C34878D82A}">
                    <a16:rowId xmlns:a16="http://schemas.microsoft.com/office/drawing/2014/main" val="10003"/>
                  </a:ext>
                </a:extLst>
              </a:tr>
            </a:tbl>
          </a:graphicData>
        </a:graphic>
      </p:graphicFrame>
      <p:pic>
        <p:nvPicPr>
          <p:cNvPr id="9" name="Picture 4"/>
          <p:cNvPicPr>
            <a:picLocks noChangeAspect="1"/>
          </p:cNvPicPr>
          <p:nvPr/>
        </p:nvPicPr>
        <p:blipFill>
          <a:blip r:embed="rId3"/>
          <a:stretch>
            <a:fillRect/>
          </a:stretch>
        </p:blipFill>
        <p:spPr>
          <a:xfrm>
            <a:off x="960365" y="3681919"/>
            <a:ext cx="10190756" cy="2379396"/>
          </a:xfrm>
          <a:prstGeom prst="rect">
            <a:avLst/>
          </a:prstGeom>
        </p:spPr>
      </p:pic>
      <p:sp>
        <p:nvSpPr>
          <p:cNvPr id="6" name="figure_reference">
            <a:extLst>
              <a:ext uri="{FF2B5EF4-FFF2-40B4-BE49-F238E27FC236}">
                <a16:creationId xmlns:a16="http://schemas.microsoft.com/office/drawing/2014/main" id="{B85F96FD-68D6-46C3-9C16-5CAE638BA30A}"/>
              </a:ext>
            </a:extLst>
          </p:cNvPr>
          <p:cNvSpPr>
            <a:spLocks noGrp="1"/>
          </p:cNvSpPr>
          <p:nvPr/>
        </p:nvSpPr>
        <p:spPr>
          <a:xfrm>
            <a:off x="723900" y="5924550"/>
            <a:ext cx="10744200" cy="247650"/>
          </a:xfrm>
          <a:prstGeom prst="rect">
            <a:avLst/>
          </a:prstGeom>
          <a:noFill/>
          <a:ln w="0">
            <a:noFill/>
          </a:ln>
        </p:spPr>
        <p:txBody>
          <a:bodyPr lIns="0" tIns="0" rIns="0" bIns="0" anchor="t">
            <a:noAutofit/>
          </a:bodyPr>
          <a:lstStyle/>
          <a:p>
            <a:pPr>
              <a:defRPr sz="1425" b="0">
                <a:solidFill>
                  <a:srgbClr val="454545"/>
                </a:solidFill>
                <a:latin typeface="Noto Sans"/>
                <a:ea typeface="Noto Sans"/>
                <a:cs typeface="Noto Sans"/>
              </a:defRPr>
            </a:pPr>
            <a:r>
              <a:rPr sz="1425" b="0">
                <a:solidFill>
                  <a:srgbClr val="454545"/>
                </a:solidFill>
                <a:latin typeface="Noto Sans"/>
                <a:ea typeface="Noto Sans"/>
                <a:cs typeface="Noto Sans"/>
              </a:rPr>
              <a:t>Zhu et al. (2025), Figure 3. CC BY 4.0.</a:t>
            </a:r>
          </a:p>
        </p:txBody>
      </p:sp>
    </p:spTree>
    <p:extLst>
      <p:ext uri="{BB962C8B-B14F-4D97-AF65-F5344CB8AC3E}">
        <p14:creationId xmlns:p14="http://schemas.microsoft.com/office/powerpoint/2010/main" val="19887435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p:cNvPicPr>
            <a:picLocks noChangeAspect="1"/>
          </p:cNvPicPr>
          <p:nvPr/>
        </p:nvPicPr>
        <p:blipFill rotWithShape="1">
          <a:blip r:embed="rId3">
            <a:clrChange>
              <a:clrFrom>
                <a:srgbClr val="FFFFFF"/>
              </a:clrFrom>
              <a:clrTo>
                <a:srgbClr val="FFFFFF">
                  <a:alpha val="0"/>
                </a:srgbClr>
              </a:clrTo>
            </a:clrChange>
            <a:duotone>
              <a:prstClr val="black"/>
              <a:schemeClr val="tx2">
                <a:tint val="45000"/>
                <a:satMod val="400000"/>
              </a:schemeClr>
            </a:duotone>
          </a:blip>
          <a:srcRect b="71801"/>
          <a:stretch/>
        </p:blipFill>
        <p:spPr>
          <a:xfrm>
            <a:off x="0" y="767271"/>
            <a:ext cx="12117050" cy="1546211"/>
          </a:xfrm>
          <a:prstGeom prst="rect">
            <a:avLst/>
          </a:prstGeom>
        </p:spPr>
      </p:pic>
      <p:pic>
        <p:nvPicPr>
          <p:cNvPr id="6" name="Picture 6"/>
          <p:cNvPicPr>
            <a:picLocks noChangeAspect="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blip>
          <a:srcRect l="55254" t="18630" r="433"/>
          <a:stretch/>
        </p:blipFill>
        <p:spPr>
          <a:xfrm>
            <a:off x="6695606" y="1788825"/>
            <a:ext cx="5369391" cy="4461665"/>
          </a:xfrm>
          <a:prstGeom prst="rect">
            <a:avLst/>
          </a:prstGeom>
        </p:spPr>
      </p:pic>
      <p:sp>
        <p:nvSpPr>
          <p:cNvPr id="2" name="Title 1">
            <a:extLst>
              <a:ext uri="{FF2B5EF4-FFF2-40B4-BE49-F238E27FC236}">
                <a16:creationId xmlns:a16="http://schemas.microsoft.com/office/drawing/2014/main" id="{1FCFFD5B-A529-48D2-9776-0D65789763D0}"/>
              </a:ext>
            </a:extLst>
          </p:cNvPr>
          <p:cNvSpPr>
            <a:spLocks noGrp="1"/>
          </p:cNvSpPr>
          <p:nvPr>
            <p:ph type="title"/>
          </p:nvPr>
        </p:nvSpPr>
        <p:spPr>
          <a:xfrm>
            <a:off x="228600" y="342900"/>
            <a:ext cx="11734800" cy="571500"/>
          </a:xfrm>
        </p:spPr>
        <p:txBody>
          <a:bodyPr lIns="0" tIns="0" rIns="0" bIns="0" anchor="t">
            <a:noAutofit/>
          </a:bodyPr>
          <a:lstStyle/>
          <a:p>
            <a:pPr>
              <a:defRPr sz="3300" b="1">
                <a:solidFill>
                  <a:srgbClr val="202020"/>
                </a:solidFill>
                <a:latin typeface="Noto Sans"/>
                <a:ea typeface="Noto Sans"/>
                <a:cs typeface="Noto Sans"/>
              </a:defRPr>
            </a:pPr>
            <a:r>
              <a:rPr sz="3300" b="1">
                <a:solidFill>
                  <a:srgbClr val="202020"/>
                </a:solidFill>
                <a:latin typeface="Noto Sans"/>
                <a:ea typeface="Noto Sans"/>
                <a:cs typeface="Noto Sans"/>
              </a:rPr>
              <a:t>Privatization methodology</a:t>
            </a:r>
            <a:endParaRPr/>
          </a:p>
        </p:txBody>
      </p:sp>
    </p:spTree>
    <p:extLst>
      <p:ext uri="{BB962C8B-B14F-4D97-AF65-F5344CB8AC3E}">
        <p14:creationId xmlns:p14="http://schemas.microsoft.com/office/powerpoint/2010/main" val="2745556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_title">
            <a:extLst>
              <a:ext uri="{FF2B5EF4-FFF2-40B4-BE49-F238E27FC236}">
                <a16:creationId xmlns:a16="http://schemas.microsoft.com/office/drawing/2014/main" id="{F8FEC19E-287F-4526-803E-9B280B6D0704}"/>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Privatization methodology</a:t>
            </a:r>
          </a:p>
        </p:txBody>
      </p:sp>
      <p:sp>
        <p:nvSpPr>
          <p:cNvPr id="2" name="introduction">
            <a:extLst>
              <a:ext uri="{FF2B5EF4-FFF2-40B4-BE49-F238E27FC236}">
                <a16:creationId xmlns:a16="http://schemas.microsoft.com/office/drawing/2014/main" id="{E092AF1C-1B47-4E3A-8F85-0C1DFAC3834D}"/>
              </a:ext>
            </a:extLst>
          </p:cNvPr>
          <p:cNvSpPr>
            <a:spLocks noGrp="1"/>
          </p:cNvSpPr>
          <p:nvPr/>
        </p:nvSpPr>
        <p:spPr>
          <a:xfrm>
            <a:off x="723900" y="1819275"/>
            <a:ext cx="10744200" cy="381000"/>
          </a:xfrm>
          <a:prstGeom prst="rect">
            <a:avLst/>
          </a:prstGeom>
          <a:noFill/>
          <a:ln w="0">
            <a:noFill/>
          </a:ln>
        </p:spPr>
        <p:txBody>
          <a:bodyPr lIns="0" tIns="0" rIns="0" bIns="0" anchor="t">
            <a:noAutofit/>
          </a:bodyPr>
          <a:lstStyle/>
          <a:p>
            <a:pPr>
              <a:defRPr sz="2100" b="0">
                <a:solidFill>
                  <a:srgbClr val="202020"/>
                </a:solidFill>
                <a:latin typeface="Noto Sans"/>
                <a:ea typeface="Noto Sans"/>
                <a:cs typeface="Noto Sans"/>
              </a:defRPr>
            </a:pPr>
            <a:r>
              <a:rPr sz="2100" b="0">
                <a:solidFill>
                  <a:srgbClr val="202020"/>
                </a:solidFill>
                <a:latin typeface="Noto Sans"/>
                <a:ea typeface="Noto Sans"/>
                <a:cs typeface="Noto Sans"/>
              </a:rPr>
              <a:t>Protection can act at different points in a federated analysis.</a:t>
            </a:r>
          </a:p>
        </p:txBody>
      </p:sp>
      <p:graphicFrame>
        <p:nvGraphicFramePr>
          <p:cNvPr id="7" name="Table 6"/>
          <p:cNvGraphicFramePr/>
          <p:nvPr/>
        </p:nvGraphicFramePr>
        <p:xfrm>
          <a:off x="685800" y="2276475"/>
          <a:ext cx="10820400" cy="2793683"/>
        </p:xfrm>
        <a:graphic>
          <a:graphicData uri="http://schemas.openxmlformats.org/drawingml/2006/table">
            <a:tbl>
              <a:tblPr/>
              <a:tblGrid>
                <a:gridCol w="238125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4629150">
                  <a:extLst>
                    <a:ext uri="{9D8B030D-6E8A-4147-A177-3AD203B41FA5}">
                      <a16:colId xmlns:a16="http://schemas.microsoft.com/office/drawing/2014/main" val="20002"/>
                    </a:ext>
                  </a:extLst>
                </a:gridCol>
              </a:tblGrid>
              <a:tr h="690563">
                <a:tc>
                  <a:txBody>
                    <a:bodyPr/>
                    <a:lstStyle/>
                    <a:p>
                      <a:r>
                        <a:rPr sz="1800" b="1">
                          <a:solidFill>
                            <a:srgbClr val="FFFFFF"/>
                          </a:solidFill>
                          <a:latin typeface="Noto Sans"/>
                          <a:ea typeface="Noto Sans"/>
                          <a:cs typeface="Noto Sans"/>
                        </a:rPr>
                        <a:t>Protection point</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Purpose</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Approaches</a:t>
                      </a:r>
                    </a:p>
                  </a:txBody>
                  <a:tcPr marL="114300" marR="114300" marT="76200" marB="76200" anchor="ctr">
                    <a:solidFill>
                      <a:srgbClr val="0874B8"/>
                    </a:solidFill>
                  </a:tcPr>
                </a:tc>
                <a:extLst>
                  <a:ext uri="{0D108BD9-81ED-4DB2-BD59-A6C34878D82A}">
                    <a16:rowId xmlns:a16="http://schemas.microsoft.com/office/drawing/2014/main" val="10000"/>
                  </a:ext>
                </a:extLst>
              </a:tr>
              <a:tr h="690563">
                <a:tc>
                  <a:txBody>
                    <a:bodyPr/>
                    <a:lstStyle/>
                    <a:p>
                      <a:r>
                        <a:rPr sz="1800">
                          <a:solidFill>
                            <a:srgbClr val="202020"/>
                          </a:solidFill>
                          <a:latin typeface="Noto Sans"/>
                          <a:ea typeface="Noto Sans"/>
                          <a:cs typeface="Noto Sans"/>
                        </a:rPr>
                        <a:t>Raw records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Reduce direct exposure of underlying data</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Keep raw data with their owners</a:t>
                      </a:r>
                    </a:p>
                  </a:txBody>
                  <a:tcPr marL="114300" marR="114300" marT="76200" marB="76200" anchor="ctr">
                    <a:solidFill>
                      <a:srgbClr val="FFFFFF"/>
                    </a:solidFill>
                  </a:tcPr>
                </a:tc>
                <a:extLst>
                  <a:ext uri="{0D108BD9-81ED-4DB2-BD59-A6C34878D82A}">
                    <a16:rowId xmlns:a16="http://schemas.microsoft.com/office/drawing/2014/main" val="10001"/>
                  </a:ext>
                </a:extLst>
              </a:tr>
              <a:tr h="690563">
                <a:tc>
                  <a:txBody>
                    <a:bodyPr/>
                    <a:lstStyle/>
                    <a:p>
                      <a:r>
                        <a:rPr sz="1800">
                          <a:solidFill>
                            <a:srgbClr val="202020"/>
                          </a:solidFill>
                          <a:latin typeface="Noto Sans"/>
                          <a:ea typeface="Noto Sans"/>
                          <a:cs typeface="Noto Sans"/>
                        </a:rPr>
                        <a:t>Shared contributions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Limit what others learn from each client’s output</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Cryptographic protection or local differential privacy</a:t>
                      </a:r>
                    </a:p>
                  </a:txBody>
                  <a:tcPr marL="114300" marR="114300" marT="76200" marB="76200" anchor="ctr">
                    <a:solidFill>
                      <a:srgbClr val="FFFFFF"/>
                    </a:solidFill>
                  </a:tcPr>
                </a:tc>
                <a:extLst>
                  <a:ext uri="{0D108BD9-81ED-4DB2-BD59-A6C34878D82A}">
                    <a16:rowId xmlns:a16="http://schemas.microsoft.com/office/drawing/2014/main" val="10002"/>
                  </a:ext>
                </a:extLst>
              </a:tr>
              <a:tr h="690563">
                <a:tc>
                  <a:txBody>
                    <a:bodyPr/>
                    <a:lstStyle/>
                    <a:p>
                      <a:r>
                        <a:rPr sz="1800">
                          <a:solidFill>
                            <a:srgbClr val="202020"/>
                          </a:solidFill>
                          <a:latin typeface="Noto Sans"/>
                          <a:ea typeface="Noto Sans"/>
                          <a:cs typeface="Noto Sans"/>
                        </a:rPr>
                        <a:t>Released results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Limit disclosure through records or statistics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k-anonymity, release thresholds or differential privacy</a:t>
                      </a:r>
                    </a:p>
                  </a:txBody>
                  <a:tcPr marL="114300" marR="114300" marT="76200" marB="76200" anchor="ctr">
                    <a:solidFill>
                      <a:srgbClr val="FFFFFF"/>
                    </a:solidFill>
                  </a:tcPr>
                </a:tc>
                <a:extLst>
                  <a:ext uri="{0D108BD9-81ED-4DB2-BD59-A6C34878D82A}">
                    <a16:rowId xmlns:a16="http://schemas.microsoft.com/office/drawing/2014/main" val="10003"/>
                  </a:ext>
                </a:extLst>
              </a:tr>
            </a:tbl>
          </a:graphicData>
        </a:graphic>
      </p:graphicFrame>
      <p:sp>
        <p:nvSpPr>
          <p:cNvPr id="4" name="key_message">
            <a:extLst>
              <a:ext uri="{FF2B5EF4-FFF2-40B4-BE49-F238E27FC236}">
                <a16:creationId xmlns:a16="http://schemas.microsoft.com/office/drawing/2014/main" id="{C8AA9FB7-D850-4D32-8DB3-CBA8A18F0CDE}"/>
              </a:ext>
            </a:extLst>
          </p:cNvPr>
          <p:cNvSpPr>
            <a:spLocks noGrp="1"/>
          </p:cNvSpPr>
          <p:nvPr/>
        </p:nvSpPr>
        <p:spPr>
          <a:xfrm>
            <a:off x="723900" y="5248275"/>
            <a:ext cx="10744200" cy="752475"/>
          </a:xfrm>
          <a:prstGeom prst="rect">
            <a:avLst/>
          </a:prstGeom>
          <a:noFill/>
          <a:ln w="0">
            <a:noFill/>
          </a:ln>
        </p:spPr>
        <p:txBody>
          <a:bodyPr lIns="0" tIns="0" rIns="0" bIns="0" anchor="t">
            <a:noAutofit/>
          </a:bodyPr>
          <a:lstStyle/>
          <a:p>
            <a:pPr>
              <a:defRPr sz="2025" b="0">
                <a:solidFill>
                  <a:srgbClr val="202020"/>
                </a:solidFill>
                <a:latin typeface="Noto Sans"/>
                <a:ea typeface="Noto Sans"/>
                <a:cs typeface="Noto Sans"/>
              </a:defRPr>
            </a:pPr>
            <a:r>
              <a:rPr sz="2025" b="0">
                <a:solidFill>
                  <a:srgbClr val="202020"/>
                </a:solidFill>
                <a:latin typeface="Noto Sans"/>
                <a:ea typeface="Noto Sans"/>
                <a:cs typeface="Noto Sans"/>
              </a:rPr>
              <a:t>Keeping records local is the starting point. Contributions and released results also need protection.</a:t>
            </a:r>
          </a:p>
        </p:txBody>
      </p:sp>
    </p:spTree>
    <p:extLst>
      <p:ext uri="{BB962C8B-B14F-4D97-AF65-F5344CB8AC3E}">
        <p14:creationId xmlns:p14="http://schemas.microsoft.com/office/powerpoint/2010/main" val="34748434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_title">
            <a:extLst>
              <a:ext uri="{FF2B5EF4-FFF2-40B4-BE49-F238E27FC236}">
                <a16:creationId xmlns:a16="http://schemas.microsoft.com/office/drawing/2014/main" id="{56F57ED7-EDC2-4923-AB3E-A32E902F48E0}"/>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Local, central and distributed DP</a:t>
            </a:r>
          </a:p>
        </p:txBody>
      </p:sp>
      <p:sp>
        <p:nvSpPr>
          <p:cNvPr id="2" name="introduction">
            <a:extLst>
              <a:ext uri="{FF2B5EF4-FFF2-40B4-BE49-F238E27FC236}">
                <a16:creationId xmlns:a16="http://schemas.microsoft.com/office/drawing/2014/main" id="{7CBAECAA-67D4-45D5-9618-92739763AD98}"/>
              </a:ext>
            </a:extLst>
          </p:cNvPr>
          <p:cNvSpPr>
            <a:spLocks noGrp="1"/>
          </p:cNvSpPr>
          <p:nvPr/>
        </p:nvSpPr>
        <p:spPr>
          <a:xfrm>
            <a:off x="723900" y="1819275"/>
            <a:ext cx="10744200" cy="381000"/>
          </a:xfrm>
          <a:prstGeom prst="rect">
            <a:avLst/>
          </a:prstGeom>
          <a:noFill/>
          <a:ln w="0">
            <a:noFill/>
          </a:ln>
        </p:spPr>
        <p:txBody>
          <a:bodyPr lIns="0" tIns="0" rIns="0" bIns="0" anchor="t">
            <a:noAutofit/>
          </a:bodyPr>
          <a:lstStyle/>
          <a:p>
            <a:pPr>
              <a:defRPr sz="2100" b="0">
                <a:solidFill>
                  <a:srgbClr val="202020"/>
                </a:solidFill>
                <a:latin typeface="Noto Sans"/>
                <a:ea typeface="Noto Sans"/>
                <a:cs typeface="Noto Sans"/>
              </a:defRPr>
            </a:pPr>
            <a:r>
              <a:rPr sz="2100" b="0">
                <a:solidFill>
                  <a:srgbClr val="202020"/>
                </a:solidFill>
                <a:latin typeface="Noto Sans"/>
                <a:ea typeface="Noto Sans"/>
                <a:cs typeface="Noto Sans"/>
              </a:rPr>
              <a:t>Differential privacy bounds disclosure about a protected contribution.</a:t>
            </a:r>
          </a:p>
        </p:txBody>
      </p:sp>
      <p:graphicFrame>
        <p:nvGraphicFramePr>
          <p:cNvPr id="7" name="Table 6"/>
          <p:cNvGraphicFramePr/>
          <p:nvPr/>
        </p:nvGraphicFramePr>
        <p:xfrm>
          <a:off x="685800" y="2276475"/>
          <a:ext cx="10820400" cy="2793683"/>
        </p:xfrm>
        <a:graphic>
          <a:graphicData uri="http://schemas.openxmlformats.org/drawingml/2006/table">
            <a:tbl>
              <a:tblPr/>
              <a:tblGrid>
                <a:gridCol w="2190750">
                  <a:extLst>
                    <a:ext uri="{9D8B030D-6E8A-4147-A177-3AD203B41FA5}">
                      <a16:colId xmlns:a16="http://schemas.microsoft.com/office/drawing/2014/main" val="20000"/>
                    </a:ext>
                  </a:extLst>
                </a:gridCol>
                <a:gridCol w="4238625">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90563">
                <a:tc>
                  <a:txBody>
                    <a:bodyPr/>
                    <a:lstStyle/>
                    <a:p>
                      <a:r>
                        <a:rPr sz="1800" b="1">
                          <a:solidFill>
                            <a:srgbClr val="FFFFFF"/>
                          </a:solidFill>
                          <a:latin typeface="Noto Sans"/>
                          <a:ea typeface="Noto Sans"/>
                          <a:cs typeface="Noto Sans"/>
                        </a:rPr>
                        <a:t>Approach</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Where protection happens</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Trust assumption</a:t>
                      </a:r>
                    </a:p>
                  </a:txBody>
                  <a:tcPr marL="114300" marR="114300" marT="76200" marB="76200" anchor="ctr">
                    <a:solidFill>
                      <a:srgbClr val="0874B8"/>
                    </a:solidFill>
                  </a:tcPr>
                </a:tc>
                <a:extLst>
                  <a:ext uri="{0D108BD9-81ED-4DB2-BD59-A6C34878D82A}">
                    <a16:rowId xmlns:a16="http://schemas.microsoft.com/office/drawing/2014/main" val="10000"/>
                  </a:ext>
                </a:extLst>
              </a:tr>
              <a:tr h="690563">
                <a:tc>
                  <a:txBody>
                    <a:bodyPr/>
                    <a:lstStyle/>
                    <a:p>
                      <a:r>
                        <a:rPr sz="1800">
                          <a:solidFill>
                            <a:srgbClr val="202020"/>
                          </a:solidFill>
                          <a:latin typeface="Noto Sans"/>
                          <a:ea typeface="Noto Sans"/>
                          <a:cs typeface="Noto Sans"/>
                        </a:rPr>
                        <a:t>Local DP</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Each client randomises its contribution before sharing</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The client protects its contribution before the server receives it</a:t>
                      </a:r>
                    </a:p>
                  </a:txBody>
                  <a:tcPr marL="114300" marR="114300" marT="76200" marB="76200" anchor="ctr">
                    <a:solidFill>
                      <a:srgbClr val="FFFFFF"/>
                    </a:solidFill>
                  </a:tcPr>
                </a:tc>
                <a:extLst>
                  <a:ext uri="{0D108BD9-81ED-4DB2-BD59-A6C34878D82A}">
                    <a16:rowId xmlns:a16="http://schemas.microsoft.com/office/drawing/2014/main" val="10001"/>
                  </a:ext>
                </a:extLst>
              </a:tr>
              <a:tr h="690563">
                <a:tc>
                  <a:txBody>
                    <a:bodyPr/>
                    <a:lstStyle/>
                    <a:p>
                      <a:r>
                        <a:rPr sz="1800">
                          <a:solidFill>
                            <a:srgbClr val="202020"/>
                          </a:solidFill>
                          <a:latin typeface="Noto Sans"/>
                          <a:ea typeface="Noto Sans"/>
                          <a:cs typeface="Noto Sans"/>
                        </a:rPr>
                        <a:t>Central DP</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A trusted curator protects the released result</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The curator can access unprotected inputs or contributions</a:t>
                      </a:r>
                    </a:p>
                  </a:txBody>
                  <a:tcPr marL="114300" marR="114300" marT="76200" marB="76200" anchor="ctr">
                    <a:solidFill>
                      <a:srgbClr val="FFFFFF"/>
                    </a:solidFill>
                  </a:tcPr>
                </a:tc>
                <a:extLst>
                  <a:ext uri="{0D108BD9-81ED-4DB2-BD59-A6C34878D82A}">
                    <a16:rowId xmlns:a16="http://schemas.microsoft.com/office/drawing/2014/main" val="10002"/>
                  </a:ext>
                </a:extLst>
              </a:tr>
              <a:tr h="690563">
                <a:tc>
                  <a:txBody>
                    <a:bodyPr/>
                    <a:lstStyle/>
                    <a:p>
                      <a:r>
                        <a:rPr sz="1800">
                          <a:solidFill>
                            <a:srgbClr val="202020"/>
                          </a:solidFill>
                          <a:latin typeface="Noto Sans"/>
                          <a:ea typeface="Noto Sans"/>
                          <a:cs typeface="Noto Sans"/>
                        </a:rPr>
                        <a:t>Distributed DP</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Distributed randomisation with secure computation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Protection depends on the protocol and collusion assumptions</a:t>
                      </a:r>
                    </a:p>
                  </a:txBody>
                  <a:tcPr marL="114300" marR="114300" marT="76200" marB="76200" anchor="ctr">
                    <a:solidFill>
                      <a:srgbClr val="FFFFFF"/>
                    </a:solidFill>
                  </a:tcPr>
                </a:tc>
                <a:extLst>
                  <a:ext uri="{0D108BD9-81ED-4DB2-BD59-A6C34878D82A}">
                    <a16:rowId xmlns:a16="http://schemas.microsoft.com/office/drawing/2014/main" val="10003"/>
                  </a:ext>
                </a:extLst>
              </a:tr>
            </a:tbl>
          </a:graphicData>
        </a:graphic>
      </p:graphicFrame>
      <p:sp>
        <p:nvSpPr>
          <p:cNvPr id="4" name="key_message">
            <a:extLst>
              <a:ext uri="{FF2B5EF4-FFF2-40B4-BE49-F238E27FC236}">
                <a16:creationId xmlns:a16="http://schemas.microsoft.com/office/drawing/2014/main" id="{E1443FA0-58E4-44B3-B637-B5487FD0FAE7}"/>
              </a:ext>
            </a:extLst>
          </p:cNvPr>
          <p:cNvSpPr>
            <a:spLocks noGrp="1"/>
          </p:cNvSpPr>
          <p:nvPr/>
        </p:nvSpPr>
        <p:spPr>
          <a:xfrm>
            <a:off x="723900" y="5248275"/>
            <a:ext cx="10744200" cy="752475"/>
          </a:xfrm>
          <a:prstGeom prst="rect">
            <a:avLst/>
          </a:prstGeom>
          <a:noFill/>
          <a:ln w="0">
            <a:noFill/>
          </a:ln>
        </p:spPr>
        <p:txBody>
          <a:bodyPr lIns="0" tIns="0" rIns="0" bIns="0" anchor="t">
            <a:noAutofit/>
          </a:bodyPr>
          <a:lstStyle/>
          <a:p>
            <a:pPr>
              <a:defRPr sz="2025" b="0">
                <a:solidFill>
                  <a:srgbClr val="202020"/>
                </a:solidFill>
                <a:latin typeface="Noto Sans"/>
                <a:ea typeface="Noto Sans"/>
                <a:cs typeface="Noto Sans"/>
              </a:defRPr>
            </a:pPr>
            <a:r>
              <a:rPr sz="2025" b="0">
                <a:solidFill>
                  <a:srgbClr val="202020"/>
                </a:solidFill>
                <a:latin typeface="Noto Sans"/>
                <a:ea typeface="Noto Sans"/>
                <a:cs typeface="Noto Sans"/>
              </a:rPr>
              <a:t>The distinction is where protection happens and whom the protocol requires us to trust.</a:t>
            </a:r>
          </a:p>
        </p:txBody>
      </p:sp>
    </p:spTree>
    <p:extLst>
      <p:ext uri="{BB962C8B-B14F-4D97-AF65-F5344CB8AC3E}">
        <p14:creationId xmlns:p14="http://schemas.microsoft.com/office/powerpoint/2010/main" val="3474843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1E782392-BDFC-4A52-9B73-69C093AC7905}"/>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Accuracy, privacy and performance</a:t>
            </a:r>
          </a:p>
        </p:txBody>
      </p:sp>
      <p:graphicFrame>
        <p:nvGraphicFramePr>
          <p:cNvPr id="4" name="Table 3"/>
          <p:cNvGraphicFramePr/>
          <p:nvPr/>
        </p:nvGraphicFramePr>
        <p:xfrm>
          <a:off x="685800" y="2009775"/>
          <a:ext cx="10820400" cy="3238500"/>
        </p:xfrm>
        <a:graphic>
          <a:graphicData uri="http://schemas.openxmlformats.org/drawingml/2006/table">
            <a:tbl>
              <a:tblPr/>
              <a:tblGrid>
                <a:gridCol w="3810000">
                  <a:extLst>
                    <a:ext uri="{9D8B030D-6E8A-4147-A177-3AD203B41FA5}">
                      <a16:colId xmlns:a16="http://schemas.microsoft.com/office/drawing/2014/main" val="20000"/>
                    </a:ext>
                  </a:extLst>
                </a:gridCol>
                <a:gridCol w="7010400">
                  <a:extLst>
                    <a:ext uri="{9D8B030D-6E8A-4147-A177-3AD203B41FA5}">
                      <a16:colId xmlns:a16="http://schemas.microsoft.com/office/drawing/2014/main" val="20001"/>
                    </a:ext>
                  </a:extLst>
                </a:gridCol>
              </a:tblGrid>
              <a:tr h="809625">
                <a:tc>
                  <a:txBody>
                    <a:bodyPr/>
                    <a:lstStyle/>
                    <a:p>
                      <a:r>
                        <a:rPr sz="2025" b="1">
                          <a:solidFill>
                            <a:srgbClr val="FFFFFF"/>
                          </a:solidFill>
                          <a:latin typeface="Noto Sans"/>
                          <a:ea typeface="Noto Sans"/>
                          <a:cs typeface="Noto Sans"/>
                        </a:rPr>
                        <a:t>Approach</a:t>
                      </a:r>
                    </a:p>
                  </a:txBody>
                  <a:tcPr marL="114300" marR="114300" marT="76200" marB="76200" anchor="ctr">
                    <a:solidFill>
                      <a:srgbClr val="0874B8"/>
                    </a:solidFill>
                  </a:tcPr>
                </a:tc>
                <a:tc>
                  <a:txBody>
                    <a:bodyPr/>
                    <a:lstStyle/>
                    <a:p>
                      <a:r>
                        <a:rPr sz="2025" b="1">
                          <a:solidFill>
                            <a:srgbClr val="FFFFFF"/>
                          </a:solidFill>
                          <a:latin typeface="Noto Sans"/>
                          <a:ea typeface="Noto Sans"/>
                          <a:cs typeface="Noto Sans"/>
                        </a:rPr>
                        <a:t>Possible consequence</a:t>
                      </a:r>
                    </a:p>
                  </a:txBody>
                  <a:tcPr marL="114300" marR="114300" marT="76200" marB="76200" anchor="ctr">
                    <a:solidFill>
                      <a:srgbClr val="0874B8"/>
                    </a:solidFill>
                  </a:tcPr>
                </a:tc>
                <a:extLst>
                  <a:ext uri="{0D108BD9-81ED-4DB2-BD59-A6C34878D82A}">
                    <a16:rowId xmlns:a16="http://schemas.microsoft.com/office/drawing/2014/main" val="10000"/>
                  </a:ext>
                </a:extLst>
              </a:tr>
              <a:tr h="809625">
                <a:tc>
                  <a:txBody>
                    <a:bodyPr/>
                    <a:lstStyle/>
                    <a:p>
                      <a:r>
                        <a:rPr sz="2025">
                          <a:solidFill>
                            <a:srgbClr val="202020"/>
                          </a:solidFill>
                          <a:latin typeface="Noto Sans"/>
                          <a:ea typeface="Noto Sans"/>
                          <a:cs typeface="Noto Sans"/>
                        </a:rPr>
                        <a:t>Release thresholds</a:t>
                      </a:r>
                    </a:p>
                  </a:txBody>
                  <a:tcPr marL="114300" marR="114300" marT="76200" marB="76200" anchor="ctr">
                    <a:solidFill>
                      <a:srgbClr val="FFFFFF"/>
                    </a:solidFill>
                  </a:tcPr>
                </a:tc>
                <a:tc>
                  <a:txBody>
                    <a:bodyPr/>
                    <a:lstStyle/>
                    <a:p>
                      <a:r>
                        <a:rPr sz="2025">
                          <a:solidFill>
                            <a:srgbClr val="202020"/>
                          </a:solidFill>
                          <a:latin typeface="Noto Sans"/>
                          <a:ea typeface="Noto Sans"/>
                          <a:cs typeface="Noto Sans"/>
                        </a:rPr>
                        <a:t>Some results are unavailable, especially for rare groups</a:t>
                      </a:r>
                    </a:p>
                  </a:txBody>
                  <a:tcPr marL="114300" marR="114300" marT="76200" marB="76200" anchor="ctr">
                    <a:solidFill>
                      <a:srgbClr val="FFFFFF"/>
                    </a:solidFill>
                  </a:tcPr>
                </a:tc>
                <a:extLst>
                  <a:ext uri="{0D108BD9-81ED-4DB2-BD59-A6C34878D82A}">
                    <a16:rowId xmlns:a16="http://schemas.microsoft.com/office/drawing/2014/main" val="10001"/>
                  </a:ext>
                </a:extLst>
              </a:tr>
              <a:tr h="809625">
                <a:tc>
                  <a:txBody>
                    <a:bodyPr/>
                    <a:lstStyle/>
                    <a:p>
                      <a:r>
                        <a:rPr sz="2025">
                          <a:solidFill>
                            <a:srgbClr val="202020"/>
                          </a:solidFill>
                          <a:latin typeface="Noto Sans"/>
                          <a:ea typeface="Noto Sans"/>
                          <a:cs typeface="Noto Sans"/>
                        </a:rPr>
                        <a:t>Differential privacy</a:t>
                      </a:r>
                    </a:p>
                  </a:txBody>
                  <a:tcPr marL="114300" marR="114300" marT="76200" marB="76200" anchor="ctr">
                    <a:solidFill>
                      <a:srgbClr val="FFFFFF"/>
                    </a:solidFill>
                  </a:tcPr>
                </a:tc>
                <a:tc>
                  <a:txBody>
                    <a:bodyPr/>
                    <a:lstStyle/>
                    <a:p>
                      <a:r>
                        <a:rPr sz="2025">
                          <a:solidFill>
                            <a:srgbClr val="202020"/>
                          </a:solidFill>
                          <a:latin typeface="Noto Sans"/>
                          <a:ea typeface="Noto Sans"/>
                          <a:cs typeface="Noto Sans"/>
                        </a:rPr>
                        <a:t>Randomisation can introduce additional error</a:t>
                      </a:r>
                    </a:p>
                  </a:txBody>
                  <a:tcPr marL="114300" marR="114300" marT="76200" marB="76200" anchor="ctr">
                    <a:solidFill>
                      <a:srgbClr val="FFFFFF"/>
                    </a:solidFill>
                  </a:tcPr>
                </a:tc>
                <a:extLst>
                  <a:ext uri="{0D108BD9-81ED-4DB2-BD59-A6C34878D82A}">
                    <a16:rowId xmlns:a16="http://schemas.microsoft.com/office/drawing/2014/main" val="10002"/>
                  </a:ext>
                </a:extLst>
              </a:tr>
              <a:tr h="809625">
                <a:tc>
                  <a:txBody>
                    <a:bodyPr/>
                    <a:lstStyle/>
                    <a:p>
                      <a:r>
                        <a:rPr sz="2025">
                          <a:solidFill>
                            <a:srgbClr val="202020"/>
                          </a:solidFill>
                          <a:latin typeface="Noto Sans"/>
                          <a:ea typeface="Noto Sans"/>
                          <a:cs typeface="Noto Sans"/>
                        </a:rPr>
                        <a:t>Cryptographic protection</a:t>
                      </a:r>
                    </a:p>
                  </a:txBody>
                  <a:tcPr marL="114300" marR="114300" marT="76200" marB="76200" anchor="ctr">
                    <a:solidFill>
                      <a:srgbClr val="FFFFFF"/>
                    </a:solidFill>
                  </a:tcPr>
                </a:tc>
                <a:tc>
                  <a:txBody>
                    <a:bodyPr/>
                    <a:lstStyle/>
                    <a:p>
                      <a:r>
                        <a:rPr sz="2025">
                          <a:solidFill>
                            <a:srgbClr val="202020"/>
                          </a:solidFill>
                          <a:latin typeface="Noto Sans"/>
                          <a:ea typeface="Noto Sans"/>
                          <a:cs typeface="Noto Sans"/>
                        </a:rPr>
                        <a:t>Computation and communication can cost more</a:t>
                      </a:r>
                    </a:p>
                  </a:txBody>
                  <a:tcPr marL="114300" marR="114300" marT="76200" marB="7620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74843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139255BB-0DC5-4107-A8BF-18A0EB846671}"/>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Enabling techniques</a:t>
            </a:r>
          </a:p>
        </p:txBody>
      </p:sp>
      <p:graphicFrame>
        <p:nvGraphicFramePr>
          <p:cNvPr id="4" name="Table 3"/>
          <p:cNvGraphicFramePr/>
          <p:nvPr/>
        </p:nvGraphicFramePr>
        <p:xfrm>
          <a:off x="685800" y="2009775"/>
          <a:ext cx="10820400" cy="3619500"/>
        </p:xfrm>
        <a:graphic>
          <a:graphicData uri="http://schemas.openxmlformats.org/drawingml/2006/table">
            <a:tbl>
              <a:tblPr/>
              <a:tblGrid>
                <a:gridCol w="3857625">
                  <a:extLst>
                    <a:ext uri="{9D8B030D-6E8A-4147-A177-3AD203B41FA5}">
                      <a16:colId xmlns:a16="http://schemas.microsoft.com/office/drawing/2014/main" val="20000"/>
                    </a:ext>
                  </a:extLst>
                </a:gridCol>
                <a:gridCol w="6962775">
                  <a:extLst>
                    <a:ext uri="{9D8B030D-6E8A-4147-A177-3AD203B41FA5}">
                      <a16:colId xmlns:a16="http://schemas.microsoft.com/office/drawing/2014/main" val="20001"/>
                    </a:ext>
                  </a:extLst>
                </a:gridCol>
              </a:tblGrid>
              <a:tr h="723900">
                <a:tc>
                  <a:txBody>
                    <a:bodyPr/>
                    <a:lstStyle/>
                    <a:p>
                      <a:r>
                        <a:rPr sz="1875" b="1">
                          <a:solidFill>
                            <a:srgbClr val="FFFFFF"/>
                          </a:solidFill>
                          <a:latin typeface="Noto Sans"/>
                          <a:ea typeface="Noto Sans"/>
                          <a:cs typeface="Noto Sans"/>
                        </a:rPr>
                        <a:t>Technique</a:t>
                      </a:r>
                    </a:p>
                  </a:txBody>
                  <a:tcPr marL="114300" marR="114300" marT="76200" marB="76200" anchor="ctr">
                    <a:solidFill>
                      <a:srgbClr val="0874B8"/>
                    </a:solidFill>
                  </a:tcPr>
                </a:tc>
                <a:tc>
                  <a:txBody>
                    <a:bodyPr/>
                    <a:lstStyle/>
                    <a:p>
                      <a:r>
                        <a:rPr sz="1875" b="1">
                          <a:solidFill>
                            <a:srgbClr val="FFFFFF"/>
                          </a:solidFill>
                          <a:latin typeface="Noto Sans"/>
                          <a:ea typeface="Noto Sans"/>
                          <a:cs typeface="Noto Sans"/>
                        </a:rPr>
                        <a:t>Role in federated analytics</a:t>
                      </a:r>
                    </a:p>
                  </a:txBody>
                  <a:tcPr marL="114300" marR="114300" marT="76200" marB="76200" anchor="ctr">
                    <a:solidFill>
                      <a:srgbClr val="0874B8"/>
                    </a:solidFill>
                  </a:tcPr>
                </a:tc>
                <a:extLst>
                  <a:ext uri="{0D108BD9-81ED-4DB2-BD59-A6C34878D82A}">
                    <a16:rowId xmlns:a16="http://schemas.microsoft.com/office/drawing/2014/main" val="10000"/>
                  </a:ext>
                </a:extLst>
              </a:tr>
              <a:tr h="723900">
                <a:tc>
                  <a:txBody>
                    <a:bodyPr/>
                    <a:lstStyle/>
                    <a:p>
                      <a:r>
                        <a:rPr sz="1875">
                          <a:solidFill>
                            <a:srgbClr val="202020"/>
                          </a:solidFill>
                          <a:latin typeface="Noto Sans"/>
                          <a:ea typeface="Noto Sans"/>
                          <a:cs typeface="Noto Sans"/>
                        </a:rPr>
                        <a:t>Sketching and data structures</a:t>
                      </a:r>
                    </a:p>
                  </a:txBody>
                  <a:tcPr marL="114300" marR="114300" marT="76200" marB="76200" anchor="ctr">
                    <a:solidFill>
                      <a:srgbClr val="FFFFFF"/>
                    </a:solidFill>
                  </a:tcPr>
                </a:tc>
                <a:tc>
                  <a:txBody>
                    <a:bodyPr/>
                    <a:lstStyle/>
                    <a:p>
                      <a:r>
                        <a:rPr sz="1875">
                          <a:solidFill>
                            <a:srgbClr val="202020"/>
                          </a:solidFill>
                          <a:latin typeface="Noto Sans"/>
                          <a:ea typeface="Noto Sans"/>
                          <a:cs typeface="Noto Sans"/>
                        </a:rPr>
                        <a:t>Compact summaries or structures support efficient aggregation</a:t>
                      </a:r>
                    </a:p>
                  </a:txBody>
                  <a:tcPr marL="114300" marR="114300" marT="76200" marB="76200" anchor="ctr">
                    <a:solidFill>
                      <a:srgbClr val="FFFFFF"/>
                    </a:solidFill>
                  </a:tcPr>
                </a:tc>
                <a:extLst>
                  <a:ext uri="{0D108BD9-81ED-4DB2-BD59-A6C34878D82A}">
                    <a16:rowId xmlns:a16="http://schemas.microsoft.com/office/drawing/2014/main" val="10001"/>
                  </a:ext>
                </a:extLst>
              </a:tr>
              <a:tr h="723900">
                <a:tc>
                  <a:txBody>
                    <a:bodyPr/>
                    <a:lstStyle/>
                    <a:p>
                      <a:r>
                        <a:rPr sz="1875">
                          <a:solidFill>
                            <a:srgbClr val="202020"/>
                          </a:solidFill>
                          <a:latin typeface="Noto Sans"/>
                          <a:ea typeface="Noto Sans"/>
                          <a:cs typeface="Noto Sans"/>
                        </a:rPr>
                        <a:t>Sampling</a:t>
                      </a:r>
                    </a:p>
                  </a:txBody>
                  <a:tcPr marL="114300" marR="114300" marT="76200" marB="76200" anchor="ctr">
                    <a:solidFill>
                      <a:srgbClr val="FFFFFF"/>
                    </a:solidFill>
                  </a:tcPr>
                </a:tc>
                <a:tc>
                  <a:txBody>
                    <a:bodyPr/>
                    <a:lstStyle/>
                    <a:p>
                      <a:r>
                        <a:rPr sz="1875">
                          <a:solidFill>
                            <a:srgbClr val="202020"/>
                          </a:solidFill>
                          <a:latin typeface="Noto Sans"/>
                          <a:ea typeface="Noto Sans"/>
                          <a:cs typeface="Noto Sans"/>
                        </a:rPr>
                        <a:t>Fewer observations or clients reduce work</a:t>
                      </a:r>
                    </a:p>
                  </a:txBody>
                  <a:tcPr marL="114300" marR="114300" marT="76200" marB="76200" anchor="ctr">
                    <a:solidFill>
                      <a:srgbClr val="FFFFFF"/>
                    </a:solidFill>
                  </a:tcPr>
                </a:tc>
                <a:extLst>
                  <a:ext uri="{0D108BD9-81ED-4DB2-BD59-A6C34878D82A}">
                    <a16:rowId xmlns:a16="http://schemas.microsoft.com/office/drawing/2014/main" val="10002"/>
                  </a:ext>
                </a:extLst>
              </a:tr>
              <a:tr h="723900">
                <a:tc>
                  <a:txBody>
                    <a:bodyPr/>
                    <a:lstStyle/>
                    <a:p>
                      <a:r>
                        <a:rPr sz="1875">
                          <a:solidFill>
                            <a:srgbClr val="202020"/>
                          </a:solidFill>
                          <a:latin typeface="Noto Sans"/>
                          <a:ea typeface="Noto Sans"/>
                          <a:cs typeface="Noto Sans"/>
                        </a:rPr>
                        <a:t>Optimisation</a:t>
                      </a:r>
                    </a:p>
                  </a:txBody>
                  <a:tcPr marL="114300" marR="114300" marT="76200" marB="76200" anchor="ctr">
                    <a:solidFill>
                      <a:srgbClr val="FFFFFF"/>
                    </a:solidFill>
                  </a:tcPr>
                </a:tc>
                <a:tc>
                  <a:txBody>
                    <a:bodyPr/>
                    <a:lstStyle/>
                    <a:p>
                      <a:r>
                        <a:rPr sz="1875">
                          <a:solidFill>
                            <a:srgbClr val="202020"/>
                          </a:solidFill>
                          <a:latin typeface="Noto Sans"/>
                          <a:ea typeface="Noto Sans"/>
                          <a:cs typeface="Noto Sans"/>
                        </a:rPr>
                        <a:t>Allocate computation, communication and privacy budgets</a:t>
                      </a:r>
                    </a:p>
                  </a:txBody>
                  <a:tcPr marL="114300" marR="114300" marT="76200" marB="76200" anchor="ctr">
                    <a:solidFill>
                      <a:srgbClr val="FFFFFF"/>
                    </a:solidFill>
                  </a:tcPr>
                </a:tc>
                <a:extLst>
                  <a:ext uri="{0D108BD9-81ED-4DB2-BD59-A6C34878D82A}">
                    <a16:rowId xmlns:a16="http://schemas.microsoft.com/office/drawing/2014/main" val="10003"/>
                  </a:ext>
                </a:extLst>
              </a:tr>
              <a:tr h="723900">
                <a:tc>
                  <a:txBody>
                    <a:bodyPr/>
                    <a:lstStyle/>
                    <a:p>
                      <a:r>
                        <a:rPr sz="1875">
                          <a:solidFill>
                            <a:srgbClr val="202020"/>
                          </a:solidFill>
                          <a:latin typeface="Noto Sans"/>
                          <a:ea typeface="Noto Sans"/>
                          <a:cs typeface="Noto Sans"/>
                        </a:rPr>
                        <a:t>Game theory and incentives</a:t>
                      </a:r>
                    </a:p>
                  </a:txBody>
                  <a:tcPr marL="114300" marR="114300" marT="76200" marB="76200" anchor="ctr">
                    <a:solidFill>
                      <a:srgbClr val="FFFFFF"/>
                    </a:solidFill>
                  </a:tcPr>
                </a:tc>
                <a:tc>
                  <a:txBody>
                    <a:bodyPr/>
                    <a:lstStyle/>
                    <a:p>
                      <a:r>
                        <a:rPr sz="1875">
                          <a:solidFill>
                            <a:srgbClr val="202020"/>
                          </a:solidFill>
                          <a:latin typeface="Noto Sans"/>
                          <a:ea typeface="Noto Sans"/>
                          <a:cs typeface="Noto Sans"/>
                        </a:rPr>
                        <a:t>Support participation and cooperation</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748434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82B4C983-552C-42D0-8C28-98B9B3476563}"/>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Key challenges</a:t>
            </a:r>
          </a:p>
        </p:txBody>
      </p:sp>
      <p:graphicFrame>
        <p:nvGraphicFramePr>
          <p:cNvPr id="6" name="Table 3"/>
          <p:cNvGraphicFramePr/>
          <p:nvPr/>
        </p:nvGraphicFramePr>
        <p:xfrm>
          <a:off x="685800" y="2009775"/>
          <a:ext cx="10820400" cy="361950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603250">
                <a:tc>
                  <a:txBody>
                    <a:bodyPr/>
                    <a:lstStyle/>
                    <a:p>
                      <a:r>
                        <a:rPr sz="1800" b="1">
                          <a:solidFill>
                            <a:srgbClr val="FFFFFF"/>
                          </a:solidFill>
                          <a:latin typeface="Noto Sans"/>
                          <a:ea typeface="Noto Sans"/>
                          <a:cs typeface="Noto Sans"/>
                        </a:rPr>
                        <a:t>Challenge</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Why it matters</a:t>
                      </a:r>
                    </a:p>
                  </a:txBody>
                  <a:tcPr marL="114300" marR="114300" marT="76200" marB="76200" anchor="ctr">
                    <a:solidFill>
                      <a:srgbClr val="0874B8"/>
                    </a:solidFill>
                  </a:tcPr>
                </a:tc>
                <a:extLst>
                  <a:ext uri="{0D108BD9-81ED-4DB2-BD59-A6C34878D82A}">
                    <a16:rowId xmlns:a16="http://schemas.microsoft.com/office/drawing/2014/main" val="10000"/>
                  </a:ext>
                </a:extLst>
              </a:tr>
              <a:tr h="603250">
                <a:tc>
                  <a:txBody>
                    <a:bodyPr/>
                    <a:lstStyle/>
                    <a:p>
                      <a:r>
                        <a:rPr sz="1800">
                          <a:solidFill>
                            <a:srgbClr val="202020"/>
                          </a:solidFill>
                          <a:latin typeface="Noto Sans"/>
                          <a:ea typeface="Noto Sans"/>
                          <a:cs typeface="Noto Sans"/>
                        </a:rPr>
                        <a:t>Diverse analytical tasks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Different insight and aggregation designs</a:t>
                      </a:r>
                    </a:p>
                  </a:txBody>
                  <a:tcPr marL="114300" marR="114300" marT="76200" marB="76200" anchor="ctr">
                    <a:solidFill>
                      <a:srgbClr val="FFFFFF"/>
                    </a:solidFill>
                  </a:tcPr>
                </a:tc>
                <a:extLst>
                  <a:ext uri="{0D108BD9-81ED-4DB2-BD59-A6C34878D82A}">
                    <a16:rowId xmlns:a16="http://schemas.microsoft.com/office/drawing/2014/main" val="10001"/>
                  </a:ext>
                </a:extLst>
              </a:tr>
              <a:tr h="603250">
                <a:tc>
                  <a:txBody>
                    <a:bodyPr/>
                    <a:lstStyle/>
                    <a:p>
                      <a:r>
                        <a:rPr sz="1800">
                          <a:solidFill>
                            <a:srgbClr val="202020"/>
                          </a:solidFill>
                          <a:latin typeface="Noto Sans"/>
                          <a:ea typeface="Noto Sans"/>
                          <a:cs typeface="Noto Sans"/>
                        </a:rPr>
                        <a:t>Intensive computation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Protection can exceed local capacity</a:t>
                      </a:r>
                    </a:p>
                  </a:txBody>
                  <a:tcPr marL="114300" marR="114300" marT="76200" marB="76200" anchor="ctr">
                    <a:solidFill>
                      <a:srgbClr val="FFFFFF"/>
                    </a:solidFill>
                  </a:tcPr>
                </a:tc>
                <a:extLst>
                  <a:ext uri="{0D108BD9-81ED-4DB2-BD59-A6C34878D82A}">
                    <a16:rowId xmlns:a16="http://schemas.microsoft.com/office/drawing/2014/main" val="10002"/>
                  </a:ext>
                </a:extLst>
              </a:tr>
              <a:tr h="603250">
                <a:tc>
                  <a:txBody>
                    <a:bodyPr/>
                    <a:lstStyle/>
                    <a:p>
                      <a:r>
                        <a:rPr sz="1800">
                          <a:solidFill>
                            <a:srgbClr val="202020"/>
                          </a:solidFill>
                          <a:latin typeface="Noto Sans"/>
                          <a:ea typeface="Noto Sans"/>
                          <a:cs typeface="Noto Sans"/>
                        </a:rPr>
                        <a:t>Wireless communication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Slow or unavailable clients delay completion</a:t>
                      </a:r>
                    </a:p>
                  </a:txBody>
                  <a:tcPr marL="114300" marR="114300" marT="76200" marB="76200" anchor="ctr">
                    <a:solidFill>
                      <a:srgbClr val="FFFFFF"/>
                    </a:solidFill>
                  </a:tcPr>
                </a:tc>
                <a:extLst>
                  <a:ext uri="{0D108BD9-81ED-4DB2-BD59-A6C34878D82A}">
                    <a16:rowId xmlns:a16="http://schemas.microsoft.com/office/drawing/2014/main" val="10003"/>
                  </a:ext>
                </a:extLst>
              </a:tr>
              <a:tr h="603250">
                <a:tc>
                  <a:txBody>
                    <a:bodyPr/>
                    <a:lstStyle/>
                    <a:p>
                      <a:r>
                        <a:rPr sz="1800">
                          <a:solidFill>
                            <a:srgbClr val="202020"/>
                          </a:solidFill>
                          <a:latin typeface="Noto Sans"/>
                          <a:ea typeface="Noto Sans"/>
                          <a:cs typeface="Noto Sans"/>
                        </a:rPr>
                        <a:t>Limited privacy resources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Repeated releases require budget accounting</a:t>
                      </a:r>
                    </a:p>
                  </a:txBody>
                  <a:tcPr marL="114300" marR="114300" marT="76200" marB="76200" anchor="ctr">
                    <a:solidFill>
                      <a:srgbClr val="FFFFFF"/>
                    </a:solidFill>
                  </a:tcPr>
                </a:tc>
                <a:extLst>
                  <a:ext uri="{0D108BD9-81ED-4DB2-BD59-A6C34878D82A}">
                    <a16:rowId xmlns:a16="http://schemas.microsoft.com/office/drawing/2014/main" val="10004"/>
                  </a:ext>
                </a:extLst>
              </a:tr>
              <a:tr h="603250">
                <a:tc>
                  <a:txBody>
                    <a:bodyPr/>
                    <a:lstStyle/>
                    <a:p>
                      <a:r>
                        <a:rPr sz="1800">
                          <a:solidFill>
                            <a:srgbClr val="202020"/>
                          </a:solidFill>
                          <a:latin typeface="Noto Sans"/>
                          <a:ea typeface="Noto Sans"/>
                          <a:cs typeface="Noto Sans"/>
                        </a:rPr>
                        <a:t>Data heterogeneity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Participants hold different distributions</a:t>
                      </a:r>
                    </a:p>
                  </a:txBody>
                  <a:tcPr marL="114300" marR="114300" marT="76200" marB="76200"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887435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A5D4D689-C7D2-4361-BE00-6785015E0CD8}"/>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Open research issues</a:t>
            </a:r>
          </a:p>
        </p:txBody>
      </p:sp>
      <p:graphicFrame>
        <p:nvGraphicFramePr>
          <p:cNvPr id="4" name="Table 3"/>
          <p:cNvGraphicFramePr/>
          <p:nvPr/>
        </p:nvGraphicFramePr>
        <p:xfrm>
          <a:off x="685800" y="2009775"/>
          <a:ext cx="10820400" cy="3238500"/>
        </p:xfrm>
        <a:graphic>
          <a:graphicData uri="http://schemas.openxmlformats.org/drawingml/2006/table">
            <a:tbl>
              <a:tblPr/>
              <a:tblGrid>
                <a:gridCol w="3762375">
                  <a:extLst>
                    <a:ext uri="{9D8B030D-6E8A-4147-A177-3AD203B41FA5}">
                      <a16:colId xmlns:a16="http://schemas.microsoft.com/office/drawing/2014/main" val="20000"/>
                    </a:ext>
                  </a:extLst>
                </a:gridCol>
                <a:gridCol w="7058025">
                  <a:extLst>
                    <a:ext uri="{9D8B030D-6E8A-4147-A177-3AD203B41FA5}">
                      <a16:colId xmlns:a16="http://schemas.microsoft.com/office/drawing/2014/main" val="20001"/>
                    </a:ext>
                  </a:extLst>
                </a:gridCol>
              </a:tblGrid>
              <a:tr h="809625">
                <a:tc>
                  <a:txBody>
                    <a:bodyPr/>
                    <a:lstStyle/>
                    <a:p>
                      <a:r>
                        <a:rPr sz="2025" b="1">
                          <a:solidFill>
                            <a:srgbClr val="FFFFFF"/>
                          </a:solidFill>
                          <a:latin typeface="Noto Sans"/>
                          <a:ea typeface="Noto Sans"/>
                          <a:cs typeface="Noto Sans"/>
                        </a:rPr>
                        <a:t>Research direction</a:t>
                      </a:r>
                    </a:p>
                  </a:txBody>
                  <a:tcPr marL="114300" marR="114300" marT="76200" marB="76200" anchor="ctr">
                    <a:solidFill>
                      <a:srgbClr val="0874B8"/>
                    </a:solidFill>
                  </a:tcPr>
                </a:tc>
                <a:tc>
                  <a:txBody>
                    <a:bodyPr/>
                    <a:lstStyle/>
                    <a:p>
                      <a:r>
                        <a:rPr sz="2025" b="1">
                          <a:solidFill>
                            <a:srgbClr val="FFFFFF"/>
                          </a:solidFill>
                          <a:latin typeface="Noto Sans"/>
                          <a:ea typeface="Noto Sans"/>
                          <a:cs typeface="Noto Sans"/>
                        </a:rPr>
                        <a:t>Questions that remain open</a:t>
                      </a:r>
                    </a:p>
                  </a:txBody>
                  <a:tcPr marL="114300" marR="114300" marT="76200" marB="76200" anchor="ctr">
                    <a:solidFill>
                      <a:srgbClr val="0874B8"/>
                    </a:solidFill>
                  </a:tcPr>
                </a:tc>
                <a:extLst>
                  <a:ext uri="{0D108BD9-81ED-4DB2-BD59-A6C34878D82A}">
                    <a16:rowId xmlns:a16="http://schemas.microsoft.com/office/drawing/2014/main" val="10000"/>
                  </a:ext>
                </a:extLst>
              </a:tr>
              <a:tr h="809625">
                <a:tc>
                  <a:txBody>
                    <a:bodyPr/>
                    <a:lstStyle/>
                    <a:p>
                      <a:r>
                        <a:rPr sz="2025">
                          <a:solidFill>
                            <a:srgbClr val="202020"/>
                          </a:solidFill>
                          <a:latin typeface="Noto Sans"/>
                          <a:ea typeface="Noto Sans"/>
                          <a:cs typeface="Noto Sans"/>
                        </a:rPr>
                        <a:t>Broader analytics</a:t>
                      </a:r>
                    </a:p>
                  </a:txBody>
                  <a:tcPr marL="114300" marR="114300" marT="76200" marB="76200" anchor="ctr">
                    <a:solidFill>
                      <a:srgbClr val="FFFFFF"/>
                    </a:solidFill>
                  </a:tcPr>
                </a:tc>
                <a:tc>
                  <a:txBody>
                    <a:bodyPr/>
                    <a:lstStyle/>
                    <a:p>
                      <a:r>
                        <a:rPr sz="2025">
                          <a:solidFill>
                            <a:srgbClr val="202020"/>
                          </a:solidFill>
                          <a:latin typeface="Noto Sans"/>
                          <a:ea typeface="Noto Sans"/>
                          <a:cs typeface="Noto Sans"/>
                        </a:rPr>
                        <a:t>Complex data scenarios and a unified framework for FA</a:t>
                      </a:r>
                    </a:p>
                  </a:txBody>
                  <a:tcPr marL="114300" marR="114300" marT="76200" marB="76200" anchor="ctr">
                    <a:solidFill>
                      <a:srgbClr val="FFFFFF"/>
                    </a:solidFill>
                  </a:tcPr>
                </a:tc>
                <a:extLst>
                  <a:ext uri="{0D108BD9-81ED-4DB2-BD59-A6C34878D82A}">
                    <a16:rowId xmlns:a16="http://schemas.microsoft.com/office/drawing/2014/main" val="10001"/>
                  </a:ext>
                </a:extLst>
              </a:tr>
              <a:tr h="809625">
                <a:tc>
                  <a:txBody>
                    <a:bodyPr/>
                    <a:lstStyle/>
                    <a:p>
                      <a:r>
                        <a:rPr sz="2025">
                          <a:solidFill>
                            <a:srgbClr val="202020"/>
                          </a:solidFill>
                          <a:latin typeface="Noto Sans"/>
                          <a:ea typeface="Noto Sans"/>
                          <a:cs typeface="Noto Sans"/>
                        </a:rPr>
                        <a:t>Privacy guarantees</a:t>
                      </a:r>
                    </a:p>
                  </a:txBody>
                  <a:tcPr marL="114300" marR="114300" marT="76200" marB="76200" anchor="ctr">
                    <a:solidFill>
                      <a:srgbClr val="FFFFFF"/>
                    </a:solidFill>
                  </a:tcPr>
                </a:tc>
                <a:tc>
                  <a:txBody>
                    <a:bodyPr/>
                    <a:lstStyle/>
                    <a:p>
                      <a:r>
                        <a:rPr sz="2025">
                          <a:solidFill>
                            <a:srgbClr val="202020"/>
                          </a:solidFill>
                          <a:latin typeface="Noto Sans"/>
                          <a:ea typeface="Noto Sans"/>
                          <a:cs typeface="Noto Sans"/>
                        </a:rPr>
                        <a:t>Privacy at scale and comparable formal privacy measures</a:t>
                      </a:r>
                    </a:p>
                  </a:txBody>
                  <a:tcPr marL="114300" marR="114300" marT="76200" marB="76200" anchor="ctr">
                    <a:solidFill>
                      <a:srgbClr val="FFFFFF"/>
                    </a:solidFill>
                  </a:tcPr>
                </a:tc>
                <a:extLst>
                  <a:ext uri="{0D108BD9-81ED-4DB2-BD59-A6C34878D82A}">
                    <a16:rowId xmlns:a16="http://schemas.microsoft.com/office/drawing/2014/main" val="10002"/>
                  </a:ext>
                </a:extLst>
              </a:tr>
              <a:tr h="809625">
                <a:tc>
                  <a:txBody>
                    <a:bodyPr/>
                    <a:lstStyle/>
                    <a:p>
                      <a:r>
                        <a:rPr sz="2025">
                          <a:solidFill>
                            <a:srgbClr val="202020"/>
                          </a:solidFill>
                          <a:latin typeface="Noto Sans"/>
                          <a:ea typeface="Noto Sans"/>
                          <a:cs typeface="Noto Sans"/>
                        </a:rPr>
                        <a:t>Efficient systems</a:t>
                      </a:r>
                    </a:p>
                  </a:txBody>
                  <a:tcPr marL="114300" marR="114300" marT="76200" marB="76200" anchor="ctr">
                    <a:solidFill>
                      <a:srgbClr val="FFFFFF"/>
                    </a:solidFill>
                  </a:tcPr>
                </a:tc>
                <a:tc>
                  <a:txBody>
                    <a:bodyPr/>
                    <a:lstStyle/>
                    <a:p>
                      <a:r>
                        <a:rPr sz="2025">
                          <a:solidFill>
                            <a:srgbClr val="202020"/>
                          </a:solidFill>
                          <a:latin typeface="Noto Sans"/>
                          <a:ea typeface="Noto Sans"/>
                          <a:cs typeface="Noto Sans"/>
                        </a:rPr>
                        <a:t>System efficiency, wireless aggregation and resource management</a:t>
                      </a:r>
                    </a:p>
                  </a:txBody>
                  <a:tcPr marL="114300" marR="114300" marT="76200" marB="7620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748434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A2539521-40D8-4541-B922-504607C496B4}"/>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Key principles</a:t>
            </a:r>
          </a:p>
        </p:txBody>
      </p:sp>
      <p:sp>
        <p:nvSpPr>
          <p:cNvPr id="2" name="body">
            <a:extLst>
              <a:ext uri="{FF2B5EF4-FFF2-40B4-BE49-F238E27FC236}">
                <a16:creationId xmlns:a16="http://schemas.microsoft.com/office/drawing/2014/main" id="{EE1E07EC-A479-4EDF-B09A-4A0325CC5944}"/>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900"/>
              </a:spcAft>
              <a:defRPr sz="2550" b="0">
                <a:solidFill>
                  <a:srgbClr val="202020"/>
                </a:solidFill>
                <a:latin typeface="Noto Sans"/>
                <a:ea typeface="Noto Sans"/>
                <a:cs typeface="Noto Sans"/>
              </a:defRPr>
            </a:pPr>
            <a:r>
              <a:t>The analytical task determines the local insights and aggregation.</a:t>
            </a:r>
          </a:p>
          <a:p>
            <a:pPr>
              <a:spcAft>
                <a:spcPts val="1900"/>
              </a:spcAft>
              <a:defRPr sz="2550" b="0">
                <a:solidFill>
                  <a:srgbClr val="202020"/>
                </a:solidFill>
                <a:latin typeface="Noto Sans"/>
                <a:ea typeface="Noto Sans"/>
                <a:cs typeface="Noto Sans"/>
              </a:defRPr>
            </a:pPr>
            <a:r>
              <a:t>Local data retention needs additional protection for shared outputs.</a:t>
            </a:r>
          </a:p>
          <a:p>
            <a:pPr>
              <a:spcAft>
                <a:spcPts val="1900"/>
              </a:spcAft>
              <a:defRPr sz="2550" b="0">
                <a:solidFill>
                  <a:srgbClr val="202020"/>
                </a:solidFill>
                <a:latin typeface="Noto Sans"/>
                <a:ea typeface="Noto Sans"/>
                <a:cs typeface="Noto Sans"/>
              </a:defRPr>
            </a:pPr>
            <a:r>
              <a:t>Accuracy and system costs depend on the full protocol.</a:t>
            </a:r>
          </a:p>
        </p:txBody>
      </p:sp>
    </p:spTree>
    <p:extLst>
      <p:ext uri="{BB962C8B-B14F-4D97-AF65-F5344CB8AC3E}">
        <p14:creationId xmlns:p14="http://schemas.microsoft.com/office/powerpoint/2010/main" val="34748434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3A21D15A-9D06-4536-89EE-E964014C3A9A}"/>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buNone/>
              <a:defRPr sz="3450" b="1">
                <a:solidFill>
                  <a:srgbClr val="202020"/>
                </a:solidFill>
                <a:latin typeface="Noto Sans"/>
                <a:ea typeface="Noto Sans"/>
                <a:cs typeface="Noto Sans"/>
              </a:defRPr>
            </a:pPr>
            <a:r>
              <a:rPr sz="3450" b="1">
                <a:solidFill>
                  <a:srgbClr val="202020"/>
                </a:solidFill>
                <a:latin typeface="Noto Sans"/>
                <a:ea typeface="Noto Sans"/>
                <a:cs typeface="Noto Sans"/>
              </a:rPr>
              <a:t>References</a:t>
            </a:r>
          </a:p>
        </p:txBody>
      </p:sp>
      <p:sp>
        <p:nvSpPr>
          <p:cNvPr id="2" name="body">
            <a:extLst>
              <a:ext uri="{FF2B5EF4-FFF2-40B4-BE49-F238E27FC236}">
                <a16:creationId xmlns:a16="http://schemas.microsoft.com/office/drawing/2014/main" id="{23CD8F6B-C5C7-4BBE-A90F-73B74EC7531A}"/>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buNone/>
              <a:defRPr sz="1800" b="0">
                <a:solidFill>
                  <a:srgbClr val="202020"/>
                </a:solidFill>
                <a:latin typeface="Noto Sans"/>
                <a:ea typeface="Noto Sans"/>
                <a:cs typeface="Noto Sans"/>
              </a:defRPr>
            </a:pPr>
            <a:r>
              <a:rPr sz="1800" b="0">
                <a:solidFill>
                  <a:srgbClr val="202020"/>
                </a:solidFill>
                <a:latin typeface="Noto Sans"/>
                <a:ea typeface="Noto Sans"/>
                <a:cs typeface="Noto Sans"/>
              </a:rPr>
              <a:t>Wang, Z., Ji, H., Zhu, Y., Wang, D. and Han, Z.</a:t>
            </a:r>
          </a:p>
          <a:p>
            <a:pPr>
              <a:spcAft>
                <a:spcPts val="1800"/>
              </a:spcAft>
              <a:buNone/>
              <a:defRPr sz="1800" b="0">
                <a:solidFill>
                  <a:srgbClr val="202020"/>
                </a:solidFill>
                <a:latin typeface="Noto Sans"/>
                <a:ea typeface="Noto Sans"/>
                <a:cs typeface="Noto Sans"/>
              </a:defRPr>
            </a:pPr>
            <a:r>
              <a:rPr sz="1800" b="0">
                <a:solidFill>
                  <a:srgbClr val="202020"/>
                </a:solidFill>
                <a:latin typeface="Noto Sans"/>
                <a:ea typeface="Noto Sans"/>
                <a:cs typeface="Noto Sans"/>
              </a:rPr>
              <a:t>A Survey on Federated Analytics: Taxonomy, Enabling Techniques, Applications and Open Issues.</a:t>
            </a:r>
          </a:p>
          <a:p>
            <a:pPr>
              <a:spcAft>
                <a:spcPts val="1800"/>
              </a:spcAft>
              <a:buNone/>
              <a:defRPr sz="1800" b="0">
                <a:solidFill>
                  <a:srgbClr val="202020"/>
                </a:solidFill>
                <a:latin typeface="Noto Sans"/>
                <a:ea typeface="Noto Sans"/>
                <a:cs typeface="Noto Sans"/>
              </a:defRPr>
            </a:pPr>
            <a:r>
              <a:rPr sz="1800" b="0">
                <a:solidFill>
                  <a:srgbClr val="202020"/>
                </a:solidFill>
                <a:latin typeface="Noto Sans"/>
                <a:ea typeface="Noto Sans"/>
                <a:cs typeface="Noto Sans"/>
              </a:rPr>
              <a:t>IEEE Communications Surveys &amp; Tutorials 28 (2026), 2457–2496. Online 2025. DOI: 10.1109/COMST.2025.3558755</a:t>
            </a:r>
          </a:p>
          <a:p>
            <a:pPr>
              <a:spcAft>
                <a:spcPts val="1800"/>
              </a:spcAft>
              <a:buNone/>
              <a:defRPr sz="2175" b="0">
                <a:solidFill>
                  <a:srgbClr val="202020"/>
                </a:solidFill>
                <a:latin typeface="Noto Sans"/>
                <a:ea typeface="Noto Sans"/>
                <a:cs typeface="Noto Sans"/>
              </a:defRPr>
            </a:pPr>
            <a:endParaRPr sz="1800" b="0">
              <a:solidFill>
                <a:srgbClr val="202020"/>
              </a:solidFill>
              <a:latin typeface="Noto Sans"/>
              <a:ea typeface="Noto Sans"/>
              <a:cs typeface="Noto Sans"/>
            </a:endParaRPr>
          </a:p>
          <a:p>
            <a:pPr>
              <a:spcAft>
                <a:spcPts val="1800"/>
              </a:spcAft>
              <a:buNone/>
              <a:defRPr sz="1800" b="0">
                <a:solidFill>
                  <a:srgbClr val="202020"/>
                </a:solidFill>
                <a:latin typeface="Noto Sans"/>
                <a:ea typeface="Noto Sans"/>
                <a:cs typeface="Noto Sans"/>
              </a:defRPr>
            </a:pPr>
            <a:r>
              <a:rPr sz="1800" b="0">
                <a:solidFill>
                  <a:srgbClr val="202020"/>
                </a:solidFill>
                <a:latin typeface="Noto Sans"/>
                <a:ea typeface="Noto Sans"/>
                <a:cs typeface="Noto Sans"/>
              </a:rPr>
              <a:t>Zhu, S. Y., Tang, W., Xie, Y. T. and Xie, L. Z.</a:t>
            </a:r>
          </a:p>
          <a:p>
            <a:pPr>
              <a:spcAft>
                <a:spcPts val="1800"/>
              </a:spcAft>
              <a:buNone/>
              <a:defRPr sz="1800" b="0">
                <a:solidFill>
                  <a:srgbClr val="202020"/>
                </a:solidFill>
                <a:latin typeface="Noto Sans"/>
                <a:ea typeface="Noto Sans"/>
                <a:cs typeface="Noto Sans"/>
              </a:defRPr>
            </a:pPr>
            <a:r>
              <a:rPr sz="1800" b="0">
                <a:solidFill>
                  <a:srgbClr val="202020"/>
                </a:solidFill>
                <a:latin typeface="Noto Sans"/>
                <a:ea typeface="Noto Sans"/>
                <a:cs typeface="Noto Sans"/>
              </a:rPr>
              <a:t>A comprehensive review of federated learning for multi-center medical data.</a:t>
            </a:r>
          </a:p>
          <a:p>
            <a:pPr>
              <a:spcAft>
                <a:spcPts val="1800"/>
              </a:spcAft>
              <a:buNone/>
              <a:defRPr sz="1800" b="0">
                <a:solidFill>
                  <a:srgbClr val="202020"/>
                </a:solidFill>
                <a:latin typeface="Noto Sans"/>
                <a:ea typeface="Noto Sans"/>
                <a:cs typeface="Noto Sans"/>
              </a:defRPr>
            </a:pPr>
            <a:r>
              <a:rPr sz="1800" b="0">
                <a:solidFill>
                  <a:srgbClr val="202020"/>
                </a:solidFill>
                <a:latin typeface="Noto Sans"/>
                <a:ea typeface="Noto Sans"/>
                <a:cs typeface="Noto Sans"/>
              </a:rPr>
              <a:t>Biomedical Engineering Communications 4(2) (2025):9. DOI: 10.53388/BMEC2025009</a:t>
            </a:r>
          </a:p>
        </p:txBody>
      </p:sp>
    </p:spTree>
    <p:extLst>
      <p:ext uri="{BB962C8B-B14F-4D97-AF65-F5344CB8AC3E}">
        <p14:creationId xmlns:p14="http://schemas.microsoft.com/office/powerpoint/2010/main" val="1988743505"/>
      </p:ext>
    </p:extLst>
  </p:cSld>
  <p:clrMapOvr>
    <a:masterClrMapping/>
  </p:clrMapOvr>
</p:sld>
</file>

<file path=ppt/theme/theme1.xml><?xml version="1.0" encoding="utf-8"?>
<a:theme xmlns:a="http://schemas.openxmlformats.org/drawingml/2006/main" name="TGHN Regional Programme">
  <a:themeElements>
    <a:clrScheme name="TGHN Theme 1">
      <a:dk1>
        <a:srgbClr val="000000"/>
      </a:dk1>
      <a:lt1>
        <a:srgbClr val="FFFFFF"/>
      </a:lt1>
      <a:dk2>
        <a:srgbClr val="0E2841"/>
      </a:dk2>
      <a:lt2>
        <a:srgbClr val="E8E8E8"/>
      </a:lt2>
      <a:accent1>
        <a:srgbClr val="0071BC"/>
      </a:accent1>
      <a:accent2>
        <a:srgbClr val="771213"/>
      </a:accent2>
      <a:accent3>
        <a:srgbClr val="80AF40"/>
      </a:accent3>
      <a:accent4>
        <a:srgbClr val="79CBC6"/>
      </a:accent4>
      <a:accent5>
        <a:srgbClr val="F06EA9"/>
      </a:accent5>
      <a:accent6>
        <a:srgbClr val="CBDFF3"/>
      </a:accent6>
      <a:hlink>
        <a:srgbClr val="E97132"/>
      </a:hlink>
      <a:folHlink>
        <a:srgbClr val="E971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GHN Them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GHN Regional Programme">
  <a:themeElements>
    <a:clrScheme name="TGHN Theme 1">
      <a:dk1>
        <a:srgbClr val="000000"/>
      </a:dk1>
      <a:lt1>
        <a:srgbClr val="FFFFFF"/>
      </a:lt1>
      <a:dk2>
        <a:srgbClr val="0E2841"/>
      </a:dk2>
      <a:lt2>
        <a:srgbClr val="E8E8E8"/>
      </a:lt2>
      <a:accent1>
        <a:srgbClr val="0071BC"/>
      </a:accent1>
      <a:accent2>
        <a:srgbClr val="771213"/>
      </a:accent2>
      <a:accent3>
        <a:srgbClr val="80AF40"/>
      </a:accent3>
      <a:accent4>
        <a:srgbClr val="79CBC6"/>
      </a:accent4>
      <a:accent5>
        <a:srgbClr val="F06EA9"/>
      </a:accent5>
      <a:accent6>
        <a:srgbClr val="CBDFF3"/>
      </a:accent6>
      <a:hlink>
        <a:srgbClr val="E97132"/>
      </a:hlink>
      <a:folHlink>
        <a:srgbClr val="E971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GHN Them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6353</Words>
  <Application>Microsoft Office PowerPoint</Application>
  <DocSecurity>0</DocSecurity>
  <PresentationFormat>Widescreen</PresentationFormat>
  <Paragraphs>458</Paragraphs>
  <Slides>33</Slides>
  <Notes>33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33</vt:i4>
      </vt:variant>
    </vt:vector>
  </HeadingPairs>
  <TitlesOfParts>
    <vt:vector size="40" baseType="lpstr">
      <vt:lpstr>Noto Sans</vt:lpstr>
      <vt:lpstr>Noto Sans SemiBold</vt:lpstr>
      <vt:lpstr>Arial</vt:lpstr>
      <vt:lpstr>Calibri Light</vt:lpstr>
      <vt:lpstr>Calibri</vt:lpstr>
      <vt:lpstr>TGHN Regional Programme</vt:lpstr>
      <vt:lpstr>Diseño personalizado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Federated analytics dimensions</vt:lpstr>
      <vt:lpstr>Data analysis task</vt:lpstr>
      <vt:lpstr>Data analysis task</vt:lpstr>
      <vt:lpstr>PowerPoint Presentation</vt:lpstr>
      <vt:lpstr>PowerPoint Presentation</vt:lpstr>
      <vt:lpstr>PowerPoint Presentation</vt:lpstr>
      <vt:lpstr>PowerPoint Presentation</vt:lpstr>
      <vt:lpstr>PowerPoint Presentation</vt:lpstr>
      <vt:lpstr>Data owner type</vt:lpstr>
      <vt:lpstr>PowerPoint Presentation</vt:lpstr>
      <vt:lpstr>Data distribution strategy</vt:lpstr>
      <vt:lpstr>Data distribution strategy</vt:lpstr>
      <vt:lpstr>Iteration pattern</vt:lpstr>
      <vt:lpstr>PowerPoint Presentation</vt:lpstr>
      <vt:lpstr>PowerPoint Presentation</vt:lpstr>
      <vt:lpstr>Coordination model</vt:lpstr>
      <vt:lpstr>PowerPoint Presentation</vt:lpstr>
      <vt:lpstr>Privatization 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Esteban Garcia</cp:lastModifiedBy>
  <cp:revision>1</cp:revision>
  <dcterms:created xsi:type="dcterms:W3CDTF">2026-10-04T02:26:33Z</dcterms:created>
  <dcterms:modified xsi:type="dcterms:W3CDTF">2026-10-04T02:39:37Z</dcterms:modified>
</cp:coreProperties>
</file>