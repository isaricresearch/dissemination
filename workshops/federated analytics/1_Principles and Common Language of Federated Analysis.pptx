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68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EDE"/>
    <a:srgbClr val="0060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81" d="100"/>
          <a:sy n="81" d="100"/>
        </p:scale>
        <p:origin x="739" y="3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3E730-978C-4605-86B7-A055BA3FCA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8F6044-A56A-44B5-B612-963300D289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E5D878-0111-4088-955E-46F65DBD26D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16B17F1-A951-4666-8FC6-A354C15C7ABD}" type="datetimeFigureOut">
              <a:t>9/24/2026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269C30-F805-4EFF-AC33-70F53E8B3FC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21196-407B-4C74-AE58-7AFAE591194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867788A-CAD7-42AA-84E2-282020E31E0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A7A83-7DE6-48EE-A314-CB1F080E4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9E91B-8747-4BFB-AB84-0E5B1E655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861C38-E313-43B5-9B30-8BBF2841AB6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16B17F1-A951-4666-8FC6-A354C15C7ABD}" type="datetimeFigureOut">
              <a:t>9/24/2026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30CBB4-E2E4-4AC7-93BD-CF01D4EEF73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4252E-F4AE-4D27-A836-8E4BF8B0B84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867788A-CAD7-42AA-84E2-282020E31E0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97D08-A868-49F6-ABA3-2EC4F63CC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6A284-F15C-49F7-A2F0-A32DF9F691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33CAD-E9D6-4CFF-8908-BBBB97038E0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16B17F1-A951-4666-8FC6-A354C15C7ABD}" type="datetimeFigureOut">
              <a:t>9/24/2026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244B8-5D32-4CD6-867E-E3AB01725FB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DE598-B034-44B7-892D-72DC7115C7E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867788A-CAD7-42AA-84E2-282020E31E0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E2CC5-DED8-4A5F-8B51-A548FE84A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DA7A0-DEE4-48CF-BA09-360936B427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5C45B0-EF2E-4142-9CA1-D8EEDD5BBE4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D10D55-610F-42E0-A56D-B8EB9827FDA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16B17F1-A951-4666-8FC6-A354C15C7ABD}" type="datetimeFigureOut">
              <a:t>9/24/2026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3DA599-C2D4-4D90-A2D6-BA2A306BC69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1475DE-D0C6-4CC4-8B09-D2828804FA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867788A-CAD7-42AA-84E2-282020E31E0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E0772-1AAF-46A8-94CC-9FD4DF262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D9AEA7-A434-4A88-BBB3-D5F320FAA7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002EBA-C342-4AE2-B3CC-A95A59683D2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B85019-CF8A-40A0-AC7B-D8626E5FF503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CA9641-7F1A-4D53-BC33-2C296DF8D419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D78491-FF3F-4331-B533-2C7F01AA255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16B17F1-A951-4666-8FC6-A354C15C7ABD}" type="datetimeFigureOut">
              <a:t>9/24/2026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5327C2-E5CB-4D16-8D88-9D71C7084CE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643B09-30B9-428F-93E6-E4536605490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867788A-CAD7-42AA-84E2-282020E31E0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93534-597A-4D6B-B7E8-894030854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62A993-1C85-44B5-9C5C-CD135A70624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16B17F1-A951-4666-8FC6-A354C15C7ABD}" type="datetimeFigureOut">
              <a:t>9/24/2026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5FE8AA-A45B-4270-A39C-EDF688B994B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739DC-E446-4337-9D23-68E0A6FB23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867788A-CAD7-42AA-84E2-282020E31E0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829D87-78E8-4437-BB77-A4F5A1F0408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16B17F1-A951-4666-8FC6-A354C15C7ABD}" type="datetimeFigureOut">
              <a:t>9/24/2026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5BE3C3-CDB3-4020-9C32-D24DAC780C5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A17EC4-21F2-4B47-A082-11CBDBA96B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867788A-CAD7-42AA-84E2-282020E31E0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F25BD-0B3D-45DD-BEE4-1C551AF49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2A2EC-45AC-4472-96A2-DCD1FF7EF6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57CB80-0D3C-437F-89E0-607DC6192AD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22E5F9-D4F1-4BE7-96A5-16A21C5D4D8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16B17F1-A951-4666-8FC6-A354C15C7ABD}" type="datetimeFigureOut">
              <a:t>9/24/2026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10CBC8-9E2B-40E2-85AF-40A5B21A682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9A7228-15E1-4A01-8579-1688D101862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867788A-CAD7-42AA-84E2-282020E31E0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03C6C-63B6-43EA-9FB0-7CC987EC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8E5BC2-14D8-40EB-B031-2B8B80CDD9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C375EB-C3CF-4D2B-BC43-145BDB96EF2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A228C-2171-4A3D-B2DA-6DC388A7B0C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16B17F1-A951-4666-8FC6-A354C15C7ABD}" type="datetimeFigureOut">
              <a:t>9/24/2026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39E5D9-521B-459A-AD60-73B1278666F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AD28A6-CD64-47E7-A243-F38555DB65B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867788A-CAD7-42AA-84E2-282020E31E0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B85ED-416C-407D-8DB1-6FAB21873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264851-C681-414D-A475-0262CC1826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15F7C7-1D98-40E0-B0DA-3C8C5709835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16B17F1-A951-4666-8FC6-A354C15C7ABD}" type="datetimeFigureOut">
              <a:t>9/24/2026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7ED352-5B9A-4781-9F01-7969135B11F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18A51-6692-4537-B381-379D1530B1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867788A-CAD7-42AA-84E2-282020E31E0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F406E4-C045-43E5-908C-00FFE9BEB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AA1FD6-CCC9-46D5-82B9-1438771D2E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8E1201-62C2-4C40-967A-35571D2587A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16B17F1-A951-4666-8FC6-A354C15C7ABD}" type="datetimeFigureOut">
              <a:t>9/24/2026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1B361-0B31-4EA1-81CA-614FD7FE2C2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F3D881-DBA7-4058-AF16-C1FE272886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867788A-CAD7-42AA-84E2-282020E31E0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69668D-36E4-4139-9094-2BB19DBCB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93780E-A5BF-44DE-A53C-6A1FC504D4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E299C0-F3C7-4CE7-901B-4E4741184AC7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6B17F1-A951-4666-8FC6-A354C15C7ABD}" type="datetimeFigureOut">
              <a:t>9/24/2026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C494D8-F8CE-4538-9400-4BD010D2C763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F2B0E0-EA52-492E-9828-3F1E33AC4A47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67788A-CAD7-42AA-84E2-282020E31E0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3E8E2-5D53-484C-949B-9249DAE8A8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b="1"/>
              <a:t>Principles and Common Language of Federated Analysis</a:t>
            </a:r>
            <a:endParaRPr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881F4E-8E98-4490-909D-024002255C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2381693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t>From Centralised Analytics to Privacy-Preserving Distributed Learning</a:t>
            </a:r>
          </a:p>
        </p:txBody>
      </p:sp>
    </p:spTree>
    <p:extLst>
      <p:ext uri="{BB962C8B-B14F-4D97-AF65-F5344CB8AC3E}">
        <p14:creationId xmlns:p14="http://schemas.microsoft.com/office/powerpoint/2010/main" val="121079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E974E-5AB0-4AAB-B3D4-55C4B9026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6F36AB-E3C1-4345-9CF1-3AE13084D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9048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2400" dirty="0"/>
              <a:t>Health data are valuable but distributed across hospitals, countries, and organisations.</a:t>
            </a:r>
          </a:p>
          <a:p>
            <a:r>
              <a:rPr lang="en-GB" sz="2400" dirty="0"/>
              <a:t>Centralising individual-level data is often difficult because of: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privacy and confidentiality requirements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legal and institutional restrictions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data ownership and governance concerns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incompatible data systems and local data standards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the risk that a single dataset does not represent all populations</a:t>
            </a:r>
          </a:p>
          <a:p>
            <a:pPr marL="0" indent="0">
              <a:buNone/>
            </a:pPr>
            <a:r>
              <a:rPr lang="en-GB" sz="2400" dirty="0"/>
              <a:t>As a result, many studies rely on small, local datasets and may produce findings that are difficult to generalise.</a:t>
            </a:r>
          </a:p>
          <a:p>
            <a:pPr marL="0" indent="0">
              <a:buNone/>
            </a:pPr>
            <a:r>
              <a:rPr lang="en-GB" sz="2400" dirty="0"/>
              <a:t>Federated analytics allows organisations to analyse combined evidence while individual-level data remain within the organisations that hold them.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9791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479D0-3B50-4BDD-87EB-B0F996714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5585012" cy="1143000"/>
          </a:xfrm>
        </p:spPr>
        <p:txBody>
          <a:bodyPr>
            <a:normAutofit/>
          </a:bodyPr>
          <a:lstStyle/>
          <a:p>
            <a:r>
              <a:rPr dirty="0"/>
              <a:t>Federated Learning</a:t>
            </a:r>
          </a:p>
        </p:txBody>
      </p:sp>
      <p:pic>
        <p:nvPicPr>
          <p:cNvPr id="47" name="Picture 5"/>
          <p:cNvPicPr>
            <a:picLocks noChangeAspect="1"/>
          </p:cNvPicPr>
          <p:nvPr/>
        </p:nvPicPr>
        <p:blipFill rotWithShape="1">
          <a:blip r:embed="rId3"/>
          <a:srcRect l="21353" t="9518" b="8376"/>
          <a:stretch/>
        </p:blipFill>
        <p:spPr>
          <a:xfrm>
            <a:off x="7405719" y="268309"/>
            <a:ext cx="4337546" cy="2647264"/>
          </a:xfrm>
          <a:prstGeom prst="rect">
            <a:avLst/>
          </a:prstGeom>
        </p:spPr>
      </p:pic>
      <p:sp>
        <p:nvSpPr>
          <p:cNvPr id="12" name="Cylinder 11">
            <a:extLst>
              <a:ext uri="{FF2B5EF4-FFF2-40B4-BE49-F238E27FC236}">
                <a16:creationId xmlns:a16="http://schemas.microsoft.com/office/drawing/2014/main" id="{A88EBACC-6605-446D-A348-50460815D0B1}"/>
              </a:ext>
            </a:extLst>
          </p:cNvPr>
          <p:cNvSpPr>
            <a:spLocks noGrp="1"/>
          </p:cNvSpPr>
          <p:nvPr/>
        </p:nvSpPr>
        <p:spPr>
          <a:xfrm>
            <a:off x="7908960" y="3366390"/>
            <a:ext cx="600979" cy="349917"/>
          </a:xfrm>
          <a:prstGeom prst="can">
            <a:avLst/>
          </a:prstGeom>
          <a:solidFill>
            <a:srgbClr val="00BEDE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600" dirty="0"/>
              <a:t>DB1</a:t>
            </a:r>
          </a:p>
        </p:txBody>
      </p:sp>
      <p:sp>
        <p:nvSpPr>
          <p:cNvPr id="14" name="Cylinder 13">
            <a:extLst>
              <a:ext uri="{FF2B5EF4-FFF2-40B4-BE49-F238E27FC236}">
                <a16:creationId xmlns:a16="http://schemas.microsoft.com/office/drawing/2014/main" id="{EB7BC1EA-432B-4048-9EE8-CA244EF814FA}"/>
              </a:ext>
            </a:extLst>
          </p:cNvPr>
          <p:cNvSpPr>
            <a:spLocks noGrp="1"/>
          </p:cNvSpPr>
          <p:nvPr/>
        </p:nvSpPr>
        <p:spPr>
          <a:xfrm>
            <a:off x="10670089" y="3366390"/>
            <a:ext cx="600979" cy="349917"/>
          </a:xfrm>
          <a:prstGeom prst="can">
            <a:avLst/>
          </a:prstGeom>
          <a:solidFill>
            <a:srgbClr val="006070"/>
          </a:solidFill>
          <a:ln>
            <a:solidFill>
              <a:srgbClr val="0024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600"/>
              <a:t>DB4</a:t>
            </a:r>
          </a:p>
        </p:txBody>
      </p:sp>
      <p:sp>
        <p:nvSpPr>
          <p:cNvPr id="23" name="Cylinder 22">
            <a:extLst>
              <a:ext uri="{FF2B5EF4-FFF2-40B4-BE49-F238E27FC236}">
                <a16:creationId xmlns:a16="http://schemas.microsoft.com/office/drawing/2014/main" id="{9AB3FD09-F841-4E33-B8F5-4EBBA092A358}"/>
              </a:ext>
            </a:extLst>
          </p:cNvPr>
          <p:cNvSpPr>
            <a:spLocks noGrp="1"/>
          </p:cNvSpPr>
          <p:nvPr/>
        </p:nvSpPr>
        <p:spPr>
          <a:xfrm>
            <a:off x="8868673" y="3384608"/>
            <a:ext cx="600979" cy="349917"/>
          </a:xfrm>
          <a:prstGeom prst="can">
            <a:avLst/>
          </a:prstGeom>
          <a:solidFill>
            <a:srgbClr val="008BA2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600"/>
              <a:t>DB2</a:t>
            </a:r>
          </a:p>
        </p:txBody>
      </p:sp>
      <p:sp>
        <p:nvSpPr>
          <p:cNvPr id="24" name="Cylinder 23">
            <a:extLst>
              <a:ext uri="{FF2B5EF4-FFF2-40B4-BE49-F238E27FC236}">
                <a16:creationId xmlns:a16="http://schemas.microsoft.com/office/drawing/2014/main" id="{3C0E443C-84E5-4632-9619-00C7F31BC4B6}"/>
              </a:ext>
            </a:extLst>
          </p:cNvPr>
          <p:cNvSpPr>
            <a:spLocks noGrp="1"/>
          </p:cNvSpPr>
          <p:nvPr/>
        </p:nvSpPr>
        <p:spPr>
          <a:xfrm>
            <a:off x="9770140" y="3384608"/>
            <a:ext cx="600979" cy="349917"/>
          </a:xfrm>
          <a:prstGeom prst="can">
            <a:avLst/>
          </a:prstGeom>
          <a:solidFill>
            <a:srgbClr val="007D92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600"/>
              <a:t>DB3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577007-BD88-42C4-BD95-D0972E20129F}"/>
              </a:ext>
            </a:extLst>
          </p:cNvPr>
          <p:cNvSpPr>
            <a:spLocks noGrp="1"/>
          </p:cNvSpPr>
          <p:nvPr/>
        </p:nvSpPr>
        <p:spPr>
          <a:xfrm>
            <a:off x="7804118" y="3965782"/>
            <a:ext cx="810661" cy="507605"/>
          </a:xfrm>
          <a:prstGeom prst="rect">
            <a:avLst/>
          </a:prstGeom>
          <a:solidFill>
            <a:srgbClr val="00244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400"/>
              <a:t>Local model 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A378D1-7528-49C7-869A-0E82AA83195D}"/>
              </a:ext>
            </a:extLst>
          </p:cNvPr>
          <p:cNvSpPr>
            <a:spLocks noGrp="1"/>
          </p:cNvSpPr>
          <p:nvPr/>
        </p:nvSpPr>
        <p:spPr>
          <a:xfrm>
            <a:off x="8763831" y="3960199"/>
            <a:ext cx="810661" cy="507605"/>
          </a:xfrm>
          <a:prstGeom prst="rect">
            <a:avLst/>
          </a:prstGeom>
          <a:solidFill>
            <a:srgbClr val="00244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400"/>
              <a:t>Local model 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793493-B61A-4132-9FB3-2984121B1521}"/>
              </a:ext>
            </a:extLst>
          </p:cNvPr>
          <p:cNvSpPr>
            <a:spLocks noGrp="1"/>
          </p:cNvSpPr>
          <p:nvPr/>
        </p:nvSpPr>
        <p:spPr>
          <a:xfrm>
            <a:off x="9665298" y="3978129"/>
            <a:ext cx="810661" cy="507605"/>
          </a:xfrm>
          <a:prstGeom prst="rect">
            <a:avLst/>
          </a:prstGeom>
          <a:solidFill>
            <a:srgbClr val="00244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400"/>
              <a:t>Local model 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60751E-2A9E-4D49-858E-0A63C8F47D63}"/>
              </a:ext>
            </a:extLst>
          </p:cNvPr>
          <p:cNvSpPr>
            <a:spLocks noGrp="1"/>
          </p:cNvSpPr>
          <p:nvPr/>
        </p:nvSpPr>
        <p:spPr>
          <a:xfrm>
            <a:off x="10565247" y="3976687"/>
            <a:ext cx="810661" cy="507605"/>
          </a:xfrm>
          <a:prstGeom prst="rect">
            <a:avLst/>
          </a:prstGeom>
          <a:solidFill>
            <a:srgbClr val="00244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400"/>
              <a:t>Local model 4</a:t>
            </a:r>
          </a:p>
        </p:txBody>
      </p:sp>
      <p:cxnSp>
        <p:nvCxnSpPr>
          <p:cNvPr id="56" name="Connector: Elbow 12"/>
          <p:cNvCxnSpPr>
            <a:stCxn id="12" idx="3"/>
            <a:endCxn id="8" idx="0"/>
          </p:cNvCxnSpPr>
          <p:nvPr/>
        </p:nvCxnSpPr>
        <p:spPr>
          <a:xfrm rot="5400000">
            <a:off x="8084713" y="3841044"/>
            <a:ext cx="249475" cy="1"/>
          </a:xfrm>
          <a:prstGeom prst="bentConnector3">
            <a:avLst>
              <a:gd name="adj1" fmla="val 50000"/>
            </a:avLst>
          </a:prstGeom>
          <a:ln>
            <a:solidFill>
              <a:srgbClr val="00244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: Elbow 14"/>
          <p:cNvCxnSpPr>
            <a:stCxn id="23" idx="3"/>
          </p:cNvCxnSpPr>
          <p:nvPr/>
        </p:nvCxnSpPr>
        <p:spPr>
          <a:xfrm rot="16200000" flipH="1">
            <a:off x="9056325" y="3847362"/>
            <a:ext cx="225676" cy="1"/>
          </a:xfrm>
          <a:prstGeom prst="bentConnector3">
            <a:avLst>
              <a:gd name="adj1" fmla="val 50000"/>
            </a:avLst>
          </a:prstGeom>
          <a:ln>
            <a:solidFill>
              <a:srgbClr val="00244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17"/>
          <p:cNvCxnSpPr>
            <a:stCxn id="24" idx="3"/>
            <a:endCxn id="10" idx="0"/>
          </p:cNvCxnSpPr>
          <p:nvPr/>
        </p:nvCxnSpPr>
        <p:spPr>
          <a:xfrm rot="5400000">
            <a:off x="9948828" y="3856327"/>
            <a:ext cx="243604" cy="1"/>
          </a:xfrm>
          <a:prstGeom prst="bentConnector3">
            <a:avLst>
              <a:gd name="adj1" fmla="val 50000"/>
            </a:avLst>
          </a:prstGeom>
          <a:ln>
            <a:solidFill>
              <a:srgbClr val="00244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20"/>
          <p:cNvCxnSpPr>
            <a:stCxn id="14" idx="3"/>
            <a:endCxn id="11" idx="0"/>
          </p:cNvCxnSpPr>
          <p:nvPr/>
        </p:nvCxnSpPr>
        <p:spPr>
          <a:xfrm rot="5400000">
            <a:off x="10840389" y="3846497"/>
            <a:ext cx="260380" cy="1"/>
          </a:xfrm>
          <a:prstGeom prst="bentConnector3">
            <a:avLst>
              <a:gd name="adj1" fmla="val 50000"/>
            </a:avLst>
          </a:prstGeom>
          <a:ln>
            <a:solidFill>
              <a:srgbClr val="00244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79B4853C-166D-4A99-A56F-6AC89761B1AE}"/>
              </a:ext>
            </a:extLst>
          </p:cNvPr>
          <p:cNvSpPr>
            <a:spLocks noGrp="1"/>
          </p:cNvSpPr>
          <p:nvPr/>
        </p:nvSpPr>
        <p:spPr>
          <a:xfrm>
            <a:off x="7804117" y="4842243"/>
            <a:ext cx="3571791" cy="507605"/>
          </a:xfrm>
          <a:prstGeom prst="rect">
            <a:avLst/>
          </a:prstGeom>
          <a:solidFill>
            <a:srgbClr val="00244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t>Model Aggregation</a:t>
            </a:r>
          </a:p>
        </p:txBody>
      </p:sp>
      <p:cxnSp>
        <p:nvCxnSpPr>
          <p:cNvPr id="61" name="Connector: Elbow 32"/>
          <p:cNvCxnSpPr/>
          <p:nvPr/>
        </p:nvCxnSpPr>
        <p:spPr>
          <a:xfrm rot="5400000">
            <a:off x="7998690" y="4660606"/>
            <a:ext cx="363274" cy="1"/>
          </a:xfrm>
          <a:prstGeom prst="bentConnector3">
            <a:avLst>
              <a:gd name="adj1" fmla="val 50000"/>
            </a:avLst>
          </a:prstGeom>
          <a:ln w="38100">
            <a:solidFill>
              <a:srgbClr val="002449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37"/>
          <p:cNvCxnSpPr/>
          <p:nvPr/>
        </p:nvCxnSpPr>
        <p:spPr>
          <a:xfrm rot="5400000">
            <a:off x="8987527" y="4655023"/>
            <a:ext cx="363274" cy="1"/>
          </a:xfrm>
          <a:prstGeom prst="bentConnector3">
            <a:avLst>
              <a:gd name="adj1" fmla="val 50000"/>
            </a:avLst>
          </a:prstGeom>
          <a:ln w="38100">
            <a:solidFill>
              <a:srgbClr val="002449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: Elbow 38"/>
          <p:cNvCxnSpPr/>
          <p:nvPr/>
        </p:nvCxnSpPr>
        <p:spPr>
          <a:xfrm rot="5400000">
            <a:off x="9888990" y="4676345"/>
            <a:ext cx="363274" cy="1"/>
          </a:xfrm>
          <a:prstGeom prst="bentConnector3">
            <a:avLst>
              <a:gd name="adj1" fmla="val 50000"/>
            </a:avLst>
          </a:prstGeom>
          <a:ln w="38100">
            <a:solidFill>
              <a:srgbClr val="002449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Elbow 39"/>
          <p:cNvCxnSpPr/>
          <p:nvPr/>
        </p:nvCxnSpPr>
        <p:spPr>
          <a:xfrm rot="5400000">
            <a:off x="10812787" y="4655023"/>
            <a:ext cx="363274" cy="1"/>
          </a:xfrm>
          <a:prstGeom prst="bentConnector3">
            <a:avLst>
              <a:gd name="adj1" fmla="val 50000"/>
            </a:avLst>
          </a:prstGeom>
          <a:ln w="38100">
            <a:solidFill>
              <a:srgbClr val="002449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A2A3DD51-A86E-424E-B159-295A149162EB}"/>
              </a:ext>
            </a:extLst>
          </p:cNvPr>
          <p:cNvSpPr>
            <a:spLocks noGrp="1"/>
          </p:cNvSpPr>
          <p:nvPr/>
        </p:nvSpPr>
        <p:spPr>
          <a:xfrm>
            <a:off x="6639118" y="4371984"/>
            <a:ext cx="810662" cy="5076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400">
                <a:solidFill>
                  <a:srgbClr val="002449"/>
                </a:solidFill>
              </a:rPr>
              <a:t>Model updates</a:t>
            </a:r>
          </a:p>
        </p:txBody>
      </p:sp>
      <p:cxnSp>
        <p:nvCxnSpPr>
          <p:cNvPr id="66" name="Straight Connector 42"/>
          <p:cNvCxnSpPr>
            <a:stCxn id="41" idx="3"/>
          </p:cNvCxnSpPr>
          <p:nvPr/>
        </p:nvCxnSpPr>
        <p:spPr>
          <a:xfrm flipV="1">
            <a:off x="7449780" y="4617720"/>
            <a:ext cx="730546" cy="8067"/>
          </a:xfrm>
          <a:prstGeom prst="line">
            <a:avLst/>
          </a:prstGeom>
          <a:ln>
            <a:solidFill>
              <a:srgbClr val="002449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Content Placeholder 2">
            <a:extLst>
              <a:ext uri="{FF2B5EF4-FFF2-40B4-BE49-F238E27FC236}">
                <a16:creationId xmlns:a16="http://schemas.microsoft.com/office/drawing/2014/main" id="{F25ECFC0-8ABC-4DC2-A84B-302F8BC029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1897380"/>
            <a:ext cx="6512476" cy="42287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A distributed machine learning paradigm</a:t>
            </a:r>
          </a:p>
          <a:p>
            <a:endParaRPr sz="2000" dirty="0"/>
          </a:p>
          <a:p>
            <a:r>
              <a:rPr sz="2400" dirty="0"/>
              <a:t>Models are trained </a:t>
            </a:r>
            <a:r>
              <a:rPr sz="2400" b="1" dirty="0">
                <a:solidFill>
                  <a:srgbClr val="C00000"/>
                </a:solidFill>
              </a:rPr>
              <a:t>locally</a:t>
            </a:r>
            <a:r>
              <a:rPr sz="2400" dirty="0"/>
              <a:t> where data reside</a:t>
            </a:r>
            <a:r>
              <a:rPr lang="en-GB" sz="2400" dirty="0"/>
              <a:t>: keeps its individual level data locally</a:t>
            </a:r>
          </a:p>
          <a:p>
            <a:r>
              <a:rPr lang="en-GB" sz="2400" dirty="0"/>
              <a:t>runs an agreed analysis or model locally</a:t>
            </a:r>
            <a:endParaRPr sz="2400" dirty="0"/>
          </a:p>
          <a:p>
            <a:r>
              <a:rPr sz="2400" dirty="0"/>
              <a:t>Only </a:t>
            </a:r>
            <a:r>
              <a:rPr sz="2400" b="1" dirty="0">
                <a:solidFill>
                  <a:srgbClr val="C00000"/>
                </a:solidFill>
              </a:rPr>
              <a:t>model updates </a:t>
            </a:r>
            <a:r>
              <a:rPr sz="2400" dirty="0"/>
              <a:t>are shared</a:t>
            </a:r>
          </a:p>
          <a:p>
            <a:r>
              <a:rPr sz="2400" dirty="0"/>
              <a:t>A global </a:t>
            </a:r>
            <a:r>
              <a:rPr sz="2400" b="1" dirty="0">
                <a:solidFill>
                  <a:srgbClr val="C00000"/>
                </a:solidFill>
              </a:rPr>
              <a:t>model is aggregated </a:t>
            </a:r>
            <a:r>
              <a:rPr sz="2400" dirty="0"/>
              <a:t>from local contributions</a:t>
            </a:r>
            <a:endParaRPr lang="en-GB" sz="2400" dirty="0"/>
          </a:p>
        </p:txBody>
      </p:sp>
      <p:pic>
        <p:nvPicPr>
          <p:cNvPr id="27" name="Graphic 26" descr="Group with solid fill">
            <a:extLst>
              <a:ext uri="{FF2B5EF4-FFF2-40B4-BE49-F238E27FC236}">
                <a16:creationId xmlns:a16="http://schemas.microsoft.com/office/drawing/2014/main" id="{271F54AB-CAB5-4EA5-8234-F2C8C4495E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86631" y="2864598"/>
            <a:ext cx="645634" cy="645634"/>
          </a:xfrm>
          <a:prstGeom prst="rect">
            <a:avLst/>
          </a:prstGeom>
        </p:spPr>
      </p:pic>
      <p:pic>
        <p:nvPicPr>
          <p:cNvPr id="28" name="Graphic 27" descr="Group with solid fill">
            <a:extLst>
              <a:ext uri="{FF2B5EF4-FFF2-40B4-BE49-F238E27FC236}">
                <a16:creationId xmlns:a16="http://schemas.microsoft.com/office/drawing/2014/main" id="{3363BD05-8A1E-4DD3-B397-AA3D8B02A3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59217" y="2874572"/>
            <a:ext cx="645634" cy="645634"/>
          </a:xfrm>
          <a:prstGeom prst="rect">
            <a:avLst/>
          </a:prstGeom>
        </p:spPr>
      </p:pic>
      <p:pic>
        <p:nvPicPr>
          <p:cNvPr id="29" name="Graphic 28" descr="Group with solid fill">
            <a:extLst>
              <a:ext uri="{FF2B5EF4-FFF2-40B4-BE49-F238E27FC236}">
                <a16:creationId xmlns:a16="http://schemas.microsoft.com/office/drawing/2014/main" id="{08456300-2D13-4E81-BF39-73F63D74D0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60452" y="2885739"/>
            <a:ext cx="645634" cy="645634"/>
          </a:xfrm>
          <a:prstGeom prst="rect">
            <a:avLst/>
          </a:prstGeom>
        </p:spPr>
      </p:pic>
      <p:pic>
        <p:nvPicPr>
          <p:cNvPr id="30" name="Graphic 29" descr="Group with solid fill">
            <a:extLst>
              <a:ext uri="{FF2B5EF4-FFF2-40B4-BE49-F238E27FC236}">
                <a16:creationId xmlns:a16="http://schemas.microsoft.com/office/drawing/2014/main" id="{213789F2-4B9E-41EB-BD47-90A1776CC8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71606" y="2885739"/>
            <a:ext cx="645634" cy="64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931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26"/>
          <p:cNvPicPr>
            <a:picLocks noChangeAspect="1"/>
          </p:cNvPicPr>
          <p:nvPr/>
        </p:nvPicPr>
        <p:blipFill rotWithShape="1">
          <a:blip r:embed="rId3"/>
          <a:srcRect l="21353" t="9518" b="8376"/>
          <a:stretch/>
        </p:blipFill>
        <p:spPr>
          <a:xfrm>
            <a:off x="7405719" y="268309"/>
            <a:ext cx="4337546" cy="26472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F6B81C5-86D4-4DF6-92CB-47A38A0F8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5585012" cy="1143000"/>
          </a:xfrm>
        </p:spPr>
        <p:txBody>
          <a:bodyPr>
            <a:normAutofit fontScale="90000"/>
          </a:bodyPr>
          <a:lstStyle/>
          <a:p>
            <a:r>
              <a:t>Key Federated Learning Concepts</a:t>
            </a:r>
          </a:p>
        </p:txBody>
      </p:sp>
      <p:sp>
        <p:nvSpPr>
          <p:cNvPr id="12" name="Cylinder 11">
            <a:extLst>
              <a:ext uri="{FF2B5EF4-FFF2-40B4-BE49-F238E27FC236}">
                <a16:creationId xmlns:a16="http://schemas.microsoft.com/office/drawing/2014/main" id="{A88EBACC-6605-446D-A348-50460815D0B1}"/>
              </a:ext>
            </a:extLst>
          </p:cNvPr>
          <p:cNvSpPr>
            <a:spLocks noGrp="1"/>
          </p:cNvSpPr>
          <p:nvPr/>
        </p:nvSpPr>
        <p:spPr>
          <a:xfrm>
            <a:off x="7908960" y="3366390"/>
            <a:ext cx="600979" cy="349917"/>
          </a:xfrm>
          <a:prstGeom prst="can">
            <a:avLst/>
          </a:prstGeom>
          <a:solidFill>
            <a:srgbClr val="00BEDE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600"/>
              <a:t>DB1</a:t>
            </a:r>
          </a:p>
        </p:txBody>
      </p:sp>
      <p:sp>
        <p:nvSpPr>
          <p:cNvPr id="14" name="Cylinder 13">
            <a:extLst>
              <a:ext uri="{FF2B5EF4-FFF2-40B4-BE49-F238E27FC236}">
                <a16:creationId xmlns:a16="http://schemas.microsoft.com/office/drawing/2014/main" id="{EB7BC1EA-432B-4048-9EE8-CA244EF814FA}"/>
              </a:ext>
            </a:extLst>
          </p:cNvPr>
          <p:cNvSpPr>
            <a:spLocks noGrp="1"/>
          </p:cNvSpPr>
          <p:nvPr/>
        </p:nvSpPr>
        <p:spPr>
          <a:xfrm>
            <a:off x="10670089" y="3366390"/>
            <a:ext cx="600979" cy="349917"/>
          </a:xfrm>
          <a:prstGeom prst="can">
            <a:avLst/>
          </a:prstGeom>
          <a:solidFill>
            <a:srgbClr val="006070"/>
          </a:solidFill>
          <a:ln>
            <a:solidFill>
              <a:srgbClr val="0024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600"/>
              <a:t>DB4</a:t>
            </a:r>
          </a:p>
        </p:txBody>
      </p:sp>
      <p:sp>
        <p:nvSpPr>
          <p:cNvPr id="23" name="Cylinder 22">
            <a:extLst>
              <a:ext uri="{FF2B5EF4-FFF2-40B4-BE49-F238E27FC236}">
                <a16:creationId xmlns:a16="http://schemas.microsoft.com/office/drawing/2014/main" id="{9AB3FD09-F841-4E33-B8F5-4EBBA092A358}"/>
              </a:ext>
            </a:extLst>
          </p:cNvPr>
          <p:cNvSpPr>
            <a:spLocks noGrp="1"/>
          </p:cNvSpPr>
          <p:nvPr/>
        </p:nvSpPr>
        <p:spPr>
          <a:xfrm>
            <a:off x="8868673" y="3384608"/>
            <a:ext cx="600979" cy="349917"/>
          </a:xfrm>
          <a:prstGeom prst="can">
            <a:avLst/>
          </a:prstGeom>
          <a:solidFill>
            <a:srgbClr val="008BA2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600"/>
              <a:t>DB2</a:t>
            </a:r>
          </a:p>
        </p:txBody>
      </p:sp>
      <p:sp>
        <p:nvSpPr>
          <p:cNvPr id="24" name="Cylinder 23">
            <a:extLst>
              <a:ext uri="{FF2B5EF4-FFF2-40B4-BE49-F238E27FC236}">
                <a16:creationId xmlns:a16="http://schemas.microsoft.com/office/drawing/2014/main" id="{3C0E443C-84E5-4632-9619-00C7F31BC4B6}"/>
              </a:ext>
            </a:extLst>
          </p:cNvPr>
          <p:cNvSpPr>
            <a:spLocks noGrp="1"/>
          </p:cNvSpPr>
          <p:nvPr/>
        </p:nvSpPr>
        <p:spPr>
          <a:xfrm>
            <a:off x="9770140" y="3384608"/>
            <a:ext cx="600979" cy="349917"/>
          </a:xfrm>
          <a:prstGeom prst="can">
            <a:avLst/>
          </a:prstGeom>
          <a:solidFill>
            <a:srgbClr val="007D92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600"/>
              <a:t>DB3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577007-BD88-42C4-BD95-D0972E20129F}"/>
              </a:ext>
            </a:extLst>
          </p:cNvPr>
          <p:cNvSpPr>
            <a:spLocks noGrp="1"/>
          </p:cNvSpPr>
          <p:nvPr/>
        </p:nvSpPr>
        <p:spPr>
          <a:xfrm>
            <a:off x="7804118" y="3965782"/>
            <a:ext cx="810661" cy="507605"/>
          </a:xfrm>
          <a:prstGeom prst="rect">
            <a:avLst/>
          </a:prstGeom>
          <a:solidFill>
            <a:srgbClr val="00244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400"/>
              <a:t>Local model 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A378D1-7528-49C7-869A-0E82AA83195D}"/>
              </a:ext>
            </a:extLst>
          </p:cNvPr>
          <p:cNvSpPr>
            <a:spLocks noGrp="1"/>
          </p:cNvSpPr>
          <p:nvPr/>
        </p:nvSpPr>
        <p:spPr>
          <a:xfrm>
            <a:off x="8763831" y="3960199"/>
            <a:ext cx="810661" cy="507605"/>
          </a:xfrm>
          <a:prstGeom prst="rect">
            <a:avLst/>
          </a:prstGeom>
          <a:solidFill>
            <a:srgbClr val="00244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400"/>
              <a:t>Local model 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793493-B61A-4132-9FB3-2984121B1521}"/>
              </a:ext>
            </a:extLst>
          </p:cNvPr>
          <p:cNvSpPr>
            <a:spLocks noGrp="1"/>
          </p:cNvSpPr>
          <p:nvPr/>
        </p:nvSpPr>
        <p:spPr>
          <a:xfrm>
            <a:off x="9665298" y="3978129"/>
            <a:ext cx="810661" cy="507605"/>
          </a:xfrm>
          <a:prstGeom prst="rect">
            <a:avLst/>
          </a:prstGeom>
          <a:solidFill>
            <a:srgbClr val="00244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400"/>
              <a:t>Local model 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60751E-2A9E-4D49-858E-0A63C8F47D63}"/>
              </a:ext>
            </a:extLst>
          </p:cNvPr>
          <p:cNvSpPr>
            <a:spLocks noGrp="1"/>
          </p:cNvSpPr>
          <p:nvPr/>
        </p:nvSpPr>
        <p:spPr>
          <a:xfrm>
            <a:off x="10565247" y="3976687"/>
            <a:ext cx="810661" cy="507605"/>
          </a:xfrm>
          <a:prstGeom prst="rect">
            <a:avLst/>
          </a:prstGeom>
          <a:solidFill>
            <a:srgbClr val="00244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400"/>
              <a:t>Local model 4</a:t>
            </a:r>
          </a:p>
        </p:txBody>
      </p:sp>
      <p:cxnSp>
        <p:nvCxnSpPr>
          <p:cNvPr id="56" name="Connector: Elbow 12"/>
          <p:cNvCxnSpPr>
            <a:stCxn id="12" idx="3"/>
            <a:endCxn id="8" idx="0"/>
          </p:cNvCxnSpPr>
          <p:nvPr/>
        </p:nvCxnSpPr>
        <p:spPr>
          <a:xfrm rot="5400000">
            <a:off x="8084713" y="3841044"/>
            <a:ext cx="249475" cy="1"/>
          </a:xfrm>
          <a:prstGeom prst="bentConnector3">
            <a:avLst>
              <a:gd name="adj1" fmla="val 50000"/>
            </a:avLst>
          </a:prstGeom>
          <a:ln>
            <a:solidFill>
              <a:srgbClr val="00244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: Elbow 14"/>
          <p:cNvCxnSpPr>
            <a:stCxn id="23" idx="3"/>
          </p:cNvCxnSpPr>
          <p:nvPr/>
        </p:nvCxnSpPr>
        <p:spPr>
          <a:xfrm rot="16200000" flipH="1">
            <a:off x="9056325" y="3847362"/>
            <a:ext cx="225676" cy="1"/>
          </a:xfrm>
          <a:prstGeom prst="bentConnector3">
            <a:avLst>
              <a:gd name="adj1" fmla="val 50000"/>
            </a:avLst>
          </a:prstGeom>
          <a:ln>
            <a:solidFill>
              <a:srgbClr val="00244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17"/>
          <p:cNvCxnSpPr>
            <a:stCxn id="24" idx="3"/>
            <a:endCxn id="10" idx="0"/>
          </p:cNvCxnSpPr>
          <p:nvPr/>
        </p:nvCxnSpPr>
        <p:spPr>
          <a:xfrm rot="5400000">
            <a:off x="9948828" y="3856327"/>
            <a:ext cx="243604" cy="1"/>
          </a:xfrm>
          <a:prstGeom prst="bentConnector3">
            <a:avLst>
              <a:gd name="adj1" fmla="val 50000"/>
            </a:avLst>
          </a:prstGeom>
          <a:ln>
            <a:solidFill>
              <a:srgbClr val="00244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20"/>
          <p:cNvCxnSpPr>
            <a:stCxn id="14" idx="3"/>
            <a:endCxn id="11" idx="0"/>
          </p:cNvCxnSpPr>
          <p:nvPr/>
        </p:nvCxnSpPr>
        <p:spPr>
          <a:xfrm rot="5400000">
            <a:off x="10840389" y="3846497"/>
            <a:ext cx="260380" cy="1"/>
          </a:xfrm>
          <a:prstGeom prst="bentConnector3">
            <a:avLst>
              <a:gd name="adj1" fmla="val 50000"/>
            </a:avLst>
          </a:prstGeom>
          <a:ln>
            <a:solidFill>
              <a:srgbClr val="00244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79B4853C-166D-4A99-A56F-6AC89761B1AE}"/>
              </a:ext>
            </a:extLst>
          </p:cNvPr>
          <p:cNvSpPr>
            <a:spLocks noGrp="1"/>
          </p:cNvSpPr>
          <p:nvPr/>
        </p:nvSpPr>
        <p:spPr>
          <a:xfrm>
            <a:off x="7804117" y="4842243"/>
            <a:ext cx="3571791" cy="507605"/>
          </a:xfrm>
          <a:prstGeom prst="rect">
            <a:avLst/>
          </a:prstGeom>
          <a:solidFill>
            <a:srgbClr val="00244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t>Model Aggregation</a:t>
            </a:r>
          </a:p>
        </p:txBody>
      </p:sp>
      <p:cxnSp>
        <p:nvCxnSpPr>
          <p:cNvPr id="61" name="Connector: Elbow 32"/>
          <p:cNvCxnSpPr/>
          <p:nvPr/>
        </p:nvCxnSpPr>
        <p:spPr>
          <a:xfrm rot="5400000">
            <a:off x="7998690" y="4660606"/>
            <a:ext cx="363274" cy="1"/>
          </a:xfrm>
          <a:prstGeom prst="bentConnector3">
            <a:avLst>
              <a:gd name="adj1" fmla="val 50000"/>
            </a:avLst>
          </a:prstGeom>
          <a:ln w="38100">
            <a:solidFill>
              <a:srgbClr val="002449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37"/>
          <p:cNvCxnSpPr/>
          <p:nvPr/>
        </p:nvCxnSpPr>
        <p:spPr>
          <a:xfrm rot="5400000">
            <a:off x="8987527" y="4655023"/>
            <a:ext cx="363274" cy="1"/>
          </a:xfrm>
          <a:prstGeom prst="bentConnector3">
            <a:avLst>
              <a:gd name="adj1" fmla="val 50000"/>
            </a:avLst>
          </a:prstGeom>
          <a:ln w="38100">
            <a:solidFill>
              <a:srgbClr val="002449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: Elbow 38"/>
          <p:cNvCxnSpPr/>
          <p:nvPr/>
        </p:nvCxnSpPr>
        <p:spPr>
          <a:xfrm rot="5400000">
            <a:off x="9888990" y="4676345"/>
            <a:ext cx="363274" cy="1"/>
          </a:xfrm>
          <a:prstGeom prst="bentConnector3">
            <a:avLst>
              <a:gd name="adj1" fmla="val 50000"/>
            </a:avLst>
          </a:prstGeom>
          <a:ln w="38100">
            <a:solidFill>
              <a:srgbClr val="002449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Elbow 39"/>
          <p:cNvCxnSpPr/>
          <p:nvPr/>
        </p:nvCxnSpPr>
        <p:spPr>
          <a:xfrm rot="5400000">
            <a:off x="10812787" y="4655023"/>
            <a:ext cx="363274" cy="1"/>
          </a:xfrm>
          <a:prstGeom prst="bentConnector3">
            <a:avLst>
              <a:gd name="adj1" fmla="val 50000"/>
            </a:avLst>
          </a:prstGeom>
          <a:ln w="38100">
            <a:solidFill>
              <a:srgbClr val="002449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A2A3DD51-A86E-424E-B159-295A149162EB}"/>
              </a:ext>
            </a:extLst>
          </p:cNvPr>
          <p:cNvSpPr>
            <a:spLocks noGrp="1"/>
          </p:cNvSpPr>
          <p:nvPr/>
        </p:nvSpPr>
        <p:spPr>
          <a:xfrm>
            <a:off x="6639118" y="4371984"/>
            <a:ext cx="810662" cy="5076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400">
                <a:solidFill>
                  <a:srgbClr val="002449"/>
                </a:solidFill>
              </a:rPr>
              <a:t>Model updates</a:t>
            </a:r>
          </a:p>
        </p:txBody>
      </p:sp>
      <p:cxnSp>
        <p:nvCxnSpPr>
          <p:cNvPr id="66" name="Straight Connector 42"/>
          <p:cNvCxnSpPr>
            <a:stCxn id="41" idx="3"/>
          </p:cNvCxnSpPr>
          <p:nvPr/>
        </p:nvCxnSpPr>
        <p:spPr>
          <a:xfrm flipV="1">
            <a:off x="7449780" y="4617720"/>
            <a:ext cx="730546" cy="8067"/>
          </a:xfrm>
          <a:prstGeom prst="line">
            <a:avLst/>
          </a:prstGeom>
          <a:ln>
            <a:solidFill>
              <a:srgbClr val="002449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Content Placeholder 2">
            <a:extLst>
              <a:ext uri="{FF2B5EF4-FFF2-40B4-BE49-F238E27FC236}">
                <a16:creationId xmlns:a16="http://schemas.microsoft.com/office/drawing/2014/main" id="{F25ECFC0-8ABC-4DC2-A84B-302F8BC029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1897380"/>
            <a:ext cx="6021787" cy="422878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sz="2800" b="1"/>
              <a:t>Horizontal Federated Learning</a:t>
            </a:r>
          </a:p>
          <a:p>
            <a:pPr marL="0" indent="0" algn="just">
              <a:buNone/>
            </a:pPr>
            <a:r>
              <a:rPr sz="2400"/>
              <a:t>Same variables, different patients.</a:t>
            </a:r>
          </a:p>
          <a:p>
            <a:pPr marL="0" indent="0" algn="just">
              <a:buNone/>
            </a:pPr>
            <a:r>
              <a:rPr sz="2400"/>
              <a:t>Sites train locally on aligned datasets and share model updates to build a stronger global model, without </a:t>
            </a:r>
            <a:r>
              <a:rPr sz="2400" b="1">
                <a:solidFill>
                  <a:srgbClr val="C00000"/>
                </a:solidFill>
              </a:rPr>
              <a:t>moving patient-level data</a:t>
            </a:r>
            <a:r>
              <a:rPr sz="2400"/>
              <a:t>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FB41580-49C5-46CC-A135-ED88C34B6B6F}"/>
              </a:ext>
            </a:extLst>
          </p:cNvPr>
          <p:cNvSpPr>
            <a:spLocks noGrp="1"/>
          </p:cNvSpPr>
          <p:nvPr/>
        </p:nvSpPr>
        <p:spPr>
          <a:xfrm>
            <a:off x="7804118" y="2433024"/>
            <a:ext cx="3571790" cy="507605"/>
          </a:xfrm>
          <a:prstGeom prst="rect">
            <a:avLst/>
          </a:prstGeom>
          <a:solidFill>
            <a:srgbClr val="00244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t>Similar set of variables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0133BD7-6640-4CC9-8BA5-821D7B42260C}"/>
              </a:ext>
            </a:extLst>
          </p:cNvPr>
          <p:cNvSpPr>
            <a:spLocks noGrp="1"/>
          </p:cNvSpPr>
          <p:nvPr/>
        </p:nvSpPr>
        <p:spPr>
          <a:xfrm>
            <a:off x="7804120" y="3023330"/>
            <a:ext cx="810661" cy="262904"/>
          </a:xfrm>
          <a:prstGeom prst="rect">
            <a:avLst/>
          </a:prstGeom>
          <a:solidFill>
            <a:srgbClr val="00244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100"/>
              <a:t>Population1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EE7D76E-E9E9-4F8A-83FF-2BEB6FF9615E}"/>
              </a:ext>
            </a:extLst>
          </p:cNvPr>
          <p:cNvSpPr>
            <a:spLocks noGrp="1"/>
          </p:cNvSpPr>
          <p:nvPr/>
        </p:nvSpPr>
        <p:spPr>
          <a:xfrm>
            <a:off x="8763833" y="3017747"/>
            <a:ext cx="810661" cy="262904"/>
          </a:xfrm>
          <a:prstGeom prst="rect">
            <a:avLst/>
          </a:prstGeom>
          <a:solidFill>
            <a:srgbClr val="00244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100"/>
              <a:t>Population2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17B67A0-0B53-4AFF-88BA-0B5D87A00C62}"/>
              </a:ext>
            </a:extLst>
          </p:cNvPr>
          <p:cNvSpPr>
            <a:spLocks noGrp="1"/>
          </p:cNvSpPr>
          <p:nvPr/>
        </p:nvSpPr>
        <p:spPr>
          <a:xfrm>
            <a:off x="9665300" y="3035677"/>
            <a:ext cx="810661" cy="262904"/>
          </a:xfrm>
          <a:prstGeom prst="rect">
            <a:avLst/>
          </a:prstGeom>
          <a:solidFill>
            <a:srgbClr val="00244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100"/>
              <a:t>Population3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BE36EC5-31A1-433F-A0A1-5E5200ADE853}"/>
              </a:ext>
            </a:extLst>
          </p:cNvPr>
          <p:cNvSpPr>
            <a:spLocks noGrp="1"/>
          </p:cNvSpPr>
          <p:nvPr/>
        </p:nvSpPr>
        <p:spPr>
          <a:xfrm>
            <a:off x="10565249" y="3034235"/>
            <a:ext cx="810661" cy="262904"/>
          </a:xfrm>
          <a:prstGeom prst="rect">
            <a:avLst/>
          </a:prstGeom>
          <a:solidFill>
            <a:srgbClr val="00244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100"/>
              <a:t>Population4</a:t>
            </a:r>
          </a:p>
        </p:txBody>
      </p:sp>
    </p:spTree>
    <p:extLst>
      <p:ext uri="{BB962C8B-B14F-4D97-AF65-F5344CB8AC3E}">
        <p14:creationId xmlns:p14="http://schemas.microsoft.com/office/powerpoint/2010/main" val="3012377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5492" y="352455"/>
            <a:ext cx="4338000" cy="23297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7BE532E-04F6-4621-A3B9-8D1648EFE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5585012" cy="1143000"/>
          </a:xfrm>
        </p:spPr>
        <p:txBody>
          <a:bodyPr>
            <a:normAutofit fontScale="90000"/>
          </a:bodyPr>
          <a:lstStyle/>
          <a:p>
            <a:r>
              <a:t>Key Federated Learning Concepts</a:t>
            </a:r>
          </a:p>
        </p:txBody>
      </p:sp>
      <p:sp>
        <p:nvSpPr>
          <p:cNvPr id="12" name="Cylinder 11">
            <a:extLst>
              <a:ext uri="{FF2B5EF4-FFF2-40B4-BE49-F238E27FC236}">
                <a16:creationId xmlns:a16="http://schemas.microsoft.com/office/drawing/2014/main" id="{A88EBACC-6605-446D-A348-50460815D0B1}"/>
              </a:ext>
            </a:extLst>
          </p:cNvPr>
          <p:cNvSpPr>
            <a:spLocks noGrp="1"/>
          </p:cNvSpPr>
          <p:nvPr/>
        </p:nvSpPr>
        <p:spPr>
          <a:xfrm>
            <a:off x="7908960" y="3366390"/>
            <a:ext cx="600979" cy="349917"/>
          </a:xfrm>
          <a:prstGeom prst="can">
            <a:avLst/>
          </a:prstGeom>
          <a:solidFill>
            <a:srgbClr val="00BEDE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600"/>
              <a:t>DB1</a:t>
            </a:r>
          </a:p>
        </p:txBody>
      </p:sp>
      <p:sp>
        <p:nvSpPr>
          <p:cNvPr id="23" name="Cylinder 22">
            <a:extLst>
              <a:ext uri="{FF2B5EF4-FFF2-40B4-BE49-F238E27FC236}">
                <a16:creationId xmlns:a16="http://schemas.microsoft.com/office/drawing/2014/main" id="{9AB3FD09-F841-4E33-B8F5-4EBBA092A358}"/>
              </a:ext>
            </a:extLst>
          </p:cNvPr>
          <p:cNvSpPr>
            <a:spLocks noGrp="1"/>
          </p:cNvSpPr>
          <p:nvPr/>
        </p:nvSpPr>
        <p:spPr>
          <a:xfrm>
            <a:off x="8868673" y="3384608"/>
            <a:ext cx="600979" cy="349917"/>
          </a:xfrm>
          <a:prstGeom prst="can">
            <a:avLst/>
          </a:prstGeom>
          <a:solidFill>
            <a:srgbClr val="008BA2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600"/>
              <a:t>DB2</a:t>
            </a:r>
          </a:p>
        </p:txBody>
      </p:sp>
      <p:sp>
        <p:nvSpPr>
          <p:cNvPr id="24" name="Cylinder 23">
            <a:extLst>
              <a:ext uri="{FF2B5EF4-FFF2-40B4-BE49-F238E27FC236}">
                <a16:creationId xmlns:a16="http://schemas.microsoft.com/office/drawing/2014/main" id="{3C0E443C-84E5-4632-9619-00C7F31BC4B6}"/>
              </a:ext>
            </a:extLst>
          </p:cNvPr>
          <p:cNvSpPr>
            <a:spLocks noGrp="1"/>
          </p:cNvSpPr>
          <p:nvPr/>
        </p:nvSpPr>
        <p:spPr>
          <a:xfrm>
            <a:off x="9770140" y="3384608"/>
            <a:ext cx="600979" cy="349917"/>
          </a:xfrm>
          <a:prstGeom prst="can">
            <a:avLst/>
          </a:prstGeom>
          <a:solidFill>
            <a:srgbClr val="007D92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600"/>
              <a:t>DB3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577007-BD88-42C4-BD95-D0972E20129F}"/>
              </a:ext>
            </a:extLst>
          </p:cNvPr>
          <p:cNvSpPr>
            <a:spLocks noGrp="1"/>
          </p:cNvSpPr>
          <p:nvPr/>
        </p:nvSpPr>
        <p:spPr>
          <a:xfrm>
            <a:off x="7804118" y="3965782"/>
            <a:ext cx="810661" cy="507605"/>
          </a:xfrm>
          <a:prstGeom prst="rect">
            <a:avLst/>
          </a:prstGeom>
          <a:solidFill>
            <a:srgbClr val="00244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400"/>
              <a:t>Local model 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A378D1-7528-49C7-869A-0E82AA83195D}"/>
              </a:ext>
            </a:extLst>
          </p:cNvPr>
          <p:cNvSpPr>
            <a:spLocks noGrp="1"/>
          </p:cNvSpPr>
          <p:nvPr/>
        </p:nvSpPr>
        <p:spPr>
          <a:xfrm>
            <a:off x="8763831" y="3960199"/>
            <a:ext cx="810661" cy="507605"/>
          </a:xfrm>
          <a:prstGeom prst="rect">
            <a:avLst/>
          </a:prstGeom>
          <a:solidFill>
            <a:srgbClr val="00244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400"/>
              <a:t>Local model 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793493-B61A-4132-9FB3-2984121B1521}"/>
              </a:ext>
            </a:extLst>
          </p:cNvPr>
          <p:cNvSpPr>
            <a:spLocks noGrp="1"/>
          </p:cNvSpPr>
          <p:nvPr/>
        </p:nvSpPr>
        <p:spPr>
          <a:xfrm>
            <a:off x="9665298" y="3978129"/>
            <a:ext cx="810661" cy="507605"/>
          </a:xfrm>
          <a:prstGeom prst="rect">
            <a:avLst/>
          </a:prstGeom>
          <a:solidFill>
            <a:srgbClr val="00244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400"/>
              <a:t>Local model 3</a:t>
            </a:r>
          </a:p>
        </p:txBody>
      </p:sp>
      <p:cxnSp>
        <p:nvCxnSpPr>
          <p:cNvPr id="54" name="Connector: Elbow 12"/>
          <p:cNvCxnSpPr>
            <a:stCxn id="12" idx="3"/>
            <a:endCxn id="8" idx="0"/>
          </p:cNvCxnSpPr>
          <p:nvPr/>
        </p:nvCxnSpPr>
        <p:spPr>
          <a:xfrm rot="5400000">
            <a:off x="8084713" y="3841044"/>
            <a:ext cx="249475" cy="1"/>
          </a:xfrm>
          <a:prstGeom prst="bentConnector3">
            <a:avLst>
              <a:gd name="adj1" fmla="val 50000"/>
            </a:avLst>
          </a:prstGeom>
          <a:ln>
            <a:solidFill>
              <a:srgbClr val="00244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: Elbow 14"/>
          <p:cNvCxnSpPr>
            <a:stCxn id="23" idx="3"/>
          </p:cNvCxnSpPr>
          <p:nvPr/>
        </p:nvCxnSpPr>
        <p:spPr>
          <a:xfrm rot="16200000" flipH="1">
            <a:off x="9056325" y="3847362"/>
            <a:ext cx="225676" cy="1"/>
          </a:xfrm>
          <a:prstGeom prst="bentConnector3">
            <a:avLst>
              <a:gd name="adj1" fmla="val 50000"/>
            </a:avLst>
          </a:prstGeom>
          <a:ln>
            <a:solidFill>
              <a:srgbClr val="00244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Elbow 17"/>
          <p:cNvCxnSpPr>
            <a:stCxn id="24" idx="3"/>
            <a:endCxn id="10" idx="0"/>
          </p:cNvCxnSpPr>
          <p:nvPr/>
        </p:nvCxnSpPr>
        <p:spPr>
          <a:xfrm rot="5400000">
            <a:off x="9948828" y="3856327"/>
            <a:ext cx="243604" cy="1"/>
          </a:xfrm>
          <a:prstGeom prst="bentConnector3">
            <a:avLst>
              <a:gd name="adj1" fmla="val 50000"/>
            </a:avLst>
          </a:prstGeom>
          <a:ln>
            <a:solidFill>
              <a:srgbClr val="00244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79B4853C-166D-4A99-A56F-6AC89761B1AE}"/>
              </a:ext>
            </a:extLst>
          </p:cNvPr>
          <p:cNvSpPr>
            <a:spLocks noGrp="1"/>
          </p:cNvSpPr>
          <p:nvPr/>
        </p:nvSpPr>
        <p:spPr>
          <a:xfrm>
            <a:off x="7804117" y="4842243"/>
            <a:ext cx="2671839" cy="507605"/>
          </a:xfrm>
          <a:prstGeom prst="rect">
            <a:avLst/>
          </a:prstGeom>
          <a:solidFill>
            <a:srgbClr val="00244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t>Model Aggregation</a:t>
            </a:r>
          </a:p>
        </p:txBody>
      </p:sp>
      <p:cxnSp>
        <p:nvCxnSpPr>
          <p:cNvPr id="58" name="Connector: Elbow 32"/>
          <p:cNvCxnSpPr/>
          <p:nvPr/>
        </p:nvCxnSpPr>
        <p:spPr>
          <a:xfrm rot="5400000">
            <a:off x="7998690" y="4660606"/>
            <a:ext cx="363274" cy="1"/>
          </a:xfrm>
          <a:prstGeom prst="bentConnector3">
            <a:avLst>
              <a:gd name="adj1" fmla="val 50000"/>
            </a:avLst>
          </a:prstGeom>
          <a:ln w="38100">
            <a:solidFill>
              <a:srgbClr val="002449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37"/>
          <p:cNvCxnSpPr/>
          <p:nvPr/>
        </p:nvCxnSpPr>
        <p:spPr>
          <a:xfrm rot="5400000">
            <a:off x="8987527" y="4655023"/>
            <a:ext cx="363274" cy="1"/>
          </a:xfrm>
          <a:prstGeom prst="bentConnector3">
            <a:avLst>
              <a:gd name="adj1" fmla="val 50000"/>
            </a:avLst>
          </a:prstGeom>
          <a:ln w="38100">
            <a:solidFill>
              <a:srgbClr val="002449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: Elbow 38"/>
          <p:cNvCxnSpPr/>
          <p:nvPr/>
        </p:nvCxnSpPr>
        <p:spPr>
          <a:xfrm rot="5400000">
            <a:off x="9888990" y="4676345"/>
            <a:ext cx="363274" cy="1"/>
          </a:xfrm>
          <a:prstGeom prst="bentConnector3">
            <a:avLst>
              <a:gd name="adj1" fmla="val 50000"/>
            </a:avLst>
          </a:prstGeom>
          <a:ln w="38100">
            <a:solidFill>
              <a:srgbClr val="002449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A2A3DD51-A86E-424E-B159-295A149162EB}"/>
              </a:ext>
            </a:extLst>
          </p:cNvPr>
          <p:cNvSpPr>
            <a:spLocks noGrp="1"/>
          </p:cNvSpPr>
          <p:nvPr/>
        </p:nvSpPr>
        <p:spPr>
          <a:xfrm>
            <a:off x="6639118" y="4371984"/>
            <a:ext cx="810662" cy="5076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400">
                <a:solidFill>
                  <a:srgbClr val="002449"/>
                </a:solidFill>
              </a:rPr>
              <a:t>Model updates</a:t>
            </a:r>
          </a:p>
        </p:txBody>
      </p:sp>
      <p:cxnSp>
        <p:nvCxnSpPr>
          <p:cNvPr id="62" name="Straight Connector 42"/>
          <p:cNvCxnSpPr>
            <a:stCxn id="41" idx="3"/>
          </p:cNvCxnSpPr>
          <p:nvPr/>
        </p:nvCxnSpPr>
        <p:spPr>
          <a:xfrm flipV="1">
            <a:off x="7449780" y="4617720"/>
            <a:ext cx="730546" cy="8067"/>
          </a:xfrm>
          <a:prstGeom prst="line">
            <a:avLst/>
          </a:prstGeom>
          <a:ln>
            <a:solidFill>
              <a:srgbClr val="002449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Content Placeholder 2">
            <a:extLst>
              <a:ext uri="{FF2B5EF4-FFF2-40B4-BE49-F238E27FC236}">
                <a16:creationId xmlns:a16="http://schemas.microsoft.com/office/drawing/2014/main" id="{F25ECFC0-8ABC-4DC2-A84B-302F8BC029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1897380"/>
            <a:ext cx="6021787" cy="422878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sz="2800" b="1"/>
              <a:t>Vertical federated learning </a:t>
            </a:r>
          </a:p>
          <a:p>
            <a:pPr marL="0" indent="0" algn="just">
              <a:buNone/>
            </a:pPr>
            <a:r>
              <a:rPr sz="2400"/>
              <a:t>Combines </a:t>
            </a:r>
            <a:r>
              <a:rPr sz="2400" b="1">
                <a:solidFill>
                  <a:srgbClr val="C00000"/>
                </a:solidFill>
              </a:rPr>
              <a:t>complementary data </a:t>
            </a:r>
            <a:r>
              <a:rPr sz="2400"/>
              <a:t>from different sources (e.g. imaging, labs, EHR) for the </a:t>
            </a:r>
            <a:r>
              <a:rPr sz="2400" b="1">
                <a:solidFill>
                  <a:srgbClr val="C00000"/>
                </a:solidFill>
              </a:rPr>
              <a:t>same patients.</a:t>
            </a:r>
            <a:r>
              <a:rPr sz="2400"/>
              <a:t> By learning across distinct feature spaces, it enables richer, more holistic models without centralising data.</a:t>
            </a:r>
            <a:endParaRPr sz="200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9938952-AB0E-4FFD-A869-E5BF7773424F}"/>
              </a:ext>
            </a:extLst>
          </p:cNvPr>
          <p:cNvSpPr>
            <a:spLocks noGrp="1"/>
          </p:cNvSpPr>
          <p:nvPr/>
        </p:nvSpPr>
        <p:spPr>
          <a:xfrm>
            <a:off x="7429939" y="2439043"/>
            <a:ext cx="1080000" cy="753025"/>
          </a:xfrm>
          <a:prstGeom prst="rect">
            <a:avLst/>
          </a:prstGeom>
          <a:solidFill>
            <a:srgbClr val="00244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600"/>
              <a:t>EHR / CRF </a:t>
            </a:r>
            <a:r>
              <a:rPr sz="1200"/>
              <a:t>(care delivery)</a:t>
            </a:r>
            <a:endParaRPr sz="140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1FB3645-19B6-4E5D-BF42-0165D5B7D792}"/>
              </a:ext>
            </a:extLst>
          </p:cNvPr>
          <p:cNvSpPr>
            <a:spLocks noGrp="1"/>
          </p:cNvSpPr>
          <p:nvPr/>
        </p:nvSpPr>
        <p:spPr>
          <a:xfrm>
            <a:off x="8600039" y="2437928"/>
            <a:ext cx="1080000" cy="747442"/>
          </a:xfrm>
          <a:prstGeom prst="rect">
            <a:avLst/>
          </a:prstGeom>
          <a:solidFill>
            <a:srgbClr val="00244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400"/>
              <a:t>Laboratory Info System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290E48C-0293-4B8F-B028-8A73DF4EDC05}"/>
              </a:ext>
            </a:extLst>
          </p:cNvPr>
          <p:cNvSpPr>
            <a:spLocks noGrp="1"/>
          </p:cNvSpPr>
          <p:nvPr/>
        </p:nvSpPr>
        <p:spPr>
          <a:xfrm>
            <a:off x="9770140" y="2432347"/>
            <a:ext cx="1080000" cy="753024"/>
          </a:xfrm>
          <a:prstGeom prst="rect">
            <a:avLst/>
          </a:prstGeom>
          <a:solidFill>
            <a:srgbClr val="00244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200"/>
              <a:t>Environment/ Contextual Exposures</a:t>
            </a:r>
          </a:p>
        </p:txBody>
      </p:sp>
      <p:cxnSp>
        <p:nvCxnSpPr>
          <p:cNvPr id="67" name="Connector: Elbow 30"/>
          <p:cNvCxnSpPr/>
          <p:nvPr/>
        </p:nvCxnSpPr>
        <p:spPr>
          <a:xfrm rot="5400000">
            <a:off x="8075442" y="3299518"/>
            <a:ext cx="249475" cy="1"/>
          </a:xfrm>
          <a:prstGeom prst="bentConnector3">
            <a:avLst>
              <a:gd name="adj1" fmla="val 50000"/>
            </a:avLst>
          </a:prstGeom>
          <a:ln>
            <a:solidFill>
              <a:srgbClr val="00244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: Elbow 31"/>
          <p:cNvCxnSpPr/>
          <p:nvPr/>
        </p:nvCxnSpPr>
        <p:spPr>
          <a:xfrm rot="16200000" flipH="1">
            <a:off x="9047054" y="3305836"/>
            <a:ext cx="225676" cy="1"/>
          </a:xfrm>
          <a:prstGeom prst="bentConnector3">
            <a:avLst>
              <a:gd name="adj1" fmla="val 50000"/>
            </a:avLst>
          </a:prstGeom>
          <a:ln>
            <a:solidFill>
              <a:srgbClr val="00244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: Elbow 33"/>
          <p:cNvCxnSpPr/>
          <p:nvPr/>
        </p:nvCxnSpPr>
        <p:spPr>
          <a:xfrm rot="5400000">
            <a:off x="9939557" y="3314801"/>
            <a:ext cx="243604" cy="1"/>
          </a:xfrm>
          <a:prstGeom prst="bentConnector3">
            <a:avLst>
              <a:gd name="adj1" fmla="val 50000"/>
            </a:avLst>
          </a:prstGeom>
          <a:ln>
            <a:solidFill>
              <a:srgbClr val="00244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2676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26"/>
          <p:cNvPicPr>
            <a:picLocks noChangeAspect="1"/>
          </p:cNvPicPr>
          <p:nvPr/>
        </p:nvPicPr>
        <p:blipFill rotWithShape="1">
          <a:blip r:embed="rId3"/>
          <a:srcRect l="21353" t="9518" b="8376"/>
          <a:stretch/>
        </p:blipFill>
        <p:spPr>
          <a:xfrm>
            <a:off x="7405719" y="268309"/>
            <a:ext cx="4337546" cy="26472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3341F84-6C07-434F-B397-FF279C4F7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5585012" cy="1143000"/>
          </a:xfrm>
        </p:spPr>
        <p:txBody>
          <a:bodyPr>
            <a:normAutofit fontScale="90000"/>
          </a:bodyPr>
          <a:lstStyle/>
          <a:p>
            <a:r>
              <a:t>Key Federated Learning Concepts</a:t>
            </a:r>
          </a:p>
        </p:txBody>
      </p:sp>
      <p:sp>
        <p:nvSpPr>
          <p:cNvPr id="12" name="Cylinder 11">
            <a:extLst>
              <a:ext uri="{FF2B5EF4-FFF2-40B4-BE49-F238E27FC236}">
                <a16:creationId xmlns:a16="http://schemas.microsoft.com/office/drawing/2014/main" id="{A88EBACC-6605-446D-A348-50460815D0B1}"/>
              </a:ext>
            </a:extLst>
          </p:cNvPr>
          <p:cNvSpPr>
            <a:spLocks noGrp="1"/>
          </p:cNvSpPr>
          <p:nvPr/>
        </p:nvSpPr>
        <p:spPr>
          <a:xfrm>
            <a:off x="7585314" y="2969492"/>
            <a:ext cx="1253528" cy="742488"/>
          </a:xfrm>
          <a:prstGeom prst="can">
            <a:avLst/>
          </a:prstGeom>
          <a:solidFill>
            <a:srgbClr val="00BEDE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600"/>
              <a:t>DB1</a:t>
            </a:r>
          </a:p>
        </p:txBody>
      </p:sp>
      <p:sp>
        <p:nvSpPr>
          <p:cNvPr id="14" name="Cylinder 13">
            <a:extLst>
              <a:ext uri="{FF2B5EF4-FFF2-40B4-BE49-F238E27FC236}">
                <a16:creationId xmlns:a16="http://schemas.microsoft.com/office/drawing/2014/main" id="{EB7BC1EA-432B-4048-9EE8-CA244EF814FA}"/>
              </a:ext>
            </a:extLst>
          </p:cNvPr>
          <p:cNvSpPr>
            <a:spLocks noGrp="1"/>
          </p:cNvSpPr>
          <p:nvPr/>
        </p:nvSpPr>
        <p:spPr>
          <a:xfrm>
            <a:off x="10670089" y="3366390"/>
            <a:ext cx="600979" cy="349917"/>
          </a:xfrm>
          <a:prstGeom prst="can">
            <a:avLst/>
          </a:prstGeom>
          <a:solidFill>
            <a:srgbClr val="006070"/>
          </a:solidFill>
          <a:ln>
            <a:solidFill>
              <a:srgbClr val="0024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600"/>
              <a:t>DB4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577007-BD88-42C4-BD95-D0972E20129F}"/>
              </a:ext>
            </a:extLst>
          </p:cNvPr>
          <p:cNvSpPr>
            <a:spLocks noGrp="1"/>
          </p:cNvSpPr>
          <p:nvPr/>
        </p:nvSpPr>
        <p:spPr>
          <a:xfrm>
            <a:off x="7804119" y="3965782"/>
            <a:ext cx="810658" cy="507605"/>
          </a:xfrm>
          <a:prstGeom prst="rect">
            <a:avLst/>
          </a:prstGeom>
          <a:solidFill>
            <a:srgbClr val="00244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400"/>
              <a:t>Local model 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60751E-2A9E-4D49-858E-0A63C8F47D63}"/>
              </a:ext>
            </a:extLst>
          </p:cNvPr>
          <p:cNvSpPr>
            <a:spLocks noGrp="1"/>
          </p:cNvSpPr>
          <p:nvPr/>
        </p:nvSpPr>
        <p:spPr>
          <a:xfrm>
            <a:off x="10565247" y="3976687"/>
            <a:ext cx="810661" cy="507605"/>
          </a:xfrm>
          <a:prstGeom prst="rect">
            <a:avLst/>
          </a:prstGeom>
          <a:solidFill>
            <a:srgbClr val="00244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400"/>
              <a:t>Local model 4</a:t>
            </a:r>
          </a:p>
        </p:txBody>
      </p:sp>
      <p:cxnSp>
        <p:nvCxnSpPr>
          <p:cNvPr id="52" name="Connector: Elbow 12"/>
          <p:cNvCxnSpPr>
            <a:stCxn id="12" idx="3"/>
            <a:endCxn id="8" idx="0"/>
          </p:cNvCxnSpPr>
          <p:nvPr/>
        </p:nvCxnSpPr>
        <p:spPr>
          <a:xfrm rot="5400000">
            <a:off x="8083862" y="3837566"/>
            <a:ext cx="253802" cy="2630"/>
          </a:xfrm>
          <a:prstGeom prst="bentConnector3">
            <a:avLst>
              <a:gd name="adj1" fmla="val 50000"/>
            </a:avLst>
          </a:prstGeom>
          <a:ln>
            <a:solidFill>
              <a:srgbClr val="00244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Elbow 20"/>
          <p:cNvCxnSpPr>
            <a:stCxn id="14" idx="3"/>
            <a:endCxn id="11" idx="0"/>
          </p:cNvCxnSpPr>
          <p:nvPr/>
        </p:nvCxnSpPr>
        <p:spPr>
          <a:xfrm rot="5400000">
            <a:off x="10840389" y="3846497"/>
            <a:ext cx="260380" cy="1"/>
          </a:xfrm>
          <a:prstGeom prst="bentConnector3">
            <a:avLst>
              <a:gd name="adj1" fmla="val 50000"/>
            </a:avLst>
          </a:prstGeom>
          <a:ln>
            <a:solidFill>
              <a:srgbClr val="00244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79B4853C-166D-4A99-A56F-6AC89761B1AE}"/>
              </a:ext>
            </a:extLst>
          </p:cNvPr>
          <p:cNvSpPr>
            <a:spLocks noGrp="1"/>
          </p:cNvSpPr>
          <p:nvPr/>
        </p:nvSpPr>
        <p:spPr>
          <a:xfrm>
            <a:off x="7804117" y="4842243"/>
            <a:ext cx="3571791" cy="507605"/>
          </a:xfrm>
          <a:prstGeom prst="rect">
            <a:avLst/>
          </a:prstGeom>
          <a:solidFill>
            <a:srgbClr val="00244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t>Model Aggregation</a:t>
            </a:r>
          </a:p>
        </p:txBody>
      </p:sp>
      <p:cxnSp>
        <p:nvCxnSpPr>
          <p:cNvPr id="55" name="Connector: Elbow 32"/>
          <p:cNvCxnSpPr/>
          <p:nvPr/>
        </p:nvCxnSpPr>
        <p:spPr>
          <a:xfrm rot="5400000">
            <a:off x="7998690" y="4660606"/>
            <a:ext cx="363274" cy="1"/>
          </a:xfrm>
          <a:prstGeom prst="bentConnector3">
            <a:avLst>
              <a:gd name="adj1" fmla="val 50000"/>
            </a:avLst>
          </a:prstGeom>
          <a:ln w="38100">
            <a:solidFill>
              <a:srgbClr val="002449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Elbow 39"/>
          <p:cNvCxnSpPr/>
          <p:nvPr/>
        </p:nvCxnSpPr>
        <p:spPr>
          <a:xfrm rot="5400000">
            <a:off x="10812787" y="4655023"/>
            <a:ext cx="363274" cy="1"/>
          </a:xfrm>
          <a:prstGeom prst="bentConnector3">
            <a:avLst>
              <a:gd name="adj1" fmla="val 50000"/>
            </a:avLst>
          </a:prstGeom>
          <a:ln w="38100">
            <a:solidFill>
              <a:srgbClr val="002449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A2A3DD51-A86E-424E-B159-295A149162EB}"/>
              </a:ext>
            </a:extLst>
          </p:cNvPr>
          <p:cNvSpPr>
            <a:spLocks noGrp="1"/>
          </p:cNvSpPr>
          <p:nvPr/>
        </p:nvSpPr>
        <p:spPr>
          <a:xfrm>
            <a:off x="6639118" y="4371984"/>
            <a:ext cx="810662" cy="5076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400">
                <a:solidFill>
                  <a:srgbClr val="002449"/>
                </a:solidFill>
              </a:rPr>
              <a:t>Model updates</a:t>
            </a:r>
          </a:p>
        </p:txBody>
      </p:sp>
      <p:cxnSp>
        <p:nvCxnSpPr>
          <p:cNvPr id="58" name="Straight Connector 42"/>
          <p:cNvCxnSpPr>
            <a:stCxn id="41" idx="3"/>
          </p:cNvCxnSpPr>
          <p:nvPr/>
        </p:nvCxnSpPr>
        <p:spPr>
          <a:xfrm flipV="1">
            <a:off x="7449780" y="4617720"/>
            <a:ext cx="730546" cy="8067"/>
          </a:xfrm>
          <a:prstGeom prst="line">
            <a:avLst/>
          </a:prstGeom>
          <a:ln>
            <a:solidFill>
              <a:srgbClr val="002449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Content Placeholder 2">
            <a:extLst>
              <a:ext uri="{FF2B5EF4-FFF2-40B4-BE49-F238E27FC236}">
                <a16:creationId xmlns:a16="http://schemas.microsoft.com/office/drawing/2014/main" id="{F25ECFC0-8ABC-4DC2-A84B-302F8BC029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1897380"/>
            <a:ext cx="6021787" cy="422878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sz="2800" b="1"/>
              <a:t>Federated transfer learning </a:t>
            </a:r>
          </a:p>
          <a:p>
            <a:pPr marL="0" indent="0" algn="just">
              <a:buNone/>
            </a:pPr>
            <a:r>
              <a:rPr sz="2400"/>
              <a:t>Allows </a:t>
            </a:r>
            <a:r>
              <a:rPr sz="2400" b="1">
                <a:solidFill>
                  <a:srgbClr val="C00000"/>
                </a:solidFill>
              </a:rPr>
              <a:t>knowledge</a:t>
            </a:r>
            <a:r>
              <a:rPr sz="2400"/>
              <a:t> learned in one setting (e.g. a </a:t>
            </a:r>
            <a:r>
              <a:rPr sz="2400" b="1">
                <a:solidFill>
                  <a:srgbClr val="00BEDE"/>
                </a:solidFill>
              </a:rPr>
              <a:t>large hospital</a:t>
            </a:r>
            <a:r>
              <a:rPr sz="2400"/>
              <a:t>) to be </a:t>
            </a:r>
            <a:r>
              <a:rPr sz="2400" b="1">
                <a:solidFill>
                  <a:srgbClr val="C00000"/>
                </a:solidFill>
              </a:rPr>
              <a:t>transferred</a:t>
            </a:r>
            <a:r>
              <a:rPr sz="2400"/>
              <a:t> and adapted to another (e.g. a </a:t>
            </a:r>
            <a:r>
              <a:rPr sz="2400" b="1">
                <a:solidFill>
                  <a:srgbClr val="006070"/>
                </a:solidFill>
              </a:rPr>
              <a:t>smaller clinic</a:t>
            </a:r>
            <a:r>
              <a:rPr sz="2400"/>
              <a:t>), enabling learning even when data availability or quality differs across sites.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FB41580-49C5-46CC-A135-ED88C34B6B6F}"/>
              </a:ext>
            </a:extLst>
          </p:cNvPr>
          <p:cNvSpPr>
            <a:spLocks noGrp="1"/>
          </p:cNvSpPr>
          <p:nvPr/>
        </p:nvSpPr>
        <p:spPr>
          <a:xfrm>
            <a:off x="7788597" y="2327463"/>
            <a:ext cx="3571790" cy="507605"/>
          </a:xfrm>
          <a:prstGeom prst="rect">
            <a:avLst/>
          </a:prstGeom>
          <a:solidFill>
            <a:srgbClr val="00244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t>Similar set of variables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81B77FEF-F4ED-4CB7-AFAB-3ACF76D7F7F7}"/>
              </a:ext>
            </a:extLst>
          </p:cNvPr>
          <p:cNvSpPr>
            <a:spLocks noGrp="1"/>
          </p:cNvSpPr>
          <p:nvPr/>
        </p:nvSpPr>
        <p:spPr>
          <a:xfrm>
            <a:off x="9127072" y="3203924"/>
            <a:ext cx="1137687" cy="1119901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t>Source model</a:t>
            </a:r>
          </a:p>
        </p:txBody>
      </p:sp>
    </p:spTree>
    <p:extLst>
      <p:ext uri="{BB962C8B-B14F-4D97-AF65-F5344CB8AC3E}">
        <p14:creationId xmlns:p14="http://schemas.microsoft.com/office/powerpoint/2010/main" val="30228555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380</Words>
  <Application>Microsoft Office PowerPoint</Application>
  <DocSecurity>0</DocSecurity>
  <PresentationFormat>Widescreen</PresentationFormat>
  <Paragraphs>73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Principles and Common Language of Federated Analysis</vt:lpstr>
      <vt:lpstr>The problem</vt:lpstr>
      <vt:lpstr>Federated Learning</vt:lpstr>
      <vt:lpstr>Key Federated Learning Concepts</vt:lpstr>
      <vt:lpstr>Key Federated Learning Concepts</vt:lpstr>
      <vt:lpstr>Key Federated Learning Concepts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Esteban Garcia</cp:lastModifiedBy>
  <cp:revision>3</cp:revision>
  <dcterms:created xsi:type="dcterms:W3CDTF">2026-09-24T09:17:34Z</dcterms:created>
  <dcterms:modified xsi:type="dcterms:W3CDTF">2026-09-24T11:00:14Z</dcterms:modified>
</cp:coreProperties>
</file>