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</p:sldMasterIdLst>
  <p:notesMasterIdLst>
    <p:notesMasterId r:id="rId22"/>
  </p:notesMasterIdLst>
  <p:sldIdLst>
    <p:sldId id="261" r:id="rId3"/>
    <p:sldId id="262" r:id="rId4"/>
    <p:sldId id="263" r:id="rId5"/>
    <p:sldId id="264" r:id="rId6"/>
    <p:sldId id="265" r:id="rId7"/>
    <p:sldId id="268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6" r:id="rId17"/>
    <p:sldId id="275" r:id="rId18"/>
    <p:sldId id="277" r:id="rId19"/>
    <p:sldId id="278" r:id="rId20"/>
    <p:sldId id="279" r:id="rId21"/>
  </p:sldIdLst>
  <p:sldSz cx="12192000" cy="6858000"/>
  <p:notesSz cx="6858000" cy="9144000"/>
  <p:embeddedFontLst>
    <p:embeddedFont>
      <p:font typeface="Noto Sans" panose="020B0502040504020204" pitchFamily="34" charset="0"/>
      <p:regular r:id="rId23"/>
      <p:bold r:id="rId24"/>
      <p:italic r:id="rId25"/>
    </p:embeddedFont>
    <p:embeddedFont>
      <p:font typeface="Noto Sans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9BBDD-0D2F-4512-BD4F-111AB59D770F}" v="3" dt="2026-10-01T03:15:27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7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Main Title Slide" userDrawn="1">
  <p:cSld name="4_Main 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612C50-4774-4A19-A815-E180A9158F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ist acknowledgement">
  <p:cSld name="Four column list acknowledgem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" descr="A map of the world&#10;&#10;Description automatically generated"/>
          <p:cNvPicPr preferRelativeResize="0"/>
          <p:nvPr/>
        </p:nvPicPr>
        <p:blipFill rotWithShape="1">
          <a:blip r:embed="rId2">
            <a:alphaModFix amt="10000"/>
          </a:blip>
          <a:srcRect t="14912" r="21635" b="31073"/>
          <a:stretch/>
        </p:blipFill>
        <p:spPr>
          <a:xfrm>
            <a:off x="1980961" y="0"/>
            <a:ext cx="10220871" cy="6356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27000" y="365125"/>
            <a:ext cx="119379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127000" y="1885443"/>
            <a:ext cx="11937999" cy="405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67;p7">
            <a:extLst>
              <a:ext uri="{FF2B5EF4-FFF2-40B4-BE49-F238E27FC236}">
                <a16:creationId xmlns:a16="http://schemas.microsoft.com/office/drawing/2014/main" id="{F2B4C948-78BC-4F0D-9168-205BAF42234D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831850" y="2466753"/>
            <a:ext cx="10515600" cy="209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emi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67;p7">
            <a:extLst>
              <a:ext uri="{FF2B5EF4-FFF2-40B4-BE49-F238E27FC236}">
                <a16:creationId xmlns:a16="http://schemas.microsoft.com/office/drawing/2014/main" id="{8FD4A93B-5CA7-44EB-A22C-8F378AB9894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our column list acknowledgement">
  <p:cSld name="1_Four column list acknowledgeme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 descr="A map of the world&#10;&#10;Description automatically generated"/>
          <p:cNvPicPr preferRelativeResize="0"/>
          <p:nvPr/>
        </p:nvPicPr>
        <p:blipFill rotWithShape="1">
          <a:blip r:embed="rId2">
            <a:alphaModFix amt="10000"/>
          </a:blip>
          <a:srcRect t="14912" r="21635" b="31073"/>
          <a:stretch/>
        </p:blipFill>
        <p:spPr>
          <a:xfrm>
            <a:off x="1980961" y="0"/>
            <a:ext cx="10220871" cy="635635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599" y="6393638"/>
            <a:ext cx="3375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3" name="Google Shape;93;p11"/>
          <p:cNvSpPr txBox="1"/>
          <p:nvPr/>
        </p:nvSpPr>
        <p:spPr>
          <a:xfrm>
            <a:off x="206188" y="6389431"/>
            <a:ext cx="52504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www.theglobalhealthnetwork.org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206188" y="365125"/>
            <a:ext cx="1177962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206188" y="1885443"/>
            <a:ext cx="11779623" cy="405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1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67;p7">
            <a:extLst>
              <a:ext uri="{FF2B5EF4-FFF2-40B4-BE49-F238E27FC236}">
                <a16:creationId xmlns:a16="http://schemas.microsoft.com/office/drawing/2014/main" id="{83ADB874-9257-4D82-B5CE-3EBB98FD61DE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Title Slide">
  <p:cSld name="Main Title Slid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9832" y="1884834"/>
            <a:ext cx="12192000" cy="4973166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2">
            <a:alphaModFix amt="10000"/>
          </a:blip>
          <a:srcRect t="10864" r="4297" b="45730"/>
          <a:stretch/>
        </p:blipFill>
        <p:spPr>
          <a:xfrm>
            <a:off x="-9832" y="1876813"/>
            <a:ext cx="12192000" cy="4989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>
            <a:spLocks noGrp="1"/>
          </p:cNvSpPr>
          <p:nvPr>
            <p:ph type="ctrTitle"/>
          </p:nvPr>
        </p:nvSpPr>
        <p:spPr>
          <a:xfrm>
            <a:off x="206188" y="2494210"/>
            <a:ext cx="9429425" cy="194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Noto Sans SemiBold"/>
              <a:buNone/>
              <a:defRPr sz="6000" b="1" i="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1"/>
          </p:nvPr>
        </p:nvSpPr>
        <p:spPr>
          <a:xfrm>
            <a:off x="206188" y="4676105"/>
            <a:ext cx="9429425" cy="145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" name="Google Shape;67;p7">
            <a:extLst>
              <a:ext uri="{FF2B5EF4-FFF2-40B4-BE49-F238E27FC236}">
                <a16:creationId xmlns:a16="http://schemas.microsoft.com/office/drawing/2014/main" id="{B6A81CA7-6D40-45C6-9227-7616A9409CA8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27000" y="365125"/>
            <a:ext cx="119379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>
            <a:spLocks noGrp="1"/>
          </p:cNvSpPr>
          <p:nvPr>
            <p:ph type="title"/>
          </p:nvPr>
        </p:nvSpPr>
        <p:spPr>
          <a:xfrm>
            <a:off x="127000" y="457200"/>
            <a:ext cx="46450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259304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749508" y="2057400"/>
            <a:ext cx="402251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226800" cy="138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 rot="5400000">
            <a:off x="4698805" y="-1189232"/>
            <a:ext cx="4691063" cy="1004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 rot="5400000">
            <a:off x="7489031" y="1600994"/>
            <a:ext cx="5811838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xfrm rot="5400000">
            <a:off x="1443831" y="-951706"/>
            <a:ext cx="5811838" cy="8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8816787" y="4382770"/>
            <a:ext cx="3375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4F96F-8F72-42AA-A830-A0E380924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FC1A8F-408C-49E7-BC11-8DB03E679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15ABDB-8A25-4CE5-8FA4-A83E75AC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D3370-BAA1-422C-8F8B-AD255E54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4B5AF-298D-4A41-9C43-8A942868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979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EDC9D-05C8-43F2-BFF8-2B3D6C31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45C3B5-F63E-4B19-ACC5-CEF14D079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9140F-A1C7-4CDC-B9EB-1E88AB99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41BAD-AE44-4F3A-A469-633D090C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C69355-8B2D-4D94-8A7C-BB960A00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9610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0A942-2659-469A-96B1-B1682C1A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6D8770-FC43-4E13-BB6E-56F4293D4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BDF625-DEA1-4CD4-99D6-09126F49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18CB36-A5BE-4360-8438-EE069D24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10941-6122-4A96-B0B9-837401AC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3607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DA1D2-61E3-4076-A24A-57C8C8FF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C5A68-CCB3-4B07-B11D-2F9063C8B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F30839-7E32-4EF4-98F5-B8CFDE514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8BC141-8D36-4B86-8A3E-3B8EED34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B82771-11DA-4C33-8E36-A3D010AA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0E41EA-7EEC-4B11-911C-5B52655F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08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88004-2276-4511-ADB3-AF8DC141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D45D54-F2D6-4C67-A262-C8E71DF98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F44F1B-F6B9-486C-A32E-B9E1AD228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0B35D0-AC0D-4F38-8BA6-F142A129A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E2750E-4A92-48D5-A3D7-F789EDBC9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EF02BB-19B7-4E3C-B37F-38F64378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04AECE-A522-4AD6-A703-EDA07245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67E73B-7679-4D78-A03D-10B39C6C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3979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BACF1-2609-431A-AAAF-4C02EE37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2BE7A7-3C3C-4AD5-A98D-B6C877A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BBE023-F0F6-42B0-9D47-ADF36C3B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705CE0-A244-487D-9341-93CAF3AE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4470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62BE20-FB31-4FDF-BD72-6C0D2C14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76A5CB-3CC0-47BD-9541-6DC8D57C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81B8F2-74E0-473D-BC37-B0BA5EDF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0853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AA823-B37A-410C-A618-7D624CC8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13B61-8112-4EA1-96D8-AC4BB05B3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965709-2EF8-44C4-B192-B013E112C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5D09C0-BFD1-4178-B973-34B5BCE0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A6232D-2C65-4DDF-809D-E82D0A0D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A3A7C5-3E94-4218-89DA-37895AB9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2051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A8FA8-412B-42AB-A7F6-5F7A1015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145078-AAE2-4ECB-AA08-5AABE51D3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67B250-0BE0-4D45-82D1-2A0DBBEAA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E8E942-A1E0-4016-95C8-9B9BF89A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955E18-5513-4AE6-B234-4D7C68EF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1378B4-1B1F-4C5F-8872-C41FF358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453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E4E18-2990-483E-88E0-43DF74DA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D4B2C7-D083-46AA-8E5A-D003959E8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C4379-68F4-457A-BA8D-C77E63F5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ED189-6619-461C-A861-98582B50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ACA52-8342-415B-9FF6-9420BAE4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2020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C05042-F31B-46E1-89C3-EB12F1454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D980B7-5C1A-42C0-B044-528FDD08A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63FF1-7E5D-4612-B288-E5EB4E4C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5C76A6-39D9-4184-87DD-073172AF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04071-4B44-4CBB-82A1-C0A60DBD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21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127000" y="1485900"/>
            <a:ext cx="11226800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7000" y="217365"/>
            <a:ext cx="11226800" cy="112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 sz="4000" b="1" i="0" u="none" strike="noStrike" cap="none">
                <a:solidFill>
                  <a:schemeClr val="dk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7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2EB26D-21A2-43A1-93C1-372F295E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FED00D-CAD3-42C6-B212-6DAE6F6D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C1317E-59CB-4E30-B479-59C77FF64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9D6B8-5579-43BB-B455-9065CD0ADFC9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3BE975-65F2-47B6-A241-AD12E1E41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2F7CAF-34CC-47FA-9F49-B78FC094B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464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ISARICResearch/Dissemination/blob/main/workshops/federated%20analytics/FederatedAnalysis_Project/notebooks/01_eda.ipynb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2104" y="2103120"/>
            <a:ext cx="10515600" cy="2011680"/>
          </a:xfrm>
        </p:spPr>
        <p:txBody>
          <a:bodyPr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 b="0" dirty="0">
                <a:solidFill>
                  <a:srgbClr val="0673BA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Análisis exploratorio de datos</a:t>
            </a:r>
            <a:endParaRPr lang="es-CO" sz="6000" dirty="0"/>
          </a:p>
        </p:txBody>
      </p:sp>
      <p:sp>
        <p:nvSpPr>
          <p:cNvPr id="3" name="Subtitle 3"/>
          <p:cNvSpPr>
            <a:spLocks noGrp="1"/>
          </p:cNvSpPr>
          <p:nvPr>
            <p:ph type="body" idx="1"/>
          </p:nvPr>
        </p:nvSpPr>
        <p:spPr>
          <a:xfrm>
            <a:off x="832104" y="4297680"/>
            <a:ext cx="10515600" cy="1097280"/>
          </a:xfrm>
        </p:spPr>
        <p:txBody>
          <a:bodyPr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0" dirty="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Análisis federado para la investigación en salud en Colombia</a:t>
            </a:r>
            <a:endParaRPr lang="es-CO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Introducción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3891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análisis exploratorio de datos (EDA, por sus siglas en inglés) es el primer paso de cualquier análisis de datos porque permite conocer los datos antes de sacar conclusiones.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Combina tablas resumen y gráficas para revisar la estructura de los datos, el significado y la calidad de cada variable, y cómo se distribuyen sus valores.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Ayuda a detectar a tiempo problemas como valores faltantes o inconsistentes, y orienta las decisiones de los análisis posteriores.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Objetivo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3891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Conocer la base de datos de prueba antes de los análisis de los siguientes notebooks: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structura y variables.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Valores faltantes.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Distribución de variables clínicas clave, tanto en total como en cada una de las 5 instituciones de salud.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Nota: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Revisar cada institución por separado muestra cómo difieren sus datos, algo importante para el enfoque federado que se usa en el resto de los notebooks.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Acceso al notebook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notebook de este taller se puede abrir directamente en Google Colab desde el siguiente enlace:</a:t>
            </a:r>
          </a:p>
        </p:txBody>
      </p:sp>
      <p:graphicFrame>
        <p:nvGraphicFramePr>
          <p:cNvPr id="4" name="Notebook link"/>
          <p:cNvGraphicFramePr>
            <a:graphicFrameLocks noGrp="1"/>
          </p:cNvGraphicFramePr>
          <p:nvPr/>
        </p:nvGraphicFramePr>
        <p:xfrm>
          <a:off x="548640" y="2743200"/>
          <a:ext cx="11091672" cy="877824"/>
        </p:xfrm>
        <a:graphic>
          <a:graphicData uri="http://schemas.openxmlformats.org/drawingml/2006/table">
            <a:tbl>
              <a:tblPr firstRow="1" bandRow="1"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Notebook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Análisis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Enlace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01_eda.ipynb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Análisis exploratorio de datos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2"/>
                        </a:rPr>
                        <a:t>Abrir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Contenido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3891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Configuración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2.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Vista general de los datos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3.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Distribuciones clave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1C81-A333-E47F-5E9B-617DA57C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33B1FF7-CF17-D861-B0C9-0F9E57A5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1. Configuración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A1E77FF-3F37-61D5-DFBC-030CDF8AEC9E}"/>
              </a:ext>
            </a:extLst>
          </p:cNvPr>
          <p:cNvSpPr txBox="1"/>
          <p:nvPr/>
        </p:nvSpPr>
        <p:spPr>
          <a:xfrm>
            <a:off x="548640" y="1737360"/>
            <a:ext cx="11091672" cy="292673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objetivo de esta sección es preparar todo lo necesario para ejecutar el notebook.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 hace parte del análisis como tal, por lo que no se revisará en detalle.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Está compuesta por: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1.1. Detección del entorno: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Identifica si el notebook se está ejecutando en Google </a:t>
            </a:r>
            <a:r>
              <a:rPr lang="es-CO" sz="220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Colab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 o en un computador local. De esto dependen la instalación de paquetes (1.2) y la forma de obtener los archivos del proyecto (1.3).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965721-40C0-F455-AFA1-2CCAC46E0D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334"/>
          <a:stretch>
            <a:fillRect/>
          </a:stretch>
        </p:blipFill>
        <p:spPr>
          <a:xfrm>
            <a:off x="548640" y="4848952"/>
            <a:ext cx="4961570" cy="102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8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1. Configuración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34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1.2. Instalación de paquetes: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Instala paquetes adicionales, pero solo en </a:t>
            </a:r>
            <a:r>
              <a:rPr lang="es-CO" sz="220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Colab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Normalmente no es necesario, porque Colab ya trae instalados los paquetes más usados.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Es útil cuando se requiere una versión específica de un paquete, para que el código funcione igual que con la versión con la que se desarrolló.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1.3. Obtención de los archivos del proyecto: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En </a:t>
            </a:r>
            <a:r>
              <a:rPr lang="es-CO" sz="220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Colab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 descarga desde GitHub la carpeta del proyecto (datos y código). Si se está ejecutando en un computador local los archivos necesarios ya están disponibles.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Finalmente, define las rutas de los archivos de datos.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1. Configuración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34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1.4. Importaciones: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Carga los paquetes que usa el notebook, ya sea las que vienen con Python, las desarrolladas por terceros o las desarrolladas específicamente para este proyecto. 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También configura las tablas para que muestren completo el texto de cada celda.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6EBB88-CC68-DEE3-01A0-7170C749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" y="3592938"/>
            <a:ext cx="6072767" cy="20798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F158-D3AA-1538-5253-0B2F2DAAF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942B02-5A62-D85E-6F07-7E6D68AE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1. Configuración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D7E6508-654D-E4D6-0FF5-8551B7411C91}"/>
              </a:ext>
            </a:extLst>
          </p:cNvPr>
          <p:cNvSpPr txBox="1"/>
          <p:nvPr/>
        </p:nvSpPr>
        <p:spPr>
          <a:xfrm>
            <a:off x="548640" y="1737360"/>
            <a:ext cx="11091672" cy="2423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SzPct val="100000"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1.5. Carga de datos: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Lee los dos archivos usados en todos los talleres</a:t>
            </a:r>
          </a:p>
          <a:p>
            <a:pPr marL="342900" indent="-342900" algn="just">
              <a:lnSpc>
                <a:spcPct val="90000"/>
              </a:lnSpc>
              <a:spcAft>
                <a:spcPts val="100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 base de datos, en la variable </a:t>
            </a:r>
            <a:r>
              <a:rPr lang="es-CO" sz="2200" b="1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df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 (abreviatura de </a:t>
            </a:r>
            <a:r>
              <a:rPr lang="es-CO" sz="220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DataFrame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, nombre que recibe una tabla de datos cuando se usa el paquete pandas).</a:t>
            </a:r>
          </a:p>
          <a:p>
            <a:pPr marL="342900" indent="-342900" algn="just">
              <a:lnSpc>
                <a:spcPct val="90000"/>
              </a:lnSpc>
              <a:spcAft>
                <a:spcPts val="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diccionario de datos, en la variable </a:t>
            </a:r>
            <a:r>
              <a:rPr lang="es-CO" sz="2200" b="1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data_dictionary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, que indica cómo interpretar cada columna mediante su descripción, sus valores posibles, su tipo de dato y su categoría.</a:t>
            </a:r>
          </a:p>
        </p:txBody>
      </p:sp>
      <p:graphicFrame>
        <p:nvGraphicFramePr>
          <p:cNvPr id="4" name="Data dictionary ex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144922"/>
              </p:ext>
            </p:extLst>
          </p:nvPr>
        </p:nvGraphicFramePr>
        <p:xfrm>
          <a:off x="548640" y="4179602"/>
          <a:ext cx="11091672" cy="1234440"/>
        </p:xfrm>
        <a:graphic>
          <a:graphicData uri="http://schemas.openxmlformats.org/drawingml/2006/table">
            <a:tbl>
              <a:tblPr firstRow="1" bandRow="1"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1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5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Columna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description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possible_values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data_type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category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age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Age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null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int64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Demographic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 err="1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outcome</a:t>
                      </a:r>
                      <a:endParaRPr lang="es-CO" sz="2000" b="0" dirty="0">
                        <a:solidFill>
                          <a:schemeClr val="tx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Final </a:t>
                      </a:r>
                      <a:r>
                        <a:rPr lang="es-CO" sz="2000" b="0" dirty="0" err="1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condition</a:t>
                      </a:r>
                      <a:endParaRPr lang="es-CO" sz="2000" b="0" dirty="0">
                        <a:solidFill>
                          <a:schemeClr val="tx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["</a:t>
                      </a:r>
                      <a:r>
                        <a:rPr lang="es-CO" sz="2000" b="0" dirty="0" err="1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Alive</a:t>
                      </a: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", "</a:t>
                      </a:r>
                      <a:r>
                        <a:rPr lang="es-CO" sz="2000" b="0" dirty="0" err="1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Dead</a:t>
                      </a: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"]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string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Medical Care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Nota: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null indica que la columna no tiene una lista de valores posibles, como ocurre con las variables numéricas.</a:t>
            </a:r>
          </a:p>
        </p:txBody>
      </p:sp>
    </p:spTree>
    <p:extLst>
      <p:ext uri="{BB962C8B-B14F-4D97-AF65-F5344CB8AC3E}">
        <p14:creationId xmlns:p14="http://schemas.microsoft.com/office/powerpoint/2010/main" val="290547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34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objetivo de esta sección es dar un primer vistazo a la base de datos antes de iniciar el análisis detallado.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2.1. Acerca de la base de datos: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Es una base de datos de prueba de pacientes con dengue atendidos en 5 instituciones de salud diferentes.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Sus 41 columnas se agrupan en 7 categorías, que se describen en la siguiente tabla.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383090"/>
              </p:ext>
            </p:extLst>
          </p:nvPr>
        </p:nvGraphicFramePr>
        <p:xfrm>
          <a:off x="548640" y="1737360"/>
          <a:ext cx="11091672" cy="4114800"/>
        </p:xfrm>
        <a:graphic>
          <a:graphicData uri="http://schemas.openxmlformats.org/drawingml/2006/table">
            <a:tbl>
              <a:tblPr firstRow="1" band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Categoría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Variables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Descripción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Identificación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Identificador único de cada registro.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Fechas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Consulta, inicio de síntomas, hospitalización y muerte.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Demográficos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Edad y sexo.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Exámenes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8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Si se tomó muestra de tejido y de qué órgano (hígado, bazo, pulmón, cerebro, miocardio, médula ósea y riñón).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Institución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Institución de salud que atendió al paciente (H1 a H5).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Atención médica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Clasificación final (dengue sin signos de alarma, con signos de alarma o grave), hospitalización y desenlace (vivo o muerto).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Síntomas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22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00" b="0" dirty="0">
                          <a:solidFill>
                            <a:schemeClr val="tx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Síntomas y signos clínicos, por ejemplo fiebre, dolor de cabeza, vómito, sangrado de mucosas o choque.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34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2.2. Estructura: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En este punto presentamos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 forma general de la base de datos mediante la cantidad de registros, la cantidad de columnas y el tipo de dato de cada una.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Para cada columna se muestra también la cantidad de valores no nulos (</a:t>
            </a: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Non-Null Count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), que se puede comparar con el total de registros para identificar valores faltantes.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67C4CFF-5923-1D06-3999-3E813205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568" y="3806747"/>
            <a:ext cx="4980864" cy="23654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0332062" cy="4434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Resumen de la salida</a:t>
            </a:r>
          </a:p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10,284 registros.</a:t>
            </a:r>
          </a:p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41 columnas: 36 de texto (</a:t>
            </a:r>
            <a:r>
              <a:rPr lang="es-CO" sz="2200" b="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str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s-CO" sz="2200" b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string),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4 de fecha y 1 numérica entera (edad).</a:t>
            </a:r>
          </a:p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73BA"/>
              </a:buClr>
              <a:buSzPct val="100000"/>
              <a:buFont typeface="Arial"/>
              <a:buChar char="•"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4.2 MB en memoria.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37D24C-8F17-AEBB-4BAB-F0DBF517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988" y="3655113"/>
            <a:ext cx="4608975" cy="23837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3977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2.3. Resumen de variables: 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Con el fin de evaluar mejor la base de datos, presentamos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 información de cada columna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 de manera más detallada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mediante una función desarrollada para este proyecto.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es-CO" sz="2200" b="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es-CO" sz="2200" b="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resultado combina la información del diccionario de datos (descripción y tipo de dato) con cálculos sobre el DataFrame, como la cantidad y el porcentaje de valores faltantes y los valores únicos.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B00712-51D1-26BD-573D-0C11D5977B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668" b="89794"/>
          <a:stretch>
            <a:fillRect/>
          </a:stretch>
        </p:blipFill>
        <p:spPr>
          <a:xfrm>
            <a:off x="605742" y="3091888"/>
            <a:ext cx="5814605" cy="585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8C6D-432E-7EA5-9CEC-746C05EE7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AC64D42-05E5-1AFE-FA9E-8BA7C64A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E6543DC-8058-3AFD-1D03-E196E83EECDB}"/>
              </a:ext>
            </a:extLst>
          </p:cNvPr>
          <p:cNvSpPr txBox="1"/>
          <p:nvPr/>
        </p:nvSpPr>
        <p:spPr>
          <a:xfrm>
            <a:off x="548640" y="1737360"/>
            <a:ext cx="11091672" cy="3017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Las variables categóricas muestran la cantidad y el porcentaje de cada valor, y la edad incluye su media y rango intercuartílico.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1826FED-08BB-D5A0-1959-4DB73A35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24" y="2444331"/>
            <a:ext cx="10882303" cy="37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0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Vista general de los datos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57134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2.4. Vista previa de los datos: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Una vez conocidos los nombres, categorías y demás detalles de las variables, se muestran los datos tal como están en el DataFrame, usando solo los primeros 5 registros.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total de las columnas no cabe en el ancho de la pantalla, por lo que es necesario desplazarse horizontalmente para verlas todas.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200" b="1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Nota: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NaT y &lt;NA&gt; indican valores faltantes en fechas y en texto, respectivamente.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B30796-66BC-FCC9-32FE-5A82B66A3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98" r="10876"/>
          <a:stretch>
            <a:fillRect/>
          </a:stretch>
        </p:blipFill>
        <p:spPr>
          <a:xfrm>
            <a:off x="1689049" y="3848900"/>
            <a:ext cx="8971479" cy="19476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3. Distribuciones clave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34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objetivo de esta sección es observar cómo se distribuyen algunas variables clínicamente relevantes, en total y en cada una de las 5 instituciones.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Para cada variable, una función del proyecto genera un gráfico con la distribución total en la parte superior y la de cada institución en la parte inferior.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A continuación se presentan algunas de las variables clave.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3. Distribuciones clave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0720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Edad</a:t>
            </a:r>
            <a:endParaRPr lang="es-CO" sz="2200" b="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E9A8D3-6431-D395-9A73-FDFA838D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56" y="2144564"/>
            <a:ext cx="10472840" cy="41680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3. Distribuciones clave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1"/>
            <a:ext cx="11091672" cy="4165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Desenlace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7E1DFEF-2736-BD3C-4291-8301767037B1}"/>
              </a:ext>
            </a:extLst>
          </p:cNvPr>
          <p:cNvSpPr txBox="1"/>
          <p:nvPr/>
        </p:nvSpPr>
        <p:spPr>
          <a:xfrm>
            <a:off x="549740" y="562629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Nota: 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Las clases están muy desbalanceadas, ya que de los 10,284 pacientes solo 98 fallecieron (cerca del 1%).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5D6F025-8ED5-1912-AC77-3A4606599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99" y="2134195"/>
            <a:ext cx="8711754" cy="34671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GHN Regional Programme">
  <a:themeElements>
    <a:clrScheme name="TGHN Them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71BC"/>
      </a:accent1>
      <a:accent2>
        <a:srgbClr val="771213"/>
      </a:accent2>
      <a:accent3>
        <a:srgbClr val="80AF40"/>
      </a:accent3>
      <a:accent4>
        <a:srgbClr val="79CBC6"/>
      </a:accent4>
      <a:accent5>
        <a:srgbClr val="F06EA9"/>
      </a:accent5>
      <a:accent6>
        <a:srgbClr val="CBDFF3"/>
      </a:accent6>
      <a:hlink>
        <a:srgbClr val="E97132"/>
      </a:hlink>
      <a:folHlink>
        <a:srgbClr val="E9713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1204</Words>
  <Application>Microsoft Office PowerPoint</Application>
  <PresentationFormat>Panorámica</PresentationFormat>
  <Paragraphs>122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Noto Sans SemiBold</vt:lpstr>
      <vt:lpstr>Noto Sans</vt:lpstr>
      <vt:lpstr>Calibri</vt:lpstr>
      <vt:lpstr>Arial</vt:lpstr>
      <vt:lpstr>Calibri Light</vt:lpstr>
      <vt:lpstr>TGHN Regional Programme</vt:lpstr>
      <vt:lpstr>Diseño personalizado</vt:lpstr>
      <vt:lpstr>Análisis exploratorio de datos</vt:lpstr>
      <vt:lpstr>Introducción</vt:lpstr>
      <vt:lpstr>Objetivo</vt:lpstr>
      <vt:lpstr>Acceso al notebook</vt:lpstr>
      <vt:lpstr>Contenido</vt:lpstr>
      <vt:lpstr>1. Configuración</vt:lpstr>
      <vt:lpstr>1. Configuración</vt:lpstr>
      <vt:lpstr>1. Configuración</vt:lpstr>
      <vt:lpstr>1. Configuración</vt:lpstr>
      <vt:lpstr>2. Vista general de los datos</vt:lpstr>
      <vt:lpstr>2. Vista general de los datos</vt:lpstr>
      <vt:lpstr>2. Vista general de los datos</vt:lpstr>
      <vt:lpstr>2. Vista general de los datos</vt:lpstr>
      <vt:lpstr>2. Vista general de los datos</vt:lpstr>
      <vt:lpstr>2. Vista general de los datos</vt:lpstr>
      <vt:lpstr>2. Vista general de los datos</vt:lpstr>
      <vt:lpstr>3. Distribuciones clave</vt:lpstr>
      <vt:lpstr>3. Distribuciones clave</vt:lpstr>
      <vt:lpstr>3. Distribuciones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carlos sarmiento</cp:lastModifiedBy>
  <cp:revision>28</cp:revision>
  <dcterms:modified xsi:type="dcterms:W3CDTF">2026-10-02T14:31:49Z</dcterms:modified>
</cp:coreProperties>
</file>