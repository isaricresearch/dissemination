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7" r:id="rId1"/>
    <p:sldMasterId id="2147483668" r:id="rId2"/>
  </p:sldMasterIdLst>
  <p:notesMasterIdLst>
    <p:notesMasterId r:id="rId32"/>
  </p:notesMasterIdLst>
  <p:sldIdLst>
    <p:sldId id="261" r:id="rId3"/>
    <p:sldId id="262" r:id="rId4"/>
    <p:sldId id="263" r:id="rId5"/>
    <p:sldId id="265" r:id="rId6"/>
    <p:sldId id="269" r:id="rId7"/>
    <p:sldId id="270" r:id="rId8"/>
    <p:sldId id="271" r:id="rId9"/>
    <p:sldId id="267" r:id="rId10"/>
    <p:sldId id="268" r:id="rId11"/>
    <p:sldId id="272" r:id="rId12"/>
    <p:sldId id="273" r:id="rId13"/>
    <p:sldId id="275" r:id="rId14"/>
    <p:sldId id="276" r:id="rId15"/>
    <p:sldId id="277" r:id="rId16"/>
    <p:sldId id="278" r:id="rId17"/>
    <p:sldId id="279" r:id="rId18"/>
    <p:sldId id="280" r:id="rId19"/>
    <p:sldId id="281" r:id="rId20"/>
    <p:sldId id="282" r:id="rId21"/>
    <p:sldId id="285" r:id="rId22"/>
    <p:sldId id="286" r:id="rId23"/>
    <p:sldId id="283" r:id="rId24"/>
    <p:sldId id="284" r:id="rId25"/>
    <p:sldId id="287" r:id="rId26"/>
    <p:sldId id="289" r:id="rId27"/>
    <p:sldId id="290" r:id="rId28"/>
    <p:sldId id="291" r:id="rId29"/>
    <p:sldId id="292" r:id="rId30"/>
    <p:sldId id="266" r:id="rId31"/>
  </p:sldIdLst>
  <p:sldSz cx="12192000" cy="6858000"/>
  <p:notesSz cx="6858000" cy="9144000"/>
  <p:embeddedFontLst>
    <p:embeddedFont>
      <p:font typeface="Cambria Math" panose="02040503050406030204" pitchFamily="18" charset="0"/>
      <p:regular r:id="rId33"/>
    </p:embeddedFont>
    <p:embeddedFont>
      <p:font typeface="Noto Sans" panose="020B0502040504020204" pitchFamily="34" charset="0"/>
      <p:regular r:id="rId34"/>
      <p:bold r:id="rId35"/>
      <p:italic r:id="rId36"/>
    </p:embeddedFont>
    <p:embeddedFont>
      <p:font typeface="Noto Sans SemiBold" panose="020B0604020202020204"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09BBDD-0D2F-4512-BD4F-111AB59D770F}" v="3" dt="2026-10-01T03:15:27.5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1" d="100"/>
          <a:sy n="121" d="100"/>
        </p:scale>
        <p:origin x="706" y="8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7.fntdata"/><Relationship Id="rId21" Type="http://schemas.openxmlformats.org/officeDocument/2006/relationships/slide" Target="slides/slide19.xml"/><Relationship Id="rId34" Type="http://schemas.openxmlformats.org/officeDocument/2006/relationships/font" Target="fonts/font2.fntdata"/><Relationship Id="rId42"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4.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font" Target="fonts/font3.fntdata"/><Relationship Id="rId43"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1.fntdata"/><Relationship Id="rId38" Type="http://schemas.openxmlformats.org/officeDocument/2006/relationships/font" Target="fonts/font6.fntdata"/><Relationship Id="rId20" Type="http://schemas.openxmlformats.org/officeDocument/2006/relationships/slide" Target="slides/slide18.xml"/><Relationship Id="rId4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‹Nº›</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 name="Google Shape;24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4_Main Title Slide" userDrawn="1">
  <p:cSld name="4_Main Title Slide">
    <p:spTree>
      <p:nvGrpSpPr>
        <p:cNvPr id="1" name="Shape 12"/>
        <p:cNvGrpSpPr/>
        <p:nvPr/>
      </p:nvGrpSpPr>
      <p:grpSpPr>
        <a:xfrm>
          <a:off x="0" y="0"/>
          <a:ext cx="0" cy="0"/>
          <a:chOff x="0" y="0"/>
          <a:chExt cx="0" cy="0"/>
        </a:xfrm>
      </p:grpSpPr>
      <p:pic>
        <p:nvPicPr>
          <p:cNvPr id="3" name="Imagen 2">
            <a:extLst>
              <a:ext uri="{FF2B5EF4-FFF2-40B4-BE49-F238E27FC236}">
                <a16:creationId xmlns:a16="http://schemas.microsoft.com/office/drawing/2014/main" id="{9B612C50-4774-4A19-A815-E180A9158FE2}"/>
              </a:ext>
            </a:extLst>
          </p:cNvPr>
          <p:cNvPicPr>
            <a:picLocks noChangeAspect="1"/>
          </p:cNvPicPr>
          <p:nvPr userDrawn="1"/>
        </p:nvPicPr>
        <p:blipFill>
          <a:blip r:embed="rId2"/>
          <a:stretch>
            <a:fillRect/>
          </a:stretch>
        </p:blipFill>
        <p:spPr>
          <a:xfrm>
            <a:off x="0" y="0"/>
            <a:ext cx="12192000" cy="68580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Four column list acknowledgement">
  <p:cSld name="Four column list acknowledgement">
    <p:spTree>
      <p:nvGrpSpPr>
        <p:cNvPr id="1" name="Shape 45"/>
        <p:cNvGrpSpPr/>
        <p:nvPr/>
      </p:nvGrpSpPr>
      <p:grpSpPr>
        <a:xfrm>
          <a:off x="0" y="0"/>
          <a:ext cx="0" cy="0"/>
          <a:chOff x="0" y="0"/>
          <a:chExt cx="0" cy="0"/>
        </a:xfrm>
      </p:grpSpPr>
      <p:pic>
        <p:nvPicPr>
          <p:cNvPr id="46" name="Google Shape;46;p5" descr="A map of the world&#10;&#10;Description automatically generated"/>
          <p:cNvPicPr preferRelativeResize="0"/>
          <p:nvPr/>
        </p:nvPicPr>
        <p:blipFill rotWithShape="1">
          <a:blip r:embed="rId2">
            <a:alphaModFix amt="10000"/>
          </a:blip>
          <a:srcRect t="14912" r="21635" b="31073"/>
          <a:stretch/>
        </p:blipFill>
        <p:spPr>
          <a:xfrm>
            <a:off x="1980961" y="0"/>
            <a:ext cx="10220871" cy="6356351"/>
          </a:xfrm>
          <a:prstGeom prst="rect">
            <a:avLst/>
          </a:prstGeom>
          <a:noFill/>
          <a:ln>
            <a:noFill/>
          </a:ln>
        </p:spPr>
      </p:pic>
      <p:sp>
        <p:nvSpPr>
          <p:cNvPr id="47" name="Google Shape;47;p5"/>
          <p:cNvSpPr txBox="1">
            <a:spLocks noGrp="1"/>
          </p:cNvSpPr>
          <p:nvPr>
            <p:ph type="title"/>
          </p:nvPr>
        </p:nvSpPr>
        <p:spPr>
          <a:xfrm>
            <a:off x="127000" y="365125"/>
            <a:ext cx="11937998"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000"/>
              <a:buFont typeface="Noto Sans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 name="Google Shape;48;p5"/>
          <p:cNvSpPr txBox="1">
            <a:spLocks noGrp="1"/>
          </p:cNvSpPr>
          <p:nvPr>
            <p:ph type="body" idx="1"/>
          </p:nvPr>
        </p:nvSpPr>
        <p:spPr>
          <a:xfrm>
            <a:off x="127000" y="1885443"/>
            <a:ext cx="11937999" cy="405411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5"/>
          <p:cNvSpPr/>
          <p:nvPr/>
        </p:nvSpPr>
        <p:spPr>
          <a:xfrm>
            <a:off x="0" y="6356350"/>
            <a:ext cx="12201832" cy="501650"/>
          </a:xfrm>
          <a:prstGeom prst="rect">
            <a:avLst/>
          </a:prstGeom>
          <a:solidFill>
            <a:srgbClr val="0673BA"/>
          </a:solidFill>
          <a:ln w="19050" cap="flat" cmpd="sng">
            <a:solidFill>
              <a:srgbClr val="0673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50" name="Google Shape;50;p5"/>
          <p:cNvSpPr txBox="1"/>
          <p:nvPr/>
        </p:nvSpPr>
        <p:spPr>
          <a:xfrm>
            <a:off x="127000" y="6458693"/>
            <a:ext cx="39116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400"/>
              <a:buFont typeface="Arial"/>
              <a:buNone/>
            </a:pPr>
            <a:r>
              <a:rPr lang="en-US" sz="1400" b="0" i="0" u="none" strike="noStrike" cap="none">
                <a:solidFill>
                  <a:schemeClr val="lt1"/>
                </a:solidFill>
                <a:latin typeface="Arial"/>
                <a:ea typeface="Arial"/>
                <a:cs typeface="Arial"/>
                <a:sym typeface="Arial"/>
              </a:rPr>
              <a:t>lac.tghn.org</a:t>
            </a:r>
            <a:endParaRPr sz="1400" b="0" i="0" u="none" strike="noStrike" cap="none">
              <a:solidFill>
                <a:schemeClr val="lt1"/>
              </a:solidFill>
              <a:latin typeface="Arial"/>
              <a:ea typeface="Arial"/>
              <a:cs typeface="Arial"/>
              <a:sym typeface="Arial"/>
            </a:endParaRPr>
          </a:p>
        </p:txBody>
      </p:sp>
      <p:sp>
        <p:nvSpPr>
          <p:cNvPr id="51" name="Google Shape;51;p5"/>
          <p:cNvSpPr txBox="1"/>
          <p:nvPr/>
        </p:nvSpPr>
        <p:spPr>
          <a:xfrm>
            <a:off x="9080500" y="6458693"/>
            <a:ext cx="2984500" cy="30777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chemeClr val="lt1"/>
              </a:buClr>
              <a:buSzPts val="1400"/>
              <a:buFont typeface="Arial"/>
              <a:buNone/>
            </a:pPr>
            <a:fld id="{00000000-1234-1234-1234-123412341234}" type="slidenum">
              <a:rPr lang="en-US" sz="1400" b="0" i="0" u="none" strike="noStrike" cap="none">
                <a:solidFill>
                  <a:schemeClr val="lt1"/>
                </a:solidFill>
                <a:latin typeface="Arial"/>
                <a:ea typeface="Arial"/>
                <a:cs typeface="Arial"/>
                <a:sym typeface="Arial"/>
              </a:rPr>
              <a:t>‹Nº›</a:t>
            </a:fld>
            <a:endParaRPr sz="1400" b="0" i="0" u="none" strike="noStrike" cap="none">
              <a:solidFill>
                <a:schemeClr val="lt1"/>
              </a:solidFill>
              <a:latin typeface="Arial"/>
              <a:ea typeface="Arial"/>
              <a:cs typeface="Arial"/>
              <a:sym typeface="Arial"/>
            </a:endParaRPr>
          </a:p>
        </p:txBody>
      </p:sp>
      <p:pic>
        <p:nvPicPr>
          <p:cNvPr id="8" name="Google Shape;67;p7">
            <a:extLst>
              <a:ext uri="{FF2B5EF4-FFF2-40B4-BE49-F238E27FC236}">
                <a16:creationId xmlns:a16="http://schemas.microsoft.com/office/drawing/2014/main" id="{F2B4C948-78BC-4F0D-9168-205BAF42234D}"/>
              </a:ext>
            </a:extLst>
          </p:cNvPr>
          <p:cNvPicPr preferRelativeResize="0"/>
          <p:nvPr userDrawn="1"/>
        </p:nvPicPr>
        <p:blipFill>
          <a:blip r:embed="rId3"/>
          <a:srcRect/>
          <a:stretch/>
        </p:blipFill>
        <p:spPr>
          <a:xfrm>
            <a:off x="2846685" y="161363"/>
            <a:ext cx="6498629" cy="735971"/>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1"/>
        <p:cNvGrpSpPr/>
        <p:nvPr/>
      </p:nvGrpSpPr>
      <p:grpSpPr>
        <a:xfrm>
          <a:off x="0" y="0"/>
          <a:ext cx="0" cy="0"/>
          <a:chOff x="0" y="0"/>
          <a:chExt cx="0" cy="0"/>
        </a:xfrm>
      </p:grpSpPr>
      <p:sp>
        <p:nvSpPr>
          <p:cNvPr id="62" name="Google Shape;62;p7"/>
          <p:cNvSpPr txBox="1">
            <a:spLocks noGrp="1"/>
          </p:cNvSpPr>
          <p:nvPr>
            <p:ph type="title"/>
          </p:nvPr>
        </p:nvSpPr>
        <p:spPr>
          <a:xfrm>
            <a:off x="831850" y="2466753"/>
            <a:ext cx="10515600" cy="209572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Noto Sans SemiBold"/>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64" name="Google Shape;64;p7"/>
          <p:cNvSpPr/>
          <p:nvPr/>
        </p:nvSpPr>
        <p:spPr>
          <a:xfrm>
            <a:off x="0" y="6356350"/>
            <a:ext cx="12201832" cy="501650"/>
          </a:xfrm>
          <a:prstGeom prst="rect">
            <a:avLst/>
          </a:prstGeom>
          <a:solidFill>
            <a:srgbClr val="0673BA"/>
          </a:solidFill>
          <a:ln w="19050" cap="flat" cmpd="sng">
            <a:solidFill>
              <a:srgbClr val="0673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65" name="Google Shape;65;p7"/>
          <p:cNvSpPr txBox="1"/>
          <p:nvPr/>
        </p:nvSpPr>
        <p:spPr>
          <a:xfrm>
            <a:off x="127000" y="6458693"/>
            <a:ext cx="39116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400"/>
              <a:buFont typeface="Arial"/>
              <a:buNone/>
            </a:pPr>
            <a:r>
              <a:rPr lang="en-US" sz="1400" b="0" i="0" u="none" strike="noStrike" cap="none">
                <a:solidFill>
                  <a:schemeClr val="lt1"/>
                </a:solidFill>
                <a:latin typeface="Arial"/>
                <a:ea typeface="Arial"/>
                <a:cs typeface="Arial"/>
                <a:sym typeface="Arial"/>
              </a:rPr>
              <a:t>lac.tghn.org</a:t>
            </a:r>
            <a:endParaRPr sz="1400" b="0" i="0" u="none" strike="noStrike" cap="none">
              <a:solidFill>
                <a:schemeClr val="lt1"/>
              </a:solidFill>
              <a:latin typeface="Arial"/>
              <a:ea typeface="Arial"/>
              <a:cs typeface="Arial"/>
              <a:sym typeface="Arial"/>
            </a:endParaRPr>
          </a:p>
        </p:txBody>
      </p:sp>
      <p:sp>
        <p:nvSpPr>
          <p:cNvPr id="66" name="Google Shape;66;p7"/>
          <p:cNvSpPr txBox="1"/>
          <p:nvPr/>
        </p:nvSpPr>
        <p:spPr>
          <a:xfrm>
            <a:off x="9080500" y="6458693"/>
            <a:ext cx="2984500" cy="30777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chemeClr val="lt1"/>
              </a:buClr>
              <a:buSzPts val="1400"/>
              <a:buFont typeface="Arial"/>
              <a:buNone/>
            </a:pPr>
            <a:fld id="{00000000-1234-1234-1234-123412341234}" type="slidenum">
              <a:rPr lang="en-US" sz="1400" b="0" i="0" u="none" strike="noStrike" cap="none">
                <a:solidFill>
                  <a:schemeClr val="lt1"/>
                </a:solidFill>
                <a:latin typeface="Arial"/>
                <a:ea typeface="Arial"/>
                <a:cs typeface="Arial"/>
                <a:sym typeface="Arial"/>
              </a:rPr>
              <a:t>‹Nº›</a:t>
            </a:fld>
            <a:endParaRPr sz="1400" b="0" i="0" u="none" strike="noStrike" cap="none">
              <a:solidFill>
                <a:schemeClr val="lt1"/>
              </a:solidFill>
              <a:latin typeface="Arial"/>
              <a:ea typeface="Arial"/>
              <a:cs typeface="Arial"/>
              <a:sym typeface="Arial"/>
            </a:endParaRPr>
          </a:p>
        </p:txBody>
      </p:sp>
      <p:pic>
        <p:nvPicPr>
          <p:cNvPr id="8" name="Google Shape;67;p7">
            <a:extLst>
              <a:ext uri="{FF2B5EF4-FFF2-40B4-BE49-F238E27FC236}">
                <a16:creationId xmlns:a16="http://schemas.microsoft.com/office/drawing/2014/main" id="{8FD4A93B-5CA7-44EB-A22C-8F378AB98947}"/>
              </a:ext>
            </a:extLst>
          </p:cNvPr>
          <p:cNvPicPr preferRelativeResize="0"/>
          <p:nvPr userDrawn="1"/>
        </p:nvPicPr>
        <p:blipFill>
          <a:blip r:embed="rId2"/>
          <a:srcRect/>
          <a:stretch/>
        </p:blipFill>
        <p:spPr>
          <a:xfrm>
            <a:off x="2846685" y="161363"/>
            <a:ext cx="6498629" cy="735971"/>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Four column list acknowledgement">
  <p:cSld name="1_Four column list acknowledgement">
    <p:spTree>
      <p:nvGrpSpPr>
        <p:cNvPr id="1" name="Shape 89"/>
        <p:cNvGrpSpPr/>
        <p:nvPr/>
      </p:nvGrpSpPr>
      <p:grpSpPr>
        <a:xfrm>
          <a:off x="0" y="0"/>
          <a:ext cx="0" cy="0"/>
          <a:chOff x="0" y="0"/>
          <a:chExt cx="0" cy="0"/>
        </a:xfrm>
      </p:grpSpPr>
      <p:pic>
        <p:nvPicPr>
          <p:cNvPr id="90" name="Google Shape;90;p11" descr="A map of the world&#10;&#10;Description automatically generated"/>
          <p:cNvPicPr preferRelativeResize="0"/>
          <p:nvPr/>
        </p:nvPicPr>
        <p:blipFill rotWithShape="1">
          <a:blip r:embed="rId2">
            <a:alphaModFix amt="10000"/>
          </a:blip>
          <a:srcRect t="14912" r="21635" b="31073"/>
          <a:stretch/>
        </p:blipFill>
        <p:spPr>
          <a:xfrm>
            <a:off x="1980961" y="0"/>
            <a:ext cx="10220871" cy="6356351"/>
          </a:xfrm>
          <a:prstGeom prst="rect">
            <a:avLst/>
          </a:prstGeom>
          <a:noFill/>
          <a:ln>
            <a:noFill/>
          </a:ln>
        </p:spPr>
      </p:pic>
      <p:sp>
        <p:nvSpPr>
          <p:cNvPr id="91" name="Google Shape;91;p11"/>
          <p:cNvSpPr/>
          <p:nvPr/>
        </p:nvSpPr>
        <p:spPr>
          <a:xfrm>
            <a:off x="0" y="6356350"/>
            <a:ext cx="12201832" cy="501650"/>
          </a:xfrm>
          <a:prstGeom prst="rect">
            <a:avLst/>
          </a:prstGeom>
          <a:solidFill>
            <a:srgbClr val="0673BA"/>
          </a:solidFill>
          <a:ln w="19050" cap="flat" cmpd="sng">
            <a:solidFill>
              <a:srgbClr val="0673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2" name="Google Shape;92;p11"/>
          <p:cNvSpPr txBox="1">
            <a:spLocks noGrp="1"/>
          </p:cNvSpPr>
          <p:nvPr>
            <p:ph type="sldNum" idx="12"/>
          </p:nvPr>
        </p:nvSpPr>
        <p:spPr>
          <a:xfrm>
            <a:off x="8610599" y="6393638"/>
            <a:ext cx="3375213"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chemeClr val="lt1"/>
                </a:solidFill>
                <a:latin typeface="Arial"/>
                <a:ea typeface="Arial"/>
                <a:cs typeface="Arial"/>
                <a:sym typeface="Arial"/>
              </a:defRPr>
            </a:lvl1pPr>
            <a:lvl2pPr marL="0" marR="0" lvl="1" indent="0" algn="r" rtl="0">
              <a:spcBef>
                <a:spcPts val="0"/>
              </a:spcBef>
              <a:buNone/>
              <a:defRPr sz="1200" b="0" i="0" u="none" strike="noStrike" cap="none">
                <a:solidFill>
                  <a:schemeClr val="lt1"/>
                </a:solidFill>
                <a:latin typeface="Arial"/>
                <a:ea typeface="Arial"/>
                <a:cs typeface="Arial"/>
                <a:sym typeface="Arial"/>
              </a:defRPr>
            </a:lvl2pPr>
            <a:lvl3pPr marL="0" marR="0" lvl="2" indent="0" algn="r" rtl="0">
              <a:spcBef>
                <a:spcPts val="0"/>
              </a:spcBef>
              <a:buNone/>
              <a:defRPr sz="1200" b="0" i="0" u="none" strike="noStrike" cap="none">
                <a:solidFill>
                  <a:schemeClr val="lt1"/>
                </a:solidFill>
                <a:latin typeface="Arial"/>
                <a:ea typeface="Arial"/>
                <a:cs typeface="Arial"/>
                <a:sym typeface="Arial"/>
              </a:defRPr>
            </a:lvl3pPr>
            <a:lvl4pPr marL="0" marR="0" lvl="3" indent="0" algn="r" rtl="0">
              <a:spcBef>
                <a:spcPts val="0"/>
              </a:spcBef>
              <a:buNone/>
              <a:defRPr sz="1200" b="0" i="0" u="none" strike="noStrike" cap="none">
                <a:solidFill>
                  <a:schemeClr val="lt1"/>
                </a:solidFill>
                <a:latin typeface="Arial"/>
                <a:ea typeface="Arial"/>
                <a:cs typeface="Arial"/>
                <a:sym typeface="Arial"/>
              </a:defRPr>
            </a:lvl4pPr>
            <a:lvl5pPr marL="0" marR="0" lvl="4" indent="0" algn="r" rtl="0">
              <a:spcBef>
                <a:spcPts val="0"/>
              </a:spcBef>
              <a:buNone/>
              <a:defRPr sz="1200" b="0" i="0" u="none" strike="noStrike" cap="none">
                <a:solidFill>
                  <a:schemeClr val="lt1"/>
                </a:solidFill>
                <a:latin typeface="Arial"/>
                <a:ea typeface="Arial"/>
                <a:cs typeface="Arial"/>
                <a:sym typeface="Arial"/>
              </a:defRPr>
            </a:lvl5pPr>
            <a:lvl6pPr marL="0" marR="0" lvl="5" indent="0" algn="r" rtl="0">
              <a:spcBef>
                <a:spcPts val="0"/>
              </a:spcBef>
              <a:buNone/>
              <a:defRPr sz="1200" b="0" i="0" u="none" strike="noStrike" cap="none">
                <a:solidFill>
                  <a:schemeClr val="lt1"/>
                </a:solidFill>
                <a:latin typeface="Arial"/>
                <a:ea typeface="Arial"/>
                <a:cs typeface="Arial"/>
                <a:sym typeface="Arial"/>
              </a:defRPr>
            </a:lvl6pPr>
            <a:lvl7pPr marL="0" marR="0" lvl="6" indent="0" algn="r" rtl="0">
              <a:spcBef>
                <a:spcPts val="0"/>
              </a:spcBef>
              <a:buNone/>
              <a:defRPr sz="1200" b="0" i="0" u="none" strike="noStrike" cap="none">
                <a:solidFill>
                  <a:schemeClr val="lt1"/>
                </a:solidFill>
                <a:latin typeface="Arial"/>
                <a:ea typeface="Arial"/>
                <a:cs typeface="Arial"/>
                <a:sym typeface="Arial"/>
              </a:defRPr>
            </a:lvl7pPr>
            <a:lvl8pPr marL="0" marR="0" lvl="7" indent="0" algn="r" rtl="0">
              <a:spcBef>
                <a:spcPts val="0"/>
              </a:spcBef>
              <a:buNone/>
              <a:defRPr sz="1200" b="0" i="0" u="none" strike="noStrike" cap="none">
                <a:solidFill>
                  <a:schemeClr val="lt1"/>
                </a:solidFill>
                <a:latin typeface="Arial"/>
                <a:ea typeface="Arial"/>
                <a:cs typeface="Arial"/>
                <a:sym typeface="Arial"/>
              </a:defRPr>
            </a:lvl8pPr>
            <a:lvl9pPr marL="0" marR="0" lvl="8" indent="0" algn="r" rtl="0">
              <a:spcBef>
                <a:spcPts val="0"/>
              </a:spcBef>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
        <p:nvSpPr>
          <p:cNvPr id="93" name="Google Shape;93;p11"/>
          <p:cNvSpPr txBox="1"/>
          <p:nvPr/>
        </p:nvSpPr>
        <p:spPr>
          <a:xfrm>
            <a:off x="206188" y="6389431"/>
            <a:ext cx="525042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chemeClr val="lt1"/>
                </a:solidFill>
                <a:latin typeface="Arial"/>
                <a:ea typeface="Arial"/>
                <a:cs typeface="Arial"/>
                <a:sym typeface="Arial"/>
              </a:rPr>
              <a:t>www.theglobalhealthnetwork.org</a:t>
            </a:r>
            <a:endParaRPr sz="1800">
              <a:solidFill>
                <a:schemeClr val="lt1"/>
              </a:solidFill>
              <a:latin typeface="Arial"/>
              <a:ea typeface="Arial"/>
              <a:cs typeface="Arial"/>
              <a:sym typeface="Arial"/>
            </a:endParaRPr>
          </a:p>
        </p:txBody>
      </p:sp>
      <p:sp>
        <p:nvSpPr>
          <p:cNvPr id="94" name="Google Shape;94;p11"/>
          <p:cNvSpPr txBox="1">
            <a:spLocks noGrp="1"/>
          </p:cNvSpPr>
          <p:nvPr>
            <p:ph type="title"/>
          </p:nvPr>
        </p:nvSpPr>
        <p:spPr>
          <a:xfrm>
            <a:off x="206188" y="365125"/>
            <a:ext cx="11779624"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000"/>
              <a:buFont typeface="Noto Sans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5" name="Google Shape;95;p11"/>
          <p:cNvSpPr txBox="1">
            <a:spLocks noGrp="1"/>
          </p:cNvSpPr>
          <p:nvPr>
            <p:ph type="body" idx="1"/>
          </p:nvPr>
        </p:nvSpPr>
        <p:spPr>
          <a:xfrm>
            <a:off x="206188" y="1885443"/>
            <a:ext cx="11779623" cy="405411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6" name="Google Shape;96;p11"/>
          <p:cNvSpPr/>
          <p:nvPr/>
        </p:nvSpPr>
        <p:spPr>
          <a:xfrm>
            <a:off x="0" y="6356350"/>
            <a:ext cx="12201832" cy="501650"/>
          </a:xfrm>
          <a:prstGeom prst="rect">
            <a:avLst/>
          </a:prstGeom>
          <a:solidFill>
            <a:srgbClr val="0673BA"/>
          </a:solidFill>
          <a:ln w="19050" cap="flat" cmpd="sng">
            <a:solidFill>
              <a:srgbClr val="0673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97" name="Google Shape;97;p11"/>
          <p:cNvSpPr txBox="1"/>
          <p:nvPr/>
        </p:nvSpPr>
        <p:spPr>
          <a:xfrm>
            <a:off x="127000" y="6458693"/>
            <a:ext cx="39116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400"/>
              <a:buFont typeface="Arial"/>
              <a:buNone/>
            </a:pPr>
            <a:r>
              <a:rPr lang="en-US" sz="1400">
                <a:solidFill>
                  <a:schemeClr val="lt1"/>
                </a:solidFill>
                <a:latin typeface="Arial"/>
                <a:ea typeface="Arial"/>
                <a:cs typeface="Arial"/>
                <a:sym typeface="Arial"/>
              </a:rPr>
              <a:t>lac.tghn.org</a:t>
            </a:r>
            <a:endParaRPr sz="1400" b="0" i="0">
              <a:solidFill>
                <a:schemeClr val="lt1"/>
              </a:solidFill>
              <a:latin typeface="Arial"/>
              <a:ea typeface="Arial"/>
              <a:cs typeface="Arial"/>
              <a:sym typeface="Arial"/>
            </a:endParaRPr>
          </a:p>
        </p:txBody>
      </p:sp>
      <p:sp>
        <p:nvSpPr>
          <p:cNvPr id="98" name="Google Shape;98;p11"/>
          <p:cNvSpPr txBox="1"/>
          <p:nvPr/>
        </p:nvSpPr>
        <p:spPr>
          <a:xfrm>
            <a:off x="9080500" y="6458693"/>
            <a:ext cx="2984500" cy="30777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chemeClr val="lt1"/>
              </a:buClr>
              <a:buSzPts val="1400"/>
              <a:buFont typeface="Arial"/>
              <a:buNone/>
            </a:pPr>
            <a:fld id="{00000000-1234-1234-1234-123412341234}" type="slidenum">
              <a:rPr lang="en-US" sz="1400">
                <a:solidFill>
                  <a:schemeClr val="lt1"/>
                </a:solidFill>
                <a:latin typeface="Arial"/>
                <a:ea typeface="Arial"/>
                <a:cs typeface="Arial"/>
                <a:sym typeface="Arial"/>
              </a:rPr>
              <a:t>‹Nº›</a:t>
            </a:fld>
            <a:endParaRPr sz="1400" b="0" i="0">
              <a:solidFill>
                <a:schemeClr val="lt1"/>
              </a:solidFill>
              <a:latin typeface="Arial"/>
              <a:ea typeface="Arial"/>
              <a:cs typeface="Arial"/>
              <a:sym typeface="Arial"/>
            </a:endParaRPr>
          </a:p>
        </p:txBody>
      </p:sp>
      <p:pic>
        <p:nvPicPr>
          <p:cNvPr id="12" name="Google Shape;67;p7">
            <a:extLst>
              <a:ext uri="{FF2B5EF4-FFF2-40B4-BE49-F238E27FC236}">
                <a16:creationId xmlns:a16="http://schemas.microsoft.com/office/drawing/2014/main" id="{83ADB874-9257-4D82-B5CE-3EBB98FD61DE}"/>
              </a:ext>
            </a:extLst>
          </p:cNvPr>
          <p:cNvPicPr preferRelativeResize="0"/>
          <p:nvPr userDrawn="1"/>
        </p:nvPicPr>
        <p:blipFill>
          <a:blip r:embed="rId3"/>
          <a:srcRect/>
          <a:stretch/>
        </p:blipFill>
        <p:spPr>
          <a:xfrm>
            <a:off x="2846685" y="161363"/>
            <a:ext cx="6498629" cy="735971"/>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Title Slide">
  <p:cSld name="Main Title Slide">
    <p:spTree>
      <p:nvGrpSpPr>
        <p:cNvPr id="1" name="Shape 139"/>
        <p:cNvGrpSpPr/>
        <p:nvPr/>
      </p:nvGrpSpPr>
      <p:grpSpPr>
        <a:xfrm>
          <a:off x="0" y="0"/>
          <a:ext cx="0" cy="0"/>
          <a:chOff x="0" y="0"/>
          <a:chExt cx="0" cy="0"/>
        </a:xfrm>
      </p:grpSpPr>
      <p:sp>
        <p:nvSpPr>
          <p:cNvPr id="140" name="Google Shape;140;p15"/>
          <p:cNvSpPr/>
          <p:nvPr/>
        </p:nvSpPr>
        <p:spPr>
          <a:xfrm>
            <a:off x="9832" y="1884834"/>
            <a:ext cx="12192000" cy="4973166"/>
          </a:xfrm>
          <a:prstGeom prst="rect">
            <a:avLst/>
          </a:prstGeom>
          <a:solidFill>
            <a:srgbClr val="0673BA"/>
          </a:solidFill>
          <a:ln w="19050" cap="flat" cmpd="sng">
            <a:solidFill>
              <a:srgbClr val="0673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41" name="Google Shape;141;p15"/>
          <p:cNvPicPr preferRelativeResize="0"/>
          <p:nvPr/>
        </p:nvPicPr>
        <p:blipFill rotWithShape="1">
          <a:blip r:embed="rId2">
            <a:alphaModFix amt="10000"/>
          </a:blip>
          <a:srcRect t="10864" r="4297" b="45730"/>
          <a:stretch/>
        </p:blipFill>
        <p:spPr>
          <a:xfrm>
            <a:off x="-9832" y="1876813"/>
            <a:ext cx="12192000" cy="4989208"/>
          </a:xfrm>
          <a:prstGeom prst="rect">
            <a:avLst/>
          </a:prstGeom>
          <a:noFill/>
          <a:ln>
            <a:noFill/>
          </a:ln>
        </p:spPr>
      </p:pic>
      <p:sp>
        <p:nvSpPr>
          <p:cNvPr id="142" name="Google Shape;142;p15"/>
          <p:cNvSpPr txBox="1">
            <a:spLocks noGrp="1"/>
          </p:cNvSpPr>
          <p:nvPr>
            <p:ph type="ctrTitle"/>
          </p:nvPr>
        </p:nvSpPr>
        <p:spPr>
          <a:xfrm>
            <a:off x="206188" y="2494210"/>
            <a:ext cx="9429425" cy="19440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Noto Sans SemiBold"/>
              <a:buNone/>
              <a:defRPr sz="6000" b="1" i="0">
                <a:solidFill>
                  <a:schemeClr val="lt1"/>
                </a:solidFill>
                <a:latin typeface="Noto Sans SemiBold"/>
                <a:ea typeface="Noto Sans SemiBold"/>
                <a:cs typeface="Noto Sans SemiBold"/>
                <a:sym typeface="Noto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3" name="Google Shape;143;p15"/>
          <p:cNvSpPr txBox="1">
            <a:spLocks noGrp="1"/>
          </p:cNvSpPr>
          <p:nvPr>
            <p:ph type="subTitle" idx="1"/>
          </p:nvPr>
        </p:nvSpPr>
        <p:spPr>
          <a:xfrm>
            <a:off x="206188" y="4676105"/>
            <a:ext cx="9429425" cy="1458357"/>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400"/>
              <a:buNone/>
              <a:defRPr sz="2400" b="0" i="0">
                <a:solidFill>
                  <a:schemeClr val="lt1"/>
                </a:solidFill>
                <a:latin typeface="Noto Sans"/>
                <a:ea typeface="Noto Sans"/>
                <a:cs typeface="Noto Sans"/>
                <a:sym typeface="Noto Sa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8" name="Google Shape;67;p7">
            <a:extLst>
              <a:ext uri="{FF2B5EF4-FFF2-40B4-BE49-F238E27FC236}">
                <a16:creationId xmlns:a16="http://schemas.microsoft.com/office/drawing/2014/main" id="{B6A81CA7-6D40-45C6-9227-7616A9409CA8}"/>
              </a:ext>
            </a:extLst>
          </p:cNvPr>
          <p:cNvPicPr preferRelativeResize="0"/>
          <p:nvPr userDrawn="1"/>
        </p:nvPicPr>
        <p:blipFill>
          <a:blip r:embed="rId3"/>
          <a:srcRect/>
          <a:stretch/>
        </p:blipFill>
        <p:spPr>
          <a:xfrm>
            <a:off x="2846685" y="161363"/>
            <a:ext cx="6498629" cy="735971"/>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45"/>
        <p:cNvGrpSpPr/>
        <p:nvPr/>
      </p:nvGrpSpPr>
      <p:grpSpPr>
        <a:xfrm>
          <a:off x="0" y="0"/>
          <a:ext cx="0" cy="0"/>
          <a:chOff x="0" y="0"/>
          <a:chExt cx="0" cy="0"/>
        </a:xfrm>
      </p:grpSpPr>
      <p:sp>
        <p:nvSpPr>
          <p:cNvPr id="146" name="Google Shape;146;p16"/>
          <p:cNvSpPr/>
          <p:nvPr/>
        </p:nvSpPr>
        <p:spPr>
          <a:xfrm>
            <a:off x="0" y="6356350"/>
            <a:ext cx="12201832" cy="501650"/>
          </a:xfrm>
          <a:prstGeom prst="rect">
            <a:avLst/>
          </a:prstGeom>
          <a:solidFill>
            <a:srgbClr val="0673BA"/>
          </a:solidFill>
          <a:ln w="19050" cap="flat" cmpd="sng">
            <a:solidFill>
              <a:srgbClr val="0673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7" name="Google Shape;147;p16"/>
          <p:cNvSpPr txBox="1"/>
          <p:nvPr/>
        </p:nvSpPr>
        <p:spPr>
          <a:xfrm>
            <a:off x="127000" y="6458693"/>
            <a:ext cx="39116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400"/>
              <a:buFont typeface="Arial"/>
              <a:buNone/>
            </a:pPr>
            <a:r>
              <a:rPr lang="en-US" sz="1400">
                <a:solidFill>
                  <a:schemeClr val="lt1"/>
                </a:solidFill>
                <a:latin typeface="Arial"/>
                <a:ea typeface="Arial"/>
                <a:cs typeface="Arial"/>
                <a:sym typeface="Arial"/>
              </a:rPr>
              <a:t>lac.tghn.org</a:t>
            </a:r>
            <a:endParaRPr sz="1400" b="0" i="0">
              <a:solidFill>
                <a:schemeClr val="lt1"/>
              </a:solidFill>
              <a:latin typeface="Arial"/>
              <a:ea typeface="Arial"/>
              <a:cs typeface="Arial"/>
              <a:sym typeface="Arial"/>
            </a:endParaRPr>
          </a:p>
        </p:txBody>
      </p:sp>
      <p:sp>
        <p:nvSpPr>
          <p:cNvPr id="148" name="Google Shape;148;p16"/>
          <p:cNvSpPr txBox="1"/>
          <p:nvPr/>
        </p:nvSpPr>
        <p:spPr>
          <a:xfrm>
            <a:off x="9080500" y="6458693"/>
            <a:ext cx="2984500" cy="30777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chemeClr val="lt1"/>
              </a:buClr>
              <a:buSzPts val="1400"/>
              <a:buFont typeface="Arial"/>
              <a:buNone/>
            </a:pPr>
            <a:fld id="{00000000-1234-1234-1234-123412341234}" type="slidenum">
              <a:rPr lang="en-US" sz="1400">
                <a:solidFill>
                  <a:schemeClr val="lt1"/>
                </a:solidFill>
                <a:latin typeface="Arial"/>
                <a:ea typeface="Arial"/>
                <a:cs typeface="Arial"/>
                <a:sym typeface="Arial"/>
              </a:rPr>
              <a:t>‹Nº›</a:t>
            </a:fld>
            <a:endParaRPr sz="1400" b="0" i="0">
              <a:solidFill>
                <a:schemeClr val="lt1"/>
              </a:solidFill>
              <a:latin typeface="Arial"/>
              <a:ea typeface="Arial"/>
              <a:cs typeface="Arial"/>
              <a:sym typeface="Arial"/>
            </a:endParaRPr>
          </a:p>
        </p:txBody>
      </p:sp>
      <p:sp>
        <p:nvSpPr>
          <p:cNvPr id="149" name="Google Shape;149;p16"/>
          <p:cNvSpPr txBox="1">
            <a:spLocks noGrp="1"/>
          </p:cNvSpPr>
          <p:nvPr>
            <p:ph type="title"/>
          </p:nvPr>
        </p:nvSpPr>
        <p:spPr>
          <a:xfrm>
            <a:off x="127000" y="365125"/>
            <a:ext cx="11937998"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000"/>
              <a:buFont typeface="Noto Sans SemiBold"/>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50"/>
        <p:cNvGrpSpPr/>
        <p:nvPr/>
      </p:nvGrpSpPr>
      <p:grpSpPr>
        <a:xfrm>
          <a:off x="0" y="0"/>
          <a:ext cx="0" cy="0"/>
          <a:chOff x="0" y="0"/>
          <a:chExt cx="0" cy="0"/>
        </a:xfrm>
      </p:grpSpPr>
      <p:sp>
        <p:nvSpPr>
          <p:cNvPr id="151" name="Google Shape;151;p17"/>
          <p:cNvSpPr txBox="1">
            <a:spLocks noGrp="1"/>
          </p:cNvSpPr>
          <p:nvPr>
            <p:ph type="title"/>
          </p:nvPr>
        </p:nvSpPr>
        <p:spPr>
          <a:xfrm>
            <a:off x="127000" y="457200"/>
            <a:ext cx="4645025"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Noto Sans SemiBold"/>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2" name="Google Shape;152;p17"/>
          <p:cNvSpPr>
            <a:spLocks noGrp="1"/>
          </p:cNvSpPr>
          <p:nvPr>
            <p:ph type="pic" idx="2"/>
          </p:nvPr>
        </p:nvSpPr>
        <p:spPr>
          <a:xfrm>
            <a:off x="5183188" y="987425"/>
            <a:ext cx="6259304" cy="4873625"/>
          </a:xfrm>
          <a:prstGeom prst="rect">
            <a:avLst/>
          </a:prstGeom>
          <a:noFill/>
          <a:ln>
            <a:noFill/>
          </a:ln>
        </p:spPr>
      </p:sp>
      <p:sp>
        <p:nvSpPr>
          <p:cNvPr id="153" name="Google Shape;153;p17"/>
          <p:cNvSpPr txBox="1">
            <a:spLocks noGrp="1"/>
          </p:cNvSpPr>
          <p:nvPr>
            <p:ph type="body" idx="1"/>
          </p:nvPr>
        </p:nvSpPr>
        <p:spPr>
          <a:xfrm>
            <a:off x="749508" y="2057400"/>
            <a:ext cx="402251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54" name="Google Shape;154;p17"/>
          <p:cNvSpPr/>
          <p:nvPr/>
        </p:nvSpPr>
        <p:spPr>
          <a:xfrm>
            <a:off x="0" y="6356350"/>
            <a:ext cx="12201832" cy="501650"/>
          </a:xfrm>
          <a:prstGeom prst="rect">
            <a:avLst/>
          </a:prstGeom>
          <a:solidFill>
            <a:srgbClr val="0673BA"/>
          </a:solidFill>
          <a:ln w="19050" cap="flat" cmpd="sng">
            <a:solidFill>
              <a:srgbClr val="0673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55" name="Google Shape;155;p17"/>
          <p:cNvSpPr txBox="1"/>
          <p:nvPr/>
        </p:nvSpPr>
        <p:spPr>
          <a:xfrm>
            <a:off x="127000" y="6458693"/>
            <a:ext cx="39116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400"/>
              <a:buFont typeface="Arial"/>
              <a:buNone/>
            </a:pPr>
            <a:r>
              <a:rPr lang="en-US" sz="1400">
                <a:solidFill>
                  <a:schemeClr val="lt1"/>
                </a:solidFill>
                <a:latin typeface="Arial"/>
                <a:ea typeface="Arial"/>
                <a:cs typeface="Arial"/>
                <a:sym typeface="Arial"/>
              </a:rPr>
              <a:t>lac.tghn.org</a:t>
            </a:r>
            <a:endParaRPr sz="1400" b="0" i="0">
              <a:solidFill>
                <a:schemeClr val="lt1"/>
              </a:solidFill>
              <a:latin typeface="Arial"/>
              <a:ea typeface="Arial"/>
              <a:cs typeface="Arial"/>
              <a:sym typeface="Arial"/>
            </a:endParaRPr>
          </a:p>
        </p:txBody>
      </p:sp>
      <p:sp>
        <p:nvSpPr>
          <p:cNvPr id="156" name="Google Shape;156;p17"/>
          <p:cNvSpPr txBox="1"/>
          <p:nvPr/>
        </p:nvSpPr>
        <p:spPr>
          <a:xfrm>
            <a:off x="9080500" y="6458693"/>
            <a:ext cx="2984500" cy="30777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chemeClr val="lt1"/>
              </a:buClr>
              <a:buSzPts val="1400"/>
              <a:buFont typeface="Arial"/>
              <a:buNone/>
            </a:pPr>
            <a:fld id="{00000000-1234-1234-1234-123412341234}" type="slidenum">
              <a:rPr lang="en-US" sz="1400">
                <a:solidFill>
                  <a:schemeClr val="lt1"/>
                </a:solidFill>
                <a:latin typeface="Arial"/>
                <a:ea typeface="Arial"/>
                <a:cs typeface="Arial"/>
                <a:sym typeface="Arial"/>
              </a:rPr>
              <a:t>‹Nº›</a:t>
            </a:fld>
            <a:endParaRPr sz="1400" b="0" i="0">
              <a:solidFill>
                <a:schemeClr val="lt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57"/>
        <p:cNvGrpSpPr/>
        <p:nvPr/>
      </p:nvGrpSpPr>
      <p:grpSpPr>
        <a:xfrm>
          <a:off x="0" y="0"/>
          <a:ext cx="0" cy="0"/>
          <a:chOff x="0" y="0"/>
          <a:chExt cx="0" cy="0"/>
        </a:xfrm>
      </p:grpSpPr>
      <p:sp>
        <p:nvSpPr>
          <p:cNvPr id="158" name="Google Shape;158;p18"/>
          <p:cNvSpPr txBox="1">
            <a:spLocks noGrp="1"/>
          </p:cNvSpPr>
          <p:nvPr>
            <p:ph type="title"/>
          </p:nvPr>
        </p:nvSpPr>
        <p:spPr>
          <a:xfrm>
            <a:off x="838200" y="365125"/>
            <a:ext cx="11226800" cy="13874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9" name="Google Shape;159;p18"/>
          <p:cNvSpPr txBox="1">
            <a:spLocks noGrp="1"/>
          </p:cNvSpPr>
          <p:nvPr>
            <p:ph type="body" idx="1"/>
          </p:nvPr>
        </p:nvSpPr>
        <p:spPr>
          <a:xfrm rot="5400000">
            <a:off x="4698805" y="-1189232"/>
            <a:ext cx="4691063" cy="1004132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0" name="Google Shape;160;p18"/>
          <p:cNvSpPr/>
          <p:nvPr/>
        </p:nvSpPr>
        <p:spPr>
          <a:xfrm>
            <a:off x="0" y="6356350"/>
            <a:ext cx="12201832" cy="501650"/>
          </a:xfrm>
          <a:prstGeom prst="rect">
            <a:avLst/>
          </a:prstGeom>
          <a:solidFill>
            <a:srgbClr val="0673BA"/>
          </a:solidFill>
          <a:ln w="19050" cap="flat" cmpd="sng">
            <a:solidFill>
              <a:srgbClr val="0673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61" name="Google Shape;161;p18"/>
          <p:cNvSpPr txBox="1"/>
          <p:nvPr/>
        </p:nvSpPr>
        <p:spPr>
          <a:xfrm>
            <a:off x="127000" y="6458693"/>
            <a:ext cx="39116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400"/>
              <a:buFont typeface="Arial"/>
              <a:buNone/>
            </a:pPr>
            <a:r>
              <a:rPr lang="en-US" sz="1400">
                <a:solidFill>
                  <a:schemeClr val="lt1"/>
                </a:solidFill>
                <a:latin typeface="Arial"/>
                <a:ea typeface="Arial"/>
                <a:cs typeface="Arial"/>
                <a:sym typeface="Arial"/>
              </a:rPr>
              <a:t>lac.tghn.org</a:t>
            </a:r>
            <a:endParaRPr sz="1400" b="0" i="0">
              <a:solidFill>
                <a:schemeClr val="lt1"/>
              </a:solidFill>
              <a:latin typeface="Arial"/>
              <a:ea typeface="Arial"/>
              <a:cs typeface="Arial"/>
              <a:sym typeface="Arial"/>
            </a:endParaRPr>
          </a:p>
        </p:txBody>
      </p:sp>
      <p:sp>
        <p:nvSpPr>
          <p:cNvPr id="162" name="Google Shape;162;p18"/>
          <p:cNvSpPr txBox="1"/>
          <p:nvPr/>
        </p:nvSpPr>
        <p:spPr>
          <a:xfrm>
            <a:off x="9080500" y="6458693"/>
            <a:ext cx="2984500" cy="30777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chemeClr val="lt1"/>
              </a:buClr>
              <a:buSzPts val="1400"/>
              <a:buFont typeface="Arial"/>
              <a:buNone/>
            </a:pPr>
            <a:fld id="{00000000-1234-1234-1234-123412341234}" type="slidenum">
              <a:rPr lang="en-US" sz="1400">
                <a:solidFill>
                  <a:schemeClr val="lt1"/>
                </a:solidFill>
                <a:latin typeface="Arial"/>
                <a:ea typeface="Arial"/>
                <a:cs typeface="Arial"/>
                <a:sym typeface="Arial"/>
              </a:rPr>
              <a:t>‹Nº›</a:t>
            </a:fld>
            <a:endParaRPr sz="1400" b="0" i="0">
              <a:solidFill>
                <a:schemeClr val="lt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63"/>
        <p:cNvGrpSpPr/>
        <p:nvPr/>
      </p:nvGrpSpPr>
      <p:grpSpPr>
        <a:xfrm>
          <a:off x="0" y="0"/>
          <a:ext cx="0" cy="0"/>
          <a:chOff x="0" y="0"/>
          <a:chExt cx="0" cy="0"/>
        </a:xfrm>
      </p:grpSpPr>
      <p:sp>
        <p:nvSpPr>
          <p:cNvPr id="164" name="Google Shape;164;p19"/>
          <p:cNvSpPr txBox="1">
            <a:spLocks noGrp="1"/>
          </p:cNvSpPr>
          <p:nvPr>
            <p:ph type="title"/>
          </p:nvPr>
        </p:nvSpPr>
        <p:spPr>
          <a:xfrm rot="5400000">
            <a:off x="7489031" y="1600994"/>
            <a:ext cx="5811838" cy="3340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5" name="Google Shape;165;p19"/>
          <p:cNvSpPr txBox="1">
            <a:spLocks noGrp="1"/>
          </p:cNvSpPr>
          <p:nvPr>
            <p:ph type="body" idx="1"/>
          </p:nvPr>
        </p:nvSpPr>
        <p:spPr>
          <a:xfrm rot="5400000">
            <a:off x="1443831" y="-951706"/>
            <a:ext cx="5811838" cy="84455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6" name="Google Shape;166;p19"/>
          <p:cNvSpPr/>
          <p:nvPr/>
        </p:nvSpPr>
        <p:spPr>
          <a:xfrm>
            <a:off x="0" y="6356350"/>
            <a:ext cx="12201832" cy="501650"/>
          </a:xfrm>
          <a:prstGeom prst="rect">
            <a:avLst/>
          </a:prstGeom>
          <a:solidFill>
            <a:srgbClr val="0673BA"/>
          </a:solidFill>
          <a:ln w="19050" cap="flat" cmpd="sng">
            <a:solidFill>
              <a:srgbClr val="0673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67" name="Google Shape;167;p19"/>
          <p:cNvSpPr txBox="1"/>
          <p:nvPr/>
        </p:nvSpPr>
        <p:spPr>
          <a:xfrm>
            <a:off x="127000" y="6458693"/>
            <a:ext cx="39116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400"/>
              <a:buFont typeface="Arial"/>
              <a:buNone/>
            </a:pPr>
            <a:r>
              <a:rPr lang="en-US" sz="1400">
                <a:solidFill>
                  <a:schemeClr val="lt1"/>
                </a:solidFill>
                <a:latin typeface="Arial"/>
                <a:ea typeface="Arial"/>
                <a:cs typeface="Arial"/>
                <a:sym typeface="Arial"/>
              </a:rPr>
              <a:t>lac.tghn.org</a:t>
            </a:r>
            <a:endParaRPr sz="1400" b="0" i="0">
              <a:solidFill>
                <a:schemeClr val="lt1"/>
              </a:solidFill>
              <a:latin typeface="Arial"/>
              <a:ea typeface="Arial"/>
              <a:cs typeface="Arial"/>
              <a:sym typeface="Arial"/>
            </a:endParaRPr>
          </a:p>
        </p:txBody>
      </p:sp>
      <p:sp>
        <p:nvSpPr>
          <p:cNvPr id="168" name="Google Shape;168;p19"/>
          <p:cNvSpPr txBox="1"/>
          <p:nvPr/>
        </p:nvSpPr>
        <p:spPr>
          <a:xfrm>
            <a:off x="9080500" y="6458693"/>
            <a:ext cx="2984500" cy="30777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chemeClr val="lt1"/>
              </a:buClr>
              <a:buSzPts val="1400"/>
              <a:buFont typeface="Arial"/>
              <a:buNone/>
            </a:pPr>
            <a:fld id="{00000000-1234-1234-1234-123412341234}" type="slidenum">
              <a:rPr lang="en-US" sz="1400">
                <a:solidFill>
                  <a:schemeClr val="lt1"/>
                </a:solidFill>
                <a:latin typeface="Arial"/>
                <a:ea typeface="Arial"/>
                <a:cs typeface="Arial"/>
                <a:sym typeface="Arial"/>
              </a:rPr>
              <a:t>‹Nº›</a:t>
            </a:fld>
            <a:endParaRPr sz="1400" b="0" i="0">
              <a:solidFill>
                <a:schemeClr val="lt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3_Title and Content">
  <p:cSld name="3_Title and Content">
    <p:spTree>
      <p:nvGrpSpPr>
        <p:cNvPr id="1" name="Shape 169"/>
        <p:cNvGrpSpPr/>
        <p:nvPr/>
      </p:nvGrpSpPr>
      <p:grpSpPr>
        <a:xfrm>
          <a:off x="0" y="0"/>
          <a:ext cx="0" cy="0"/>
          <a:chOff x="0" y="0"/>
          <a:chExt cx="0" cy="0"/>
        </a:xfrm>
      </p:grpSpPr>
      <p:sp>
        <p:nvSpPr>
          <p:cNvPr id="170" name="Google Shape;170;p20"/>
          <p:cNvSpPr/>
          <p:nvPr/>
        </p:nvSpPr>
        <p:spPr>
          <a:xfrm>
            <a:off x="0" y="6356350"/>
            <a:ext cx="12201832" cy="501650"/>
          </a:xfrm>
          <a:prstGeom prst="rect">
            <a:avLst/>
          </a:prstGeom>
          <a:solidFill>
            <a:srgbClr val="0673BA"/>
          </a:solidFill>
          <a:ln w="19050" cap="flat" cmpd="sng">
            <a:solidFill>
              <a:srgbClr val="0673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71" name="Google Shape;171;p20"/>
          <p:cNvSpPr txBox="1"/>
          <p:nvPr/>
        </p:nvSpPr>
        <p:spPr>
          <a:xfrm>
            <a:off x="127000" y="6458693"/>
            <a:ext cx="39116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400"/>
              <a:buFont typeface="Arial"/>
              <a:buNone/>
            </a:pPr>
            <a:r>
              <a:rPr lang="en-US" sz="1400">
                <a:solidFill>
                  <a:schemeClr val="lt1"/>
                </a:solidFill>
                <a:latin typeface="Arial"/>
                <a:ea typeface="Arial"/>
                <a:cs typeface="Arial"/>
                <a:sym typeface="Arial"/>
              </a:rPr>
              <a:t>lac.tghn.org</a:t>
            </a:r>
            <a:endParaRPr sz="1400" b="0" i="0">
              <a:solidFill>
                <a:schemeClr val="lt1"/>
              </a:solidFill>
              <a:latin typeface="Arial"/>
              <a:ea typeface="Arial"/>
              <a:cs typeface="Arial"/>
              <a:sym typeface="Arial"/>
            </a:endParaRPr>
          </a:p>
        </p:txBody>
      </p:sp>
      <p:sp>
        <p:nvSpPr>
          <p:cNvPr id="172" name="Google Shape;172;p20"/>
          <p:cNvSpPr txBox="1"/>
          <p:nvPr/>
        </p:nvSpPr>
        <p:spPr>
          <a:xfrm>
            <a:off x="8816787" y="4382770"/>
            <a:ext cx="3375213"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200">
                <a:solidFill>
                  <a:schemeClr val="lt1"/>
                </a:solidFill>
                <a:latin typeface="Arial"/>
                <a:ea typeface="Arial"/>
                <a:cs typeface="Arial"/>
                <a:sym typeface="Arial"/>
              </a:rPr>
              <a:t>‹Nº›</a:t>
            </a:fld>
            <a:endParaRPr sz="1200">
              <a:solidFill>
                <a:schemeClr val="lt1"/>
              </a:solidFill>
              <a:latin typeface="Arial"/>
              <a:ea typeface="Arial"/>
              <a:cs typeface="Arial"/>
              <a:sym typeface="Arial"/>
            </a:endParaRPr>
          </a:p>
        </p:txBody>
      </p:sp>
      <p:sp>
        <p:nvSpPr>
          <p:cNvPr id="173" name="Google Shape;173;p20"/>
          <p:cNvSpPr txBox="1"/>
          <p:nvPr/>
        </p:nvSpPr>
        <p:spPr>
          <a:xfrm>
            <a:off x="9080500" y="6458693"/>
            <a:ext cx="2984500" cy="30777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chemeClr val="lt1"/>
              </a:buClr>
              <a:buSzPts val="1400"/>
              <a:buFont typeface="Arial"/>
              <a:buNone/>
            </a:pPr>
            <a:fld id="{00000000-1234-1234-1234-123412341234}" type="slidenum">
              <a:rPr lang="en-US" sz="1400">
                <a:solidFill>
                  <a:schemeClr val="lt1"/>
                </a:solidFill>
                <a:latin typeface="Arial"/>
                <a:ea typeface="Arial"/>
                <a:cs typeface="Arial"/>
                <a:sym typeface="Arial"/>
              </a:rPr>
              <a:t>‹Nº›</a:t>
            </a:fld>
            <a:endParaRPr sz="1400" b="0" i="0">
              <a:solidFill>
                <a:schemeClr val="lt1"/>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E4F96F-8F72-42AA-A830-A0E3809246B0}"/>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endParaRPr lang="es-CO"/>
          </a:p>
        </p:txBody>
      </p:sp>
      <p:sp>
        <p:nvSpPr>
          <p:cNvPr id="3" name="Subtítulo 2">
            <a:extLst>
              <a:ext uri="{FF2B5EF4-FFF2-40B4-BE49-F238E27FC236}">
                <a16:creationId xmlns:a16="http://schemas.microsoft.com/office/drawing/2014/main" id="{62FC1A8F-408C-49E7-BC11-8DB03E679A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CO"/>
          </a:p>
        </p:txBody>
      </p:sp>
      <p:sp>
        <p:nvSpPr>
          <p:cNvPr id="4" name="Marcador de fecha 3">
            <a:extLst>
              <a:ext uri="{FF2B5EF4-FFF2-40B4-BE49-F238E27FC236}">
                <a16:creationId xmlns:a16="http://schemas.microsoft.com/office/drawing/2014/main" id="{C715ABDB-8A25-4CE5-8FA4-A83E75AC8948}"/>
              </a:ext>
            </a:extLst>
          </p:cNvPr>
          <p:cNvSpPr>
            <a:spLocks noGrp="1"/>
          </p:cNvSpPr>
          <p:nvPr>
            <p:ph type="dt" sz="half" idx="10"/>
          </p:nvPr>
        </p:nvSpPr>
        <p:spPr/>
        <p:txBody>
          <a:bodyPr/>
          <a:lstStyle/>
          <a:p>
            <a:fld id="{93E9D6B8-5579-43BB-B455-9065CD0ADFC9}" type="datetimeFigureOut">
              <a:rPr lang="es-CO" smtClean="0"/>
              <a:t>2/10/2026</a:t>
            </a:fld>
            <a:endParaRPr lang="es-CO"/>
          </a:p>
        </p:txBody>
      </p:sp>
      <p:sp>
        <p:nvSpPr>
          <p:cNvPr id="5" name="Marcador de pie de página 4">
            <a:extLst>
              <a:ext uri="{FF2B5EF4-FFF2-40B4-BE49-F238E27FC236}">
                <a16:creationId xmlns:a16="http://schemas.microsoft.com/office/drawing/2014/main" id="{004D3370-BAA1-422C-8F8B-AD255E545EAD}"/>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D6A4B5AF-298D-4A41-9C43-8A942868F725}"/>
              </a:ext>
            </a:extLst>
          </p:cNvPr>
          <p:cNvSpPr>
            <a:spLocks noGrp="1"/>
          </p:cNvSpPr>
          <p:nvPr>
            <p:ph type="sldNum" sz="quarter" idx="12"/>
          </p:nvPr>
        </p:nvSpPr>
        <p:spPr/>
        <p:txBody>
          <a:bodyPr/>
          <a:lstStyle/>
          <a:p>
            <a:fld id="{F02EE436-99F1-4F6D-A5FC-68F56FAEBAFB}" type="slidenum">
              <a:rPr lang="es-CO" smtClean="0"/>
              <a:t>‹Nº›</a:t>
            </a:fld>
            <a:endParaRPr lang="es-CO"/>
          </a:p>
        </p:txBody>
      </p:sp>
    </p:spTree>
    <p:extLst>
      <p:ext uri="{BB962C8B-B14F-4D97-AF65-F5344CB8AC3E}">
        <p14:creationId xmlns:p14="http://schemas.microsoft.com/office/powerpoint/2010/main" val="9979792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9EDC9D-05C8-43F2-BFF8-2B3D6C314F4E}"/>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contenido 2">
            <a:extLst>
              <a:ext uri="{FF2B5EF4-FFF2-40B4-BE49-F238E27FC236}">
                <a16:creationId xmlns:a16="http://schemas.microsoft.com/office/drawing/2014/main" id="{C145C3B5-F63E-4B19-ACC5-CEF14D07904F}"/>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2EE9140F-A1C7-4CDC-B9EB-1E88AB997A99}"/>
              </a:ext>
            </a:extLst>
          </p:cNvPr>
          <p:cNvSpPr>
            <a:spLocks noGrp="1"/>
          </p:cNvSpPr>
          <p:nvPr>
            <p:ph type="dt" sz="half" idx="10"/>
          </p:nvPr>
        </p:nvSpPr>
        <p:spPr/>
        <p:txBody>
          <a:bodyPr/>
          <a:lstStyle/>
          <a:p>
            <a:fld id="{93E9D6B8-5579-43BB-B455-9065CD0ADFC9}" type="datetimeFigureOut">
              <a:rPr lang="es-CO" smtClean="0"/>
              <a:t>2/10/2026</a:t>
            </a:fld>
            <a:endParaRPr lang="es-CO"/>
          </a:p>
        </p:txBody>
      </p:sp>
      <p:sp>
        <p:nvSpPr>
          <p:cNvPr id="5" name="Marcador de pie de página 4">
            <a:extLst>
              <a:ext uri="{FF2B5EF4-FFF2-40B4-BE49-F238E27FC236}">
                <a16:creationId xmlns:a16="http://schemas.microsoft.com/office/drawing/2014/main" id="{EC441BAD-AE44-4F3A-A469-633D090C1CC1}"/>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1C69355-8B2D-4D94-8A7C-BB960A00A92F}"/>
              </a:ext>
            </a:extLst>
          </p:cNvPr>
          <p:cNvSpPr>
            <a:spLocks noGrp="1"/>
          </p:cNvSpPr>
          <p:nvPr>
            <p:ph type="sldNum" sz="quarter" idx="12"/>
          </p:nvPr>
        </p:nvSpPr>
        <p:spPr/>
        <p:txBody>
          <a:bodyPr/>
          <a:lstStyle/>
          <a:p>
            <a:fld id="{F02EE436-99F1-4F6D-A5FC-68F56FAEBAFB}" type="slidenum">
              <a:rPr lang="es-CO" smtClean="0"/>
              <a:t>‹Nº›</a:t>
            </a:fld>
            <a:endParaRPr lang="es-CO"/>
          </a:p>
        </p:txBody>
      </p:sp>
    </p:spTree>
    <p:extLst>
      <p:ext uri="{BB962C8B-B14F-4D97-AF65-F5344CB8AC3E}">
        <p14:creationId xmlns:p14="http://schemas.microsoft.com/office/powerpoint/2010/main" val="28296105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40A942-2659-469A-96B1-B1682C1A6F14}"/>
              </a:ext>
            </a:extLst>
          </p:cNvPr>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endParaRPr lang="es-CO"/>
          </a:p>
        </p:txBody>
      </p:sp>
      <p:sp>
        <p:nvSpPr>
          <p:cNvPr id="3" name="Marcador de texto 2">
            <a:extLst>
              <a:ext uri="{FF2B5EF4-FFF2-40B4-BE49-F238E27FC236}">
                <a16:creationId xmlns:a16="http://schemas.microsoft.com/office/drawing/2014/main" id="{A66D8770-FC43-4E13-BB6E-56F4293D4BF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65BDF625-DEA1-4CD4-99D6-09126F49C4A6}"/>
              </a:ext>
            </a:extLst>
          </p:cNvPr>
          <p:cNvSpPr>
            <a:spLocks noGrp="1"/>
          </p:cNvSpPr>
          <p:nvPr>
            <p:ph type="dt" sz="half" idx="10"/>
          </p:nvPr>
        </p:nvSpPr>
        <p:spPr/>
        <p:txBody>
          <a:bodyPr/>
          <a:lstStyle/>
          <a:p>
            <a:fld id="{93E9D6B8-5579-43BB-B455-9065CD0ADFC9}" type="datetimeFigureOut">
              <a:rPr lang="es-CO" smtClean="0"/>
              <a:t>2/10/2026</a:t>
            </a:fld>
            <a:endParaRPr lang="es-CO"/>
          </a:p>
        </p:txBody>
      </p:sp>
      <p:sp>
        <p:nvSpPr>
          <p:cNvPr id="5" name="Marcador de pie de página 4">
            <a:extLst>
              <a:ext uri="{FF2B5EF4-FFF2-40B4-BE49-F238E27FC236}">
                <a16:creationId xmlns:a16="http://schemas.microsoft.com/office/drawing/2014/main" id="{D518CB36-A5BE-4360-8438-EE069D2436E7}"/>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D110941-6122-4A96-B0B9-837401AC8DD4}"/>
              </a:ext>
            </a:extLst>
          </p:cNvPr>
          <p:cNvSpPr>
            <a:spLocks noGrp="1"/>
          </p:cNvSpPr>
          <p:nvPr>
            <p:ph type="sldNum" sz="quarter" idx="12"/>
          </p:nvPr>
        </p:nvSpPr>
        <p:spPr/>
        <p:txBody>
          <a:bodyPr/>
          <a:lstStyle/>
          <a:p>
            <a:fld id="{F02EE436-99F1-4F6D-A5FC-68F56FAEBAFB}" type="slidenum">
              <a:rPr lang="es-CO" smtClean="0"/>
              <a:t>‹Nº›</a:t>
            </a:fld>
            <a:endParaRPr lang="es-CO"/>
          </a:p>
        </p:txBody>
      </p:sp>
    </p:spTree>
    <p:extLst>
      <p:ext uri="{BB962C8B-B14F-4D97-AF65-F5344CB8AC3E}">
        <p14:creationId xmlns:p14="http://schemas.microsoft.com/office/powerpoint/2010/main" val="33336076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2DA1D2-61E3-4076-A24A-57C8C8FF663A}"/>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contenido 2">
            <a:extLst>
              <a:ext uri="{FF2B5EF4-FFF2-40B4-BE49-F238E27FC236}">
                <a16:creationId xmlns:a16="http://schemas.microsoft.com/office/drawing/2014/main" id="{360C5A68-CCB3-4B07-B11D-2F9063C8BE77}"/>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contenido 3">
            <a:extLst>
              <a:ext uri="{FF2B5EF4-FFF2-40B4-BE49-F238E27FC236}">
                <a16:creationId xmlns:a16="http://schemas.microsoft.com/office/drawing/2014/main" id="{34F30839-7E32-4EF4-98F5-B8CFDE5145B0}"/>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5" name="Marcador de fecha 4">
            <a:extLst>
              <a:ext uri="{FF2B5EF4-FFF2-40B4-BE49-F238E27FC236}">
                <a16:creationId xmlns:a16="http://schemas.microsoft.com/office/drawing/2014/main" id="{978BC141-8D36-4B86-8A3E-3B8EED3491A1}"/>
              </a:ext>
            </a:extLst>
          </p:cNvPr>
          <p:cNvSpPr>
            <a:spLocks noGrp="1"/>
          </p:cNvSpPr>
          <p:nvPr>
            <p:ph type="dt" sz="half" idx="10"/>
          </p:nvPr>
        </p:nvSpPr>
        <p:spPr/>
        <p:txBody>
          <a:bodyPr/>
          <a:lstStyle/>
          <a:p>
            <a:fld id="{93E9D6B8-5579-43BB-B455-9065CD0ADFC9}" type="datetimeFigureOut">
              <a:rPr lang="es-CO" smtClean="0"/>
              <a:t>2/10/2026</a:t>
            </a:fld>
            <a:endParaRPr lang="es-CO"/>
          </a:p>
        </p:txBody>
      </p:sp>
      <p:sp>
        <p:nvSpPr>
          <p:cNvPr id="6" name="Marcador de pie de página 5">
            <a:extLst>
              <a:ext uri="{FF2B5EF4-FFF2-40B4-BE49-F238E27FC236}">
                <a16:creationId xmlns:a16="http://schemas.microsoft.com/office/drawing/2014/main" id="{0EB82771-11DA-4C33-8E36-A3D010AA9D3D}"/>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0F0E41EA-7EEC-4B11-911C-5B52655F8433}"/>
              </a:ext>
            </a:extLst>
          </p:cNvPr>
          <p:cNvSpPr>
            <a:spLocks noGrp="1"/>
          </p:cNvSpPr>
          <p:nvPr>
            <p:ph type="sldNum" sz="quarter" idx="12"/>
          </p:nvPr>
        </p:nvSpPr>
        <p:spPr/>
        <p:txBody>
          <a:bodyPr/>
          <a:lstStyle/>
          <a:p>
            <a:fld id="{F02EE436-99F1-4F6D-A5FC-68F56FAEBAFB}" type="slidenum">
              <a:rPr lang="es-CO" smtClean="0"/>
              <a:t>‹Nº›</a:t>
            </a:fld>
            <a:endParaRPr lang="es-CO"/>
          </a:p>
        </p:txBody>
      </p:sp>
    </p:spTree>
    <p:extLst>
      <p:ext uri="{BB962C8B-B14F-4D97-AF65-F5344CB8AC3E}">
        <p14:creationId xmlns:p14="http://schemas.microsoft.com/office/powerpoint/2010/main" val="17308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188004-2276-4511-ADB3-AF8DC1418D32}"/>
              </a:ext>
            </a:extLst>
          </p:cNvPr>
          <p:cNvSpPr>
            <a:spLocks noGrp="1"/>
          </p:cNvSpPr>
          <p:nvPr>
            <p:ph type="title"/>
          </p:nvPr>
        </p:nvSpPr>
        <p:spPr>
          <a:xfrm>
            <a:off x="839788" y="365125"/>
            <a:ext cx="10515600" cy="1325563"/>
          </a:xfrm>
        </p:spPr>
        <p:txBody>
          <a:bodyPr/>
          <a:lstStyle/>
          <a:p>
            <a:r>
              <a:rPr lang="es-MX"/>
              <a:t>Haz clic para modificar el estilo de título del patrón</a:t>
            </a:r>
            <a:endParaRPr lang="es-CO"/>
          </a:p>
        </p:txBody>
      </p:sp>
      <p:sp>
        <p:nvSpPr>
          <p:cNvPr id="3" name="Marcador de texto 2">
            <a:extLst>
              <a:ext uri="{FF2B5EF4-FFF2-40B4-BE49-F238E27FC236}">
                <a16:creationId xmlns:a16="http://schemas.microsoft.com/office/drawing/2014/main" id="{F0D45D54-F2D6-4C67-A262-C8E71DF986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DAF44F1B-F6B9-486C-A32E-B9E1AD228A35}"/>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5" name="Marcador de texto 4">
            <a:extLst>
              <a:ext uri="{FF2B5EF4-FFF2-40B4-BE49-F238E27FC236}">
                <a16:creationId xmlns:a16="http://schemas.microsoft.com/office/drawing/2014/main" id="{0B0B35D0-AC0D-4F38-8BA6-F142A129A7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A1E2750E-4A92-48D5-A3D7-F789EDBC9DCB}"/>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7" name="Marcador de fecha 6">
            <a:extLst>
              <a:ext uri="{FF2B5EF4-FFF2-40B4-BE49-F238E27FC236}">
                <a16:creationId xmlns:a16="http://schemas.microsoft.com/office/drawing/2014/main" id="{86EF02BB-19B7-4E3C-B37F-38F643782894}"/>
              </a:ext>
            </a:extLst>
          </p:cNvPr>
          <p:cNvSpPr>
            <a:spLocks noGrp="1"/>
          </p:cNvSpPr>
          <p:nvPr>
            <p:ph type="dt" sz="half" idx="10"/>
          </p:nvPr>
        </p:nvSpPr>
        <p:spPr/>
        <p:txBody>
          <a:bodyPr/>
          <a:lstStyle/>
          <a:p>
            <a:fld id="{93E9D6B8-5579-43BB-B455-9065CD0ADFC9}" type="datetimeFigureOut">
              <a:rPr lang="es-CO" smtClean="0"/>
              <a:t>2/10/2026</a:t>
            </a:fld>
            <a:endParaRPr lang="es-CO"/>
          </a:p>
        </p:txBody>
      </p:sp>
      <p:sp>
        <p:nvSpPr>
          <p:cNvPr id="8" name="Marcador de pie de página 7">
            <a:extLst>
              <a:ext uri="{FF2B5EF4-FFF2-40B4-BE49-F238E27FC236}">
                <a16:creationId xmlns:a16="http://schemas.microsoft.com/office/drawing/2014/main" id="{EE04AECE-A522-4AD6-A703-EDA07245EBD7}"/>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1F67E73B-7679-4D78-A03D-10B39C6C5F39}"/>
              </a:ext>
            </a:extLst>
          </p:cNvPr>
          <p:cNvSpPr>
            <a:spLocks noGrp="1"/>
          </p:cNvSpPr>
          <p:nvPr>
            <p:ph type="sldNum" sz="quarter" idx="12"/>
          </p:nvPr>
        </p:nvSpPr>
        <p:spPr/>
        <p:txBody>
          <a:bodyPr/>
          <a:lstStyle/>
          <a:p>
            <a:fld id="{F02EE436-99F1-4F6D-A5FC-68F56FAEBAFB}" type="slidenum">
              <a:rPr lang="es-CO" smtClean="0"/>
              <a:t>‹Nº›</a:t>
            </a:fld>
            <a:endParaRPr lang="es-CO"/>
          </a:p>
        </p:txBody>
      </p:sp>
    </p:spTree>
    <p:extLst>
      <p:ext uri="{BB962C8B-B14F-4D97-AF65-F5344CB8AC3E}">
        <p14:creationId xmlns:p14="http://schemas.microsoft.com/office/powerpoint/2010/main" val="5339793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4BACF1-2609-431A-AAAF-4C02EE3785C8}"/>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fecha 2">
            <a:extLst>
              <a:ext uri="{FF2B5EF4-FFF2-40B4-BE49-F238E27FC236}">
                <a16:creationId xmlns:a16="http://schemas.microsoft.com/office/drawing/2014/main" id="{F02BE7A7-3C3C-4AD5-A98D-B6C877A5E473}"/>
              </a:ext>
            </a:extLst>
          </p:cNvPr>
          <p:cNvSpPr>
            <a:spLocks noGrp="1"/>
          </p:cNvSpPr>
          <p:nvPr>
            <p:ph type="dt" sz="half" idx="10"/>
          </p:nvPr>
        </p:nvSpPr>
        <p:spPr/>
        <p:txBody>
          <a:bodyPr/>
          <a:lstStyle/>
          <a:p>
            <a:fld id="{93E9D6B8-5579-43BB-B455-9065CD0ADFC9}" type="datetimeFigureOut">
              <a:rPr lang="es-CO" smtClean="0"/>
              <a:t>2/10/2026</a:t>
            </a:fld>
            <a:endParaRPr lang="es-CO"/>
          </a:p>
        </p:txBody>
      </p:sp>
      <p:sp>
        <p:nvSpPr>
          <p:cNvPr id="4" name="Marcador de pie de página 3">
            <a:extLst>
              <a:ext uri="{FF2B5EF4-FFF2-40B4-BE49-F238E27FC236}">
                <a16:creationId xmlns:a16="http://schemas.microsoft.com/office/drawing/2014/main" id="{9DBBE023-F0F6-42B0-9D47-ADF36C3B572B}"/>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74705CE0-A244-487D-9341-93CAF3AE9EDE}"/>
              </a:ext>
            </a:extLst>
          </p:cNvPr>
          <p:cNvSpPr>
            <a:spLocks noGrp="1"/>
          </p:cNvSpPr>
          <p:nvPr>
            <p:ph type="sldNum" sz="quarter" idx="12"/>
          </p:nvPr>
        </p:nvSpPr>
        <p:spPr/>
        <p:txBody>
          <a:bodyPr/>
          <a:lstStyle/>
          <a:p>
            <a:fld id="{F02EE436-99F1-4F6D-A5FC-68F56FAEBAFB}" type="slidenum">
              <a:rPr lang="es-CO" smtClean="0"/>
              <a:t>‹Nº›</a:t>
            </a:fld>
            <a:endParaRPr lang="es-CO"/>
          </a:p>
        </p:txBody>
      </p:sp>
    </p:spTree>
    <p:extLst>
      <p:ext uri="{BB962C8B-B14F-4D97-AF65-F5344CB8AC3E}">
        <p14:creationId xmlns:p14="http://schemas.microsoft.com/office/powerpoint/2010/main" val="34544701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ED62BE20-FB31-4FDF-BD72-6C0D2C14B4EE}"/>
              </a:ext>
            </a:extLst>
          </p:cNvPr>
          <p:cNvSpPr>
            <a:spLocks noGrp="1"/>
          </p:cNvSpPr>
          <p:nvPr>
            <p:ph type="dt" sz="half" idx="10"/>
          </p:nvPr>
        </p:nvSpPr>
        <p:spPr/>
        <p:txBody>
          <a:bodyPr/>
          <a:lstStyle/>
          <a:p>
            <a:fld id="{93E9D6B8-5579-43BB-B455-9065CD0ADFC9}" type="datetimeFigureOut">
              <a:rPr lang="es-CO" smtClean="0"/>
              <a:t>2/10/2026</a:t>
            </a:fld>
            <a:endParaRPr lang="es-CO"/>
          </a:p>
        </p:txBody>
      </p:sp>
      <p:sp>
        <p:nvSpPr>
          <p:cNvPr id="3" name="Marcador de pie de página 2">
            <a:extLst>
              <a:ext uri="{FF2B5EF4-FFF2-40B4-BE49-F238E27FC236}">
                <a16:creationId xmlns:a16="http://schemas.microsoft.com/office/drawing/2014/main" id="{5E76A5CB-3CC0-47BD-9541-6DC8D57C6AAA}"/>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5581B8F2-74E0-473D-BC37-B0BA5EDF3E0F}"/>
              </a:ext>
            </a:extLst>
          </p:cNvPr>
          <p:cNvSpPr>
            <a:spLocks noGrp="1"/>
          </p:cNvSpPr>
          <p:nvPr>
            <p:ph type="sldNum" sz="quarter" idx="12"/>
          </p:nvPr>
        </p:nvSpPr>
        <p:spPr/>
        <p:txBody>
          <a:bodyPr/>
          <a:lstStyle/>
          <a:p>
            <a:fld id="{F02EE436-99F1-4F6D-A5FC-68F56FAEBAFB}" type="slidenum">
              <a:rPr lang="es-CO" smtClean="0"/>
              <a:t>‹Nº›</a:t>
            </a:fld>
            <a:endParaRPr lang="es-CO"/>
          </a:p>
        </p:txBody>
      </p:sp>
    </p:spTree>
    <p:extLst>
      <p:ext uri="{BB962C8B-B14F-4D97-AF65-F5344CB8AC3E}">
        <p14:creationId xmlns:p14="http://schemas.microsoft.com/office/powerpoint/2010/main" val="34108539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DAA823-B37A-410C-A618-7D624CC88B50}"/>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contenido 2">
            <a:extLst>
              <a:ext uri="{FF2B5EF4-FFF2-40B4-BE49-F238E27FC236}">
                <a16:creationId xmlns:a16="http://schemas.microsoft.com/office/drawing/2014/main" id="{F4E13B61-8112-4EA1-96D8-AC4BB05B36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texto 3">
            <a:extLst>
              <a:ext uri="{FF2B5EF4-FFF2-40B4-BE49-F238E27FC236}">
                <a16:creationId xmlns:a16="http://schemas.microsoft.com/office/drawing/2014/main" id="{6D965709-2EF8-44C4-B192-B013E112C4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E35D09C0-BFD1-4178-B973-34B5BCE054E0}"/>
              </a:ext>
            </a:extLst>
          </p:cNvPr>
          <p:cNvSpPr>
            <a:spLocks noGrp="1"/>
          </p:cNvSpPr>
          <p:nvPr>
            <p:ph type="dt" sz="half" idx="10"/>
          </p:nvPr>
        </p:nvSpPr>
        <p:spPr/>
        <p:txBody>
          <a:bodyPr/>
          <a:lstStyle/>
          <a:p>
            <a:fld id="{93E9D6B8-5579-43BB-B455-9065CD0ADFC9}" type="datetimeFigureOut">
              <a:rPr lang="es-CO" smtClean="0"/>
              <a:t>2/10/2026</a:t>
            </a:fld>
            <a:endParaRPr lang="es-CO"/>
          </a:p>
        </p:txBody>
      </p:sp>
      <p:sp>
        <p:nvSpPr>
          <p:cNvPr id="6" name="Marcador de pie de página 5">
            <a:extLst>
              <a:ext uri="{FF2B5EF4-FFF2-40B4-BE49-F238E27FC236}">
                <a16:creationId xmlns:a16="http://schemas.microsoft.com/office/drawing/2014/main" id="{83A6232D-2C65-4DDF-809D-E82D0A0DCC26}"/>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C9A3A7C5-3E94-4218-89DA-37895AB9490B}"/>
              </a:ext>
            </a:extLst>
          </p:cNvPr>
          <p:cNvSpPr>
            <a:spLocks noGrp="1"/>
          </p:cNvSpPr>
          <p:nvPr>
            <p:ph type="sldNum" sz="quarter" idx="12"/>
          </p:nvPr>
        </p:nvSpPr>
        <p:spPr/>
        <p:txBody>
          <a:bodyPr/>
          <a:lstStyle/>
          <a:p>
            <a:fld id="{F02EE436-99F1-4F6D-A5FC-68F56FAEBAFB}" type="slidenum">
              <a:rPr lang="es-CO" smtClean="0"/>
              <a:t>‹Nº›</a:t>
            </a:fld>
            <a:endParaRPr lang="es-CO"/>
          </a:p>
        </p:txBody>
      </p:sp>
    </p:spTree>
    <p:extLst>
      <p:ext uri="{BB962C8B-B14F-4D97-AF65-F5344CB8AC3E}">
        <p14:creationId xmlns:p14="http://schemas.microsoft.com/office/powerpoint/2010/main" val="31920515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0A8FA8-412B-42AB-A7F6-5F7A1015689E}"/>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posición de imagen 2">
            <a:extLst>
              <a:ext uri="{FF2B5EF4-FFF2-40B4-BE49-F238E27FC236}">
                <a16:creationId xmlns:a16="http://schemas.microsoft.com/office/drawing/2014/main" id="{AB145078-AAE2-4ECB-AA08-5AABE51D31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6567B250-0BE0-4D45-82D1-2A0DBBEAAC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78E8E942-A1E0-4016-95C8-9B9BF89AF8C3}"/>
              </a:ext>
            </a:extLst>
          </p:cNvPr>
          <p:cNvSpPr>
            <a:spLocks noGrp="1"/>
          </p:cNvSpPr>
          <p:nvPr>
            <p:ph type="dt" sz="half" idx="10"/>
          </p:nvPr>
        </p:nvSpPr>
        <p:spPr/>
        <p:txBody>
          <a:bodyPr/>
          <a:lstStyle/>
          <a:p>
            <a:fld id="{93E9D6B8-5579-43BB-B455-9065CD0ADFC9}" type="datetimeFigureOut">
              <a:rPr lang="es-CO" smtClean="0"/>
              <a:t>2/10/2026</a:t>
            </a:fld>
            <a:endParaRPr lang="es-CO"/>
          </a:p>
        </p:txBody>
      </p:sp>
      <p:sp>
        <p:nvSpPr>
          <p:cNvPr id="6" name="Marcador de pie de página 5">
            <a:extLst>
              <a:ext uri="{FF2B5EF4-FFF2-40B4-BE49-F238E27FC236}">
                <a16:creationId xmlns:a16="http://schemas.microsoft.com/office/drawing/2014/main" id="{11955E18-5513-4AE6-B234-4D7C68EFF218}"/>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FC1378B4-1B1F-4C5F-8872-C41FF35852EF}"/>
              </a:ext>
            </a:extLst>
          </p:cNvPr>
          <p:cNvSpPr>
            <a:spLocks noGrp="1"/>
          </p:cNvSpPr>
          <p:nvPr>
            <p:ph type="sldNum" sz="quarter" idx="12"/>
          </p:nvPr>
        </p:nvSpPr>
        <p:spPr/>
        <p:txBody>
          <a:bodyPr/>
          <a:lstStyle/>
          <a:p>
            <a:fld id="{F02EE436-99F1-4F6D-A5FC-68F56FAEBAFB}" type="slidenum">
              <a:rPr lang="es-CO" smtClean="0"/>
              <a:t>‹Nº›</a:t>
            </a:fld>
            <a:endParaRPr lang="es-CO"/>
          </a:p>
        </p:txBody>
      </p:sp>
    </p:spTree>
    <p:extLst>
      <p:ext uri="{BB962C8B-B14F-4D97-AF65-F5344CB8AC3E}">
        <p14:creationId xmlns:p14="http://schemas.microsoft.com/office/powerpoint/2010/main" val="27304533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7E4E18-2990-483E-88E0-43DF74DAA6B6}"/>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texto vertical 2">
            <a:extLst>
              <a:ext uri="{FF2B5EF4-FFF2-40B4-BE49-F238E27FC236}">
                <a16:creationId xmlns:a16="http://schemas.microsoft.com/office/drawing/2014/main" id="{DBD4B2C7-D083-46AA-8E5A-D003959E8507}"/>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FD6C4379-68F4-457A-BA8D-C77E63F51A45}"/>
              </a:ext>
            </a:extLst>
          </p:cNvPr>
          <p:cNvSpPr>
            <a:spLocks noGrp="1"/>
          </p:cNvSpPr>
          <p:nvPr>
            <p:ph type="dt" sz="half" idx="10"/>
          </p:nvPr>
        </p:nvSpPr>
        <p:spPr/>
        <p:txBody>
          <a:bodyPr/>
          <a:lstStyle/>
          <a:p>
            <a:fld id="{93E9D6B8-5579-43BB-B455-9065CD0ADFC9}" type="datetimeFigureOut">
              <a:rPr lang="es-CO" smtClean="0"/>
              <a:t>2/10/2026</a:t>
            </a:fld>
            <a:endParaRPr lang="es-CO"/>
          </a:p>
        </p:txBody>
      </p:sp>
      <p:sp>
        <p:nvSpPr>
          <p:cNvPr id="5" name="Marcador de pie de página 4">
            <a:extLst>
              <a:ext uri="{FF2B5EF4-FFF2-40B4-BE49-F238E27FC236}">
                <a16:creationId xmlns:a16="http://schemas.microsoft.com/office/drawing/2014/main" id="{DC6ED189-6619-461C-A861-98582B5036A4}"/>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FA1ACA52-8342-415B-9FF6-9420BAE42F55}"/>
              </a:ext>
            </a:extLst>
          </p:cNvPr>
          <p:cNvSpPr>
            <a:spLocks noGrp="1"/>
          </p:cNvSpPr>
          <p:nvPr>
            <p:ph type="sldNum" sz="quarter" idx="12"/>
          </p:nvPr>
        </p:nvSpPr>
        <p:spPr/>
        <p:txBody>
          <a:bodyPr/>
          <a:lstStyle/>
          <a:p>
            <a:fld id="{F02EE436-99F1-4F6D-A5FC-68F56FAEBAFB}" type="slidenum">
              <a:rPr lang="es-CO" smtClean="0"/>
              <a:t>‹Nº›</a:t>
            </a:fld>
            <a:endParaRPr lang="es-CO"/>
          </a:p>
        </p:txBody>
      </p:sp>
    </p:spTree>
    <p:extLst>
      <p:ext uri="{BB962C8B-B14F-4D97-AF65-F5344CB8AC3E}">
        <p14:creationId xmlns:p14="http://schemas.microsoft.com/office/powerpoint/2010/main" val="13320204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20C05042-F31B-46E1-89C3-EB12F1454A8F}"/>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endParaRPr lang="es-CO"/>
          </a:p>
        </p:txBody>
      </p:sp>
      <p:sp>
        <p:nvSpPr>
          <p:cNvPr id="3" name="Marcador de texto vertical 2">
            <a:extLst>
              <a:ext uri="{FF2B5EF4-FFF2-40B4-BE49-F238E27FC236}">
                <a16:creationId xmlns:a16="http://schemas.microsoft.com/office/drawing/2014/main" id="{D8D980B7-5C1A-42C0-B044-528FDD08A1FF}"/>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15D63FF1-7E5D-4612-B288-E5EB4E4C0984}"/>
              </a:ext>
            </a:extLst>
          </p:cNvPr>
          <p:cNvSpPr>
            <a:spLocks noGrp="1"/>
          </p:cNvSpPr>
          <p:nvPr>
            <p:ph type="dt" sz="half" idx="10"/>
          </p:nvPr>
        </p:nvSpPr>
        <p:spPr/>
        <p:txBody>
          <a:bodyPr/>
          <a:lstStyle/>
          <a:p>
            <a:fld id="{93E9D6B8-5579-43BB-B455-9065CD0ADFC9}" type="datetimeFigureOut">
              <a:rPr lang="es-CO" smtClean="0"/>
              <a:t>2/10/2026</a:t>
            </a:fld>
            <a:endParaRPr lang="es-CO"/>
          </a:p>
        </p:txBody>
      </p:sp>
      <p:sp>
        <p:nvSpPr>
          <p:cNvPr id="5" name="Marcador de pie de página 4">
            <a:extLst>
              <a:ext uri="{FF2B5EF4-FFF2-40B4-BE49-F238E27FC236}">
                <a16:creationId xmlns:a16="http://schemas.microsoft.com/office/drawing/2014/main" id="{7C5C76A6-39D9-4184-87DD-073172AF086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CE04071-4B44-4CBB-82A1-C0A60DBDC393}"/>
              </a:ext>
            </a:extLst>
          </p:cNvPr>
          <p:cNvSpPr>
            <a:spLocks noGrp="1"/>
          </p:cNvSpPr>
          <p:nvPr>
            <p:ph type="sldNum" sz="quarter" idx="12"/>
          </p:nvPr>
        </p:nvSpPr>
        <p:spPr/>
        <p:txBody>
          <a:bodyPr/>
          <a:lstStyle/>
          <a:p>
            <a:fld id="{F02EE436-99F1-4F6D-A5FC-68F56FAEBAFB}" type="slidenum">
              <a:rPr lang="es-CO" smtClean="0"/>
              <a:t>‹Nº›</a:t>
            </a:fld>
            <a:endParaRPr lang="es-CO"/>
          </a:p>
        </p:txBody>
      </p:sp>
    </p:spTree>
    <p:extLst>
      <p:ext uri="{BB962C8B-B14F-4D97-AF65-F5344CB8AC3E}">
        <p14:creationId xmlns:p14="http://schemas.microsoft.com/office/powerpoint/2010/main" val="235212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body" idx="1"/>
          </p:nvPr>
        </p:nvSpPr>
        <p:spPr>
          <a:xfrm>
            <a:off x="127000" y="1485900"/>
            <a:ext cx="11226800" cy="4691063"/>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Noto Sans"/>
                <a:ea typeface="Noto Sans"/>
                <a:cs typeface="Noto Sans"/>
                <a:sym typeface="Noto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Noto Sans"/>
                <a:ea typeface="Noto Sans"/>
                <a:cs typeface="Noto Sans"/>
                <a:sym typeface="Noto Sans"/>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Noto Sans"/>
                <a:ea typeface="Noto Sans"/>
                <a:cs typeface="Noto Sans"/>
                <a:sym typeface="Noto Sans"/>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Noto Sans"/>
                <a:ea typeface="Noto Sans"/>
                <a:cs typeface="Noto Sans"/>
                <a:sym typeface="Noto Sans"/>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Noto Sans"/>
                <a:ea typeface="Noto Sans"/>
                <a:cs typeface="Noto Sans"/>
                <a:sym typeface="Noto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1" name="Google Shape;11;p1"/>
          <p:cNvSpPr txBox="1">
            <a:spLocks noGrp="1"/>
          </p:cNvSpPr>
          <p:nvPr>
            <p:ph type="title"/>
          </p:nvPr>
        </p:nvSpPr>
        <p:spPr>
          <a:xfrm>
            <a:off x="127000" y="217365"/>
            <a:ext cx="11226800" cy="112767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000"/>
              <a:buFont typeface="Noto Sans SemiBold"/>
              <a:buNone/>
              <a:defRPr sz="4000" b="1" i="0" u="none" strike="noStrike" cap="none">
                <a:solidFill>
                  <a:schemeClr val="dk1"/>
                </a:solidFill>
                <a:latin typeface="Noto Sans SemiBold"/>
                <a:ea typeface="Noto Sans SemiBold"/>
                <a:cs typeface="Noto Sans SemiBold"/>
                <a:sym typeface="Noto Sans SemiBold"/>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3" r:id="rId3"/>
    <p:sldLayoutId id="2147483657" r:id="rId4"/>
    <p:sldLayoutId id="2147483661" r:id="rId5"/>
    <p:sldLayoutId id="2147483662" r:id="rId6"/>
    <p:sldLayoutId id="2147483663" r:id="rId7"/>
    <p:sldLayoutId id="2147483664" r:id="rId8"/>
    <p:sldLayoutId id="2147483665" r:id="rId9"/>
    <p:sldLayoutId id="2147483666"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122EB26D-21A2-43A1-93C1-372F295E198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O"/>
          </a:p>
        </p:txBody>
      </p:sp>
      <p:sp>
        <p:nvSpPr>
          <p:cNvPr id="3" name="Marcador de texto 2">
            <a:extLst>
              <a:ext uri="{FF2B5EF4-FFF2-40B4-BE49-F238E27FC236}">
                <a16:creationId xmlns:a16="http://schemas.microsoft.com/office/drawing/2014/main" id="{B1FED00D-CAD3-42C6-B212-6DAE6F6D2E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B8C1317E-59CB-4E30-B479-59C77FF64F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E9D6B8-5579-43BB-B455-9065CD0ADFC9}" type="datetimeFigureOut">
              <a:rPr lang="es-CO" smtClean="0"/>
              <a:t>2/10/2026</a:t>
            </a:fld>
            <a:endParaRPr lang="es-CO"/>
          </a:p>
        </p:txBody>
      </p:sp>
      <p:sp>
        <p:nvSpPr>
          <p:cNvPr id="5" name="Marcador de pie de página 4">
            <a:extLst>
              <a:ext uri="{FF2B5EF4-FFF2-40B4-BE49-F238E27FC236}">
                <a16:creationId xmlns:a16="http://schemas.microsoft.com/office/drawing/2014/main" id="{FF3BE975-65F2-47B6-A241-AD12E1E412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072F7CAF-34CC-47FA-9F49-B78FC094B84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2EE436-99F1-4F6D-A5FC-68F56FAEBAFB}" type="slidenum">
              <a:rPr lang="es-CO" smtClean="0"/>
              <a:t>‹Nº›</a:t>
            </a:fld>
            <a:endParaRPr lang="es-CO"/>
          </a:p>
        </p:txBody>
      </p:sp>
    </p:spTree>
    <p:extLst>
      <p:ext uri="{BB962C8B-B14F-4D97-AF65-F5344CB8AC3E}">
        <p14:creationId xmlns:p14="http://schemas.microsoft.com/office/powerpoint/2010/main" val="4034643931"/>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hyperlink" Target="https://colab.research.google.com/github/ISARICResearch/Dissemination/blob/main/workshops/federated%20analytics/FederatedAnalysis_Project/notebooks/02_descriptive_analysis.ipynb" TargetMode="Externa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8" Type="http://schemas.openxmlformats.org/officeDocument/2006/relationships/hyperlink" Target="https://doi.org/10.1002/9781119536604.ch6" TargetMode="External"/><Relationship Id="rId3" Type="http://schemas.openxmlformats.org/officeDocument/2006/relationships/hyperlink" Target="https://pubmed.ncbi.nlm.nih.gov/32858236/" TargetMode="External"/><Relationship Id="rId7" Type="http://schemas.openxmlformats.org/officeDocument/2006/relationships/hyperlink" Target="https://pubmed.ncbi.nlm.nih.gov/29366561/" TargetMode="External"/><Relationship Id="rId2" Type="http://schemas.openxmlformats.org/officeDocument/2006/relationships/hyperlink" Target="https://doi.org/10.1016/j.jtho.2020.08.019" TargetMode="External"/><Relationship Id="rId1" Type="http://schemas.openxmlformats.org/officeDocument/2006/relationships/slideLayout" Target="../slideLayouts/slideLayout3.xml"/><Relationship Id="rId6" Type="http://schemas.openxmlformats.org/officeDocument/2006/relationships/hyperlink" Target="https://doi.org/10.1016/j.jbiomech.2018.01.013" TargetMode="External"/><Relationship Id="rId5" Type="http://schemas.openxmlformats.org/officeDocument/2006/relationships/hyperlink" Target="https://pubmed.ncbi.nlm.nih.gov/31229583/" TargetMode="External"/><Relationship Id="rId4" Type="http://schemas.openxmlformats.org/officeDocument/2006/relationships/hyperlink" Target="https://doi.org/10.1016/j.jclinepi.2019.06.01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832104" y="2103120"/>
            <a:ext cx="10515600" cy="2011680"/>
          </a:xfrm>
        </p:spPr>
        <p:txBody>
          <a:bodyPr anchor="b">
            <a:noAutofit/>
          </a:bodyPr>
          <a:lstStyle/>
          <a:p>
            <a:pPr marL="0" indent="0" algn="l">
              <a:lnSpc>
                <a:spcPct val="90000"/>
              </a:lnSpc>
              <a:spcBef>
                <a:spcPts val="0"/>
              </a:spcBef>
              <a:spcAft>
                <a:spcPts val="0"/>
              </a:spcAft>
              <a:buNone/>
            </a:pPr>
            <a:r>
              <a:rPr lang="es-CO" sz="6000" b="0" dirty="0">
                <a:solidFill>
                  <a:srgbClr val="0673BA"/>
                </a:solidFill>
                <a:latin typeface="Noto Sans SemiBold"/>
                <a:ea typeface="Noto Sans SemiBold"/>
                <a:cs typeface="Noto Sans SemiBold"/>
                <a:sym typeface="Noto Sans SemiBold"/>
              </a:rPr>
              <a:t>Estadística descriptiva</a:t>
            </a:r>
            <a:endParaRPr lang="es-CO" sz="6000" dirty="0"/>
          </a:p>
        </p:txBody>
      </p:sp>
      <p:sp>
        <p:nvSpPr>
          <p:cNvPr id="3" name="Subtitle 3"/>
          <p:cNvSpPr>
            <a:spLocks noGrp="1"/>
          </p:cNvSpPr>
          <p:nvPr>
            <p:ph type="body" idx="1"/>
          </p:nvPr>
        </p:nvSpPr>
        <p:spPr>
          <a:xfrm>
            <a:off x="832104" y="4297680"/>
            <a:ext cx="10515600" cy="1097280"/>
          </a:xfrm>
        </p:spPr>
        <p:txBody>
          <a:bodyPr anchor="t">
            <a:noAutofit/>
          </a:bodyPr>
          <a:lstStyle/>
          <a:p>
            <a:pPr marL="0" indent="0" algn="l">
              <a:lnSpc>
                <a:spcPct val="100000"/>
              </a:lnSpc>
              <a:spcBef>
                <a:spcPts val="0"/>
              </a:spcBef>
              <a:spcAft>
                <a:spcPts val="0"/>
              </a:spcAft>
              <a:buNone/>
            </a:pPr>
            <a:r>
              <a:rPr lang="es-CO" sz="2800" b="0" dirty="0">
                <a:solidFill>
                  <a:srgbClr val="595959"/>
                </a:solidFill>
                <a:latin typeface="Noto Sans"/>
                <a:ea typeface="Noto Sans"/>
                <a:cs typeface="Noto Sans"/>
                <a:sym typeface="Noto Sans"/>
              </a:rPr>
              <a:t>Análisis federado para la investigación en salud en Colombia</a:t>
            </a:r>
            <a:endParaRPr lang="es-CO"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Introducción</a:t>
            </a:r>
            <a:endParaRPr lang="es-CO" sz="3600" dirty="0"/>
          </a:p>
        </p:txBody>
      </p:sp>
      <p:sp>
        <p:nvSpPr>
          <p:cNvPr id="3" name="TextBox 3"/>
          <p:cNvSpPr txBox="1"/>
          <p:nvPr/>
        </p:nvSpPr>
        <p:spPr>
          <a:xfrm>
            <a:off x="548640" y="1737360"/>
            <a:ext cx="11091672" cy="438912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2400"/>
              </a:spcAft>
              <a:buNone/>
            </a:pPr>
            <a:r>
              <a:rPr lang="es-CO" sz="2200" b="0" dirty="0">
                <a:solidFill>
                  <a:schemeClr val="tx1"/>
                </a:solidFill>
                <a:latin typeface="Noto Sans"/>
                <a:ea typeface="Noto Sans"/>
                <a:cs typeface="Noto Sans"/>
                <a:sym typeface="Noto Sans"/>
              </a:rPr>
              <a:t>La estadística descriptiva resume las características principales de una base de datos mediante un conjunto de medidas estadísticas.</a:t>
            </a:r>
          </a:p>
          <a:p>
            <a:pPr marL="0" indent="0" algn="just">
              <a:lnSpc>
                <a:spcPct val="90000"/>
              </a:lnSpc>
              <a:spcBef>
                <a:spcPts val="0"/>
              </a:spcBef>
              <a:spcAft>
                <a:spcPts val="0"/>
              </a:spcAft>
              <a:buNone/>
            </a:pPr>
            <a:r>
              <a:rPr lang="es-CO" sz="2200" b="0" dirty="0">
                <a:solidFill>
                  <a:schemeClr val="tx1"/>
                </a:solidFill>
                <a:latin typeface="Noto Sans"/>
                <a:ea typeface="Noto Sans"/>
                <a:cs typeface="Noto Sans"/>
                <a:sym typeface="Noto Sans"/>
              </a:rPr>
              <a:t>Ofrece una imagen clara de la población estudiada y suele ser el primer resultado que se reporta en un estudio clínico o epidemiológico [1,2].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Objetivo</a:t>
            </a:r>
            <a:endParaRPr lang="es-CO" sz="3600" dirty="0"/>
          </a:p>
        </p:txBody>
      </p:sp>
      <p:sp>
        <p:nvSpPr>
          <p:cNvPr id="3" name="TextBox 3"/>
          <p:cNvSpPr txBox="1"/>
          <p:nvPr/>
        </p:nvSpPr>
        <p:spPr>
          <a:xfrm>
            <a:off x="548640" y="1737360"/>
            <a:ext cx="11091672" cy="438912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1000"/>
              </a:spcAft>
              <a:buNone/>
            </a:pPr>
            <a:r>
              <a:rPr lang="es-CO" sz="2200" b="0" dirty="0">
                <a:solidFill>
                  <a:schemeClr val="tx1"/>
                </a:solidFill>
                <a:latin typeface="Noto Sans"/>
                <a:ea typeface="Noto Sans"/>
                <a:cs typeface="Noto Sans"/>
                <a:sym typeface="Noto Sans"/>
              </a:rPr>
              <a:t>Comparar las estadísticas descriptivas obtenidas con los enfoques centralizado </a:t>
            </a:r>
            <a:r>
              <a:rPr lang="es-CO" sz="2200" b="0">
                <a:solidFill>
                  <a:schemeClr val="tx1"/>
                </a:solidFill>
                <a:latin typeface="Noto Sans"/>
                <a:ea typeface="Noto Sans"/>
                <a:cs typeface="Noto Sans"/>
                <a:sym typeface="Noto Sans"/>
              </a:rPr>
              <a:t>y federado.</a:t>
            </a:r>
            <a:endParaRPr lang="es-CO" sz="2200" b="0" dirty="0">
              <a:solidFill>
                <a:schemeClr val="tx1"/>
              </a:solidFill>
              <a:latin typeface="Noto Sans"/>
              <a:ea typeface="Noto Sans"/>
              <a:cs typeface="Noto Sans"/>
              <a:sym typeface="Noto Sans"/>
            </a:endParaRPr>
          </a:p>
        </p:txBody>
      </p:sp>
      <p:sp>
        <p:nvSpPr>
          <p:cNvPr id="4" name="Title 2">
            <a:extLst>
              <a:ext uri="{FF2B5EF4-FFF2-40B4-BE49-F238E27FC236}">
                <a16:creationId xmlns:a16="http://schemas.microsoft.com/office/drawing/2014/main" id="{B55DEF41-5B19-77D8-5848-068B7DC09794}"/>
              </a:ext>
            </a:extLst>
          </p:cNvPr>
          <p:cNvSpPr txBox="1">
            <a:spLocks/>
          </p:cNvSpPr>
          <p:nvPr/>
        </p:nvSpPr>
        <p:spPr>
          <a:xfrm>
            <a:off x="548640" y="2934761"/>
            <a:ext cx="11091672" cy="6858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6000"/>
              <a:buFont typeface="Noto Sans SemiBold"/>
              <a:buNone/>
              <a:defRPr sz="6000" b="1" i="0" u="none" strike="noStrike" cap="none">
                <a:solidFill>
                  <a:schemeClr val="dk1"/>
                </a:solidFill>
                <a:latin typeface="Noto Sans SemiBold"/>
                <a:ea typeface="Noto Sans SemiBold"/>
                <a:cs typeface="Noto Sans SemiBold"/>
                <a:sym typeface="Noto Sans SemiBold"/>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s-CO" sz="3600" b="0">
                <a:solidFill>
                  <a:srgbClr val="0E2841"/>
                </a:solidFill>
              </a:rPr>
              <a:t>Acceso al notebook</a:t>
            </a:r>
            <a:endParaRPr lang="es-CO" sz="3600" dirty="0"/>
          </a:p>
        </p:txBody>
      </p:sp>
      <p:sp>
        <p:nvSpPr>
          <p:cNvPr id="5" name="TextBox 3">
            <a:extLst>
              <a:ext uri="{FF2B5EF4-FFF2-40B4-BE49-F238E27FC236}">
                <a16:creationId xmlns:a16="http://schemas.microsoft.com/office/drawing/2014/main" id="{00680884-00D8-6AF5-66A7-2575A98825C7}"/>
              </a:ext>
            </a:extLst>
          </p:cNvPr>
          <p:cNvSpPr txBox="1"/>
          <p:nvPr/>
        </p:nvSpPr>
        <p:spPr>
          <a:xfrm>
            <a:off x="548640" y="3684569"/>
            <a:ext cx="11091672" cy="91440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0"/>
              </a:spcAft>
              <a:buNone/>
            </a:pPr>
            <a:r>
              <a:rPr lang="es-CO" sz="2200" b="0" dirty="0">
                <a:solidFill>
                  <a:schemeClr val="tx1"/>
                </a:solidFill>
                <a:latin typeface="Noto Sans"/>
                <a:ea typeface="Noto Sans"/>
                <a:cs typeface="Noto Sans"/>
                <a:sym typeface="Noto Sans"/>
              </a:rPr>
              <a:t>El notebook de este taller se puede abrir directamente en Google Colab desde el siguiente enlace:</a:t>
            </a:r>
          </a:p>
        </p:txBody>
      </p:sp>
      <p:graphicFrame>
        <p:nvGraphicFramePr>
          <p:cNvPr id="6" name="Notebook link">
            <a:extLst>
              <a:ext uri="{FF2B5EF4-FFF2-40B4-BE49-F238E27FC236}">
                <a16:creationId xmlns:a16="http://schemas.microsoft.com/office/drawing/2014/main" id="{D3475CFE-462A-9E65-9604-D4AE781E2172}"/>
              </a:ext>
            </a:extLst>
          </p:cNvPr>
          <p:cNvGraphicFramePr>
            <a:graphicFrameLocks noGrp="1"/>
          </p:cNvGraphicFramePr>
          <p:nvPr>
            <p:extLst>
              <p:ext uri="{D42A27DB-BD31-4B8C-83A1-F6EECF244321}">
                <p14:modId xmlns:p14="http://schemas.microsoft.com/office/powerpoint/2010/main" val="3142766232"/>
              </p:ext>
            </p:extLst>
          </p:nvPr>
        </p:nvGraphicFramePr>
        <p:xfrm>
          <a:off x="548640" y="4690409"/>
          <a:ext cx="11091672" cy="877824"/>
        </p:xfrm>
        <a:graphic>
          <a:graphicData uri="http://schemas.openxmlformats.org/drawingml/2006/table">
            <a:tbl>
              <a:tblPr firstRow="1" bandRow="1"/>
              <a:tblGrid>
                <a:gridCol w="4206240">
                  <a:extLst>
                    <a:ext uri="{9D8B030D-6E8A-4147-A177-3AD203B41FA5}">
                      <a16:colId xmlns:a16="http://schemas.microsoft.com/office/drawing/2014/main" val="20000"/>
                    </a:ext>
                  </a:extLst>
                </a:gridCol>
                <a:gridCol w="5148072">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438912">
                <a:tc>
                  <a:txBody>
                    <a:bodyPr/>
                    <a:lstStyle/>
                    <a:p>
                      <a:pPr marL="0" indent="0" algn="l">
                        <a:lnSpc>
                          <a:spcPct val="90000"/>
                        </a:lnSpc>
                        <a:spcBef>
                          <a:spcPts val="0"/>
                        </a:spcBef>
                        <a:spcAft>
                          <a:spcPts val="0"/>
                        </a:spcAft>
                        <a:buNone/>
                      </a:pPr>
                      <a:r>
                        <a:rPr lang="es-CO" sz="2000" b="1" dirty="0">
                          <a:solidFill>
                            <a:srgbClr val="FFFFFF"/>
                          </a:solidFill>
                          <a:latin typeface="Noto Sans"/>
                          <a:ea typeface="Noto Sans"/>
                          <a:cs typeface="Noto Sans"/>
                          <a:sym typeface="Noto Sans"/>
                        </a:rPr>
                        <a:t>Notebook</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673BA"/>
                    </a:solidFill>
                  </a:tcPr>
                </a:tc>
                <a:tc>
                  <a:txBody>
                    <a:bodyPr/>
                    <a:lstStyle/>
                    <a:p>
                      <a:pPr marL="0" indent="0" algn="l">
                        <a:lnSpc>
                          <a:spcPct val="90000"/>
                        </a:lnSpc>
                        <a:spcBef>
                          <a:spcPts val="0"/>
                        </a:spcBef>
                        <a:spcAft>
                          <a:spcPts val="0"/>
                        </a:spcAft>
                        <a:buNone/>
                      </a:pPr>
                      <a:r>
                        <a:rPr lang="es-CO" sz="2000" b="1" dirty="0">
                          <a:solidFill>
                            <a:srgbClr val="FFFFFF"/>
                          </a:solidFill>
                          <a:latin typeface="Noto Sans"/>
                          <a:ea typeface="Noto Sans"/>
                          <a:cs typeface="Noto Sans"/>
                          <a:sym typeface="Noto Sans"/>
                        </a:rPr>
                        <a:t>Análisis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673BA"/>
                    </a:solidFill>
                  </a:tcPr>
                </a:tc>
                <a:tc>
                  <a:txBody>
                    <a:bodyPr/>
                    <a:lstStyle/>
                    <a:p>
                      <a:pPr marL="0" indent="0" algn="l">
                        <a:lnSpc>
                          <a:spcPct val="90000"/>
                        </a:lnSpc>
                        <a:spcBef>
                          <a:spcPts val="0"/>
                        </a:spcBef>
                        <a:spcAft>
                          <a:spcPts val="0"/>
                        </a:spcAft>
                        <a:buNone/>
                      </a:pPr>
                      <a:r>
                        <a:rPr lang="es-CO" sz="2000" b="1" dirty="0">
                          <a:solidFill>
                            <a:srgbClr val="FFFFFF"/>
                          </a:solidFill>
                          <a:latin typeface="Noto Sans"/>
                          <a:ea typeface="Noto Sans"/>
                          <a:cs typeface="Noto Sans"/>
                          <a:sym typeface="Noto Sans"/>
                        </a:rPr>
                        <a:t>Enlace</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673BA"/>
                    </a:solidFill>
                  </a:tcPr>
                </a:tc>
                <a:extLst>
                  <a:ext uri="{0D108BD9-81ED-4DB2-BD59-A6C34878D82A}">
                    <a16:rowId xmlns:a16="http://schemas.microsoft.com/office/drawing/2014/main" val="10000"/>
                  </a:ext>
                </a:extLst>
              </a:tr>
              <a:tr h="438912">
                <a:tc>
                  <a:txBody>
                    <a:bodyPr/>
                    <a:lstStyle/>
                    <a:p>
                      <a:pPr marL="0" indent="0" algn="l">
                        <a:lnSpc>
                          <a:spcPct val="90000"/>
                        </a:lnSpc>
                        <a:spcBef>
                          <a:spcPts val="0"/>
                        </a:spcBef>
                        <a:spcAft>
                          <a:spcPts val="0"/>
                        </a:spcAft>
                        <a:buNone/>
                      </a:pPr>
                      <a:r>
                        <a:rPr lang="es-CO" sz="2000" b="0" dirty="0">
                          <a:solidFill>
                            <a:srgbClr val="0E2841"/>
                          </a:solidFill>
                          <a:latin typeface="Noto Sans"/>
                          <a:ea typeface="Noto Sans"/>
                          <a:cs typeface="Noto Sans"/>
                          <a:sym typeface="Noto Sans"/>
                        </a:rPr>
                        <a:t>02_descriptive_analysis.ipynb</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tc>
                  <a:txBody>
                    <a:bodyPr/>
                    <a:lstStyle/>
                    <a:p>
                      <a:pPr marL="0" indent="0" algn="l">
                        <a:lnSpc>
                          <a:spcPct val="90000"/>
                        </a:lnSpc>
                        <a:spcBef>
                          <a:spcPts val="0"/>
                        </a:spcBef>
                        <a:spcAft>
                          <a:spcPts val="0"/>
                        </a:spcAft>
                        <a:buNone/>
                      </a:pPr>
                      <a:r>
                        <a:rPr lang="es-CO" sz="2000" b="0" dirty="0">
                          <a:solidFill>
                            <a:srgbClr val="0E2841"/>
                          </a:solidFill>
                          <a:latin typeface="Noto Sans"/>
                          <a:ea typeface="Noto Sans"/>
                          <a:cs typeface="Noto Sans"/>
                          <a:sym typeface="Noto Sans"/>
                        </a:rPr>
                        <a:t>Estadística descriptiva</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tc>
                  <a:txBody>
                    <a:bodyPr/>
                    <a:lstStyle/>
                    <a:p>
                      <a:pPr marL="0" indent="0" algn="l">
                        <a:lnSpc>
                          <a:spcPct val="90000"/>
                        </a:lnSpc>
                        <a:spcBef>
                          <a:spcPts val="0"/>
                        </a:spcBef>
                        <a:spcAft>
                          <a:spcPts val="0"/>
                        </a:spcAft>
                        <a:buNone/>
                      </a:pPr>
                      <a:r>
                        <a:rPr lang="es-CO" sz="2000" b="0" dirty="0">
                          <a:solidFill>
                            <a:schemeClr val="hlink"/>
                          </a:solidFill>
                          <a:latin typeface="Noto Sans"/>
                          <a:ea typeface="Noto Sans"/>
                          <a:cs typeface="Noto Sans"/>
                          <a:sym typeface="Noto Sans"/>
                          <a:hlinkClick r:id="rId2"/>
                        </a:rPr>
                        <a:t>Abrir</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Contenido</a:t>
            </a:r>
            <a:endParaRPr lang="es-CO" sz="3600" dirty="0"/>
          </a:p>
        </p:txBody>
      </p:sp>
      <p:sp>
        <p:nvSpPr>
          <p:cNvPr id="3" name="TextBox 3"/>
          <p:cNvSpPr txBox="1"/>
          <p:nvPr/>
        </p:nvSpPr>
        <p:spPr>
          <a:xfrm>
            <a:off x="548640" y="1737360"/>
            <a:ext cx="11091672" cy="4389120"/>
          </a:xfrm>
          <a:prstGeom prst="rect">
            <a:avLst/>
          </a:prstGeom>
          <a:noFill/>
          <a:ln>
            <a:noFill/>
          </a:ln>
        </p:spPr>
        <p:txBody>
          <a:bodyPr wrap="square" lIns="45720" tIns="45720" rIns="45720" bIns="45720" rtlCol="0" anchor="t">
            <a:noAutofit/>
          </a:bodyPr>
          <a:lstStyle/>
          <a:p>
            <a:pPr marL="457200" indent="-457200" algn="l">
              <a:lnSpc>
                <a:spcPct val="90000"/>
              </a:lnSpc>
              <a:spcBef>
                <a:spcPts val="0"/>
              </a:spcBef>
              <a:spcAft>
                <a:spcPts val="1000"/>
              </a:spcAft>
              <a:buNone/>
            </a:pPr>
            <a:r>
              <a:rPr lang="es-CO" sz="2200" b="1" dirty="0">
                <a:solidFill>
                  <a:schemeClr val="tx1"/>
                </a:solidFill>
                <a:latin typeface="Noto Sans"/>
                <a:ea typeface="Noto Sans"/>
                <a:cs typeface="Noto Sans"/>
                <a:sym typeface="Noto Sans"/>
              </a:rPr>
              <a:t>1.</a:t>
            </a:r>
            <a:r>
              <a:rPr lang="es-CO" sz="2200" b="0" dirty="0">
                <a:solidFill>
                  <a:schemeClr val="tx1"/>
                </a:solidFill>
                <a:latin typeface="Noto Sans"/>
                <a:ea typeface="Noto Sans"/>
                <a:cs typeface="Noto Sans"/>
                <a:sym typeface="Noto Sans"/>
              </a:rPr>
              <a:t>	Configuración</a:t>
            </a:r>
          </a:p>
          <a:p>
            <a:pPr marL="457200" indent="-457200" algn="l">
              <a:lnSpc>
                <a:spcPct val="90000"/>
              </a:lnSpc>
              <a:spcBef>
                <a:spcPts val="0"/>
              </a:spcBef>
              <a:spcAft>
                <a:spcPts val="1000"/>
              </a:spcAft>
              <a:buNone/>
            </a:pPr>
            <a:r>
              <a:rPr lang="es-CO" sz="2200" b="1" dirty="0">
                <a:solidFill>
                  <a:schemeClr val="tx1"/>
                </a:solidFill>
                <a:latin typeface="Noto Sans"/>
                <a:ea typeface="Noto Sans"/>
                <a:cs typeface="Noto Sans"/>
                <a:sym typeface="Noto Sans"/>
              </a:rPr>
              <a:t>2.</a:t>
            </a:r>
            <a:r>
              <a:rPr lang="es-CO" sz="2200" b="0" dirty="0">
                <a:solidFill>
                  <a:schemeClr val="tx1"/>
                </a:solidFill>
                <a:latin typeface="Noto Sans"/>
                <a:ea typeface="Noto Sans"/>
                <a:cs typeface="Noto Sans"/>
                <a:sym typeface="Noto Sans"/>
              </a:rPr>
              <a:t>	Preparación de los datos</a:t>
            </a:r>
          </a:p>
          <a:p>
            <a:pPr marL="457200" indent="-457200" algn="l">
              <a:lnSpc>
                <a:spcPct val="90000"/>
              </a:lnSpc>
              <a:spcBef>
                <a:spcPts val="0"/>
              </a:spcBef>
              <a:spcAft>
                <a:spcPts val="1000"/>
              </a:spcAft>
              <a:buNone/>
            </a:pPr>
            <a:r>
              <a:rPr lang="es-CO" sz="2200" b="1" dirty="0">
                <a:solidFill>
                  <a:schemeClr val="tx1"/>
                </a:solidFill>
                <a:latin typeface="Noto Sans"/>
                <a:ea typeface="Noto Sans"/>
                <a:cs typeface="Noto Sans"/>
                <a:sym typeface="Noto Sans"/>
              </a:rPr>
              <a:t>3.</a:t>
            </a:r>
            <a:r>
              <a:rPr lang="es-CO" sz="2200" b="0" dirty="0">
                <a:solidFill>
                  <a:schemeClr val="tx1"/>
                </a:solidFill>
                <a:latin typeface="Noto Sans"/>
                <a:ea typeface="Noto Sans"/>
                <a:cs typeface="Noto Sans"/>
                <a:sym typeface="Noto Sans"/>
              </a:rPr>
              <a:t>	Función de estadística descriptiva</a:t>
            </a:r>
          </a:p>
          <a:p>
            <a:pPr marL="457200" indent="-457200" algn="l">
              <a:lnSpc>
                <a:spcPct val="90000"/>
              </a:lnSpc>
              <a:spcBef>
                <a:spcPts val="0"/>
              </a:spcBef>
              <a:spcAft>
                <a:spcPts val="1000"/>
              </a:spcAft>
              <a:buNone/>
            </a:pPr>
            <a:r>
              <a:rPr lang="es-CO" sz="2200" b="1" dirty="0">
                <a:solidFill>
                  <a:schemeClr val="tx1"/>
                </a:solidFill>
                <a:latin typeface="Noto Sans"/>
                <a:ea typeface="Noto Sans"/>
                <a:cs typeface="Noto Sans"/>
                <a:sym typeface="Noto Sans"/>
              </a:rPr>
              <a:t>4.</a:t>
            </a:r>
            <a:r>
              <a:rPr lang="es-CO" sz="2200" b="0" dirty="0">
                <a:solidFill>
                  <a:schemeClr val="tx1"/>
                </a:solidFill>
                <a:latin typeface="Noto Sans"/>
                <a:ea typeface="Noto Sans"/>
                <a:cs typeface="Noto Sans"/>
                <a:sym typeface="Noto Sans"/>
              </a:rPr>
              <a:t>	Enfoque centralizado</a:t>
            </a:r>
          </a:p>
          <a:p>
            <a:pPr marL="457200" indent="-457200" algn="l">
              <a:lnSpc>
                <a:spcPct val="90000"/>
              </a:lnSpc>
              <a:spcBef>
                <a:spcPts val="0"/>
              </a:spcBef>
              <a:spcAft>
                <a:spcPts val="1000"/>
              </a:spcAft>
              <a:buNone/>
            </a:pPr>
            <a:r>
              <a:rPr lang="es-CO" sz="2200" b="1" dirty="0">
                <a:solidFill>
                  <a:schemeClr val="tx1"/>
                </a:solidFill>
                <a:latin typeface="Noto Sans"/>
                <a:ea typeface="Noto Sans"/>
                <a:cs typeface="Noto Sans"/>
                <a:sym typeface="Noto Sans"/>
              </a:rPr>
              <a:t>5.</a:t>
            </a:r>
            <a:r>
              <a:rPr lang="es-CO" sz="2200" b="0" dirty="0">
                <a:solidFill>
                  <a:schemeClr val="tx1"/>
                </a:solidFill>
                <a:latin typeface="Noto Sans"/>
                <a:ea typeface="Noto Sans"/>
                <a:cs typeface="Noto Sans"/>
                <a:sym typeface="Noto Sans"/>
              </a:rPr>
              <a:t>	Enfoque federado</a:t>
            </a:r>
          </a:p>
          <a:p>
            <a:pPr marL="457200" indent="-457200" algn="l">
              <a:lnSpc>
                <a:spcPct val="90000"/>
              </a:lnSpc>
              <a:spcBef>
                <a:spcPts val="0"/>
              </a:spcBef>
              <a:spcAft>
                <a:spcPts val="1000"/>
              </a:spcAft>
              <a:buNone/>
            </a:pPr>
            <a:r>
              <a:rPr lang="es-CO" sz="2200" b="1" dirty="0">
                <a:solidFill>
                  <a:schemeClr val="tx1"/>
                </a:solidFill>
                <a:latin typeface="Noto Sans"/>
                <a:ea typeface="Noto Sans"/>
                <a:cs typeface="Noto Sans"/>
                <a:sym typeface="Noto Sans"/>
              </a:rPr>
              <a:t>6.</a:t>
            </a:r>
            <a:r>
              <a:rPr lang="es-CO" sz="2200" b="0" dirty="0">
                <a:solidFill>
                  <a:schemeClr val="tx1"/>
                </a:solidFill>
                <a:latin typeface="Noto Sans"/>
                <a:ea typeface="Noto Sans"/>
                <a:cs typeface="Noto Sans"/>
                <a:sym typeface="Noto Sans"/>
              </a:rPr>
              <a:t>	Comparación</a:t>
            </a:r>
          </a:p>
          <a:p>
            <a:pPr marL="457200" indent="-457200" algn="l">
              <a:lnSpc>
                <a:spcPct val="90000"/>
              </a:lnSpc>
              <a:spcBef>
                <a:spcPts val="0"/>
              </a:spcBef>
              <a:spcAft>
                <a:spcPts val="0"/>
              </a:spcAft>
              <a:buNone/>
            </a:pPr>
            <a:r>
              <a:rPr lang="es-CO" sz="2200" b="1" dirty="0">
                <a:solidFill>
                  <a:schemeClr val="tx1"/>
                </a:solidFill>
                <a:latin typeface="Noto Sans"/>
                <a:ea typeface="Noto Sans"/>
                <a:cs typeface="Noto Sans"/>
                <a:sym typeface="Noto Sans"/>
              </a:rPr>
              <a:t>7.</a:t>
            </a:r>
            <a:r>
              <a:rPr lang="es-CO" sz="2200" b="0" dirty="0">
                <a:solidFill>
                  <a:schemeClr val="tx1"/>
                </a:solidFill>
                <a:latin typeface="Noto Sans"/>
                <a:ea typeface="Noto Sans"/>
                <a:cs typeface="Noto Sans"/>
                <a:sym typeface="Noto Sans"/>
              </a:rPr>
              <a:t>	Conclusiones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2. Preparación de los datos</a:t>
            </a:r>
            <a:endParaRPr lang="es-CO" sz="3600" dirty="0"/>
          </a:p>
        </p:txBody>
      </p:sp>
      <p:sp>
        <p:nvSpPr>
          <p:cNvPr id="3" name="TextBox 3"/>
          <p:cNvSpPr txBox="1"/>
          <p:nvPr/>
        </p:nvSpPr>
        <p:spPr>
          <a:xfrm>
            <a:off x="548640" y="1737360"/>
            <a:ext cx="11091672" cy="443484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2400"/>
              </a:spcAft>
              <a:buNone/>
            </a:pPr>
            <a:r>
              <a:rPr lang="es-CO" sz="2200" b="0" dirty="0">
                <a:solidFill>
                  <a:schemeClr val="tx1"/>
                </a:solidFill>
                <a:latin typeface="Noto Sans"/>
                <a:ea typeface="Noto Sans"/>
                <a:cs typeface="Noto Sans"/>
                <a:sym typeface="Noto Sans"/>
              </a:rPr>
              <a:t>El objetivo de esta sección es preparar la base de datos para el análisis descriptivo.</a:t>
            </a:r>
          </a:p>
          <a:p>
            <a:pPr marL="0" indent="0" algn="just">
              <a:lnSpc>
                <a:spcPct val="90000"/>
              </a:lnSpc>
              <a:spcBef>
                <a:spcPts val="0"/>
              </a:spcBef>
              <a:spcAft>
                <a:spcPts val="2400"/>
              </a:spcAft>
              <a:buNone/>
            </a:pPr>
            <a:r>
              <a:rPr lang="es-CO" sz="2200" b="0" dirty="0">
                <a:solidFill>
                  <a:schemeClr val="tx1"/>
                </a:solidFill>
                <a:latin typeface="Noto Sans"/>
                <a:ea typeface="Noto Sans"/>
                <a:cs typeface="Noto Sans"/>
                <a:sym typeface="Noto Sans"/>
              </a:rPr>
              <a:t>Para este análisis, la única preparación necesaria es eliminar las columnas que no se usan: el identificador de cada registro (</a:t>
            </a:r>
            <a:r>
              <a:rPr lang="es-CO" sz="2200" b="1" dirty="0">
                <a:solidFill>
                  <a:schemeClr val="tx1"/>
                </a:solidFill>
                <a:latin typeface="Noto Sans"/>
                <a:ea typeface="Noto Sans"/>
                <a:cs typeface="Noto Sans"/>
                <a:sym typeface="Noto Sans"/>
              </a:rPr>
              <a:t>record_id</a:t>
            </a:r>
            <a:r>
              <a:rPr lang="es-CO" sz="2200" b="0" dirty="0">
                <a:solidFill>
                  <a:schemeClr val="tx1"/>
                </a:solidFill>
                <a:latin typeface="Noto Sans"/>
                <a:ea typeface="Noto Sans"/>
                <a:cs typeface="Noto Sans"/>
                <a:sym typeface="Noto Sans"/>
              </a:rPr>
              <a:t>) y las fechas.</a:t>
            </a:r>
          </a:p>
          <a:p>
            <a:pPr marL="0" indent="0" algn="just">
              <a:lnSpc>
                <a:spcPct val="90000"/>
              </a:lnSpc>
              <a:spcBef>
                <a:spcPts val="0"/>
              </a:spcBef>
              <a:spcAft>
                <a:spcPts val="2400"/>
              </a:spcAft>
              <a:buNone/>
            </a:pPr>
            <a:endParaRPr lang="es-CO" sz="2200" b="0" dirty="0">
              <a:solidFill>
                <a:schemeClr val="tx1"/>
              </a:solidFill>
              <a:latin typeface="Noto Sans"/>
              <a:ea typeface="Noto Sans"/>
              <a:cs typeface="Noto Sans"/>
              <a:sym typeface="Noto Sans"/>
            </a:endParaRPr>
          </a:p>
          <a:p>
            <a:pPr algn="just">
              <a:lnSpc>
                <a:spcPct val="90000"/>
              </a:lnSpc>
              <a:spcAft>
                <a:spcPts val="2400"/>
              </a:spcAft>
            </a:pPr>
            <a:endParaRPr lang="es-CO" sz="2200" dirty="0">
              <a:solidFill>
                <a:schemeClr val="tx1"/>
              </a:solidFill>
              <a:latin typeface="Noto Sans"/>
              <a:ea typeface="Noto Sans"/>
              <a:cs typeface="Noto Sans"/>
              <a:sym typeface="Noto Sans"/>
            </a:endParaRPr>
          </a:p>
          <a:p>
            <a:pPr algn="just">
              <a:lnSpc>
                <a:spcPct val="90000"/>
              </a:lnSpc>
              <a:spcAft>
                <a:spcPts val="2400"/>
              </a:spcAft>
            </a:pPr>
            <a:r>
              <a:rPr lang="es-CO" sz="2200" b="1" dirty="0">
                <a:solidFill>
                  <a:schemeClr val="tx1"/>
                </a:solidFill>
                <a:latin typeface="Noto Sans"/>
                <a:ea typeface="Noto Sans"/>
                <a:cs typeface="Noto Sans"/>
                <a:sym typeface="Noto Sans"/>
              </a:rPr>
              <a:t>Identificador: </a:t>
            </a:r>
            <a:r>
              <a:rPr lang="es-CO" sz="2200" dirty="0">
                <a:solidFill>
                  <a:schemeClr val="tx1"/>
                </a:solidFill>
                <a:latin typeface="Noto Sans"/>
                <a:ea typeface="Noto Sans"/>
                <a:cs typeface="Noto Sans"/>
                <a:sym typeface="Noto Sans"/>
              </a:rPr>
              <a:t>Es único para cada registro, por lo que no describe ninguna característica de los pacientes.</a:t>
            </a:r>
          </a:p>
          <a:p>
            <a:pPr algn="just">
              <a:lnSpc>
                <a:spcPct val="90000"/>
              </a:lnSpc>
              <a:spcAft>
                <a:spcPts val="2400"/>
              </a:spcAft>
            </a:pPr>
            <a:r>
              <a:rPr lang="es-CO" sz="2200" b="1" dirty="0">
                <a:solidFill>
                  <a:schemeClr val="tx1"/>
                </a:solidFill>
                <a:latin typeface="Noto Sans"/>
                <a:ea typeface="Noto Sans"/>
                <a:cs typeface="Noto Sans"/>
                <a:sym typeface="Noto Sans"/>
              </a:rPr>
              <a:t>Fechas: </a:t>
            </a:r>
            <a:r>
              <a:rPr lang="es-CO" sz="2200" dirty="0">
                <a:solidFill>
                  <a:schemeClr val="tx1"/>
                </a:solidFill>
                <a:latin typeface="Noto Sans"/>
                <a:ea typeface="Noto Sans"/>
                <a:cs typeface="Noto Sans"/>
                <a:sym typeface="Noto Sans"/>
              </a:rPr>
              <a:t>Indican cuándo ocurrió cada evento, no una característica de la población.</a:t>
            </a:r>
          </a:p>
        </p:txBody>
      </p:sp>
      <p:pic>
        <p:nvPicPr>
          <p:cNvPr id="5" name="Imagen 4">
            <a:extLst>
              <a:ext uri="{FF2B5EF4-FFF2-40B4-BE49-F238E27FC236}">
                <a16:creationId xmlns:a16="http://schemas.microsoft.com/office/drawing/2014/main" id="{2683B172-5F26-9DD0-9635-89074DF136FC}"/>
              </a:ext>
            </a:extLst>
          </p:cNvPr>
          <p:cNvPicPr>
            <a:picLocks noChangeAspect="1"/>
          </p:cNvPicPr>
          <p:nvPr/>
        </p:nvPicPr>
        <p:blipFill>
          <a:blip r:embed="rId2"/>
          <a:stretch>
            <a:fillRect/>
          </a:stretch>
        </p:blipFill>
        <p:spPr>
          <a:xfrm>
            <a:off x="548640" y="3390715"/>
            <a:ext cx="10944078" cy="69448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3. Función de estadística descriptiva</a:t>
            </a:r>
            <a:endParaRPr lang="es-CO" sz="3600" dirty="0"/>
          </a:p>
        </p:txBody>
      </p:sp>
      <p:sp>
        <p:nvSpPr>
          <p:cNvPr id="3" name="TextBox 3"/>
          <p:cNvSpPr txBox="1"/>
          <p:nvPr/>
        </p:nvSpPr>
        <p:spPr>
          <a:xfrm>
            <a:off x="548640" y="1737360"/>
            <a:ext cx="11091672" cy="4133088"/>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2400"/>
              </a:spcAft>
              <a:buNone/>
            </a:pPr>
            <a:r>
              <a:rPr lang="es-CO" sz="2200" b="0" dirty="0">
                <a:solidFill>
                  <a:schemeClr val="tx1"/>
                </a:solidFill>
                <a:latin typeface="Noto Sans"/>
                <a:ea typeface="Noto Sans"/>
                <a:cs typeface="Noto Sans"/>
                <a:sym typeface="Noto Sans"/>
              </a:rPr>
              <a:t>El objetivo de esta sección es definir la función que calcula las estadísticas descriptivas de un conjunto de registros.</a:t>
            </a:r>
          </a:p>
          <a:p>
            <a:pPr marL="0" indent="0" algn="just">
              <a:lnSpc>
                <a:spcPct val="90000"/>
              </a:lnSpc>
              <a:spcBef>
                <a:spcPts val="0"/>
              </a:spcBef>
              <a:spcAft>
                <a:spcPts val="1000"/>
              </a:spcAft>
              <a:buNone/>
            </a:pPr>
            <a:r>
              <a:rPr lang="es-CO" sz="2200" b="0" dirty="0">
                <a:solidFill>
                  <a:schemeClr val="tx1"/>
                </a:solidFill>
                <a:latin typeface="Noto Sans"/>
                <a:ea typeface="Noto Sans"/>
                <a:cs typeface="Noto Sans"/>
                <a:sym typeface="Noto Sans"/>
              </a:rPr>
              <a:t>Es el procedimiento común que usan ambos enfoques:</a:t>
            </a:r>
          </a:p>
          <a:p>
            <a:pPr marL="342900" indent="-342900" algn="l">
              <a:lnSpc>
                <a:spcPct val="90000"/>
              </a:lnSpc>
              <a:spcBef>
                <a:spcPts val="0"/>
              </a:spcBef>
              <a:spcAft>
                <a:spcPts val="1000"/>
              </a:spcAft>
              <a:buClr>
                <a:srgbClr val="0673BA"/>
              </a:buClr>
              <a:buSzPct val="100000"/>
              <a:buFont typeface="Arial"/>
              <a:buChar char="•"/>
            </a:pPr>
            <a:r>
              <a:rPr lang="es-CO" sz="2200" b="1" dirty="0">
                <a:solidFill>
                  <a:schemeClr val="tx1"/>
                </a:solidFill>
                <a:latin typeface="Noto Sans"/>
                <a:ea typeface="Noto Sans"/>
                <a:cs typeface="Noto Sans"/>
                <a:sym typeface="Noto Sans"/>
              </a:rPr>
              <a:t>Enfoque centralizado: </a:t>
            </a:r>
            <a:r>
              <a:rPr lang="es-CO" sz="2200" b="0" dirty="0">
                <a:solidFill>
                  <a:schemeClr val="tx1"/>
                </a:solidFill>
                <a:latin typeface="Noto Sans"/>
                <a:ea typeface="Noto Sans"/>
                <a:cs typeface="Noto Sans"/>
                <a:sym typeface="Noto Sans"/>
              </a:rPr>
              <a:t>La llama una sola vez sobre toda la base de datos.</a:t>
            </a:r>
          </a:p>
          <a:p>
            <a:pPr marL="342900" indent="-342900" algn="l">
              <a:lnSpc>
                <a:spcPct val="90000"/>
              </a:lnSpc>
              <a:spcBef>
                <a:spcPts val="0"/>
              </a:spcBef>
              <a:spcAft>
                <a:spcPts val="2400"/>
              </a:spcAft>
              <a:buClr>
                <a:srgbClr val="0673BA"/>
              </a:buClr>
              <a:buSzPct val="100000"/>
              <a:buFont typeface="Arial"/>
              <a:buChar char="•"/>
            </a:pPr>
            <a:r>
              <a:rPr lang="es-CO" sz="2200" b="1" dirty="0">
                <a:solidFill>
                  <a:schemeClr val="tx1"/>
                </a:solidFill>
                <a:latin typeface="Noto Sans"/>
                <a:ea typeface="Noto Sans"/>
                <a:cs typeface="Noto Sans"/>
                <a:sym typeface="Noto Sans"/>
              </a:rPr>
              <a:t>Enfoque federado: </a:t>
            </a:r>
            <a:r>
              <a:rPr lang="es-CO" sz="2200" b="0" dirty="0">
                <a:solidFill>
                  <a:schemeClr val="tx1"/>
                </a:solidFill>
                <a:latin typeface="Noto Sans"/>
                <a:ea typeface="Noto Sans"/>
                <a:cs typeface="Noto Sans"/>
                <a:sym typeface="Noto Sans"/>
              </a:rPr>
              <a:t>Llama a la misma función una vez por institución, solo sobre los datos de esa institución.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74335-CBB3-5F8C-EF78-C081EDB180BC}"/>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AF9DA1FF-5998-EF84-8379-597D9C14F722}"/>
              </a:ext>
            </a:extLst>
          </p:cNvPr>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3. Función de estadística descriptiva</a:t>
            </a:r>
            <a:endParaRPr lang="es-CO" sz="3600" dirty="0"/>
          </a:p>
        </p:txBody>
      </p:sp>
      <p:sp>
        <p:nvSpPr>
          <p:cNvPr id="3" name="TextBox 3">
            <a:extLst>
              <a:ext uri="{FF2B5EF4-FFF2-40B4-BE49-F238E27FC236}">
                <a16:creationId xmlns:a16="http://schemas.microsoft.com/office/drawing/2014/main" id="{5DEBD211-82BC-C4CC-520D-11D57DCC6625}"/>
              </a:ext>
            </a:extLst>
          </p:cNvPr>
          <p:cNvSpPr txBox="1"/>
          <p:nvPr/>
        </p:nvSpPr>
        <p:spPr>
          <a:xfrm>
            <a:off x="548640" y="4835130"/>
            <a:ext cx="11091672" cy="1495801"/>
          </a:xfrm>
          <a:prstGeom prst="rect">
            <a:avLst/>
          </a:prstGeom>
          <a:noFill/>
          <a:ln>
            <a:noFill/>
          </a:ln>
        </p:spPr>
        <p:txBody>
          <a:bodyPr wrap="square" lIns="45720" tIns="45720" rIns="45720" bIns="45720" rtlCol="0" anchor="t">
            <a:noAutofit/>
          </a:bodyPr>
          <a:lstStyle/>
          <a:p>
            <a:pPr algn="just">
              <a:lnSpc>
                <a:spcPct val="90000"/>
              </a:lnSpc>
            </a:pPr>
            <a:r>
              <a:rPr lang="es-CO" sz="2200" b="0" dirty="0">
                <a:solidFill>
                  <a:schemeClr val="tx1"/>
                </a:solidFill>
                <a:latin typeface="Noto Sans"/>
                <a:ea typeface="Noto Sans"/>
                <a:cs typeface="Noto Sans"/>
                <a:sym typeface="Noto Sans"/>
              </a:rPr>
              <a:t>Esta función reporta las medidas de las siguientes tablas</a:t>
            </a:r>
            <a:r>
              <a:rPr lang="es-CO" sz="2200" dirty="0">
                <a:solidFill>
                  <a:schemeClr val="tx1"/>
                </a:solidFill>
                <a:latin typeface="Noto Sans"/>
                <a:ea typeface="Noto Sans"/>
                <a:cs typeface="Noto Sans"/>
                <a:sym typeface="Noto Sans"/>
              </a:rPr>
              <a:t> para cada variable</a:t>
            </a:r>
            <a:r>
              <a:rPr lang="es-CO" sz="2200" b="0" dirty="0">
                <a:solidFill>
                  <a:schemeClr val="tx1"/>
                </a:solidFill>
                <a:latin typeface="Noto Sans"/>
                <a:ea typeface="Noto Sans"/>
                <a:cs typeface="Noto Sans"/>
                <a:sym typeface="Noto Sans"/>
              </a:rPr>
              <a:t>. </a:t>
            </a:r>
          </a:p>
          <a:p>
            <a:pPr marL="0" indent="0" algn="just">
              <a:lnSpc>
                <a:spcPct val="90000"/>
              </a:lnSpc>
              <a:spcBef>
                <a:spcPts val="0"/>
              </a:spcBef>
              <a:spcAft>
                <a:spcPts val="0"/>
              </a:spcAft>
              <a:buNone/>
            </a:pPr>
            <a:endParaRPr lang="es-CO" sz="2200" dirty="0">
              <a:solidFill>
                <a:schemeClr val="tx1"/>
              </a:solidFill>
              <a:latin typeface="Noto Sans"/>
              <a:ea typeface="Noto Sans"/>
              <a:cs typeface="Noto Sans"/>
              <a:sym typeface="Noto Sans"/>
            </a:endParaRPr>
          </a:p>
          <a:p>
            <a:pPr marL="0" indent="0" algn="just">
              <a:lnSpc>
                <a:spcPct val="90000"/>
              </a:lnSpc>
              <a:spcBef>
                <a:spcPts val="0"/>
              </a:spcBef>
              <a:spcAft>
                <a:spcPts val="0"/>
              </a:spcAft>
              <a:buNone/>
            </a:pPr>
            <a:r>
              <a:rPr lang="es-CO" sz="2200" b="1" dirty="0">
                <a:solidFill>
                  <a:schemeClr val="tx1"/>
                </a:solidFill>
                <a:latin typeface="Noto Sans"/>
                <a:ea typeface="Noto Sans"/>
                <a:cs typeface="Noto Sans"/>
                <a:sym typeface="Noto Sans"/>
              </a:rPr>
              <a:t>Nota: </a:t>
            </a:r>
            <a:r>
              <a:rPr lang="es-CO" sz="2200" b="0" dirty="0">
                <a:solidFill>
                  <a:schemeClr val="tx1"/>
                </a:solidFill>
                <a:latin typeface="Noto Sans"/>
                <a:ea typeface="Noto Sans"/>
                <a:cs typeface="Noto Sans"/>
                <a:sym typeface="Noto Sans"/>
              </a:rPr>
              <a:t>En esta base de datos, la edad es la única variable continua y todas las demás son categóricas.</a:t>
            </a:r>
          </a:p>
        </p:txBody>
      </p:sp>
      <p:pic>
        <p:nvPicPr>
          <p:cNvPr id="5" name="Imagen 4">
            <a:extLst>
              <a:ext uri="{FF2B5EF4-FFF2-40B4-BE49-F238E27FC236}">
                <a16:creationId xmlns:a16="http://schemas.microsoft.com/office/drawing/2014/main" id="{DEBDBE96-D624-E18C-A5AC-3DD5514D74F5}"/>
              </a:ext>
            </a:extLst>
          </p:cNvPr>
          <p:cNvPicPr>
            <a:picLocks noChangeAspect="1"/>
          </p:cNvPicPr>
          <p:nvPr/>
        </p:nvPicPr>
        <p:blipFill>
          <a:blip r:embed="rId2"/>
          <a:stretch>
            <a:fillRect/>
          </a:stretch>
        </p:blipFill>
        <p:spPr>
          <a:xfrm>
            <a:off x="548640" y="1699664"/>
            <a:ext cx="7302848" cy="2944697"/>
          </a:xfrm>
          <a:prstGeom prst="rect">
            <a:avLst/>
          </a:prstGeom>
        </p:spPr>
      </p:pic>
    </p:spTree>
    <p:extLst>
      <p:ext uri="{BB962C8B-B14F-4D97-AF65-F5344CB8AC3E}">
        <p14:creationId xmlns:p14="http://schemas.microsoft.com/office/powerpoint/2010/main" val="21162658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3. Función de estadística descriptiva</a:t>
            </a:r>
            <a:endParaRPr lang="es-CO" sz="3600" dirty="0"/>
          </a:p>
        </p:txBody>
      </p:sp>
      <p:graphicFrame>
        <p:nvGraphicFramePr>
          <p:cNvPr id="3" name="Table"/>
          <p:cNvGraphicFramePr>
            <a:graphicFrameLocks noGrp="1"/>
          </p:cNvGraphicFramePr>
          <p:nvPr>
            <p:extLst>
              <p:ext uri="{D42A27DB-BD31-4B8C-83A1-F6EECF244321}">
                <p14:modId xmlns:p14="http://schemas.microsoft.com/office/powerpoint/2010/main" val="1560317878"/>
              </p:ext>
            </p:extLst>
          </p:nvPr>
        </p:nvGraphicFramePr>
        <p:xfrm>
          <a:off x="548640" y="1737360"/>
          <a:ext cx="11091672" cy="4324752"/>
        </p:xfrm>
        <a:graphic>
          <a:graphicData uri="http://schemas.openxmlformats.org/drawingml/2006/table">
            <a:tbl>
              <a:tblPr firstRow="1" bandRow="1"/>
              <a:tblGrid>
                <a:gridCol w="3444459">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5955573">
                  <a:extLst>
                    <a:ext uri="{9D8B030D-6E8A-4147-A177-3AD203B41FA5}">
                      <a16:colId xmlns:a16="http://schemas.microsoft.com/office/drawing/2014/main" val="20002"/>
                    </a:ext>
                  </a:extLst>
                </a:gridCol>
              </a:tblGrid>
              <a:tr h="347472">
                <a:tc>
                  <a:txBody>
                    <a:bodyPr/>
                    <a:lstStyle/>
                    <a:p>
                      <a:pPr marL="0" indent="0" algn="l">
                        <a:lnSpc>
                          <a:spcPct val="90000"/>
                        </a:lnSpc>
                        <a:spcBef>
                          <a:spcPts val="0"/>
                        </a:spcBef>
                        <a:spcAft>
                          <a:spcPts val="0"/>
                        </a:spcAft>
                        <a:buNone/>
                      </a:pPr>
                      <a:r>
                        <a:rPr lang="es-CO" sz="2000" b="1" dirty="0">
                          <a:solidFill>
                            <a:srgbClr val="FFFFFF"/>
                          </a:solidFill>
                          <a:latin typeface="Noto Sans"/>
                          <a:ea typeface="Noto Sans"/>
                          <a:cs typeface="Noto Sans"/>
                          <a:sym typeface="Noto Sans"/>
                        </a:rPr>
                        <a:t>Medida</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673BA"/>
                    </a:solidFill>
                  </a:tcPr>
                </a:tc>
                <a:tc>
                  <a:txBody>
                    <a:bodyPr/>
                    <a:lstStyle/>
                    <a:p>
                      <a:pPr marL="0" indent="0" algn="l">
                        <a:lnSpc>
                          <a:spcPct val="90000"/>
                        </a:lnSpc>
                        <a:spcBef>
                          <a:spcPts val="0"/>
                        </a:spcBef>
                        <a:spcAft>
                          <a:spcPts val="0"/>
                        </a:spcAft>
                        <a:buNone/>
                      </a:pPr>
                      <a:r>
                        <a:rPr lang="es-CO" sz="2000" b="1" dirty="0">
                          <a:solidFill>
                            <a:srgbClr val="FFFFFF"/>
                          </a:solidFill>
                          <a:latin typeface="Noto Sans"/>
                          <a:ea typeface="Noto Sans"/>
                          <a:cs typeface="Noto Sans"/>
                          <a:sym typeface="Noto Sans"/>
                        </a:rPr>
                        <a:t>Variables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673BA"/>
                    </a:solidFill>
                  </a:tcPr>
                </a:tc>
                <a:tc>
                  <a:txBody>
                    <a:bodyPr/>
                    <a:lstStyle/>
                    <a:p>
                      <a:pPr marL="0" indent="0" algn="l">
                        <a:lnSpc>
                          <a:spcPct val="90000"/>
                        </a:lnSpc>
                        <a:spcBef>
                          <a:spcPts val="0"/>
                        </a:spcBef>
                        <a:spcAft>
                          <a:spcPts val="0"/>
                        </a:spcAft>
                        <a:buNone/>
                      </a:pPr>
                      <a:r>
                        <a:rPr lang="es-CO" sz="2000" b="1" dirty="0">
                          <a:solidFill>
                            <a:srgbClr val="FFFFFF"/>
                          </a:solidFill>
                          <a:latin typeface="Noto Sans"/>
                          <a:ea typeface="Noto Sans"/>
                          <a:cs typeface="Noto Sans"/>
                          <a:sym typeface="Noto Sans"/>
                        </a:rPr>
                        <a:t>Qué indica</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673BA"/>
                    </a:solidFill>
                  </a:tcPr>
                </a:tc>
                <a:extLst>
                  <a:ext uri="{0D108BD9-81ED-4DB2-BD59-A6C34878D82A}">
                    <a16:rowId xmlns:a16="http://schemas.microsoft.com/office/drawing/2014/main" val="10000"/>
                  </a:ext>
                </a:extLst>
              </a:tr>
              <a:tr h="720000">
                <a:tc>
                  <a:txBody>
                    <a:bodyPr/>
                    <a:lstStyle/>
                    <a:p>
                      <a:pPr marL="0" indent="0" algn="l">
                        <a:lnSpc>
                          <a:spcPct val="90000"/>
                        </a:lnSpc>
                        <a:spcBef>
                          <a:spcPts val="0"/>
                        </a:spcBef>
                        <a:spcAft>
                          <a:spcPts val="0"/>
                        </a:spcAft>
                        <a:buNone/>
                      </a:pPr>
                      <a:r>
                        <a:rPr lang="es-CO" sz="1800" b="0" dirty="0">
                          <a:solidFill>
                            <a:schemeClr val="tx1"/>
                          </a:solidFill>
                          <a:latin typeface="Noto Sans"/>
                          <a:ea typeface="Noto Sans"/>
                          <a:cs typeface="Noto Sans"/>
                          <a:sym typeface="Noto Sans"/>
                        </a:rPr>
                        <a:t>Media (desviación estándar)</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tc>
                  <a:txBody>
                    <a:bodyPr/>
                    <a:lstStyle/>
                    <a:p>
                      <a:pPr marL="0" indent="0" algn="l">
                        <a:lnSpc>
                          <a:spcPct val="90000"/>
                        </a:lnSpc>
                        <a:spcBef>
                          <a:spcPts val="0"/>
                        </a:spcBef>
                        <a:spcAft>
                          <a:spcPts val="0"/>
                        </a:spcAft>
                        <a:buNone/>
                      </a:pPr>
                      <a:r>
                        <a:rPr lang="es-CO" sz="1800" b="0" dirty="0">
                          <a:solidFill>
                            <a:schemeClr val="tx1"/>
                          </a:solidFill>
                          <a:latin typeface="Noto Sans"/>
                          <a:ea typeface="Noto Sans"/>
                          <a:cs typeface="Noto Sans"/>
                          <a:sym typeface="Noto Sans"/>
                        </a:rPr>
                        <a:t>Continuas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tc>
                  <a:txBody>
                    <a:bodyPr/>
                    <a:lstStyle/>
                    <a:p>
                      <a:pPr marL="0" indent="0" algn="l">
                        <a:lnSpc>
                          <a:spcPct val="90000"/>
                        </a:lnSpc>
                        <a:spcBef>
                          <a:spcPts val="0"/>
                        </a:spcBef>
                        <a:spcAft>
                          <a:spcPts val="0"/>
                        </a:spcAft>
                        <a:buNone/>
                      </a:pPr>
                      <a:r>
                        <a:rPr lang="es-CO" sz="1800" b="0" dirty="0">
                          <a:solidFill>
                            <a:schemeClr val="tx1"/>
                          </a:solidFill>
                          <a:latin typeface="Noto Sans"/>
                          <a:ea typeface="Noto Sans"/>
                          <a:cs typeface="Noto Sans"/>
                          <a:sym typeface="Noto Sans"/>
                        </a:rPr>
                        <a:t>Valor promedio, y cuánto se alejan los valores de ese promedio.</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extLst>
                  <a:ext uri="{0D108BD9-81ED-4DB2-BD59-A6C34878D82A}">
                    <a16:rowId xmlns:a16="http://schemas.microsoft.com/office/drawing/2014/main" val="10001"/>
                  </a:ext>
                </a:extLst>
              </a:tr>
              <a:tr h="720000">
                <a:tc>
                  <a:txBody>
                    <a:bodyPr/>
                    <a:lstStyle/>
                    <a:p>
                      <a:pPr marL="0" indent="0" algn="l">
                        <a:lnSpc>
                          <a:spcPct val="90000"/>
                        </a:lnSpc>
                        <a:spcBef>
                          <a:spcPts val="0"/>
                        </a:spcBef>
                        <a:spcAft>
                          <a:spcPts val="0"/>
                        </a:spcAft>
                        <a:buNone/>
                      </a:pPr>
                      <a:r>
                        <a:rPr lang="es-CO" sz="1800" b="0" dirty="0">
                          <a:solidFill>
                            <a:schemeClr val="tx1"/>
                          </a:solidFill>
                          <a:latin typeface="Noto Sans"/>
                          <a:ea typeface="Noto Sans"/>
                          <a:cs typeface="Noto Sans"/>
                          <a:sym typeface="Noto Sans"/>
                        </a:rPr>
                        <a:t>Mediana</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tc>
                  <a:txBody>
                    <a:bodyPr/>
                    <a:lstStyle/>
                    <a:p>
                      <a:pPr marL="0" indent="0" algn="l">
                        <a:lnSpc>
                          <a:spcPct val="90000"/>
                        </a:lnSpc>
                        <a:spcBef>
                          <a:spcPts val="0"/>
                        </a:spcBef>
                        <a:spcAft>
                          <a:spcPts val="0"/>
                        </a:spcAft>
                        <a:buNone/>
                      </a:pPr>
                      <a:r>
                        <a:rPr lang="es-CO" sz="1800" b="0" dirty="0">
                          <a:solidFill>
                            <a:schemeClr val="tx1"/>
                          </a:solidFill>
                          <a:latin typeface="Noto Sans"/>
                          <a:ea typeface="Noto Sans"/>
                          <a:cs typeface="Noto Sans"/>
                          <a:sym typeface="Noto Sans"/>
                        </a:rPr>
                        <a:t>Continuas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tc>
                  <a:txBody>
                    <a:bodyPr/>
                    <a:lstStyle/>
                    <a:p>
                      <a:pPr marL="0" indent="0" algn="l">
                        <a:lnSpc>
                          <a:spcPct val="90000"/>
                        </a:lnSpc>
                        <a:spcBef>
                          <a:spcPts val="0"/>
                        </a:spcBef>
                        <a:spcAft>
                          <a:spcPts val="0"/>
                        </a:spcAft>
                        <a:buNone/>
                      </a:pPr>
                      <a:r>
                        <a:rPr lang="es-CO" sz="1800" b="0" dirty="0">
                          <a:solidFill>
                            <a:schemeClr val="tx1"/>
                          </a:solidFill>
                          <a:latin typeface="Noto Sans"/>
                          <a:ea typeface="Noto Sans"/>
                          <a:cs typeface="Noto Sans"/>
                          <a:sym typeface="Noto Sans"/>
                        </a:rPr>
                        <a:t>Valor que deja la mitad de los registros por debajo y la mitad por encima. </a:t>
                      </a:r>
                    </a:p>
                    <a:p>
                      <a:pPr marL="0" indent="0" algn="l">
                        <a:lnSpc>
                          <a:spcPct val="90000"/>
                        </a:lnSpc>
                        <a:spcBef>
                          <a:spcPts val="0"/>
                        </a:spcBef>
                        <a:spcAft>
                          <a:spcPts val="0"/>
                        </a:spcAft>
                        <a:buNone/>
                      </a:pPr>
                      <a:r>
                        <a:rPr lang="es-CO" sz="1800" b="0" dirty="0">
                          <a:solidFill>
                            <a:schemeClr val="tx1"/>
                          </a:solidFill>
                          <a:latin typeface="Noto Sans"/>
                          <a:ea typeface="Noto Sans"/>
                          <a:cs typeface="Noto Sans"/>
                          <a:sym typeface="Noto Sans"/>
                        </a:rPr>
                        <a:t>Se ve menos afectada por valores extremos que la media.</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extLst>
                  <a:ext uri="{0D108BD9-81ED-4DB2-BD59-A6C34878D82A}">
                    <a16:rowId xmlns:a16="http://schemas.microsoft.com/office/drawing/2014/main" val="10002"/>
                  </a:ext>
                </a:extLst>
              </a:tr>
              <a:tr h="720000">
                <a:tc>
                  <a:txBody>
                    <a:bodyPr/>
                    <a:lstStyle/>
                    <a:p>
                      <a:pPr marL="0" indent="0" algn="l">
                        <a:lnSpc>
                          <a:spcPct val="90000"/>
                        </a:lnSpc>
                        <a:spcBef>
                          <a:spcPts val="0"/>
                        </a:spcBef>
                        <a:spcAft>
                          <a:spcPts val="0"/>
                        </a:spcAft>
                        <a:buNone/>
                      </a:pPr>
                      <a:r>
                        <a:rPr lang="es-CO" sz="1800" b="0" dirty="0">
                          <a:solidFill>
                            <a:schemeClr val="tx1"/>
                          </a:solidFill>
                          <a:latin typeface="Noto Sans"/>
                          <a:ea typeface="Noto Sans"/>
                          <a:cs typeface="Noto Sans"/>
                          <a:sym typeface="Noto Sans"/>
                        </a:rPr>
                        <a:t>Q1 - Q3</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tc>
                  <a:txBody>
                    <a:bodyPr/>
                    <a:lstStyle/>
                    <a:p>
                      <a:pPr marL="0" indent="0" algn="l">
                        <a:lnSpc>
                          <a:spcPct val="90000"/>
                        </a:lnSpc>
                        <a:spcBef>
                          <a:spcPts val="0"/>
                        </a:spcBef>
                        <a:spcAft>
                          <a:spcPts val="0"/>
                        </a:spcAft>
                        <a:buNone/>
                      </a:pPr>
                      <a:r>
                        <a:rPr lang="es-CO" sz="1800" b="0" dirty="0">
                          <a:solidFill>
                            <a:schemeClr val="tx1"/>
                          </a:solidFill>
                          <a:latin typeface="Noto Sans"/>
                          <a:ea typeface="Noto Sans"/>
                          <a:cs typeface="Noto Sans"/>
                          <a:sym typeface="Noto Sans"/>
                        </a:rPr>
                        <a:t>Continuas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tc>
                  <a:txBody>
                    <a:bodyPr/>
                    <a:lstStyle/>
                    <a:p>
                      <a:pPr marL="0" indent="0" algn="l">
                        <a:lnSpc>
                          <a:spcPct val="90000"/>
                        </a:lnSpc>
                        <a:spcBef>
                          <a:spcPts val="0"/>
                        </a:spcBef>
                        <a:spcAft>
                          <a:spcPts val="0"/>
                        </a:spcAft>
                        <a:buNone/>
                      </a:pPr>
                      <a:r>
                        <a:rPr lang="es-CO" sz="1800" b="0" dirty="0">
                          <a:solidFill>
                            <a:schemeClr val="tx1"/>
                          </a:solidFill>
                          <a:latin typeface="Noto Sans"/>
                          <a:ea typeface="Noto Sans"/>
                          <a:cs typeface="Noto Sans"/>
                          <a:sym typeface="Noto Sans"/>
                        </a:rPr>
                        <a:t>Valores entre los que se encuentra el 50% central de los datos (rango intercuartílico).</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extLst>
                  <a:ext uri="{0D108BD9-81ED-4DB2-BD59-A6C34878D82A}">
                    <a16:rowId xmlns:a16="http://schemas.microsoft.com/office/drawing/2014/main" val="10003"/>
                  </a:ext>
                </a:extLst>
              </a:tr>
              <a:tr h="720000">
                <a:tc>
                  <a:txBody>
                    <a:bodyPr/>
                    <a:lstStyle/>
                    <a:p>
                      <a:pPr marL="0" indent="0" algn="l">
                        <a:lnSpc>
                          <a:spcPct val="90000"/>
                        </a:lnSpc>
                        <a:spcBef>
                          <a:spcPts val="0"/>
                        </a:spcBef>
                        <a:spcAft>
                          <a:spcPts val="0"/>
                        </a:spcAft>
                        <a:buNone/>
                      </a:pPr>
                      <a:r>
                        <a:rPr lang="es-CO" sz="1800" b="0" dirty="0">
                          <a:solidFill>
                            <a:schemeClr val="tx1"/>
                          </a:solidFill>
                          <a:latin typeface="Noto Sans"/>
                          <a:ea typeface="Noto Sans"/>
                          <a:cs typeface="Noto Sans"/>
                          <a:sym typeface="Noto Sans"/>
                        </a:rPr>
                        <a:t>Mínimo - máximo</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tc>
                  <a:txBody>
                    <a:bodyPr/>
                    <a:lstStyle/>
                    <a:p>
                      <a:pPr marL="0" indent="0" algn="l">
                        <a:lnSpc>
                          <a:spcPct val="90000"/>
                        </a:lnSpc>
                        <a:spcBef>
                          <a:spcPts val="0"/>
                        </a:spcBef>
                        <a:spcAft>
                          <a:spcPts val="0"/>
                        </a:spcAft>
                        <a:buNone/>
                      </a:pPr>
                      <a:r>
                        <a:rPr lang="es-CO" sz="1800" b="0" dirty="0">
                          <a:solidFill>
                            <a:schemeClr val="tx1"/>
                          </a:solidFill>
                          <a:latin typeface="Noto Sans"/>
                          <a:ea typeface="Noto Sans"/>
                          <a:cs typeface="Noto Sans"/>
                          <a:sym typeface="Noto Sans"/>
                        </a:rPr>
                        <a:t>Continuas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tc>
                  <a:txBody>
                    <a:bodyPr/>
                    <a:lstStyle/>
                    <a:p>
                      <a:pPr marL="0" indent="0" algn="l">
                        <a:lnSpc>
                          <a:spcPct val="90000"/>
                        </a:lnSpc>
                        <a:spcBef>
                          <a:spcPts val="0"/>
                        </a:spcBef>
                        <a:spcAft>
                          <a:spcPts val="0"/>
                        </a:spcAft>
                        <a:buNone/>
                      </a:pPr>
                      <a:r>
                        <a:rPr lang="es-CO" sz="1800" b="0" dirty="0">
                          <a:solidFill>
                            <a:schemeClr val="tx1"/>
                          </a:solidFill>
                          <a:latin typeface="Noto Sans"/>
                          <a:ea typeface="Noto Sans"/>
                          <a:cs typeface="Noto Sans"/>
                          <a:sym typeface="Noto Sans"/>
                        </a:rPr>
                        <a:t>Rango completo de valores observados.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extLst>
                  <a:ext uri="{0D108BD9-81ED-4DB2-BD59-A6C34878D82A}">
                    <a16:rowId xmlns:a16="http://schemas.microsoft.com/office/drawing/2014/main" val="10004"/>
                  </a:ext>
                </a:extLst>
              </a:tr>
              <a:tr h="720000">
                <a:tc>
                  <a:txBody>
                    <a:bodyPr/>
                    <a:lstStyle/>
                    <a:p>
                      <a:pPr marL="0" indent="0" algn="l">
                        <a:lnSpc>
                          <a:spcPct val="90000"/>
                        </a:lnSpc>
                        <a:spcBef>
                          <a:spcPts val="0"/>
                        </a:spcBef>
                        <a:spcAft>
                          <a:spcPts val="0"/>
                        </a:spcAft>
                        <a:buNone/>
                      </a:pPr>
                      <a:r>
                        <a:rPr lang="es-CO" sz="1800" b="0" dirty="0">
                          <a:solidFill>
                            <a:schemeClr val="tx1"/>
                          </a:solidFill>
                          <a:latin typeface="Noto Sans"/>
                          <a:ea typeface="Noto Sans"/>
                          <a:cs typeface="Noto Sans"/>
                          <a:sym typeface="Noto Sans"/>
                        </a:rPr>
                        <a:t>Conteo por grupo de edad (%)</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tc>
                  <a:txBody>
                    <a:bodyPr/>
                    <a:lstStyle/>
                    <a:p>
                      <a:pPr marL="0" indent="0" algn="l">
                        <a:lnSpc>
                          <a:spcPct val="90000"/>
                        </a:lnSpc>
                        <a:spcBef>
                          <a:spcPts val="0"/>
                        </a:spcBef>
                        <a:spcAft>
                          <a:spcPts val="0"/>
                        </a:spcAft>
                        <a:buNone/>
                      </a:pPr>
                      <a:r>
                        <a:rPr lang="es-CO" sz="1800" b="0" dirty="0">
                          <a:solidFill>
                            <a:schemeClr val="tx1"/>
                          </a:solidFill>
                          <a:latin typeface="Noto Sans"/>
                          <a:ea typeface="Noto Sans"/>
                          <a:cs typeface="Noto Sans"/>
                          <a:sym typeface="Noto Sans"/>
                        </a:rPr>
                        <a:t>Edad</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tc>
                  <a:txBody>
                    <a:bodyPr/>
                    <a:lstStyle/>
                    <a:p>
                      <a:pPr marL="0" indent="0" algn="l">
                        <a:lnSpc>
                          <a:spcPct val="90000"/>
                        </a:lnSpc>
                        <a:spcBef>
                          <a:spcPts val="0"/>
                        </a:spcBef>
                        <a:spcAft>
                          <a:spcPts val="0"/>
                        </a:spcAft>
                        <a:buNone/>
                      </a:pPr>
                      <a:r>
                        <a:rPr lang="es-CO" sz="1800" b="0" dirty="0">
                          <a:solidFill>
                            <a:schemeClr val="tx1"/>
                          </a:solidFill>
                          <a:latin typeface="Noto Sans"/>
                          <a:ea typeface="Noto Sans"/>
                          <a:cs typeface="Noto Sans"/>
                          <a:sym typeface="Noto Sans"/>
                        </a:rPr>
                        <a:t>Pacientes en cada rango de 10 años.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3. Función de estadística descriptiva</a:t>
            </a:r>
            <a:endParaRPr lang="es-CO" sz="3600" dirty="0"/>
          </a:p>
        </p:txBody>
      </p:sp>
      <p:graphicFrame>
        <p:nvGraphicFramePr>
          <p:cNvPr id="3" name="Table"/>
          <p:cNvGraphicFramePr>
            <a:graphicFrameLocks noGrp="1"/>
          </p:cNvGraphicFramePr>
          <p:nvPr>
            <p:extLst>
              <p:ext uri="{D42A27DB-BD31-4B8C-83A1-F6EECF244321}">
                <p14:modId xmlns:p14="http://schemas.microsoft.com/office/powerpoint/2010/main" val="1058124074"/>
              </p:ext>
            </p:extLst>
          </p:nvPr>
        </p:nvGraphicFramePr>
        <p:xfrm>
          <a:off x="548640" y="1737360"/>
          <a:ext cx="11091672" cy="2525760"/>
        </p:xfrm>
        <a:graphic>
          <a:graphicData uri="http://schemas.openxmlformats.org/drawingml/2006/table">
            <a:tbl>
              <a:tblPr firstRow="1" bandRow="1"/>
              <a:tblGrid>
                <a:gridCol w="3444459">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5955573">
                  <a:extLst>
                    <a:ext uri="{9D8B030D-6E8A-4147-A177-3AD203B41FA5}">
                      <a16:colId xmlns:a16="http://schemas.microsoft.com/office/drawing/2014/main" val="20002"/>
                    </a:ext>
                  </a:extLst>
                </a:gridCol>
              </a:tblGrid>
              <a:tr h="347472">
                <a:tc>
                  <a:txBody>
                    <a:bodyPr/>
                    <a:lstStyle/>
                    <a:p>
                      <a:pPr marL="0" indent="0" algn="l">
                        <a:lnSpc>
                          <a:spcPct val="90000"/>
                        </a:lnSpc>
                        <a:spcBef>
                          <a:spcPts val="0"/>
                        </a:spcBef>
                        <a:spcAft>
                          <a:spcPts val="0"/>
                        </a:spcAft>
                        <a:buNone/>
                      </a:pPr>
                      <a:r>
                        <a:rPr lang="es-CO" sz="2000" b="1" dirty="0">
                          <a:solidFill>
                            <a:srgbClr val="FFFFFF"/>
                          </a:solidFill>
                          <a:latin typeface="Noto Sans"/>
                          <a:ea typeface="Noto Sans"/>
                          <a:cs typeface="Noto Sans"/>
                          <a:sym typeface="Noto Sans"/>
                        </a:rPr>
                        <a:t>Medida</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673BA"/>
                    </a:solidFill>
                  </a:tcPr>
                </a:tc>
                <a:tc>
                  <a:txBody>
                    <a:bodyPr/>
                    <a:lstStyle/>
                    <a:p>
                      <a:pPr marL="0" indent="0" algn="l">
                        <a:lnSpc>
                          <a:spcPct val="90000"/>
                        </a:lnSpc>
                        <a:spcBef>
                          <a:spcPts val="0"/>
                        </a:spcBef>
                        <a:spcAft>
                          <a:spcPts val="0"/>
                        </a:spcAft>
                        <a:buNone/>
                      </a:pPr>
                      <a:r>
                        <a:rPr lang="es-CO" sz="2000" b="1" dirty="0">
                          <a:solidFill>
                            <a:srgbClr val="FFFFFF"/>
                          </a:solidFill>
                          <a:latin typeface="Noto Sans"/>
                          <a:ea typeface="Noto Sans"/>
                          <a:cs typeface="Noto Sans"/>
                          <a:sym typeface="Noto Sans"/>
                        </a:rPr>
                        <a:t>Variables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673BA"/>
                    </a:solidFill>
                  </a:tcPr>
                </a:tc>
                <a:tc>
                  <a:txBody>
                    <a:bodyPr/>
                    <a:lstStyle/>
                    <a:p>
                      <a:pPr marL="0" indent="0" algn="l">
                        <a:lnSpc>
                          <a:spcPct val="90000"/>
                        </a:lnSpc>
                        <a:spcBef>
                          <a:spcPts val="0"/>
                        </a:spcBef>
                        <a:spcAft>
                          <a:spcPts val="0"/>
                        </a:spcAft>
                        <a:buNone/>
                      </a:pPr>
                      <a:r>
                        <a:rPr lang="es-CO" sz="2000" b="1" dirty="0">
                          <a:solidFill>
                            <a:srgbClr val="FFFFFF"/>
                          </a:solidFill>
                          <a:latin typeface="Noto Sans"/>
                          <a:ea typeface="Noto Sans"/>
                          <a:cs typeface="Noto Sans"/>
                          <a:sym typeface="Noto Sans"/>
                        </a:rPr>
                        <a:t>Qué indica</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673BA"/>
                    </a:solidFill>
                  </a:tcPr>
                </a:tc>
                <a:extLst>
                  <a:ext uri="{0D108BD9-81ED-4DB2-BD59-A6C34878D82A}">
                    <a16:rowId xmlns:a16="http://schemas.microsoft.com/office/drawing/2014/main" val="10000"/>
                  </a:ext>
                </a:extLst>
              </a:tr>
              <a:tr h="720000">
                <a:tc>
                  <a:txBody>
                    <a:bodyPr/>
                    <a:lstStyle/>
                    <a:p>
                      <a:pPr marL="0" indent="0" algn="l">
                        <a:lnSpc>
                          <a:spcPct val="90000"/>
                        </a:lnSpc>
                        <a:spcBef>
                          <a:spcPts val="0"/>
                        </a:spcBef>
                        <a:spcAft>
                          <a:spcPts val="0"/>
                        </a:spcAft>
                        <a:buNone/>
                      </a:pPr>
                      <a:r>
                        <a:rPr lang="es-CO" sz="2000" b="0" dirty="0">
                          <a:solidFill>
                            <a:schemeClr val="tx1"/>
                          </a:solidFill>
                          <a:latin typeface="Noto Sans"/>
                          <a:ea typeface="Noto Sans"/>
                          <a:cs typeface="Noto Sans"/>
                          <a:sym typeface="Noto Sans"/>
                        </a:rPr>
                        <a:t>Conteo por categoría (%)</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tc>
                  <a:txBody>
                    <a:bodyPr/>
                    <a:lstStyle/>
                    <a:p>
                      <a:pPr marL="0" indent="0" algn="l">
                        <a:lnSpc>
                          <a:spcPct val="90000"/>
                        </a:lnSpc>
                        <a:spcBef>
                          <a:spcPts val="0"/>
                        </a:spcBef>
                        <a:spcAft>
                          <a:spcPts val="0"/>
                        </a:spcAft>
                        <a:buNone/>
                      </a:pPr>
                      <a:r>
                        <a:rPr lang="es-CO" sz="2000" b="0" dirty="0">
                          <a:solidFill>
                            <a:schemeClr val="tx1"/>
                          </a:solidFill>
                          <a:latin typeface="Noto Sans"/>
                          <a:ea typeface="Noto Sans"/>
                          <a:cs typeface="Noto Sans"/>
                          <a:sym typeface="Noto Sans"/>
                        </a:rPr>
                        <a:t>Categóricas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tc>
                  <a:txBody>
                    <a:bodyPr/>
                    <a:lstStyle/>
                    <a:p>
                      <a:pPr marL="0" indent="0" algn="l">
                        <a:lnSpc>
                          <a:spcPct val="90000"/>
                        </a:lnSpc>
                        <a:spcBef>
                          <a:spcPts val="0"/>
                        </a:spcBef>
                        <a:spcAft>
                          <a:spcPts val="0"/>
                        </a:spcAft>
                        <a:buNone/>
                      </a:pPr>
                      <a:r>
                        <a:rPr lang="es-CO" sz="2000" b="0" dirty="0">
                          <a:solidFill>
                            <a:schemeClr val="tx1"/>
                          </a:solidFill>
                          <a:latin typeface="Noto Sans"/>
                          <a:ea typeface="Noto Sans"/>
                          <a:cs typeface="Noto Sans"/>
                          <a:sym typeface="Noto Sans"/>
                        </a:rPr>
                        <a:t>Cantidad y porcentaje de registros en cada categoría.</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extLst>
                  <a:ext uri="{0D108BD9-81ED-4DB2-BD59-A6C34878D82A}">
                    <a16:rowId xmlns:a16="http://schemas.microsoft.com/office/drawing/2014/main" val="10001"/>
                  </a:ext>
                </a:extLst>
              </a:tr>
              <a:tr h="720000">
                <a:tc>
                  <a:txBody>
                    <a:bodyPr/>
                    <a:lstStyle/>
                    <a:p>
                      <a:pPr marL="0" indent="0" algn="l">
                        <a:lnSpc>
                          <a:spcPct val="90000"/>
                        </a:lnSpc>
                        <a:spcBef>
                          <a:spcPts val="0"/>
                        </a:spcBef>
                        <a:spcAft>
                          <a:spcPts val="0"/>
                        </a:spcAft>
                        <a:buNone/>
                      </a:pPr>
                      <a:r>
                        <a:rPr lang="es-CO" sz="2000" b="0" dirty="0">
                          <a:solidFill>
                            <a:schemeClr val="tx1"/>
                          </a:solidFill>
                          <a:latin typeface="Noto Sans"/>
                          <a:ea typeface="Noto Sans"/>
                          <a:cs typeface="Noto Sans"/>
                          <a:sym typeface="Noto Sans"/>
                        </a:rPr>
                        <a:t>Faltantes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tc>
                  <a:txBody>
                    <a:bodyPr/>
                    <a:lstStyle/>
                    <a:p>
                      <a:pPr marL="0" indent="0" algn="l">
                        <a:lnSpc>
                          <a:spcPct val="90000"/>
                        </a:lnSpc>
                        <a:spcBef>
                          <a:spcPts val="0"/>
                        </a:spcBef>
                        <a:spcAft>
                          <a:spcPts val="0"/>
                        </a:spcAft>
                        <a:buNone/>
                      </a:pPr>
                      <a:r>
                        <a:rPr lang="es-CO" sz="2000" b="0" dirty="0">
                          <a:solidFill>
                            <a:schemeClr val="tx1"/>
                          </a:solidFill>
                          <a:latin typeface="Noto Sans"/>
                          <a:ea typeface="Noto Sans"/>
                          <a:cs typeface="Noto Sans"/>
                          <a:sym typeface="Noto Sans"/>
                        </a:rPr>
                        <a:t>Todas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tc>
                  <a:txBody>
                    <a:bodyPr/>
                    <a:lstStyle/>
                    <a:p>
                      <a:pPr marL="0" indent="0" algn="l">
                        <a:lnSpc>
                          <a:spcPct val="90000"/>
                        </a:lnSpc>
                        <a:spcBef>
                          <a:spcPts val="0"/>
                        </a:spcBef>
                        <a:spcAft>
                          <a:spcPts val="0"/>
                        </a:spcAft>
                        <a:buNone/>
                      </a:pPr>
                      <a:r>
                        <a:rPr lang="es-CO" sz="2000" b="0" dirty="0">
                          <a:solidFill>
                            <a:schemeClr val="tx1"/>
                          </a:solidFill>
                          <a:latin typeface="Noto Sans"/>
                          <a:ea typeface="Noto Sans"/>
                          <a:cs typeface="Noto Sans"/>
                          <a:sym typeface="Noto Sans"/>
                        </a:rPr>
                        <a:t>Registros sin valor.</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extLst>
                  <a:ext uri="{0D108BD9-81ED-4DB2-BD59-A6C34878D82A}">
                    <a16:rowId xmlns:a16="http://schemas.microsoft.com/office/drawing/2014/main" val="10002"/>
                  </a:ext>
                </a:extLst>
              </a:tr>
              <a:tr h="720000">
                <a:tc>
                  <a:txBody>
                    <a:bodyPr/>
                    <a:lstStyle/>
                    <a:p>
                      <a:pPr marL="0" indent="0" algn="l">
                        <a:lnSpc>
                          <a:spcPct val="90000"/>
                        </a:lnSpc>
                        <a:spcBef>
                          <a:spcPts val="0"/>
                        </a:spcBef>
                        <a:spcAft>
                          <a:spcPts val="0"/>
                        </a:spcAft>
                        <a:buNone/>
                      </a:pPr>
                      <a:r>
                        <a:rPr lang="es-CO" sz="2000" b="0" dirty="0">
                          <a:solidFill>
                            <a:schemeClr val="tx1"/>
                          </a:solidFill>
                          <a:latin typeface="Noto Sans"/>
                          <a:ea typeface="Noto Sans"/>
                          <a:cs typeface="Noto Sans"/>
                          <a:sym typeface="Noto Sans"/>
                        </a:rPr>
                        <a:t>Registros con dato</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tc>
                  <a:txBody>
                    <a:bodyPr/>
                    <a:lstStyle/>
                    <a:p>
                      <a:pPr marL="0" indent="0" algn="l">
                        <a:lnSpc>
                          <a:spcPct val="90000"/>
                        </a:lnSpc>
                        <a:spcBef>
                          <a:spcPts val="0"/>
                        </a:spcBef>
                        <a:spcAft>
                          <a:spcPts val="0"/>
                        </a:spcAft>
                        <a:buNone/>
                      </a:pPr>
                      <a:r>
                        <a:rPr lang="es-CO" sz="2000" b="0" dirty="0">
                          <a:solidFill>
                            <a:schemeClr val="tx1"/>
                          </a:solidFill>
                          <a:latin typeface="Noto Sans"/>
                          <a:ea typeface="Noto Sans"/>
                          <a:cs typeface="Noto Sans"/>
                          <a:sym typeface="Noto Sans"/>
                        </a:rPr>
                        <a:t>Todas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tc>
                  <a:txBody>
                    <a:bodyPr/>
                    <a:lstStyle/>
                    <a:p>
                      <a:pPr marL="0" indent="0" algn="l">
                        <a:lnSpc>
                          <a:spcPct val="90000"/>
                        </a:lnSpc>
                        <a:spcBef>
                          <a:spcPts val="0"/>
                        </a:spcBef>
                        <a:spcAft>
                          <a:spcPts val="0"/>
                        </a:spcAft>
                        <a:buNone/>
                      </a:pPr>
                      <a:r>
                        <a:rPr lang="es-CO" sz="2000" b="0" dirty="0">
                          <a:solidFill>
                            <a:schemeClr val="tx1"/>
                          </a:solidFill>
                          <a:latin typeface="Noto Sans"/>
                          <a:ea typeface="Noto Sans"/>
                          <a:cs typeface="Noto Sans"/>
                          <a:sym typeface="Noto Sans"/>
                        </a:rPr>
                        <a:t>Registros con valor. Es la base para calcular los porcentajes.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4. Enfoque centralizado</a:t>
            </a:r>
            <a:endParaRPr lang="es-CO" sz="3600" dirty="0"/>
          </a:p>
        </p:txBody>
      </p:sp>
      <p:sp>
        <p:nvSpPr>
          <p:cNvPr id="3" name="TextBox 3"/>
          <p:cNvSpPr txBox="1"/>
          <p:nvPr/>
        </p:nvSpPr>
        <p:spPr>
          <a:xfrm>
            <a:off x="548640" y="1737360"/>
            <a:ext cx="11091672" cy="274320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2400"/>
              </a:spcAft>
              <a:buNone/>
            </a:pPr>
            <a:r>
              <a:rPr lang="es-CO" sz="2200" b="0" dirty="0">
                <a:solidFill>
                  <a:schemeClr val="tx1"/>
                </a:solidFill>
                <a:latin typeface="Noto Sans"/>
                <a:ea typeface="Noto Sans"/>
                <a:cs typeface="Noto Sans"/>
                <a:sym typeface="Noto Sans"/>
              </a:rPr>
              <a:t>El objetivo de esta sección es calcular las estadísticas descriptivas sobre toda la base de datos a la vez, como si todas las instituciones compartieran directamente sus datos.</a:t>
            </a:r>
          </a:p>
          <a:p>
            <a:pPr marL="0" indent="0" algn="just">
              <a:lnSpc>
                <a:spcPct val="90000"/>
              </a:lnSpc>
              <a:spcBef>
                <a:spcPts val="0"/>
              </a:spcBef>
              <a:spcAft>
                <a:spcPts val="2400"/>
              </a:spcAft>
              <a:buNone/>
            </a:pPr>
            <a:r>
              <a:rPr lang="es-CO" sz="2200" b="0" dirty="0">
                <a:solidFill>
                  <a:schemeClr val="tx1"/>
                </a:solidFill>
                <a:latin typeface="Noto Sans"/>
                <a:ea typeface="Noto Sans"/>
                <a:cs typeface="Noto Sans"/>
                <a:sym typeface="Noto Sans"/>
              </a:rPr>
              <a:t>Para esto se llama una sola vez a la función definida en la sección 3.</a:t>
            </a:r>
          </a:p>
          <a:p>
            <a:pPr marL="0" indent="0" algn="just">
              <a:lnSpc>
                <a:spcPct val="90000"/>
              </a:lnSpc>
              <a:spcBef>
                <a:spcPts val="0"/>
              </a:spcBef>
              <a:spcAft>
                <a:spcPts val="0"/>
              </a:spcAft>
              <a:buNone/>
            </a:pPr>
            <a:r>
              <a:rPr lang="es-CO" sz="2200" b="0" dirty="0">
                <a:solidFill>
                  <a:schemeClr val="tx1"/>
                </a:solidFill>
                <a:latin typeface="Noto Sans"/>
                <a:ea typeface="Noto Sans"/>
                <a:cs typeface="Noto Sans"/>
                <a:sym typeface="Noto Sans"/>
              </a:rPr>
              <a:t>Para mostrar cómo se presentan los resultados, se incluyen tres ejemplos: una variable continua (</a:t>
            </a:r>
            <a:r>
              <a:rPr lang="es-CO" sz="2200" b="1" dirty="0">
                <a:solidFill>
                  <a:schemeClr val="tx1"/>
                </a:solidFill>
                <a:latin typeface="Noto Sans"/>
                <a:ea typeface="Noto Sans"/>
                <a:cs typeface="Noto Sans"/>
                <a:sym typeface="Noto Sans"/>
              </a:rPr>
              <a:t>age</a:t>
            </a:r>
            <a:r>
              <a:rPr lang="es-CO" sz="2200" b="0" dirty="0">
                <a:solidFill>
                  <a:schemeClr val="tx1"/>
                </a:solidFill>
                <a:latin typeface="Noto Sans"/>
                <a:ea typeface="Noto Sans"/>
                <a:cs typeface="Noto Sans"/>
                <a:sym typeface="Noto Sans"/>
              </a:rPr>
              <a:t>) y dos categóricas (</a:t>
            </a:r>
            <a:r>
              <a:rPr lang="es-CO" sz="2200" b="1" dirty="0">
                <a:solidFill>
                  <a:schemeClr val="tx1"/>
                </a:solidFill>
                <a:latin typeface="Noto Sans"/>
                <a:ea typeface="Noto Sans"/>
                <a:cs typeface="Noto Sans"/>
                <a:sym typeface="Noto Sans"/>
              </a:rPr>
              <a:t>outcome</a:t>
            </a:r>
            <a:r>
              <a:rPr lang="es-CO" sz="2200" b="0" dirty="0">
                <a:solidFill>
                  <a:schemeClr val="tx1"/>
                </a:solidFill>
                <a:latin typeface="Noto Sans"/>
                <a:ea typeface="Noto Sans"/>
                <a:cs typeface="Noto Sans"/>
                <a:sym typeface="Noto Sans"/>
              </a:rPr>
              <a:t> y </a:t>
            </a:r>
            <a:r>
              <a:rPr lang="es-CO" sz="2200" b="1" dirty="0">
                <a:solidFill>
                  <a:schemeClr val="tx1"/>
                </a:solidFill>
                <a:latin typeface="Noto Sans"/>
                <a:ea typeface="Noto Sans"/>
                <a:cs typeface="Noto Sans"/>
                <a:sym typeface="Noto Sans"/>
              </a:rPr>
              <a:t>shock</a:t>
            </a:r>
            <a:r>
              <a:rPr lang="es-CO" sz="2200" b="0" dirty="0">
                <a:solidFill>
                  <a:schemeClr val="tx1"/>
                </a:solidFill>
                <a:latin typeface="Noto Sans"/>
                <a:ea typeface="Noto Sans"/>
                <a:cs typeface="Noto Sans"/>
                <a:sym typeface="Noto Sans"/>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4. Enfoque centralizado</a:t>
            </a:r>
            <a:endParaRPr lang="es-CO" sz="3600" dirty="0"/>
          </a:p>
        </p:txBody>
      </p:sp>
      <p:pic>
        <p:nvPicPr>
          <p:cNvPr id="4" name="Imagen 3">
            <a:extLst>
              <a:ext uri="{FF2B5EF4-FFF2-40B4-BE49-F238E27FC236}">
                <a16:creationId xmlns:a16="http://schemas.microsoft.com/office/drawing/2014/main" id="{09223BC7-F702-2F22-04FB-30FDE6D3FC94}"/>
              </a:ext>
            </a:extLst>
          </p:cNvPr>
          <p:cNvPicPr>
            <a:picLocks noChangeAspect="1"/>
          </p:cNvPicPr>
          <p:nvPr/>
        </p:nvPicPr>
        <p:blipFill>
          <a:blip r:embed="rId2"/>
          <a:stretch>
            <a:fillRect/>
          </a:stretch>
        </p:blipFill>
        <p:spPr>
          <a:xfrm>
            <a:off x="2265607" y="1673352"/>
            <a:ext cx="2845798" cy="4580517"/>
          </a:xfrm>
          <a:prstGeom prst="rect">
            <a:avLst/>
          </a:prstGeom>
        </p:spPr>
      </p:pic>
      <p:pic>
        <p:nvPicPr>
          <p:cNvPr id="6" name="Imagen 5">
            <a:extLst>
              <a:ext uri="{FF2B5EF4-FFF2-40B4-BE49-F238E27FC236}">
                <a16:creationId xmlns:a16="http://schemas.microsoft.com/office/drawing/2014/main" id="{137F3966-5372-AA28-080A-B3EC127FE82F}"/>
              </a:ext>
            </a:extLst>
          </p:cNvPr>
          <p:cNvPicPr>
            <a:picLocks noChangeAspect="1"/>
          </p:cNvPicPr>
          <p:nvPr/>
        </p:nvPicPr>
        <p:blipFill>
          <a:blip r:embed="rId3"/>
          <a:stretch>
            <a:fillRect/>
          </a:stretch>
        </p:blipFill>
        <p:spPr>
          <a:xfrm>
            <a:off x="5813300" y="1673352"/>
            <a:ext cx="3296366" cy="38656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5. Enfoque federado</a:t>
            </a:r>
            <a:endParaRPr lang="es-CO" sz="3600" dirty="0"/>
          </a:p>
        </p:txBody>
      </p:sp>
      <p:sp>
        <p:nvSpPr>
          <p:cNvPr id="3" name="TextBox 3"/>
          <p:cNvSpPr txBox="1"/>
          <p:nvPr/>
        </p:nvSpPr>
        <p:spPr>
          <a:xfrm>
            <a:off x="548640" y="1737360"/>
            <a:ext cx="11091672" cy="182880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0"/>
              </a:spcAft>
              <a:buNone/>
            </a:pPr>
            <a:r>
              <a:rPr lang="es-CO" sz="2200" b="0" dirty="0">
                <a:solidFill>
                  <a:schemeClr val="tx1"/>
                </a:solidFill>
                <a:latin typeface="Noto Sans"/>
                <a:ea typeface="Noto Sans"/>
                <a:cs typeface="Noto Sans"/>
                <a:sym typeface="Noto Sans"/>
              </a:rPr>
              <a:t>El objetivo de esta sección es calcular las estadísticas descriptivas por institución y luego combinarlas sin compartir registros individuales. </a:t>
            </a:r>
          </a:p>
          <a:p>
            <a:pPr marL="0" indent="0" algn="just">
              <a:lnSpc>
                <a:spcPct val="90000"/>
              </a:lnSpc>
              <a:spcBef>
                <a:spcPts val="0"/>
              </a:spcBef>
              <a:spcAft>
                <a:spcPts val="0"/>
              </a:spcAft>
              <a:buNone/>
            </a:pPr>
            <a:endParaRPr lang="es-CO" sz="2200" dirty="0">
              <a:solidFill>
                <a:schemeClr val="tx1"/>
              </a:solidFill>
              <a:latin typeface="Noto Sans"/>
              <a:ea typeface="Noto Sans"/>
              <a:cs typeface="Noto Sans"/>
              <a:sym typeface="Noto Sans"/>
            </a:endParaRPr>
          </a:p>
          <a:p>
            <a:pPr marL="0" indent="0" algn="just">
              <a:lnSpc>
                <a:spcPct val="90000"/>
              </a:lnSpc>
              <a:spcBef>
                <a:spcPts val="0"/>
              </a:spcBef>
              <a:spcAft>
                <a:spcPts val="0"/>
              </a:spcAft>
              <a:buNone/>
            </a:pPr>
            <a:r>
              <a:rPr lang="es-CO" sz="2200" b="0" dirty="0">
                <a:solidFill>
                  <a:schemeClr val="tx1"/>
                </a:solidFill>
                <a:latin typeface="Noto Sans"/>
                <a:ea typeface="Noto Sans"/>
                <a:cs typeface="Noto Sans"/>
                <a:sym typeface="Noto Sans"/>
              </a:rPr>
              <a:t>Se usan las mismas medidas de la sección 3, pero calculadas en cada institución.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5. Enfoque federado</a:t>
            </a:r>
            <a:endParaRPr lang="es-CO" sz="3600" dirty="0"/>
          </a:p>
        </p:txBody>
      </p:sp>
      <p:sp>
        <p:nvSpPr>
          <p:cNvPr id="3" name="Server zone 3"/>
          <p:cNvSpPr/>
          <p:nvPr/>
        </p:nvSpPr>
        <p:spPr>
          <a:xfrm>
            <a:off x="3108960" y="1737360"/>
            <a:ext cx="5943600" cy="1691640"/>
          </a:xfrm>
          <a:prstGeom prst="roundRect">
            <a:avLst>
              <a:gd name="adj" fmla="val 8000"/>
            </a:avLst>
          </a:prstGeom>
          <a:solidFill>
            <a:srgbClr val="E2F0D9"/>
          </a:solidFill>
          <a:ln w="19050">
            <a:solidFill>
              <a:srgbClr val="548235"/>
            </a:solidFill>
          </a:ln>
        </p:spPr>
        <p:txBody>
          <a:bodyPr wrap="square" lIns="91440" tIns="91440" rIns="91440" bIns="91440" rtlCol="0" anchor="t">
            <a:noAutofit/>
          </a:bodyPr>
          <a:lstStyle/>
          <a:p>
            <a:pPr marL="0" indent="0" algn="l">
              <a:lnSpc>
                <a:spcPct val="100000"/>
              </a:lnSpc>
              <a:spcBef>
                <a:spcPts val="0"/>
              </a:spcBef>
              <a:spcAft>
                <a:spcPts val="0"/>
              </a:spcAft>
              <a:buNone/>
            </a:pPr>
            <a:endParaRPr lang="es-CO" sz="2000" dirty="0"/>
          </a:p>
        </p:txBody>
      </p:sp>
      <p:pic>
        <p:nvPicPr>
          <p:cNvPr id="4" name="Icon 4" descr="Servido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246120" y="1810512"/>
            <a:ext cx="502920" cy="502920"/>
          </a:xfrm>
          <a:prstGeom prst="rect">
            <a:avLst/>
          </a:prstGeom>
        </p:spPr>
      </p:pic>
      <p:sp>
        <p:nvSpPr>
          <p:cNvPr id="5" name="Label 5"/>
          <p:cNvSpPr txBox="1"/>
          <p:nvPr/>
        </p:nvSpPr>
        <p:spPr>
          <a:xfrm>
            <a:off x="3794760" y="1810512"/>
            <a:ext cx="3657600" cy="502920"/>
          </a:xfrm>
          <a:prstGeom prst="rect">
            <a:avLst/>
          </a:prstGeom>
          <a:noFill/>
          <a:ln>
            <a:noFill/>
          </a:ln>
        </p:spPr>
        <p:txBody>
          <a:bodyPr wrap="square" lIns="27432" tIns="27432" rIns="27432" bIns="27432" rtlCol="0" anchor="ctr">
            <a:noAutofit/>
          </a:bodyPr>
          <a:lstStyle/>
          <a:p>
            <a:pPr marL="0" indent="0" algn="l">
              <a:lnSpc>
                <a:spcPct val="90000"/>
              </a:lnSpc>
              <a:spcBef>
                <a:spcPts val="0"/>
              </a:spcBef>
              <a:spcAft>
                <a:spcPts val="0"/>
              </a:spcAft>
              <a:buNone/>
            </a:pPr>
            <a:r>
              <a:rPr lang="es-CO" sz="2000" b="1" dirty="0">
                <a:solidFill>
                  <a:srgbClr val="548235"/>
                </a:solidFill>
                <a:latin typeface="Noto Sans"/>
                <a:ea typeface="Noto Sans"/>
                <a:cs typeface="Noto Sans"/>
                <a:sym typeface="Noto Sans"/>
              </a:rPr>
              <a:t>Servidor central</a:t>
            </a:r>
            <a:endParaRPr lang="es-CO" sz="2000" dirty="0"/>
          </a:p>
        </p:txBody>
      </p:sp>
      <p:sp>
        <p:nvSpPr>
          <p:cNvPr id="6" name="Step 6"/>
          <p:cNvSpPr/>
          <p:nvPr/>
        </p:nvSpPr>
        <p:spPr>
          <a:xfrm>
            <a:off x="3291840" y="2423160"/>
            <a:ext cx="2514600" cy="777240"/>
          </a:xfrm>
          <a:prstGeom prst="roundRect">
            <a:avLst>
              <a:gd name="adj" fmla="val 12000"/>
            </a:avLst>
          </a:prstGeom>
          <a:solidFill>
            <a:srgbClr val="0673BA"/>
          </a:solidFill>
          <a:ln>
            <a:noFill/>
          </a:ln>
        </p:spPr>
        <p:txBody>
          <a:bodyPr wrap="square" lIns="54864" tIns="54864" rIns="54864" bIns="54864" rtlCol="0" anchor="ctr">
            <a:noAutofit/>
          </a:bodyPr>
          <a:lstStyle/>
          <a:p>
            <a:pPr marL="0" indent="0" algn="ctr">
              <a:lnSpc>
                <a:spcPct val="90000"/>
              </a:lnSpc>
              <a:spcBef>
                <a:spcPts val="0"/>
              </a:spcBef>
              <a:spcAft>
                <a:spcPts val="0"/>
              </a:spcAft>
              <a:buNone/>
            </a:pPr>
            <a:r>
              <a:rPr lang="es-CO" sz="1800" b="0" dirty="0">
                <a:solidFill>
                  <a:srgbClr val="FFFFFF"/>
                </a:solidFill>
                <a:latin typeface="Noto Sans"/>
                <a:ea typeface="Noto Sans"/>
                <a:cs typeface="Noto Sans"/>
                <a:sym typeface="Noto Sans"/>
              </a:rPr>
              <a:t>Combinación de resultados</a:t>
            </a:r>
            <a:endParaRPr lang="es-CO" sz="1800" dirty="0"/>
          </a:p>
        </p:txBody>
      </p:sp>
      <p:sp>
        <p:nvSpPr>
          <p:cNvPr id="7" name="Step 7"/>
          <p:cNvSpPr/>
          <p:nvPr/>
        </p:nvSpPr>
        <p:spPr>
          <a:xfrm>
            <a:off x="6355080" y="2423160"/>
            <a:ext cx="2514600" cy="777240"/>
          </a:xfrm>
          <a:prstGeom prst="roundRect">
            <a:avLst>
              <a:gd name="adj" fmla="val 12000"/>
            </a:avLst>
          </a:prstGeom>
          <a:solidFill>
            <a:srgbClr val="0673BA"/>
          </a:solidFill>
          <a:ln>
            <a:noFill/>
          </a:ln>
        </p:spPr>
        <p:txBody>
          <a:bodyPr wrap="square" lIns="54864" tIns="54864" rIns="54864" bIns="54864" rtlCol="0" anchor="ctr">
            <a:noAutofit/>
          </a:bodyPr>
          <a:lstStyle/>
          <a:p>
            <a:pPr marL="0" indent="0" algn="ctr">
              <a:lnSpc>
                <a:spcPct val="90000"/>
              </a:lnSpc>
              <a:spcBef>
                <a:spcPts val="0"/>
              </a:spcBef>
              <a:spcAft>
                <a:spcPts val="0"/>
              </a:spcAft>
              <a:buNone/>
            </a:pPr>
            <a:r>
              <a:rPr lang="es-CO" sz="1800" b="0" dirty="0">
                <a:solidFill>
                  <a:srgbClr val="FFFFFF"/>
                </a:solidFill>
                <a:latin typeface="Noto Sans"/>
                <a:ea typeface="Noto Sans"/>
                <a:cs typeface="Noto Sans"/>
                <a:sym typeface="Noto Sans"/>
              </a:rPr>
              <a:t>Cálculos agregados</a:t>
            </a:r>
            <a:endParaRPr lang="es-CO" sz="1800" dirty="0"/>
          </a:p>
        </p:txBody>
      </p:sp>
      <p:cxnSp>
        <p:nvCxnSpPr>
          <p:cNvPr id="8" name="Arrow 8"/>
          <p:cNvCxnSpPr/>
          <p:nvPr/>
        </p:nvCxnSpPr>
        <p:spPr>
          <a:xfrm>
            <a:off x="5806440" y="2811780"/>
            <a:ext cx="548640" cy="0"/>
          </a:xfrm>
          <a:prstGeom prst="line">
            <a:avLst/>
          </a:prstGeom>
          <a:ln w="25400">
            <a:solidFill>
              <a:srgbClr val="595959"/>
            </a:solidFill>
            <a:tailEnd type="triangle" w="med" len="med"/>
          </a:ln>
        </p:spPr>
      </p:cxnSp>
      <p:cxnSp>
        <p:nvCxnSpPr>
          <p:cNvPr id="9" name="Arrow 9"/>
          <p:cNvCxnSpPr/>
          <p:nvPr/>
        </p:nvCxnSpPr>
        <p:spPr>
          <a:xfrm>
            <a:off x="8869680" y="2811780"/>
            <a:ext cx="502920" cy="0"/>
          </a:xfrm>
          <a:prstGeom prst="line">
            <a:avLst/>
          </a:prstGeom>
          <a:ln w="25400">
            <a:solidFill>
              <a:srgbClr val="595959"/>
            </a:solidFill>
            <a:tailEnd type="triangle" w="med" len="med"/>
          </a:ln>
        </p:spPr>
      </p:cxnSp>
      <p:sp>
        <p:nvSpPr>
          <p:cNvPr id="10" name="TextBox 10"/>
          <p:cNvSpPr txBox="1"/>
          <p:nvPr/>
        </p:nvSpPr>
        <p:spPr>
          <a:xfrm>
            <a:off x="9418320" y="2057400"/>
            <a:ext cx="2221992" cy="1280160"/>
          </a:xfrm>
          <a:prstGeom prst="rect">
            <a:avLst/>
          </a:prstGeom>
          <a:noFill/>
          <a:ln>
            <a:noFill/>
          </a:ln>
        </p:spPr>
        <p:txBody>
          <a:bodyPr wrap="square" lIns="45720" tIns="45720" rIns="45720" bIns="45720" rtlCol="0" anchor="ctr">
            <a:noAutofit/>
          </a:bodyPr>
          <a:lstStyle/>
          <a:p>
            <a:pPr marL="0" indent="0" algn="l">
              <a:lnSpc>
                <a:spcPct val="90000"/>
              </a:lnSpc>
              <a:spcBef>
                <a:spcPts val="0"/>
              </a:spcBef>
              <a:spcAft>
                <a:spcPts val="0"/>
              </a:spcAft>
              <a:buNone/>
            </a:pPr>
            <a:r>
              <a:rPr lang="es-CO" sz="2000" b="0" dirty="0">
                <a:solidFill>
                  <a:srgbClr val="0E2841"/>
                </a:solidFill>
                <a:latin typeface="Noto Sans"/>
                <a:ea typeface="Noto Sans"/>
                <a:cs typeface="Noto Sans"/>
                <a:sym typeface="Noto Sans"/>
              </a:rPr>
              <a:t>Resultados comparables con el enfoque centralizado</a:t>
            </a:r>
            <a:endParaRPr lang="es-CO" sz="2000" dirty="0"/>
          </a:p>
        </p:txBody>
      </p:sp>
      <p:sp>
        <p:nvSpPr>
          <p:cNvPr id="12" name="Institution zone 12"/>
          <p:cNvSpPr/>
          <p:nvPr/>
        </p:nvSpPr>
        <p:spPr>
          <a:xfrm>
            <a:off x="548640" y="4226963"/>
            <a:ext cx="2011680" cy="2015953"/>
          </a:xfrm>
          <a:prstGeom prst="roundRect">
            <a:avLst>
              <a:gd name="adj" fmla="val 8000"/>
            </a:avLst>
          </a:prstGeom>
          <a:solidFill>
            <a:srgbClr val="FBE5D6"/>
          </a:solidFill>
          <a:ln w="19050">
            <a:solidFill>
              <a:srgbClr val="C55A11"/>
            </a:solidFill>
          </a:ln>
        </p:spPr>
        <p:txBody>
          <a:bodyPr wrap="square" lIns="91440" tIns="91440" rIns="91440" bIns="91440" rtlCol="0" anchor="t">
            <a:noAutofit/>
          </a:bodyPr>
          <a:lstStyle/>
          <a:p>
            <a:pPr marL="0" indent="0" algn="l">
              <a:lnSpc>
                <a:spcPct val="100000"/>
              </a:lnSpc>
              <a:spcBef>
                <a:spcPts val="0"/>
              </a:spcBef>
              <a:spcAft>
                <a:spcPts val="0"/>
              </a:spcAft>
              <a:buNone/>
            </a:pPr>
            <a:endParaRPr lang="es-CO" sz="2000" dirty="0"/>
          </a:p>
        </p:txBody>
      </p:sp>
      <p:pic>
        <p:nvPicPr>
          <p:cNvPr id="13" name="Icon 13" descr="Hospital"/>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5800" y="4290971"/>
            <a:ext cx="457200" cy="457200"/>
          </a:xfrm>
          <a:prstGeom prst="rect">
            <a:avLst/>
          </a:prstGeom>
        </p:spPr>
      </p:pic>
      <p:sp>
        <p:nvSpPr>
          <p:cNvPr id="14" name="Label 14"/>
          <p:cNvSpPr txBox="1"/>
          <p:nvPr/>
        </p:nvSpPr>
        <p:spPr>
          <a:xfrm>
            <a:off x="1207008" y="4369909"/>
            <a:ext cx="404703" cy="457200"/>
          </a:xfrm>
          <a:prstGeom prst="rect">
            <a:avLst/>
          </a:prstGeom>
          <a:noFill/>
          <a:ln>
            <a:noFill/>
          </a:ln>
        </p:spPr>
        <p:txBody>
          <a:bodyPr wrap="square" lIns="27432" tIns="27432" rIns="27432" bIns="27432" rtlCol="0" anchor="ctr">
            <a:noAutofit/>
          </a:bodyPr>
          <a:lstStyle/>
          <a:p>
            <a:pPr marL="0" indent="0" algn="l">
              <a:lnSpc>
                <a:spcPct val="90000"/>
              </a:lnSpc>
              <a:spcBef>
                <a:spcPts val="0"/>
              </a:spcBef>
              <a:spcAft>
                <a:spcPts val="0"/>
              </a:spcAft>
              <a:buNone/>
            </a:pPr>
            <a:r>
              <a:rPr lang="es-CO" sz="2000" b="1" dirty="0">
                <a:solidFill>
                  <a:srgbClr val="C55A11"/>
                </a:solidFill>
                <a:latin typeface="Noto Sans"/>
                <a:ea typeface="Noto Sans"/>
                <a:cs typeface="Noto Sans"/>
                <a:sym typeface="Noto Sans"/>
              </a:rPr>
              <a:t>H1</a:t>
            </a:r>
            <a:endParaRPr lang="es-CO" sz="2000" dirty="0"/>
          </a:p>
        </p:txBody>
      </p:sp>
      <p:sp>
        <p:nvSpPr>
          <p:cNvPr id="15" name="Step 15"/>
          <p:cNvSpPr/>
          <p:nvPr/>
        </p:nvSpPr>
        <p:spPr>
          <a:xfrm>
            <a:off x="658368" y="4748965"/>
            <a:ext cx="1792224" cy="731520"/>
          </a:xfrm>
          <a:prstGeom prst="roundRect">
            <a:avLst>
              <a:gd name="adj" fmla="val 12000"/>
            </a:avLst>
          </a:prstGeom>
          <a:solidFill>
            <a:srgbClr val="0673BA"/>
          </a:solidFill>
          <a:ln>
            <a:noFill/>
          </a:ln>
        </p:spPr>
        <p:txBody>
          <a:bodyPr wrap="square" lIns="54864" tIns="54864" rIns="54864" bIns="54864" rtlCol="0" anchor="ctr">
            <a:noAutofit/>
          </a:bodyPr>
          <a:lstStyle/>
          <a:p>
            <a:pPr marL="0" indent="0" algn="ctr">
              <a:lnSpc>
                <a:spcPct val="90000"/>
              </a:lnSpc>
              <a:spcBef>
                <a:spcPts val="0"/>
              </a:spcBef>
              <a:spcAft>
                <a:spcPts val="0"/>
              </a:spcAft>
              <a:buNone/>
            </a:pPr>
            <a:r>
              <a:rPr lang="es-CO" sz="1800" b="0" dirty="0">
                <a:solidFill>
                  <a:srgbClr val="FFFFFF"/>
                </a:solidFill>
                <a:latin typeface="Noto Sans"/>
                <a:ea typeface="Noto Sans"/>
                <a:cs typeface="Noto Sans"/>
                <a:sym typeface="Noto Sans"/>
              </a:rPr>
              <a:t>Estadísticas locales</a:t>
            </a:r>
            <a:endParaRPr lang="es-CO" sz="1800" dirty="0"/>
          </a:p>
        </p:txBody>
      </p:sp>
      <p:sp>
        <p:nvSpPr>
          <p:cNvPr id="16" name="Data 16"/>
          <p:cNvSpPr/>
          <p:nvPr/>
        </p:nvSpPr>
        <p:spPr>
          <a:xfrm>
            <a:off x="1005840" y="5709085"/>
            <a:ext cx="1097280" cy="424776"/>
          </a:xfrm>
          <a:prstGeom prst="can">
            <a:avLst/>
          </a:prstGeom>
          <a:solidFill>
            <a:srgbClr val="FFFFFF"/>
          </a:solidFill>
          <a:ln w="19050">
            <a:solidFill>
              <a:srgbClr val="C55A11"/>
            </a:solidFill>
          </a:ln>
        </p:spPr>
        <p:txBody>
          <a:bodyPr wrap="square" lIns="18288" tIns="18288" rIns="18288" bIns="18288" rtlCol="0" anchor="b">
            <a:noAutofit/>
          </a:bodyPr>
          <a:lstStyle/>
          <a:p>
            <a:pPr marL="0" indent="0" algn="ctr">
              <a:lnSpc>
                <a:spcPct val="100000"/>
              </a:lnSpc>
              <a:spcBef>
                <a:spcPts val="0"/>
              </a:spcBef>
              <a:spcAft>
                <a:spcPts val="0"/>
              </a:spcAft>
              <a:buNone/>
            </a:pPr>
            <a:r>
              <a:rPr lang="es-CO" sz="1800" b="0" dirty="0">
                <a:solidFill>
                  <a:srgbClr val="0E2841"/>
                </a:solidFill>
                <a:latin typeface="Noto Sans"/>
                <a:ea typeface="Noto Sans"/>
                <a:cs typeface="Noto Sans"/>
                <a:sym typeface="Noto Sans"/>
              </a:rPr>
              <a:t>Datos</a:t>
            </a:r>
            <a:endParaRPr lang="es-CO" sz="1800" dirty="0"/>
          </a:p>
        </p:txBody>
      </p:sp>
      <p:cxnSp>
        <p:nvCxnSpPr>
          <p:cNvPr id="17" name="Arrow 17"/>
          <p:cNvCxnSpPr/>
          <p:nvPr/>
        </p:nvCxnSpPr>
        <p:spPr>
          <a:xfrm>
            <a:off x="1554480" y="5480485"/>
            <a:ext cx="0" cy="228600"/>
          </a:xfrm>
          <a:prstGeom prst="line">
            <a:avLst/>
          </a:prstGeom>
          <a:ln w="25400">
            <a:solidFill>
              <a:srgbClr val="595959"/>
            </a:solidFill>
            <a:headEnd type="triangle" w="med" len="med"/>
          </a:ln>
        </p:spPr>
      </p:cxnSp>
      <p:sp>
        <p:nvSpPr>
          <p:cNvPr id="19" name="Institution zone 19"/>
          <p:cNvSpPr/>
          <p:nvPr/>
        </p:nvSpPr>
        <p:spPr>
          <a:xfrm>
            <a:off x="2819095" y="4226963"/>
            <a:ext cx="2011680" cy="2015953"/>
          </a:xfrm>
          <a:prstGeom prst="roundRect">
            <a:avLst>
              <a:gd name="adj" fmla="val 8000"/>
            </a:avLst>
          </a:prstGeom>
          <a:solidFill>
            <a:srgbClr val="FBE5D6"/>
          </a:solidFill>
          <a:ln w="19050">
            <a:solidFill>
              <a:srgbClr val="C55A11"/>
            </a:solidFill>
          </a:ln>
        </p:spPr>
        <p:txBody>
          <a:bodyPr wrap="square" lIns="91440" tIns="91440" rIns="91440" bIns="91440" rtlCol="0" anchor="t">
            <a:noAutofit/>
          </a:bodyPr>
          <a:lstStyle/>
          <a:p>
            <a:pPr marL="0" indent="0" algn="l">
              <a:lnSpc>
                <a:spcPct val="100000"/>
              </a:lnSpc>
              <a:spcBef>
                <a:spcPts val="0"/>
              </a:spcBef>
              <a:spcAft>
                <a:spcPts val="0"/>
              </a:spcAft>
              <a:buNone/>
            </a:pPr>
            <a:endParaRPr lang="es-CO" sz="2000" dirty="0"/>
          </a:p>
        </p:txBody>
      </p:sp>
      <p:pic>
        <p:nvPicPr>
          <p:cNvPr id="20" name="Icon 20" descr="Hospital"/>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56255" y="4290971"/>
            <a:ext cx="457200" cy="457200"/>
          </a:xfrm>
          <a:prstGeom prst="rect">
            <a:avLst/>
          </a:prstGeom>
        </p:spPr>
      </p:pic>
      <p:sp>
        <p:nvSpPr>
          <p:cNvPr id="21" name="Label 21"/>
          <p:cNvSpPr txBox="1"/>
          <p:nvPr/>
        </p:nvSpPr>
        <p:spPr>
          <a:xfrm>
            <a:off x="3477463" y="4369909"/>
            <a:ext cx="1188720" cy="457200"/>
          </a:xfrm>
          <a:prstGeom prst="rect">
            <a:avLst/>
          </a:prstGeom>
          <a:noFill/>
          <a:ln>
            <a:noFill/>
          </a:ln>
        </p:spPr>
        <p:txBody>
          <a:bodyPr wrap="square" lIns="27432" tIns="27432" rIns="27432" bIns="27432" rtlCol="0" anchor="ctr">
            <a:noAutofit/>
          </a:bodyPr>
          <a:lstStyle/>
          <a:p>
            <a:pPr marL="0" indent="0" algn="l">
              <a:lnSpc>
                <a:spcPct val="90000"/>
              </a:lnSpc>
              <a:spcBef>
                <a:spcPts val="0"/>
              </a:spcBef>
              <a:spcAft>
                <a:spcPts val="0"/>
              </a:spcAft>
              <a:buNone/>
            </a:pPr>
            <a:r>
              <a:rPr lang="es-CO" sz="2000" b="1" dirty="0">
                <a:solidFill>
                  <a:srgbClr val="C55A11"/>
                </a:solidFill>
                <a:latin typeface="Noto Sans"/>
                <a:ea typeface="Noto Sans"/>
                <a:cs typeface="Noto Sans"/>
                <a:sym typeface="Noto Sans"/>
              </a:rPr>
              <a:t>H2</a:t>
            </a:r>
            <a:endParaRPr lang="es-CO" sz="2000" dirty="0"/>
          </a:p>
        </p:txBody>
      </p:sp>
      <p:sp>
        <p:nvSpPr>
          <p:cNvPr id="22" name="Step 22"/>
          <p:cNvSpPr/>
          <p:nvPr/>
        </p:nvSpPr>
        <p:spPr>
          <a:xfrm>
            <a:off x="2928823" y="4748965"/>
            <a:ext cx="1792224" cy="731520"/>
          </a:xfrm>
          <a:prstGeom prst="roundRect">
            <a:avLst>
              <a:gd name="adj" fmla="val 12000"/>
            </a:avLst>
          </a:prstGeom>
          <a:solidFill>
            <a:srgbClr val="0673BA"/>
          </a:solidFill>
          <a:ln>
            <a:noFill/>
          </a:ln>
        </p:spPr>
        <p:txBody>
          <a:bodyPr wrap="square" lIns="54864" tIns="54864" rIns="54864" bIns="54864" rtlCol="0" anchor="ctr">
            <a:noAutofit/>
          </a:bodyPr>
          <a:lstStyle/>
          <a:p>
            <a:pPr marL="0" indent="0" algn="ctr">
              <a:lnSpc>
                <a:spcPct val="90000"/>
              </a:lnSpc>
              <a:spcBef>
                <a:spcPts val="0"/>
              </a:spcBef>
              <a:spcAft>
                <a:spcPts val="0"/>
              </a:spcAft>
              <a:buNone/>
            </a:pPr>
            <a:r>
              <a:rPr lang="es-CO" sz="1800" b="0" dirty="0">
                <a:solidFill>
                  <a:srgbClr val="FFFFFF"/>
                </a:solidFill>
                <a:latin typeface="Noto Sans"/>
                <a:ea typeface="Noto Sans"/>
                <a:cs typeface="Noto Sans"/>
                <a:sym typeface="Noto Sans"/>
              </a:rPr>
              <a:t>Estadísticas locales</a:t>
            </a:r>
            <a:endParaRPr lang="es-CO" sz="1800" dirty="0"/>
          </a:p>
        </p:txBody>
      </p:sp>
      <p:sp>
        <p:nvSpPr>
          <p:cNvPr id="23" name="Data 23"/>
          <p:cNvSpPr/>
          <p:nvPr/>
        </p:nvSpPr>
        <p:spPr>
          <a:xfrm>
            <a:off x="3276295" y="5709085"/>
            <a:ext cx="1097280" cy="424776"/>
          </a:xfrm>
          <a:prstGeom prst="can">
            <a:avLst/>
          </a:prstGeom>
          <a:solidFill>
            <a:srgbClr val="FFFFFF"/>
          </a:solidFill>
          <a:ln w="19050">
            <a:solidFill>
              <a:srgbClr val="C55A11"/>
            </a:solidFill>
          </a:ln>
        </p:spPr>
        <p:txBody>
          <a:bodyPr wrap="square" lIns="18288" tIns="18288" rIns="18288" bIns="18288" rtlCol="0" anchor="b">
            <a:noAutofit/>
          </a:bodyPr>
          <a:lstStyle/>
          <a:p>
            <a:pPr marL="0" indent="0" algn="ctr">
              <a:lnSpc>
                <a:spcPct val="100000"/>
              </a:lnSpc>
              <a:spcBef>
                <a:spcPts val="0"/>
              </a:spcBef>
              <a:spcAft>
                <a:spcPts val="0"/>
              </a:spcAft>
              <a:buNone/>
            </a:pPr>
            <a:r>
              <a:rPr lang="es-CO" sz="1800" b="0" dirty="0">
                <a:solidFill>
                  <a:srgbClr val="0E2841"/>
                </a:solidFill>
                <a:latin typeface="Noto Sans"/>
                <a:ea typeface="Noto Sans"/>
                <a:cs typeface="Noto Sans"/>
                <a:sym typeface="Noto Sans"/>
              </a:rPr>
              <a:t>Datos</a:t>
            </a:r>
            <a:endParaRPr lang="es-CO" sz="1800" dirty="0"/>
          </a:p>
        </p:txBody>
      </p:sp>
      <p:cxnSp>
        <p:nvCxnSpPr>
          <p:cNvPr id="24" name="Arrow 24"/>
          <p:cNvCxnSpPr/>
          <p:nvPr/>
        </p:nvCxnSpPr>
        <p:spPr>
          <a:xfrm>
            <a:off x="3824935" y="5480485"/>
            <a:ext cx="0" cy="228600"/>
          </a:xfrm>
          <a:prstGeom prst="line">
            <a:avLst/>
          </a:prstGeom>
          <a:ln w="25400">
            <a:solidFill>
              <a:srgbClr val="595959"/>
            </a:solidFill>
            <a:headEnd type="triangle" w="med" len="med"/>
          </a:ln>
        </p:spPr>
      </p:cxnSp>
      <p:sp>
        <p:nvSpPr>
          <p:cNvPr id="26" name="Institution zone 26"/>
          <p:cNvSpPr/>
          <p:nvPr/>
        </p:nvSpPr>
        <p:spPr>
          <a:xfrm>
            <a:off x="5089550" y="4226963"/>
            <a:ext cx="2011680" cy="2015953"/>
          </a:xfrm>
          <a:prstGeom prst="roundRect">
            <a:avLst>
              <a:gd name="adj" fmla="val 8000"/>
            </a:avLst>
          </a:prstGeom>
          <a:solidFill>
            <a:srgbClr val="FBE5D6"/>
          </a:solidFill>
          <a:ln w="19050">
            <a:solidFill>
              <a:srgbClr val="C55A11"/>
            </a:solidFill>
          </a:ln>
        </p:spPr>
        <p:txBody>
          <a:bodyPr wrap="square" lIns="91440" tIns="91440" rIns="91440" bIns="91440" rtlCol="0" anchor="t">
            <a:noAutofit/>
          </a:bodyPr>
          <a:lstStyle/>
          <a:p>
            <a:pPr marL="0" indent="0" algn="l">
              <a:lnSpc>
                <a:spcPct val="100000"/>
              </a:lnSpc>
              <a:spcBef>
                <a:spcPts val="0"/>
              </a:spcBef>
              <a:spcAft>
                <a:spcPts val="0"/>
              </a:spcAft>
              <a:buNone/>
            </a:pPr>
            <a:endParaRPr lang="es-CO" sz="2000" dirty="0"/>
          </a:p>
        </p:txBody>
      </p:sp>
      <p:pic>
        <p:nvPicPr>
          <p:cNvPr id="27" name="Icon 27" descr="Hospital"/>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26710" y="4290971"/>
            <a:ext cx="457200" cy="457200"/>
          </a:xfrm>
          <a:prstGeom prst="rect">
            <a:avLst/>
          </a:prstGeom>
        </p:spPr>
      </p:pic>
      <p:sp>
        <p:nvSpPr>
          <p:cNvPr id="28" name="Label 28"/>
          <p:cNvSpPr txBox="1"/>
          <p:nvPr/>
        </p:nvSpPr>
        <p:spPr>
          <a:xfrm>
            <a:off x="5747918" y="4369909"/>
            <a:ext cx="1188720" cy="457200"/>
          </a:xfrm>
          <a:prstGeom prst="rect">
            <a:avLst/>
          </a:prstGeom>
          <a:noFill/>
          <a:ln>
            <a:noFill/>
          </a:ln>
        </p:spPr>
        <p:txBody>
          <a:bodyPr wrap="square" lIns="27432" tIns="27432" rIns="27432" bIns="27432" rtlCol="0" anchor="ctr">
            <a:noAutofit/>
          </a:bodyPr>
          <a:lstStyle/>
          <a:p>
            <a:pPr marL="0" indent="0" algn="l">
              <a:lnSpc>
                <a:spcPct val="90000"/>
              </a:lnSpc>
              <a:spcBef>
                <a:spcPts val="0"/>
              </a:spcBef>
              <a:spcAft>
                <a:spcPts val="0"/>
              </a:spcAft>
              <a:buNone/>
            </a:pPr>
            <a:r>
              <a:rPr lang="es-CO" sz="2000" b="1" dirty="0">
                <a:solidFill>
                  <a:srgbClr val="C55A11"/>
                </a:solidFill>
                <a:latin typeface="Noto Sans"/>
                <a:ea typeface="Noto Sans"/>
                <a:cs typeface="Noto Sans"/>
                <a:sym typeface="Noto Sans"/>
              </a:rPr>
              <a:t>H3</a:t>
            </a:r>
            <a:endParaRPr lang="es-CO" sz="2000" dirty="0"/>
          </a:p>
        </p:txBody>
      </p:sp>
      <p:sp>
        <p:nvSpPr>
          <p:cNvPr id="29" name="Step 29"/>
          <p:cNvSpPr/>
          <p:nvPr/>
        </p:nvSpPr>
        <p:spPr>
          <a:xfrm>
            <a:off x="5199278" y="4748965"/>
            <a:ext cx="1792224" cy="731520"/>
          </a:xfrm>
          <a:prstGeom prst="roundRect">
            <a:avLst>
              <a:gd name="adj" fmla="val 12000"/>
            </a:avLst>
          </a:prstGeom>
          <a:solidFill>
            <a:srgbClr val="0673BA"/>
          </a:solidFill>
          <a:ln>
            <a:noFill/>
          </a:ln>
        </p:spPr>
        <p:txBody>
          <a:bodyPr wrap="square" lIns="54864" tIns="54864" rIns="54864" bIns="54864" rtlCol="0" anchor="ctr">
            <a:noAutofit/>
          </a:bodyPr>
          <a:lstStyle/>
          <a:p>
            <a:pPr marL="0" indent="0" algn="ctr">
              <a:lnSpc>
                <a:spcPct val="90000"/>
              </a:lnSpc>
              <a:spcBef>
                <a:spcPts val="0"/>
              </a:spcBef>
              <a:spcAft>
                <a:spcPts val="0"/>
              </a:spcAft>
              <a:buNone/>
            </a:pPr>
            <a:r>
              <a:rPr lang="es-CO" sz="1800" b="0" dirty="0">
                <a:solidFill>
                  <a:srgbClr val="FFFFFF"/>
                </a:solidFill>
                <a:latin typeface="Noto Sans"/>
                <a:ea typeface="Noto Sans"/>
                <a:cs typeface="Noto Sans"/>
                <a:sym typeface="Noto Sans"/>
              </a:rPr>
              <a:t>Estadísticas locales</a:t>
            </a:r>
            <a:endParaRPr lang="es-CO" sz="1800" dirty="0"/>
          </a:p>
        </p:txBody>
      </p:sp>
      <p:sp>
        <p:nvSpPr>
          <p:cNvPr id="30" name="Data 30"/>
          <p:cNvSpPr/>
          <p:nvPr/>
        </p:nvSpPr>
        <p:spPr>
          <a:xfrm>
            <a:off x="5546750" y="5709085"/>
            <a:ext cx="1097280" cy="424776"/>
          </a:xfrm>
          <a:prstGeom prst="can">
            <a:avLst/>
          </a:prstGeom>
          <a:solidFill>
            <a:srgbClr val="FFFFFF"/>
          </a:solidFill>
          <a:ln w="19050">
            <a:solidFill>
              <a:srgbClr val="C55A11"/>
            </a:solidFill>
          </a:ln>
        </p:spPr>
        <p:txBody>
          <a:bodyPr wrap="square" lIns="18288" tIns="18288" rIns="18288" bIns="18288" rtlCol="0" anchor="b">
            <a:noAutofit/>
          </a:bodyPr>
          <a:lstStyle/>
          <a:p>
            <a:pPr marL="0" indent="0" algn="ctr">
              <a:lnSpc>
                <a:spcPct val="100000"/>
              </a:lnSpc>
              <a:spcBef>
                <a:spcPts val="0"/>
              </a:spcBef>
              <a:spcAft>
                <a:spcPts val="0"/>
              </a:spcAft>
              <a:buNone/>
            </a:pPr>
            <a:r>
              <a:rPr lang="es-CO" sz="1800" b="0" dirty="0">
                <a:solidFill>
                  <a:srgbClr val="0E2841"/>
                </a:solidFill>
                <a:latin typeface="Noto Sans"/>
                <a:ea typeface="Noto Sans"/>
                <a:cs typeface="Noto Sans"/>
                <a:sym typeface="Noto Sans"/>
              </a:rPr>
              <a:t>Datos</a:t>
            </a:r>
            <a:endParaRPr lang="es-CO" sz="1800" dirty="0"/>
          </a:p>
        </p:txBody>
      </p:sp>
      <p:cxnSp>
        <p:nvCxnSpPr>
          <p:cNvPr id="31" name="Arrow 31"/>
          <p:cNvCxnSpPr/>
          <p:nvPr/>
        </p:nvCxnSpPr>
        <p:spPr>
          <a:xfrm>
            <a:off x="6095390" y="5480485"/>
            <a:ext cx="0" cy="228600"/>
          </a:xfrm>
          <a:prstGeom prst="line">
            <a:avLst/>
          </a:prstGeom>
          <a:ln w="25400">
            <a:solidFill>
              <a:srgbClr val="595959"/>
            </a:solidFill>
            <a:headEnd type="triangle" w="med" len="med"/>
          </a:ln>
        </p:spPr>
      </p:cxnSp>
      <p:sp>
        <p:nvSpPr>
          <p:cNvPr id="33" name="Institution zone 33"/>
          <p:cNvSpPr/>
          <p:nvPr/>
        </p:nvSpPr>
        <p:spPr>
          <a:xfrm>
            <a:off x="7360006" y="4226964"/>
            <a:ext cx="2011680" cy="2015956"/>
          </a:xfrm>
          <a:prstGeom prst="roundRect">
            <a:avLst>
              <a:gd name="adj" fmla="val 8000"/>
            </a:avLst>
          </a:prstGeom>
          <a:solidFill>
            <a:srgbClr val="FBE5D6"/>
          </a:solidFill>
          <a:ln w="19050">
            <a:solidFill>
              <a:srgbClr val="C55A11"/>
            </a:solidFill>
          </a:ln>
        </p:spPr>
        <p:txBody>
          <a:bodyPr wrap="square" lIns="91440" tIns="91440" rIns="91440" bIns="91440" rtlCol="0" anchor="t">
            <a:noAutofit/>
          </a:bodyPr>
          <a:lstStyle/>
          <a:p>
            <a:pPr marL="0" indent="0" algn="l">
              <a:lnSpc>
                <a:spcPct val="100000"/>
              </a:lnSpc>
              <a:spcBef>
                <a:spcPts val="0"/>
              </a:spcBef>
              <a:spcAft>
                <a:spcPts val="0"/>
              </a:spcAft>
              <a:buNone/>
            </a:pPr>
            <a:endParaRPr lang="es-CO" sz="2000" dirty="0"/>
          </a:p>
        </p:txBody>
      </p:sp>
      <p:pic>
        <p:nvPicPr>
          <p:cNvPr id="34" name="Icon 34" descr="Hospital"/>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97166" y="4290971"/>
            <a:ext cx="457200" cy="457200"/>
          </a:xfrm>
          <a:prstGeom prst="rect">
            <a:avLst/>
          </a:prstGeom>
        </p:spPr>
      </p:pic>
      <p:sp>
        <p:nvSpPr>
          <p:cNvPr id="35" name="Label 35"/>
          <p:cNvSpPr txBox="1"/>
          <p:nvPr/>
        </p:nvSpPr>
        <p:spPr>
          <a:xfrm>
            <a:off x="8018374" y="4369909"/>
            <a:ext cx="1188720" cy="457200"/>
          </a:xfrm>
          <a:prstGeom prst="rect">
            <a:avLst/>
          </a:prstGeom>
          <a:noFill/>
          <a:ln>
            <a:noFill/>
          </a:ln>
        </p:spPr>
        <p:txBody>
          <a:bodyPr wrap="square" lIns="27432" tIns="27432" rIns="27432" bIns="27432" rtlCol="0" anchor="ctr">
            <a:noAutofit/>
          </a:bodyPr>
          <a:lstStyle/>
          <a:p>
            <a:pPr marL="0" indent="0" algn="l">
              <a:lnSpc>
                <a:spcPct val="90000"/>
              </a:lnSpc>
              <a:spcBef>
                <a:spcPts val="0"/>
              </a:spcBef>
              <a:spcAft>
                <a:spcPts val="0"/>
              </a:spcAft>
              <a:buNone/>
            </a:pPr>
            <a:r>
              <a:rPr lang="es-CO" sz="2000" b="1" dirty="0">
                <a:solidFill>
                  <a:srgbClr val="C55A11"/>
                </a:solidFill>
                <a:latin typeface="Noto Sans"/>
                <a:ea typeface="Noto Sans"/>
                <a:cs typeface="Noto Sans"/>
                <a:sym typeface="Noto Sans"/>
              </a:rPr>
              <a:t>H4</a:t>
            </a:r>
            <a:endParaRPr lang="es-CO" sz="2000" dirty="0"/>
          </a:p>
        </p:txBody>
      </p:sp>
      <p:sp>
        <p:nvSpPr>
          <p:cNvPr id="36" name="Step 36"/>
          <p:cNvSpPr/>
          <p:nvPr/>
        </p:nvSpPr>
        <p:spPr>
          <a:xfrm>
            <a:off x="7469734" y="4748965"/>
            <a:ext cx="1792224" cy="731520"/>
          </a:xfrm>
          <a:prstGeom prst="roundRect">
            <a:avLst>
              <a:gd name="adj" fmla="val 12000"/>
            </a:avLst>
          </a:prstGeom>
          <a:solidFill>
            <a:srgbClr val="0673BA"/>
          </a:solidFill>
          <a:ln>
            <a:noFill/>
          </a:ln>
        </p:spPr>
        <p:txBody>
          <a:bodyPr wrap="square" lIns="54864" tIns="54864" rIns="54864" bIns="54864" rtlCol="0" anchor="ctr">
            <a:noAutofit/>
          </a:bodyPr>
          <a:lstStyle/>
          <a:p>
            <a:pPr marL="0" indent="0" algn="ctr">
              <a:lnSpc>
                <a:spcPct val="90000"/>
              </a:lnSpc>
              <a:spcBef>
                <a:spcPts val="0"/>
              </a:spcBef>
              <a:spcAft>
                <a:spcPts val="0"/>
              </a:spcAft>
              <a:buNone/>
            </a:pPr>
            <a:r>
              <a:rPr lang="es-CO" sz="1800" b="0" dirty="0">
                <a:solidFill>
                  <a:srgbClr val="FFFFFF"/>
                </a:solidFill>
                <a:latin typeface="Noto Sans"/>
                <a:ea typeface="Noto Sans"/>
                <a:cs typeface="Noto Sans"/>
                <a:sym typeface="Noto Sans"/>
              </a:rPr>
              <a:t>Estadísticas locales</a:t>
            </a:r>
            <a:endParaRPr lang="es-CO" sz="1800" dirty="0"/>
          </a:p>
        </p:txBody>
      </p:sp>
      <p:sp>
        <p:nvSpPr>
          <p:cNvPr id="37" name="Data 37"/>
          <p:cNvSpPr/>
          <p:nvPr/>
        </p:nvSpPr>
        <p:spPr>
          <a:xfrm>
            <a:off x="7817206" y="5709085"/>
            <a:ext cx="1097280" cy="424776"/>
          </a:xfrm>
          <a:prstGeom prst="can">
            <a:avLst/>
          </a:prstGeom>
          <a:solidFill>
            <a:srgbClr val="FFFFFF"/>
          </a:solidFill>
          <a:ln w="19050">
            <a:solidFill>
              <a:srgbClr val="C55A11"/>
            </a:solidFill>
          </a:ln>
        </p:spPr>
        <p:txBody>
          <a:bodyPr wrap="square" lIns="18288" tIns="18288" rIns="18288" bIns="18288" rtlCol="0" anchor="b">
            <a:noAutofit/>
          </a:bodyPr>
          <a:lstStyle/>
          <a:p>
            <a:pPr marL="0" indent="0" algn="ctr">
              <a:lnSpc>
                <a:spcPct val="100000"/>
              </a:lnSpc>
              <a:spcBef>
                <a:spcPts val="0"/>
              </a:spcBef>
              <a:spcAft>
                <a:spcPts val="0"/>
              </a:spcAft>
              <a:buNone/>
            </a:pPr>
            <a:r>
              <a:rPr lang="es-CO" sz="1800" b="0" dirty="0">
                <a:solidFill>
                  <a:srgbClr val="0E2841"/>
                </a:solidFill>
                <a:latin typeface="Noto Sans"/>
                <a:ea typeface="Noto Sans"/>
                <a:cs typeface="Noto Sans"/>
                <a:sym typeface="Noto Sans"/>
              </a:rPr>
              <a:t>Datos</a:t>
            </a:r>
            <a:endParaRPr lang="es-CO" sz="1800" dirty="0"/>
          </a:p>
        </p:txBody>
      </p:sp>
      <p:cxnSp>
        <p:nvCxnSpPr>
          <p:cNvPr id="38" name="Arrow 38"/>
          <p:cNvCxnSpPr/>
          <p:nvPr/>
        </p:nvCxnSpPr>
        <p:spPr>
          <a:xfrm>
            <a:off x="8365846" y="5480485"/>
            <a:ext cx="0" cy="228600"/>
          </a:xfrm>
          <a:prstGeom prst="line">
            <a:avLst/>
          </a:prstGeom>
          <a:ln w="25400">
            <a:solidFill>
              <a:srgbClr val="595959"/>
            </a:solidFill>
            <a:headEnd type="triangle" w="med" len="med"/>
          </a:ln>
        </p:spPr>
      </p:cxnSp>
      <p:sp>
        <p:nvSpPr>
          <p:cNvPr id="40" name="Institution zone 40"/>
          <p:cNvSpPr/>
          <p:nvPr/>
        </p:nvSpPr>
        <p:spPr>
          <a:xfrm>
            <a:off x="9630461" y="4226964"/>
            <a:ext cx="2011680" cy="2015958"/>
          </a:xfrm>
          <a:prstGeom prst="roundRect">
            <a:avLst>
              <a:gd name="adj" fmla="val 8000"/>
            </a:avLst>
          </a:prstGeom>
          <a:solidFill>
            <a:srgbClr val="FBE5D6"/>
          </a:solidFill>
          <a:ln w="19050">
            <a:solidFill>
              <a:srgbClr val="C55A11"/>
            </a:solidFill>
          </a:ln>
        </p:spPr>
        <p:txBody>
          <a:bodyPr wrap="square" lIns="91440" tIns="91440" rIns="91440" bIns="91440" rtlCol="0" anchor="t">
            <a:noAutofit/>
          </a:bodyPr>
          <a:lstStyle/>
          <a:p>
            <a:pPr marL="0" indent="0" algn="l">
              <a:lnSpc>
                <a:spcPct val="100000"/>
              </a:lnSpc>
              <a:spcBef>
                <a:spcPts val="0"/>
              </a:spcBef>
              <a:spcAft>
                <a:spcPts val="0"/>
              </a:spcAft>
              <a:buNone/>
            </a:pPr>
            <a:endParaRPr lang="es-CO" sz="2000" dirty="0"/>
          </a:p>
        </p:txBody>
      </p:sp>
      <p:pic>
        <p:nvPicPr>
          <p:cNvPr id="41" name="Icon 41" descr="Hospital"/>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767621" y="4290971"/>
            <a:ext cx="457200" cy="457200"/>
          </a:xfrm>
          <a:prstGeom prst="rect">
            <a:avLst/>
          </a:prstGeom>
        </p:spPr>
      </p:pic>
      <p:sp>
        <p:nvSpPr>
          <p:cNvPr id="42" name="Label 42"/>
          <p:cNvSpPr txBox="1"/>
          <p:nvPr/>
        </p:nvSpPr>
        <p:spPr>
          <a:xfrm>
            <a:off x="10288829" y="4369909"/>
            <a:ext cx="1188720" cy="457200"/>
          </a:xfrm>
          <a:prstGeom prst="rect">
            <a:avLst/>
          </a:prstGeom>
          <a:noFill/>
          <a:ln>
            <a:noFill/>
          </a:ln>
        </p:spPr>
        <p:txBody>
          <a:bodyPr wrap="square" lIns="27432" tIns="27432" rIns="27432" bIns="27432" rtlCol="0" anchor="ctr">
            <a:noAutofit/>
          </a:bodyPr>
          <a:lstStyle/>
          <a:p>
            <a:pPr marL="0" indent="0" algn="l">
              <a:lnSpc>
                <a:spcPct val="90000"/>
              </a:lnSpc>
              <a:spcBef>
                <a:spcPts val="0"/>
              </a:spcBef>
              <a:spcAft>
                <a:spcPts val="0"/>
              </a:spcAft>
              <a:buNone/>
            </a:pPr>
            <a:r>
              <a:rPr lang="es-CO" sz="2000" b="1" dirty="0">
                <a:solidFill>
                  <a:srgbClr val="C55A11"/>
                </a:solidFill>
                <a:latin typeface="Noto Sans"/>
                <a:ea typeface="Noto Sans"/>
                <a:cs typeface="Noto Sans"/>
                <a:sym typeface="Noto Sans"/>
              </a:rPr>
              <a:t>H5</a:t>
            </a:r>
            <a:endParaRPr lang="es-CO" sz="2000" dirty="0"/>
          </a:p>
        </p:txBody>
      </p:sp>
      <p:sp>
        <p:nvSpPr>
          <p:cNvPr id="43" name="Step 43"/>
          <p:cNvSpPr/>
          <p:nvPr/>
        </p:nvSpPr>
        <p:spPr>
          <a:xfrm>
            <a:off x="9740189" y="4748965"/>
            <a:ext cx="1792224" cy="731520"/>
          </a:xfrm>
          <a:prstGeom prst="roundRect">
            <a:avLst>
              <a:gd name="adj" fmla="val 12000"/>
            </a:avLst>
          </a:prstGeom>
          <a:solidFill>
            <a:srgbClr val="0673BA"/>
          </a:solidFill>
          <a:ln>
            <a:noFill/>
          </a:ln>
        </p:spPr>
        <p:txBody>
          <a:bodyPr wrap="square" lIns="54864" tIns="54864" rIns="54864" bIns="54864" rtlCol="0" anchor="ctr">
            <a:noAutofit/>
          </a:bodyPr>
          <a:lstStyle/>
          <a:p>
            <a:pPr marL="0" indent="0" algn="ctr">
              <a:lnSpc>
                <a:spcPct val="90000"/>
              </a:lnSpc>
              <a:spcBef>
                <a:spcPts val="0"/>
              </a:spcBef>
              <a:spcAft>
                <a:spcPts val="0"/>
              </a:spcAft>
              <a:buNone/>
            </a:pPr>
            <a:r>
              <a:rPr lang="es-CO" sz="1800" b="0" dirty="0">
                <a:solidFill>
                  <a:srgbClr val="FFFFFF"/>
                </a:solidFill>
                <a:latin typeface="Noto Sans"/>
                <a:ea typeface="Noto Sans"/>
                <a:cs typeface="Noto Sans"/>
                <a:sym typeface="Noto Sans"/>
              </a:rPr>
              <a:t>Estadísticas locales</a:t>
            </a:r>
            <a:endParaRPr lang="es-CO" sz="1800" dirty="0"/>
          </a:p>
        </p:txBody>
      </p:sp>
      <p:sp>
        <p:nvSpPr>
          <p:cNvPr id="44" name="Data 44"/>
          <p:cNvSpPr/>
          <p:nvPr/>
        </p:nvSpPr>
        <p:spPr>
          <a:xfrm>
            <a:off x="10087661" y="5709085"/>
            <a:ext cx="1097280" cy="424776"/>
          </a:xfrm>
          <a:prstGeom prst="can">
            <a:avLst/>
          </a:prstGeom>
          <a:solidFill>
            <a:srgbClr val="FFFFFF"/>
          </a:solidFill>
          <a:ln w="19050">
            <a:solidFill>
              <a:srgbClr val="C55A11"/>
            </a:solidFill>
          </a:ln>
        </p:spPr>
        <p:txBody>
          <a:bodyPr wrap="square" lIns="18288" tIns="18288" rIns="18288" bIns="18288" rtlCol="0" anchor="b">
            <a:noAutofit/>
          </a:bodyPr>
          <a:lstStyle/>
          <a:p>
            <a:pPr marL="0" indent="0" algn="ctr">
              <a:lnSpc>
                <a:spcPct val="100000"/>
              </a:lnSpc>
              <a:spcBef>
                <a:spcPts val="0"/>
              </a:spcBef>
              <a:spcAft>
                <a:spcPts val="0"/>
              </a:spcAft>
              <a:buNone/>
            </a:pPr>
            <a:r>
              <a:rPr lang="es-CO" sz="1800" b="0" dirty="0">
                <a:solidFill>
                  <a:srgbClr val="0E2841"/>
                </a:solidFill>
                <a:latin typeface="Noto Sans"/>
                <a:ea typeface="Noto Sans"/>
                <a:cs typeface="Noto Sans"/>
                <a:sym typeface="Noto Sans"/>
              </a:rPr>
              <a:t>Datos</a:t>
            </a:r>
            <a:endParaRPr lang="es-CO" sz="1800" dirty="0"/>
          </a:p>
        </p:txBody>
      </p:sp>
      <p:cxnSp>
        <p:nvCxnSpPr>
          <p:cNvPr id="45" name="Arrow 45"/>
          <p:cNvCxnSpPr/>
          <p:nvPr/>
        </p:nvCxnSpPr>
        <p:spPr>
          <a:xfrm>
            <a:off x="10636301" y="5480485"/>
            <a:ext cx="0" cy="228600"/>
          </a:xfrm>
          <a:prstGeom prst="line">
            <a:avLst/>
          </a:prstGeom>
          <a:ln w="25400">
            <a:solidFill>
              <a:srgbClr val="595959"/>
            </a:solidFill>
            <a:headEnd type="triangle" w="med" len="med"/>
          </a:ln>
        </p:spPr>
      </p:cxnSp>
      <p:sp>
        <p:nvSpPr>
          <p:cNvPr id="49" name="Label 49"/>
          <p:cNvSpPr txBox="1"/>
          <p:nvPr/>
        </p:nvSpPr>
        <p:spPr>
          <a:xfrm>
            <a:off x="4609948" y="3520440"/>
            <a:ext cx="3657600" cy="365760"/>
          </a:xfrm>
          <a:prstGeom prst="rect">
            <a:avLst/>
          </a:prstGeom>
          <a:noFill/>
          <a:ln>
            <a:noFill/>
          </a:ln>
        </p:spPr>
        <p:txBody>
          <a:bodyPr wrap="square" lIns="27432" tIns="27432" rIns="27432" bIns="27432" rtlCol="0" anchor="ctr">
            <a:noAutofit/>
          </a:bodyPr>
          <a:lstStyle/>
          <a:p>
            <a:pPr marL="0" indent="0" algn="l">
              <a:lnSpc>
                <a:spcPct val="90000"/>
              </a:lnSpc>
              <a:spcBef>
                <a:spcPts val="0"/>
              </a:spcBef>
              <a:spcAft>
                <a:spcPts val="0"/>
              </a:spcAft>
              <a:buNone/>
            </a:pPr>
            <a:r>
              <a:rPr lang="es-CO" sz="1800" b="0" dirty="0">
                <a:solidFill>
                  <a:srgbClr val="595959"/>
                </a:solidFill>
                <a:latin typeface="Noto Sans"/>
                <a:ea typeface="Noto Sans"/>
                <a:cs typeface="Noto Sans"/>
                <a:sym typeface="Noto Sans"/>
              </a:rPr>
              <a:t>Solo resultados resumidos</a:t>
            </a:r>
            <a:endParaRPr lang="es-CO" sz="1800" dirty="0"/>
          </a:p>
        </p:txBody>
      </p:sp>
      <p:cxnSp>
        <p:nvCxnSpPr>
          <p:cNvPr id="56" name="Conector: angular 55">
            <a:extLst>
              <a:ext uri="{FF2B5EF4-FFF2-40B4-BE49-F238E27FC236}">
                <a16:creationId xmlns:a16="http://schemas.microsoft.com/office/drawing/2014/main" id="{A0BAD984-26AC-A143-54F4-0A8138A2A951}"/>
              </a:ext>
            </a:extLst>
          </p:cNvPr>
          <p:cNvCxnSpPr>
            <a:stCxn id="12" idx="0"/>
            <a:endCxn id="6" idx="2"/>
          </p:cNvCxnSpPr>
          <p:nvPr/>
        </p:nvCxnSpPr>
        <p:spPr>
          <a:xfrm rot="5400000" flipH="1" flipV="1">
            <a:off x="2538529" y="2216352"/>
            <a:ext cx="1026563" cy="2994660"/>
          </a:xfrm>
          <a:prstGeom prst="bentConnector3">
            <a:avLst>
              <a:gd name="adj1" fmla="val 30135"/>
            </a:avLst>
          </a:prstGeom>
          <a:ln w="25400">
            <a:solidFill>
              <a:srgbClr val="595959"/>
            </a:solidFill>
            <a:headEnd type="none" w="med" len="med"/>
            <a:tailEnd type="triangle" w="med" len="med"/>
          </a:ln>
        </p:spPr>
      </p:cxnSp>
      <p:cxnSp>
        <p:nvCxnSpPr>
          <p:cNvPr id="57" name="Conector: angular 56">
            <a:extLst>
              <a:ext uri="{FF2B5EF4-FFF2-40B4-BE49-F238E27FC236}">
                <a16:creationId xmlns:a16="http://schemas.microsoft.com/office/drawing/2014/main" id="{C38563EF-87BF-0747-5D4E-F47F1B97966A}"/>
              </a:ext>
            </a:extLst>
          </p:cNvPr>
          <p:cNvCxnSpPr>
            <a:cxnSpLocks/>
            <a:stCxn id="19" idx="0"/>
            <a:endCxn id="6" idx="2"/>
          </p:cNvCxnSpPr>
          <p:nvPr/>
        </p:nvCxnSpPr>
        <p:spPr>
          <a:xfrm rot="5400000" flipH="1" flipV="1">
            <a:off x="3673756" y="3351580"/>
            <a:ext cx="1026563" cy="724205"/>
          </a:xfrm>
          <a:prstGeom prst="bentConnector3">
            <a:avLst>
              <a:gd name="adj1" fmla="val 30134"/>
            </a:avLst>
          </a:prstGeom>
          <a:ln w="25400">
            <a:solidFill>
              <a:srgbClr val="595959"/>
            </a:solidFill>
            <a:headEnd type="none" w="med" len="med"/>
            <a:tailEnd type="triangle" w="med" len="med"/>
          </a:ln>
        </p:spPr>
      </p:cxnSp>
      <p:cxnSp>
        <p:nvCxnSpPr>
          <p:cNvPr id="60" name="Conector: angular 59">
            <a:extLst>
              <a:ext uri="{FF2B5EF4-FFF2-40B4-BE49-F238E27FC236}">
                <a16:creationId xmlns:a16="http://schemas.microsoft.com/office/drawing/2014/main" id="{898C623C-99E5-AA25-0D15-6E4452A49663}"/>
              </a:ext>
            </a:extLst>
          </p:cNvPr>
          <p:cNvCxnSpPr>
            <a:cxnSpLocks/>
            <a:stCxn id="26" idx="0"/>
            <a:endCxn id="6" idx="2"/>
          </p:cNvCxnSpPr>
          <p:nvPr/>
        </p:nvCxnSpPr>
        <p:spPr>
          <a:xfrm rot="16200000" flipV="1">
            <a:off x="4808984" y="2940557"/>
            <a:ext cx="1026563" cy="1546250"/>
          </a:xfrm>
          <a:prstGeom prst="bentConnector3">
            <a:avLst>
              <a:gd name="adj1" fmla="val 30134"/>
            </a:avLst>
          </a:prstGeom>
          <a:ln w="25400">
            <a:solidFill>
              <a:srgbClr val="595959"/>
            </a:solidFill>
            <a:headEnd type="none" w="med" len="med"/>
            <a:tailEnd type="triangle" w="med" len="med"/>
          </a:ln>
        </p:spPr>
      </p:cxnSp>
      <p:cxnSp>
        <p:nvCxnSpPr>
          <p:cNvPr id="63" name="Conector: angular 62">
            <a:extLst>
              <a:ext uri="{FF2B5EF4-FFF2-40B4-BE49-F238E27FC236}">
                <a16:creationId xmlns:a16="http://schemas.microsoft.com/office/drawing/2014/main" id="{DB4AF4F9-79BE-7FD7-25AF-13B7102CBFF4}"/>
              </a:ext>
            </a:extLst>
          </p:cNvPr>
          <p:cNvCxnSpPr>
            <a:cxnSpLocks/>
            <a:stCxn id="33" idx="0"/>
            <a:endCxn id="6" idx="2"/>
          </p:cNvCxnSpPr>
          <p:nvPr/>
        </p:nvCxnSpPr>
        <p:spPr>
          <a:xfrm rot="16200000" flipV="1">
            <a:off x="5944211" y="1805329"/>
            <a:ext cx="1026564" cy="3816706"/>
          </a:xfrm>
          <a:prstGeom prst="bentConnector3">
            <a:avLst>
              <a:gd name="adj1" fmla="val 30775"/>
            </a:avLst>
          </a:prstGeom>
          <a:ln w="25400">
            <a:solidFill>
              <a:srgbClr val="595959"/>
            </a:solidFill>
            <a:headEnd type="none" w="med" len="med"/>
            <a:tailEnd type="triangle" w="med" len="med"/>
          </a:ln>
        </p:spPr>
      </p:cxnSp>
      <p:cxnSp>
        <p:nvCxnSpPr>
          <p:cNvPr id="66" name="Conector: angular 65">
            <a:extLst>
              <a:ext uri="{FF2B5EF4-FFF2-40B4-BE49-F238E27FC236}">
                <a16:creationId xmlns:a16="http://schemas.microsoft.com/office/drawing/2014/main" id="{67753814-6C6E-6C43-A9D0-7CFF379FD869}"/>
              </a:ext>
            </a:extLst>
          </p:cNvPr>
          <p:cNvCxnSpPr>
            <a:cxnSpLocks/>
            <a:stCxn id="40" idx="0"/>
            <a:endCxn id="6" idx="2"/>
          </p:cNvCxnSpPr>
          <p:nvPr/>
        </p:nvCxnSpPr>
        <p:spPr>
          <a:xfrm rot="16200000" flipV="1">
            <a:off x="7079439" y="670101"/>
            <a:ext cx="1026564" cy="6087161"/>
          </a:xfrm>
          <a:prstGeom prst="bentConnector3">
            <a:avLst>
              <a:gd name="adj1" fmla="val 30134"/>
            </a:avLst>
          </a:prstGeom>
          <a:ln w="25400">
            <a:solidFill>
              <a:srgbClr val="595959"/>
            </a:solidFill>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P spid="6" grpId="0" animBg="1"/>
      <p:bldP spid="7" grpId="0" animBg="1"/>
      <p:bldP spid="10" grpId="0"/>
      <p:bldP spid="15" grpId="0" animBg="1"/>
      <p:bldP spid="22" grpId="0" animBg="1"/>
      <p:bldP spid="29" grpId="0" animBg="1"/>
      <p:bldP spid="36" grpId="0" animBg="1"/>
      <p:bldP spid="43" grpId="0" animBg="1"/>
      <p:bldP spid="4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5. Enfoque federado</a:t>
            </a:r>
            <a:endParaRPr lang="es-CO" sz="3600" dirty="0"/>
          </a:p>
        </p:txBody>
      </p:sp>
      <p:sp>
        <p:nvSpPr>
          <p:cNvPr id="3" name="TextBox 3"/>
          <p:cNvSpPr txBox="1"/>
          <p:nvPr/>
        </p:nvSpPr>
        <p:spPr>
          <a:xfrm>
            <a:off x="548640" y="1737360"/>
            <a:ext cx="11091672" cy="219456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2400"/>
              </a:spcAft>
              <a:buNone/>
            </a:pPr>
            <a:r>
              <a:rPr lang="es-CO" sz="2200" b="1" dirty="0">
                <a:solidFill>
                  <a:schemeClr val="tx1"/>
                </a:solidFill>
                <a:latin typeface="Noto Sans"/>
                <a:ea typeface="Noto Sans"/>
                <a:cs typeface="Noto Sans"/>
                <a:sym typeface="Noto Sans"/>
              </a:rPr>
              <a:t>5.1. Estadísticas por institución: </a:t>
            </a:r>
            <a:r>
              <a:rPr lang="es-CO" sz="2200" b="0" dirty="0">
                <a:solidFill>
                  <a:schemeClr val="tx1"/>
                </a:solidFill>
                <a:latin typeface="Noto Sans"/>
                <a:ea typeface="Noto Sans"/>
                <a:cs typeface="Noto Sans"/>
                <a:sym typeface="Noto Sans"/>
              </a:rPr>
              <a:t>Cada institución aplica la misma función de la sección 3, pero solo sobre sus propios datos, y comparte únicamente sus resultados, nunca sus registros individuales.</a:t>
            </a:r>
          </a:p>
          <a:p>
            <a:pPr marL="0" indent="0" algn="just">
              <a:lnSpc>
                <a:spcPct val="90000"/>
              </a:lnSpc>
              <a:spcBef>
                <a:spcPts val="0"/>
              </a:spcBef>
              <a:spcAft>
                <a:spcPts val="0"/>
              </a:spcAft>
              <a:buNone/>
            </a:pPr>
            <a:r>
              <a:rPr lang="es-CO" sz="2200" b="0" dirty="0">
                <a:solidFill>
                  <a:schemeClr val="tx1"/>
                </a:solidFill>
                <a:latin typeface="Noto Sans"/>
                <a:ea typeface="Noto Sans"/>
                <a:cs typeface="Noto Sans"/>
                <a:sym typeface="Noto Sans"/>
              </a:rPr>
              <a:t>El código recorre cada institución simulando el cálculo que haría de forma local e independiente. Los resultados se guardan en </a:t>
            </a:r>
            <a:r>
              <a:rPr lang="es-CO" sz="2200" b="1" dirty="0">
                <a:solidFill>
                  <a:schemeClr val="tx1"/>
                </a:solidFill>
                <a:latin typeface="Noto Sans"/>
                <a:ea typeface="Noto Sans"/>
                <a:cs typeface="Noto Sans"/>
                <a:sym typeface="Noto Sans"/>
              </a:rPr>
              <a:t>local_results</a:t>
            </a:r>
            <a:r>
              <a:rPr lang="es-CO" sz="2200" b="0" dirty="0">
                <a:solidFill>
                  <a:schemeClr val="tx1"/>
                </a:solidFill>
                <a:latin typeface="Noto Sans"/>
                <a:ea typeface="Noto Sans"/>
                <a:cs typeface="Noto Sans"/>
                <a:sym typeface="Noto Sans"/>
              </a:rPr>
              <a:t>, que representa lo que el servidor central recibiría de cada institución.</a:t>
            </a:r>
          </a:p>
        </p:txBody>
      </p:sp>
      <p:pic>
        <p:nvPicPr>
          <p:cNvPr id="5" name="Imagen 4">
            <a:extLst>
              <a:ext uri="{FF2B5EF4-FFF2-40B4-BE49-F238E27FC236}">
                <a16:creationId xmlns:a16="http://schemas.microsoft.com/office/drawing/2014/main" id="{7DA92072-5C83-025D-0AEC-A750FF19800A}"/>
              </a:ext>
            </a:extLst>
          </p:cNvPr>
          <p:cNvPicPr>
            <a:picLocks noChangeAspect="1"/>
          </p:cNvPicPr>
          <p:nvPr/>
        </p:nvPicPr>
        <p:blipFill>
          <a:blip r:embed="rId2"/>
          <a:stretch>
            <a:fillRect/>
          </a:stretch>
        </p:blipFill>
        <p:spPr>
          <a:xfrm>
            <a:off x="548640" y="4306056"/>
            <a:ext cx="6366724" cy="135138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5. Enfoque federado</a:t>
            </a:r>
            <a:endParaRPr lang="es-CO" sz="3600" dirty="0"/>
          </a:p>
        </p:txBody>
      </p:sp>
      <p:sp>
        <p:nvSpPr>
          <p:cNvPr id="3" name="TextBox 3"/>
          <p:cNvSpPr txBox="1"/>
          <p:nvPr/>
        </p:nvSpPr>
        <p:spPr>
          <a:xfrm>
            <a:off x="548640" y="1737360"/>
            <a:ext cx="11091672" cy="219456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2400"/>
              </a:spcAft>
              <a:buNone/>
            </a:pPr>
            <a:r>
              <a:rPr lang="es-CO" sz="2200" b="1" dirty="0">
                <a:solidFill>
                  <a:schemeClr val="tx1"/>
                </a:solidFill>
                <a:latin typeface="Noto Sans"/>
                <a:ea typeface="Noto Sans"/>
                <a:cs typeface="Noto Sans"/>
                <a:sym typeface="Noto Sans"/>
              </a:rPr>
              <a:t>5.2. Combinación de resultados: </a:t>
            </a:r>
            <a:r>
              <a:rPr lang="es-CO" sz="2200" b="0" dirty="0">
                <a:solidFill>
                  <a:schemeClr val="tx1"/>
                </a:solidFill>
                <a:latin typeface="Noto Sans"/>
                <a:ea typeface="Noto Sans"/>
                <a:cs typeface="Noto Sans"/>
                <a:sym typeface="Noto Sans"/>
              </a:rPr>
              <a:t>Reorganiza los resultados por variable en lugar de por institución, de modo que para cada variable queden juntas las filas de todas las instituciones.</a:t>
            </a:r>
          </a:p>
          <a:p>
            <a:pPr marL="0" indent="0" algn="just">
              <a:lnSpc>
                <a:spcPct val="90000"/>
              </a:lnSpc>
              <a:spcBef>
                <a:spcPts val="0"/>
              </a:spcBef>
              <a:spcAft>
                <a:spcPts val="0"/>
              </a:spcAft>
              <a:buNone/>
            </a:pPr>
            <a:r>
              <a:rPr lang="es-CO" sz="2200" b="0" dirty="0">
                <a:solidFill>
                  <a:schemeClr val="tx1"/>
                </a:solidFill>
                <a:latin typeface="Noto Sans"/>
                <a:ea typeface="Noto Sans"/>
                <a:cs typeface="Noto Sans"/>
                <a:sym typeface="Noto Sans"/>
              </a:rPr>
              <a:t>Es solo un cambio de forma sobre los resultados que ya compartió cada institución, sin usar registros individuales. El resultado, </a:t>
            </a:r>
            <a:r>
              <a:rPr lang="es-CO" sz="2200" b="1" dirty="0">
                <a:solidFill>
                  <a:schemeClr val="tx1"/>
                </a:solidFill>
                <a:latin typeface="Noto Sans"/>
                <a:ea typeface="Noto Sans"/>
                <a:cs typeface="Noto Sans"/>
                <a:sym typeface="Noto Sans"/>
              </a:rPr>
              <a:t>sites_results</a:t>
            </a:r>
            <a:r>
              <a:rPr lang="es-CO" sz="2200" b="0" dirty="0">
                <a:solidFill>
                  <a:schemeClr val="tx1"/>
                </a:solidFill>
                <a:latin typeface="Noto Sans"/>
                <a:ea typeface="Noto Sans"/>
                <a:cs typeface="Noto Sans"/>
                <a:sym typeface="Noto Sans"/>
              </a:rPr>
              <a:t>, permite además comparar las estadísticas de cada institución antes de combinarlas.</a:t>
            </a:r>
          </a:p>
        </p:txBody>
      </p:sp>
      <p:pic>
        <p:nvPicPr>
          <p:cNvPr id="5" name="Imagen 4">
            <a:extLst>
              <a:ext uri="{FF2B5EF4-FFF2-40B4-BE49-F238E27FC236}">
                <a16:creationId xmlns:a16="http://schemas.microsoft.com/office/drawing/2014/main" id="{C191CBF5-73C3-4E91-D432-262DC5865BEE}"/>
              </a:ext>
            </a:extLst>
          </p:cNvPr>
          <p:cNvPicPr>
            <a:picLocks noChangeAspect="1"/>
          </p:cNvPicPr>
          <p:nvPr/>
        </p:nvPicPr>
        <p:blipFill>
          <a:blip r:embed="rId2"/>
          <a:stretch>
            <a:fillRect/>
          </a:stretch>
        </p:blipFill>
        <p:spPr>
          <a:xfrm>
            <a:off x="548640" y="4285293"/>
            <a:ext cx="7747507" cy="126031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5. Enfoque federado</a:t>
            </a:r>
            <a:endParaRPr lang="es-CO" sz="3600" dirty="0"/>
          </a:p>
        </p:txBody>
      </p:sp>
      <p:sp>
        <p:nvSpPr>
          <p:cNvPr id="3" name="TextBox 3"/>
          <p:cNvSpPr txBox="1"/>
          <p:nvPr/>
        </p:nvSpPr>
        <p:spPr>
          <a:xfrm>
            <a:off x="548640" y="1737360"/>
            <a:ext cx="11091672" cy="274320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2400"/>
              </a:spcAft>
              <a:buNone/>
            </a:pPr>
            <a:r>
              <a:rPr lang="es-CO" sz="2200" b="1" dirty="0">
                <a:solidFill>
                  <a:schemeClr val="tx1"/>
                </a:solidFill>
                <a:latin typeface="Noto Sans"/>
                <a:ea typeface="Noto Sans"/>
                <a:cs typeface="Noto Sans"/>
                <a:sym typeface="Noto Sans"/>
              </a:rPr>
              <a:t>5.3. Cálculos agregados: </a:t>
            </a:r>
            <a:r>
              <a:rPr lang="es-CO" sz="2200" b="0" dirty="0">
                <a:solidFill>
                  <a:schemeClr val="tx1"/>
                </a:solidFill>
                <a:latin typeface="Noto Sans"/>
                <a:ea typeface="Noto Sans"/>
                <a:cs typeface="Noto Sans"/>
                <a:sym typeface="Noto Sans"/>
              </a:rPr>
              <a:t>El objetivo es combinar los resultados de las instituciones en un único resultado por variable, que se parezca lo máximo posible al obtenido con el enfoque centralizado.</a:t>
            </a:r>
          </a:p>
          <a:p>
            <a:pPr marL="0" indent="0" algn="just">
              <a:lnSpc>
                <a:spcPct val="90000"/>
              </a:lnSpc>
              <a:spcBef>
                <a:spcPts val="0"/>
              </a:spcBef>
              <a:spcAft>
                <a:spcPts val="0"/>
              </a:spcAft>
              <a:buNone/>
            </a:pPr>
            <a:r>
              <a:rPr lang="es-CO" sz="2200" b="0" dirty="0">
                <a:solidFill>
                  <a:schemeClr val="tx1"/>
                </a:solidFill>
                <a:latin typeface="Noto Sans"/>
                <a:ea typeface="Noto Sans"/>
                <a:cs typeface="Noto Sans"/>
                <a:sym typeface="Noto Sans"/>
              </a:rPr>
              <a:t>La forma de combinar cada medida depende de lo que representa, porque no todos los cálculos centralizados se pueden reproducir de forma exacta a partir de los resúmenes de cada institución.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5. Enfoque federado</a:t>
            </a:r>
            <a:endParaRPr lang="es-CO" sz="3600" dirty="0"/>
          </a:p>
        </p:txBody>
      </p:sp>
      <p:graphicFrame>
        <p:nvGraphicFramePr>
          <p:cNvPr id="3" name="Table"/>
          <p:cNvGraphicFramePr>
            <a:graphicFrameLocks noGrp="1"/>
          </p:cNvGraphicFramePr>
          <p:nvPr>
            <p:extLst>
              <p:ext uri="{D42A27DB-BD31-4B8C-83A1-F6EECF244321}">
                <p14:modId xmlns:p14="http://schemas.microsoft.com/office/powerpoint/2010/main" val="2487158100"/>
              </p:ext>
            </p:extLst>
          </p:nvPr>
        </p:nvGraphicFramePr>
        <p:xfrm>
          <a:off x="548640" y="1737360"/>
          <a:ext cx="11091672" cy="3108960"/>
        </p:xfrm>
        <a:graphic>
          <a:graphicData uri="http://schemas.openxmlformats.org/drawingml/2006/table">
            <a:tbl>
              <a:tblPr firstRow="1" bandRow="1"/>
              <a:tblGrid>
                <a:gridCol w="402336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gridCol w="1947672">
                  <a:extLst>
                    <a:ext uri="{9D8B030D-6E8A-4147-A177-3AD203B41FA5}">
                      <a16:colId xmlns:a16="http://schemas.microsoft.com/office/drawing/2014/main" val="20002"/>
                    </a:ext>
                  </a:extLst>
                </a:gridCol>
              </a:tblGrid>
              <a:tr h="457200">
                <a:tc>
                  <a:txBody>
                    <a:bodyPr/>
                    <a:lstStyle/>
                    <a:p>
                      <a:pPr marL="0" indent="0" algn="l">
                        <a:lnSpc>
                          <a:spcPct val="90000"/>
                        </a:lnSpc>
                        <a:spcBef>
                          <a:spcPts val="0"/>
                        </a:spcBef>
                        <a:spcAft>
                          <a:spcPts val="0"/>
                        </a:spcAft>
                        <a:buNone/>
                      </a:pPr>
                      <a:r>
                        <a:rPr lang="es-CO" sz="2000" b="1" dirty="0">
                          <a:solidFill>
                            <a:srgbClr val="FFFFFF"/>
                          </a:solidFill>
                          <a:latin typeface="Noto Sans"/>
                          <a:ea typeface="Noto Sans"/>
                          <a:cs typeface="Noto Sans"/>
                          <a:sym typeface="Noto Sans"/>
                        </a:rPr>
                        <a:t>Medida</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673BA"/>
                    </a:solidFill>
                  </a:tcPr>
                </a:tc>
                <a:tc>
                  <a:txBody>
                    <a:bodyPr/>
                    <a:lstStyle/>
                    <a:p>
                      <a:pPr marL="0" indent="0" algn="l">
                        <a:lnSpc>
                          <a:spcPct val="90000"/>
                        </a:lnSpc>
                        <a:spcBef>
                          <a:spcPts val="0"/>
                        </a:spcBef>
                        <a:spcAft>
                          <a:spcPts val="0"/>
                        </a:spcAft>
                        <a:buNone/>
                      </a:pPr>
                      <a:r>
                        <a:rPr lang="es-CO" sz="2000" b="1" dirty="0">
                          <a:solidFill>
                            <a:srgbClr val="FFFFFF"/>
                          </a:solidFill>
                          <a:latin typeface="Noto Sans"/>
                          <a:ea typeface="Noto Sans"/>
                          <a:cs typeface="Noto Sans"/>
                          <a:sym typeface="Noto Sans"/>
                        </a:rPr>
                        <a:t>Cómo se combina</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673BA"/>
                    </a:solidFill>
                  </a:tcPr>
                </a:tc>
                <a:tc>
                  <a:txBody>
                    <a:bodyPr/>
                    <a:lstStyle/>
                    <a:p>
                      <a:pPr marL="0" indent="0" algn="l">
                        <a:lnSpc>
                          <a:spcPct val="90000"/>
                        </a:lnSpc>
                        <a:spcBef>
                          <a:spcPts val="0"/>
                        </a:spcBef>
                        <a:spcAft>
                          <a:spcPts val="0"/>
                        </a:spcAft>
                        <a:buNone/>
                      </a:pPr>
                      <a:r>
                        <a:rPr lang="es-CO" sz="2000" b="1" dirty="0">
                          <a:solidFill>
                            <a:srgbClr val="FFFFFF"/>
                          </a:solidFill>
                          <a:latin typeface="Noto Sans"/>
                          <a:ea typeface="Noto Sans"/>
                          <a:cs typeface="Noto Sans"/>
                          <a:sym typeface="Noto Sans"/>
                        </a:rPr>
                        <a:t>Resultado</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0673BA"/>
                    </a:solidFill>
                  </a:tcPr>
                </a:tc>
                <a:extLst>
                  <a:ext uri="{0D108BD9-81ED-4DB2-BD59-A6C34878D82A}">
                    <a16:rowId xmlns:a16="http://schemas.microsoft.com/office/drawing/2014/main" val="10000"/>
                  </a:ext>
                </a:extLst>
              </a:tr>
              <a:tr h="457200">
                <a:tc>
                  <a:txBody>
                    <a:bodyPr/>
                    <a:lstStyle/>
                    <a:p>
                      <a:pPr marL="0" indent="0" algn="l">
                        <a:lnSpc>
                          <a:spcPct val="90000"/>
                        </a:lnSpc>
                        <a:spcBef>
                          <a:spcPts val="0"/>
                        </a:spcBef>
                        <a:spcAft>
                          <a:spcPts val="0"/>
                        </a:spcAft>
                        <a:buNone/>
                      </a:pPr>
                      <a:r>
                        <a:rPr lang="es-CO" sz="2000" b="0" dirty="0">
                          <a:solidFill>
                            <a:schemeClr val="tx1"/>
                          </a:solidFill>
                          <a:latin typeface="Noto Sans"/>
                          <a:ea typeface="Noto Sans"/>
                          <a:cs typeface="Noto Sans"/>
                          <a:sym typeface="Noto Sans"/>
                        </a:rPr>
                        <a:t>Mínimo y máximo</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tc>
                  <a:txBody>
                    <a:bodyPr/>
                    <a:lstStyle/>
                    <a:p>
                      <a:pPr marL="0" indent="0" algn="l">
                        <a:lnSpc>
                          <a:spcPct val="90000"/>
                        </a:lnSpc>
                        <a:spcBef>
                          <a:spcPts val="0"/>
                        </a:spcBef>
                        <a:spcAft>
                          <a:spcPts val="0"/>
                        </a:spcAft>
                        <a:buNone/>
                      </a:pPr>
                      <a:r>
                        <a:rPr lang="es-CO" sz="2000" b="0" dirty="0">
                          <a:solidFill>
                            <a:schemeClr val="tx1"/>
                          </a:solidFill>
                          <a:latin typeface="Noto Sans"/>
                          <a:ea typeface="Noto Sans"/>
                          <a:cs typeface="Noto Sans"/>
                          <a:sym typeface="Noto Sans"/>
                        </a:rPr>
                        <a:t>El menor de los mínimos y el mayor de los máximos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tc>
                  <a:txBody>
                    <a:bodyPr/>
                    <a:lstStyle/>
                    <a:p>
                      <a:pPr marL="0" indent="0" algn="l">
                        <a:lnSpc>
                          <a:spcPct val="90000"/>
                        </a:lnSpc>
                        <a:spcBef>
                          <a:spcPts val="0"/>
                        </a:spcBef>
                        <a:spcAft>
                          <a:spcPts val="0"/>
                        </a:spcAft>
                        <a:buNone/>
                      </a:pPr>
                      <a:r>
                        <a:rPr lang="es-CO" sz="2000" b="0" dirty="0">
                          <a:solidFill>
                            <a:schemeClr val="tx1"/>
                          </a:solidFill>
                          <a:latin typeface="Noto Sans"/>
                          <a:ea typeface="Noto Sans"/>
                          <a:cs typeface="Noto Sans"/>
                          <a:sym typeface="Noto Sans"/>
                        </a:rPr>
                        <a:t>Exacto</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extLst>
                  <a:ext uri="{0D108BD9-81ED-4DB2-BD59-A6C34878D82A}">
                    <a16:rowId xmlns:a16="http://schemas.microsoft.com/office/drawing/2014/main" val="10001"/>
                  </a:ext>
                </a:extLst>
              </a:tr>
              <a:tr h="457200">
                <a:tc>
                  <a:txBody>
                    <a:bodyPr/>
                    <a:lstStyle/>
                    <a:p>
                      <a:pPr marL="0" indent="0" algn="l">
                        <a:lnSpc>
                          <a:spcPct val="90000"/>
                        </a:lnSpc>
                        <a:spcBef>
                          <a:spcPts val="0"/>
                        </a:spcBef>
                        <a:spcAft>
                          <a:spcPts val="0"/>
                        </a:spcAft>
                        <a:buNone/>
                      </a:pPr>
                      <a:r>
                        <a:rPr lang="es-CO" sz="2000" b="0" dirty="0">
                          <a:solidFill>
                            <a:schemeClr val="tx1"/>
                          </a:solidFill>
                          <a:latin typeface="Noto Sans"/>
                          <a:ea typeface="Noto Sans"/>
                          <a:cs typeface="Noto Sans"/>
                          <a:sym typeface="Noto Sans"/>
                        </a:rPr>
                        <a:t>Faltantes, número de registros con dato y conteos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tc>
                  <a:txBody>
                    <a:bodyPr/>
                    <a:lstStyle/>
                    <a:p>
                      <a:pPr marL="0" indent="0" algn="l">
                        <a:lnSpc>
                          <a:spcPct val="90000"/>
                        </a:lnSpc>
                        <a:spcBef>
                          <a:spcPts val="0"/>
                        </a:spcBef>
                        <a:spcAft>
                          <a:spcPts val="0"/>
                        </a:spcAft>
                        <a:buNone/>
                      </a:pPr>
                      <a:r>
                        <a:rPr lang="es-CO" sz="2000" b="0" dirty="0">
                          <a:solidFill>
                            <a:schemeClr val="tx1"/>
                          </a:solidFill>
                          <a:latin typeface="Noto Sans"/>
                          <a:ea typeface="Noto Sans"/>
                          <a:cs typeface="Noto Sans"/>
                          <a:sym typeface="Noto Sans"/>
                        </a:rPr>
                        <a:t>Suma entre instituciones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tc>
                  <a:txBody>
                    <a:bodyPr/>
                    <a:lstStyle/>
                    <a:p>
                      <a:pPr marL="0" indent="0" algn="l">
                        <a:lnSpc>
                          <a:spcPct val="90000"/>
                        </a:lnSpc>
                        <a:spcBef>
                          <a:spcPts val="0"/>
                        </a:spcBef>
                        <a:spcAft>
                          <a:spcPts val="0"/>
                        </a:spcAft>
                        <a:buNone/>
                      </a:pPr>
                      <a:r>
                        <a:rPr lang="es-CO" sz="2000" b="0" dirty="0">
                          <a:solidFill>
                            <a:schemeClr val="tx1"/>
                          </a:solidFill>
                          <a:latin typeface="Noto Sans"/>
                          <a:ea typeface="Noto Sans"/>
                          <a:cs typeface="Noto Sans"/>
                          <a:sym typeface="Noto Sans"/>
                        </a:rPr>
                        <a:t>Exacto</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extLst>
                  <a:ext uri="{0D108BD9-81ED-4DB2-BD59-A6C34878D82A}">
                    <a16:rowId xmlns:a16="http://schemas.microsoft.com/office/drawing/2014/main" val="10002"/>
                  </a:ext>
                </a:extLst>
              </a:tr>
              <a:tr h="457200">
                <a:tc>
                  <a:txBody>
                    <a:bodyPr/>
                    <a:lstStyle/>
                    <a:p>
                      <a:pPr marL="0" indent="0" algn="l">
                        <a:lnSpc>
                          <a:spcPct val="90000"/>
                        </a:lnSpc>
                        <a:spcBef>
                          <a:spcPts val="0"/>
                        </a:spcBef>
                        <a:spcAft>
                          <a:spcPts val="0"/>
                        </a:spcAft>
                        <a:buNone/>
                      </a:pPr>
                      <a:r>
                        <a:rPr lang="es-CO" sz="2000" b="0" dirty="0">
                          <a:solidFill>
                            <a:schemeClr val="tx1"/>
                          </a:solidFill>
                          <a:latin typeface="Noto Sans"/>
                          <a:ea typeface="Noto Sans"/>
                          <a:cs typeface="Noto Sans"/>
                          <a:sym typeface="Noto Sans"/>
                        </a:rPr>
                        <a:t>Media</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tc>
                  <a:txBody>
                    <a:bodyPr/>
                    <a:lstStyle/>
                    <a:p>
                      <a:pPr marL="0" indent="0" algn="l">
                        <a:lnSpc>
                          <a:spcPct val="90000"/>
                        </a:lnSpc>
                        <a:spcBef>
                          <a:spcPts val="0"/>
                        </a:spcBef>
                        <a:spcAft>
                          <a:spcPts val="0"/>
                        </a:spcAft>
                        <a:buNone/>
                      </a:pPr>
                      <a:r>
                        <a:rPr lang="es-CO" sz="2000" b="0" dirty="0">
                          <a:solidFill>
                            <a:schemeClr val="tx1"/>
                          </a:solidFill>
                          <a:latin typeface="Noto Sans"/>
                          <a:ea typeface="Noto Sans"/>
                          <a:cs typeface="Noto Sans"/>
                          <a:sym typeface="Noto Sans"/>
                        </a:rPr>
                        <a:t>Promedio ponderado</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tc>
                  <a:txBody>
                    <a:bodyPr/>
                    <a:lstStyle/>
                    <a:p>
                      <a:pPr marL="0" indent="0" algn="l">
                        <a:lnSpc>
                          <a:spcPct val="90000"/>
                        </a:lnSpc>
                        <a:spcBef>
                          <a:spcPts val="0"/>
                        </a:spcBef>
                        <a:spcAft>
                          <a:spcPts val="0"/>
                        </a:spcAft>
                        <a:buNone/>
                      </a:pPr>
                      <a:r>
                        <a:rPr lang="es-CO" sz="2000" b="0" dirty="0">
                          <a:solidFill>
                            <a:schemeClr val="tx1"/>
                          </a:solidFill>
                          <a:latin typeface="Noto Sans"/>
                          <a:ea typeface="Noto Sans"/>
                          <a:cs typeface="Noto Sans"/>
                          <a:sym typeface="Noto Sans"/>
                        </a:rPr>
                        <a:t>Exacto</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extLst>
                  <a:ext uri="{0D108BD9-81ED-4DB2-BD59-A6C34878D82A}">
                    <a16:rowId xmlns:a16="http://schemas.microsoft.com/office/drawing/2014/main" val="10003"/>
                  </a:ext>
                </a:extLst>
              </a:tr>
              <a:tr h="457200">
                <a:tc>
                  <a:txBody>
                    <a:bodyPr/>
                    <a:lstStyle/>
                    <a:p>
                      <a:pPr marL="0" indent="0" algn="l">
                        <a:lnSpc>
                          <a:spcPct val="90000"/>
                        </a:lnSpc>
                        <a:spcBef>
                          <a:spcPts val="0"/>
                        </a:spcBef>
                        <a:spcAft>
                          <a:spcPts val="0"/>
                        </a:spcAft>
                        <a:buNone/>
                      </a:pPr>
                      <a:r>
                        <a:rPr lang="es-CO" sz="2000" b="0" dirty="0">
                          <a:solidFill>
                            <a:schemeClr val="tx1"/>
                          </a:solidFill>
                          <a:latin typeface="Noto Sans"/>
                          <a:ea typeface="Noto Sans"/>
                          <a:cs typeface="Noto Sans"/>
                          <a:sym typeface="Noto Sans"/>
                        </a:rPr>
                        <a:t>Desviación estándar</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tc>
                  <a:txBody>
                    <a:bodyPr/>
                    <a:lstStyle/>
                    <a:p>
                      <a:pPr marL="0" indent="0" algn="l">
                        <a:lnSpc>
                          <a:spcPct val="90000"/>
                        </a:lnSpc>
                        <a:spcBef>
                          <a:spcPts val="0"/>
                        </a:spcBef>
                        <a:spcAft>
                          <a:spcPts val="0"/>
                        </a:spcAft>
                        <a:buNone/>
                      </a:pPr>
                      <a:r>
                        <a:rPr lang="es-CO" sz="2000" b="0" dirty="0">
                          <a:solidFill>
                            <a:schemeClr val="tx1"/>
                          </a:solidFill>
                          <a:latin typeface="Noto Sans"/>
                          <a:ea typeface="Noto Sans"/>
                          <a:cs typeface="Noto Sans"/>
                          <a:sym typeface="Noto Sans"/>
                        </a:rPr>
                        <a:t>Fórmula a partir de sumas</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tc>
                  <a:txBody>
                    <a:bodyPr/>
                    <a:lstStyle/>
                    <a:p>
                      <a:pPr marL="0" indent="0" algn="l">
                        <a:lnSpc>
                          <a:spcPct val="90000"/>
                        </a:lnSpc>
                        <a:spcBef>
                          <a:spcPts val="0"/>
                        </a:spcBef>
                        <a:spcAft>
                          <a:spcPts val="0"/>
                        </a:spcAft>
                        <a:buNone/>
                      </a:pPr>
                      <a:r>
                        <a:rPr lang="es-CO" sz="2000" b="0" dirty="0">
                          <a:solidFill>
                            <a:schemeClr val="tx1"/>
                          </a:solidFill>
                          <a:latin typeface="Noto Sans"/>
                          <a:ea typeface="Noto Sans"/>
                          <a:cs typeface="Noto Sans"/>
                          <a:sym typeface="Noto Sans"/>
                        </a:rPr>
                        <a:t>Exacto</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extLst>
                  <a:ext uri="{0D108BD9-81ED-4DB2-BD59-A6C34878D82A}">
                    <a16:rowId xmlns:a16="http://schemas.microsoft.com/office/drawing/2014/main" val="10004"/>
                  </a:ext>
                </a:extLst>
              </a:tr>
              <a:tr h="457200">
                <a:tc>
                  <a:txBody>
                    <a:bodyPr/>
                    <a:lstStyle/>
                    <a:p>
                      <a:pPr marL="0" indent="0" algn="l">
                        <a:lnSpc>
                          <a:spcPct val="90000"/>
                        </a:lnSpc>
                        <a:spcBef>
                          <a:spcPts val="0"/>
                        </a:spcBef>
                        <a:spcAft>
                          <a:spcPts val="0"/>
                        </a:spcAft>
                        <a:buNone/>
                      </a:pPr>
                      <a:r>
                        <a:rPr lang="es-CO" sz="2000" b="0" dirty="0">
                          <a:solidFill>
                            <a:schemeClr val="tx1"/>
                          </a:solidFill>
                          <a:latin typeface="Noto Sans"/>
                          <a:ea typeface="Noto Sans"/>
                          <a:cs typeface="Noto Sans"/>
                          <a:sym typeface="Noto Sans"/>
                        </a:rPr>
                        <a:t>Mediana, Q1 y Q3</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tc>
                  <a:txBody>
                    <a:bodyPr/>
                    <a:lstStyle/>
                    <a:p>
                      <a:pPr marL="0" indent="0" algn="l">
                        <a:lnSpc>
                          <a:spcPct val="90000"/>
                        </a:lnSpc>
                        <a:spcBef>
                          <a:spcPts val="0"/>
                        </a:spcBef>
                        <a:spcAft>
                          <a:spcPts val="0"/>
                        </a:spcAft>
                        <a:buNone/>
                      </a:pPr>
                      <a:r>
                        <a:rPr lang="es-CO" sz="2000" b="0" dirty="0">
                          <a:solidFill>
                            <a:schemeClr val="tx1"/>
                          </a:solidFill>
                          <a:latin typeface="Noto Sans"/>
                          <a:ea typeface="Noto Sans"/>
                          <a:cs typeface="Noto Sans"/>
                          <a:sym typeface="Noto Sans"/>
                        </a:rPr>
                        <a:t>Promedio ponderado</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tc>
                  <a:txBody>
                    <a:bodyPr/>
                    <a:lstStyle/>
                    <a:p>
                      <a:pPr marL="0" indent="0" algn="l">
                        <a:lnSpc>
                          <a:spcPct val="90000"/>
                        </a:lnSpc>
                        <a:spcBef>
                          <a:spcPts val="0"/>
                        </a:spcBef>
                        <a:spcAft>
                          <a:spcPts val="0"/>
                        </a:spcAft>
                        <a:buNone/>
                      </a:pPr>
                      <a:r>
                        <a:rPr lang="es-CO" sz="2000" b="0" dirty="0">
                          <a:solidFill>
                            <a:schemeClr val="tx1"/>
                          </a:solidFill>
                          <a:latin typeface="Noto Sans"/>
                          <a:ea typeface="Noto Sans"/>
                          <a:cs typeface="Noto Sans"/>
                          <a:sym typeface="Noto Sans"/>
                        </a:rPr>
                        <a:t>Aproximado</a:t>
                      </a:r>
                    </a:p>
                  </a:txBody>
                  <a:tcPr anchor="ctr">
                    <a:lnL w="12700">
                      <a:solidFill>
                        <a:srgbClr val="FFFFFF"/>
                      </a:solidFill>
                    </a:lnL>
                    <a:lnR w="12700">
                      <a:solidFill>
                        <a:srgbClr val="FFFFFF"/>
                      </a:solidFill>
                    </a:lnR>
                    <a:lnT w="12700">
                      <a:solidFill>
                        <a:srgbClr val="FFFFFF"/>
                      </a:solidFill>
                    </a:lnT>
                    <a:lnB w="12700">
                      <a:solidFill>
                        <a:srgbClr val="FFFFFF"/>
                      </a:solidFill>
                    </a:lnB>
                    <a:solidFill>
                      <a:srgbClr val="E6F0FA"/>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5. Enfoque federado</a:t>
            </a:r>
            <a:endParaRPr lang="es-CO" sz="3600" dirty="0"/>
          </a:p>
        </p:txBody>
      </p:sp>
      <p:sp>
        <p:nvSpPr>
          <p:cNvPr id="3" name="TextBox 3"/>
          <p:cNvSpPr txBox="1"/>
          <p:nvPr/>
        </p:nvSpPr>
        <p:spPr>
          <a:xfrm>
            <a:off x="548640" y="1737360"/>
            <a:ext cx="11091672" cy="118872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0"/>
              </a:spcAft>
              <a:buNone/>
            </a:pPr>
            <a:r>
              <a:rPr lang="es-CO" sz="2200" b="0" dirty="0">
                <a:solidFill>
                  <a:schemeClr val="tx1"/>
                </a:solidFill>
                <a:latin typeface="Noto Sans"/>
                <a:ea typeface="Noto Sans"/>
                <a:cs typeface="Noto Sans"/>
                <a:sym typeface="Noto Sans"/>
              </a:rPr>
              <a:t>Varias de las medidas se combinan usando el </a:t>
            </a:r>
            <a:r>
              <a:rPr lang="es-CO" sz="2200" b="1" dirty="0">
                <a:solidFill>
                  <a:schemeClr val="tx1"/>
                </a:solidFill>
                <a:latin typeface="Noto Sans"/>
                <a:ea typeface="Noto Sans"/>
                <a:cs typeface="Noto Sans"/>
                <a:sym typeface="Noto Sans"/>
              </a:rPr>
              <a:t>promedio ponderado</a:t>
            </a:r>
            <a:r>
              <a:rPr lang="es-CO" sz="2200" b="0" dirty="0">
                <a:solidFill>
                  <a:schemeClr val="tx1"/>
                </a:solidFill>
                <a:latin typeface="Noto Sans"/>
                <a:ea typeface="Noto Sans"/>
                <a:cs typeface="Noto Sans"/>
                <a:sym typeface="Noto Sans"/>
              </a:rPr>
              <a:t>. De esta forma el valor de cada institución pesa según su cantidad de registros con dato, de modo que las instituciones con más datos influyen más en el resultado.</a:t>
            </a:r>
          </a:p>
        </p:txBody>
      </p:sp>
      <mc:AlternateContent xmlns:mc="http://schemas.openxmlformats.org/markup-compatibility/2006" xmlns:a14="http://schemas.microsoft.com/office/drawing/2010/main">
        <mc:Choice Requires="a14">
          <p:sp>
            <p:nvSpPr>
              <p:cNvPr id="4" name="Equation 4"/>
              <p:cNvSpPr txBox="1"/>
              <p:nvPr/>
            </p:nvSpPr>
            <p:spPr>
              <a:xfrm>
                <a:off x="548640" y="3017520"/>
                <a:ext cx="11091672" cy="1097280"/>
              </a:xfrm>
              <a:prstGeom prst="rect">
                <a:avLst/>
              </a:prstGeom>
              <a:noFill/>
            </p:spPr>
            <p:txBody>
              <a:bodyPr wrap="square" anchor="ctr">
                <a:noAutofit/>
              </a:bodyPr>
              <a:lstStyle/>
              <a:p>
                <a:pPr algn="ctr"/>
                <a14:m>
                  <m:oMathPara xmlns:m="http://schemas.openxmlformats.org/officeDocument/2006/math">
                    <m:oMath>
                      <m:acc>
                        <m:accPr>
                          <m:chr m:val="̅"/>
                          <m:ctrlPr>
                            <a:rPr lang="es-CO" sz="2400" i="1">
                              <a:latin typeface="Cambria Math"/>
                            </a:rPr>
                          </m:ctrlPr>
                        </m:accPr>
                        <m:e>
                          <m:r>
                            <a:rPr lang="es-CO" sz="2400" i="1">
                              <a:latin typeface="Cambria Math"/>
                            </a:rPr>
                            <m:t>𝑥</m:t>
                          </m:r>
                        </m:e>
                      </m:acc>
                      <m:r>
                        <a:rPr lang="es-CO" sz="2400" i="0">
                          <a:latin typeface="Cambria Math"/>
                        </a:rPr>
                        <m:t>=</m:t>
                      </m:r>
                      <m:f>
                        <m:fPr>
                          <m:ctrlPr>
                            <a:rPr lang="es-CO" sz="2400" i="1">
                              <a:latin typeface="Cambria Math" panose="02040503050406030204" pitchFamily="18" charset="0"/>
                            </a:rPr>
                          </m:ctrlPr>
                        </m:fPr>
                        <m:num>
                          <m:nary>
                            <m:naryPr>
                              <m:chr m:val="∑"/>
                              <m:ctrlPr>
                                <a:rPr lang="es-CO" sz="2400" i="1">
                                  <a:latin typeface="Cambria Math"/>
                                </a:rPr>
                              </m:ctrlPr>
                            </m:naryPr>
                            <m:sub>
                              <m:r>
                                <a:rPr lang="es-CO" sz="2400" i="1">
                                  <a:latin typeface="Cambria Math"/>
                                </a:rPr>
                                <m:t>𝑖</m:t>
                              </m:r>
                              <m:r>
                                <a:rPr lang="es-CO" sz="2400" i="0">
                                  <a:latin typeface="Cambria Math"/>
                                </a:rPr>
                                <m:t>=1</m:t>
                              </m:r>
                            </m:sub>
                            <m:sup>
                              <m:r>
                                <a:rPr lang="es-CO" sz="2400" i="1">
                                  <a:latin typeface="Cambria Math"/>
                                </a:rPr>
                                <m:t>𝑘</m:t>
                              </m:r>
                            </m:sup>
                            <m:e>
                              <m:sSub>
                                <m:sSubPr>
                                  <m:ctrlPr>
                                    <a:rPr lang="es-CO" sz="2400" i="1">
                                      <a:latin typeface="Cambria Math"/>
                                    </a:rPr>
                                  </m:ctrlPr>
                                </m:sSubPr>
                                <m:e>
                                  <m:r>
                                    <a:rPr lang="es-CO" sz="2400" i="1">
                                      <a:latin typeface="Cambria Math"/>
                                    </a:rPr>
                                    <m:t>𝑛</m:t>
                                  </m:r>
                                </m:e>
                                <m:sub>
                                  <m:r>
                                    <a:rPr lang="es-CO" sz="2400" i="1">
                                      <a:latin typeface="Cambria Math"/>
                                    </a:rPr>
                                    <m:t>𝑖</m:t>
                                  </m:r>
                                </m:sub>
                              </m:sSub>
                              <m:sSub>
                                <m:sSubPr>
                                  <m:ctrlPr>
                                    <a:rPr lang="es-CO" sz="2400" i="1">
                                      <a:latin typeface="Cambria Math" panose="02040503050406030204" pitchFamily="18" charset="0"/>
                                    </a:rPr>
                                  </m:ctrlPr>
                                </m:sSubPr>
                                <m:e>
                                  <m:acc>
                                    <m:accPr>
                                      <m:chr m:val="̅"/>
                                      <m:ctrlPr>
                                        <a:rPr lang="es-CO" sz="2400" i="1">
                                          <a:latin typeface="Cambria Math"/>
                                        </a:rPr>
                                      </m:ctrlPr>
                                    </m:accPr>
                                    <m:e>
                                      <m:r>
                                        <a:rPr lang="es-CO" sz="2400" i="1">
                                          <a:latin typeface="Cambria Math"/>
                                        </a:rPr>
                                        <m:t>𝑥</m:t>
                                      </m:r>
                                    </m:e>
                                  </m:acc>
                                </m:e>
                                <m:sub>
                                  <m:r>
                                    <a:rPr lang="es-CO" sz="2400" i="1">
                                      <a:latin typeface="Cambria Math"/>
                                    </a:rPr>
                                    <m:t>𝑖</m:t>
                                  </m:r>
                                </m:sub>
                              </m:sSub>
                            </m:e>
                          </m:nary>
                        </m:num>
                        <m:den>
                          <m:nary>
                            <m:naryPr>
                              <m:chr m:val="∑"/>
                              <m:ctrlPr>
                                <a:rPr lang="es-CO" sz="2400" i="1">
                                  <a:latin typeface="Cambria Math"/>
                                </a:rPr>
                              </m:ctrlPr>
                            </m:naryPr>
                            <m:sub>
                              <m:r>
                                <a:rPr lang="es-CO" sz="2400" i="1">
                                  <a:latin typeface="Cambria Math"/>
                                </a:rPr>
                                <m:t>𝑖</m:t>
                              </m:r>
                              <m:r>
                                <a:rPr lang="es-CO" sz="2400" i="0">
                                  <a:latin typeface="Cambria Math"/>
                                </a:rPr>
                                <m:t>=1</m:t>
                              </m:r>
                            </m:sub>
                            <m:sup>
                              <m:r>
                                <a:rPr lang="es-CO" sz="2400" i="1">
                                  <a:latin typeface="Cambria Math"/>
                                </a:rPr>
                                <m:t>𝑘</m:t>
                              </m:r>
                            </m:sup>
                            <m:e>
                              <m:sSub>
                                <m:sSubPr>
                                  <m:ctrlPr>
                                    <a:rPr lang="es-CO" sz="2400" i="1">
                                      <a:latin typeface="Cambria Math"/>
                                    </a:rPr>
                                  </m:ctrlPr>
                                </m:sSubPr>
                                <m:e>
                                  <m:r>
                                    <a:rPr lang="es-CO" sz="2400" i="1">
                                      <a:latin typeface="Cambria Math"/>
                                    </a:rPr>
                                    <m:t>𝑛</m:t>
                                  </m:r>
                                </m:e>
                                <m:sub>
                                  <m:r>
                                    <a:rPr lang="es-CO" sz="2400" i="1">
                                      <a:latin typeface="Cambria Math"/>
                                    </a:rPr>
                                    <m:t>𝑖</m:t>
                                  </m:r>
                                </m:sub>
                              </m:sSub>
                            </m:e>
                          </m:nary>
                        </m:den>
                      </m:f>
                    </m:oMath>
                  </m:oMathPara>
                </a14:m>
                <a:endParaRPr dirty="0"/>
              </a:p>
            </p:txBody>
          </p:sp>
        </mc:Choice>
        <mc:Fallback xmlns="">
          <p:sp>
            <p:nvSpPr>
              <p:cNvPr id="4" name="Equation 4"/>
              <p:cNvSpPr txBox="1"/>
              <p:nvPr/>
            </p:nvSpPr>
            <p:spPr>
              <a:xfrm>
                <a:off x="548640" y="3017520"/>
                <a:ext cx="11091672" cy="1097280"/>
              </a:xfrm>
              <a:prstGeom prst="rect">
                <a:avLst/>
              </a:prstGeom>
              <a:noFill/>
            </p:spPr>
            <p:txBody>
              <a:bodyPr wrap="square" anchor="ctr">
                <a:noAutofit/>
              </a:bodyPr>
              <a:lstStyle/>
              <a:p>
                <a:pPr algn="ctr"/>
                <a:r>
                  <a:rPr lang="es-CO" sz="2400" b="0" dirty="0">
                    <a:solidFill>
                      <a:schemeClr val="tx1"/>
                    </a:solidFill>
                    <a:latin typeface="Noto Sans"/>
                    <a:ea typeface="Noto Sans"/>
                    <a:cs typeface="Noto Sans"/>
                    <a:sym typeface="Noto Sans"/>
                  </a:rPr>
                  <a:t>x̄ = Σ nᵢ x̄ᵢ / Σ nᵢ</a:t>
                </a:r>
              </a:p>
            </p:txBody>
          </p:sp>
        </mc:Fallback>
      </mc:AlternateContent>
      <mc:AlternateContent xmlns:mc="http://schemas.openxmlformats.org/markup-compatibility/2006" xmlns:a14="http://schemas.microsoft.com/office/drawing/2010/main">
        <mc:Choice Requires="a14">
          <p:sp>
            <p:nvSpPr>
              <p:cNvPr id="5" name="TextBox 5"/>
              <p:cNvSpPr txBox="1"/>
              <p:nvPr/>
            </p:nvSpPr>
            <p:spPr>
              <a:xfrm>
                <a:off x="548640" y="4251960"/>
                <a:ext cx="11091672" cy="1920240"/>
              </a:xfrm>
              <a:prstGeom prst="rect">
                <a:avLst/>
              </a:prstGeom>
              <a:noFill/>
              <a:ln>
                <a:noFill/>
              </a:ln>
            </p:spPr>
            <p:txBody>
              <a:bodyPr wrap="square" lIns="45720" tIns="45720" rIns="45720" bIns="45720" rtlCol="0" anchor="t">
                <a:noAutofit/>
              </a:bodyPr>
              <a:lstStyle/>
              <a:p>
                <a:pPr algn="just">
                  <a:lnSpc>
                    <a:spcPct val="90000"/>
                  </a:lnSpc>
                  <a:spcAft>
                    <a:spcPts val="2400"/>
                  </a:spcAft>
                </a:pPr>
                <a:r>
                  <a:rPr lang="es-CO" sz="2200" b="0" dirty="0">
                    <a:solidFill>
                      <a:schemeClr val="tx1"/>
                    </a:solidFill>
                    <a:latin typeface="Noto Sans"/>
                    <a:ea typeface="Noto Sans"/>
                    <a:cs typeface="Noto Sans"/>
                    <a:sym typeface="Noto Sans"/>
                  </a:rPr>
                  <a:t>Donde </a:t>
                </a:r>
                <a:r>
                  <a:rPr lang="es-CO" sz="2200" b="0" i="1" dirty="0">
                    <a:solidFill>
                      <a:schemeClr val="tx1"/>
                    </a:solidFill>
                    <a:latin typeface="Cambria Math"/>
                    <a:ea typeface="Cambria Math"/>
                    <a:cs typeface="Cambria Math"/>
                    <a:sym typeface="Cambria Math"/>
                  </a:rPr>
                  <a:t>k</a:t>
                </a:r>
                <a:r>
                  <a:rPr lang="es-CO" sz="2200" b="0" dirty="0">
                    <a:solidFill>
                      <a:schemeClr val="tx1"/>
                    </a:solidFill>
                    <a:latin typeface="Noto Sans"/>
                    <a:ea typeface="Noto Sans"/>
                    <a:cs typeface="Noto Sans"/>
                    <a:sym typeface="Noto Sans"/>
                  </a:rPr>
                  <a:t> es el número de instituciones, </a:t>
                </a:r>
                <a:r>
                  <a:rPr lang="es-CO" sz="2200" b="0" i="1" dirty="0">
                    <a:solidFill>
                      <a:schemeClr val="tx1"/>
                    </a:solidFill>
                    <a:latin typeface="Cambria Math"/>
                    <a:ea typeface="Cambria Math"/>
                    <a:cs typeface="Cambria Math"/>
                    <a:sym typeface="Cambria Math"/>
                  </a:rPr>
                  <a:t>nᵢ</a:t>
                </a:r>
                <a:r>
                  <a:rPr lang="es-CO" sz="2200" b="0" dirty="0">
                    <a:solidFill>
                      <a:schemeClr val="tx1"/>
                    </a:solidFill>
                    <a:latin typeface="Noto Sans"/>
                    <a:ea typeface="Noto Sans"/>
                    <a:cs typeface="Noto Sans"/>
                    <a:sym typeface="Noto Sans"/>
                  </a:rPr>
                  <a:t> los registros con dato de la institución </a:t>
                </a:r>
                <a:r>
                  <a:rPr lang="es-CO" sz="2200" b="0" i="1" dirty="0">
                    <a:solidFill>
                      <a:schemeClr val="tx1"/>
                    </a:solidFill>
                    <a:latin typeface="Cambria Math"/>
                    <a:ea typeface="Cambria Math"/>
                    <a:cs typeface="Cambria Math"/>
                    <a:sym typeface="Cambria Math"/>
                  </a:rPr>
                  <a:t>i</a:t>
                </a:r>
                <a:r>
                  <a:rPr lang="es-CO" sz="2200" b="0" dirty="0">
                    <a:solidFill>
                      <a:schemeClr val="tx1"/>
                    </a:solidFill>
                    <a:latin typeface="Noto Sans"/>
                    <a:ea typeface="Noto Sans"/>
                    <a:cs typeface="Noto Sans"/>
                    <a:sym typeface="Noto Sans"/>
                  </a:rPr>
                  <a:t> y </a:t>
                </a:r>
                <a14:m>
                  <m:oMath xmlns:m="http://schemas.openxmlformats.org/officeDocument/2006/math">
                    <m:sSub>
                      <m:sSubPr>
                        <m:ctrlPr>
                          <a:rPr lang="es-CO" sz="2000" i="1">
                            <a:latin typeface="Cambria Math" panose="02040503050406030204" pitchFamily="18" charset="0"/>
                          </a:rPr>
                        </m:ctrlPr>
                      </m:sSubPr>
                      <m:e>
                        <m:acc>
                          <m:accPr>
                            <m:chr m:val="̅"/>
                            <m:ctrlPr>
                              <a:rPr lang="es-CO" sz="2000" i="1">
                                <a:latin typeface="Cambria Math"/>
                              </a:rPr>
                            </m:ctrlPr>
                          </m:accPr>
                          <m:e>
                            <m:r>
                              <a:rPr lang="es-CO" sz="2000" i="1">
                                <a:latin typeface="Cambria Math"/>
                              </a:rPr>
                              <m:t>𝑥</m:t>
                            </m:r>
                          </m:e>
                        </m:acc>
                      </m:e>
                      <m:sub>
                        <m:r>
                          <a:rPr lang="es-CO" sz="2000" i="1">
                            <a:latin typeface="Cambria Math"/>
                          </a:rPr>
                          <m:t>𝑖</m:t>
                        </m:r>
                      </m:sub>
                    </m:sSub>
                  </m:oMath>
                </a14:m>
                <a:r>
                  <a:rPr lang="es-CO" sz="2200" b="0" dirty="0">
                    <a:solidFill>
                      <a:schemeClr val="tx1"/>
                    </a:solidFill>
                    <a:latin typeface="Noto Sans"/>
                    <a:ea typeface="Noto Sans"/>
                    <a:cs typeface="Noto Sans"/>
                    <a:sym typeface="Noto Sans"/>
                  </a:rPr>
                  <a:t> su valor local.</a:t>
                </a:r>
              </a:p>
              <a:p>
                <a:pPr marL="0" indent="0" algn="just">
                  <a:lnSpc>
                    <a:spcPct val="90000"/>
                  </a:lnSpc>
                  <a:spcBef>
                    <a:spcPts val="0"/>
                  </a:spcBef>
                  <a:spcAft>
                    <a:spcPts val="0"/>
                  </a:spcAft>
                  <a:buNone/>
                </a:pPr>
                <a:r>
                  <a:rPr lang="es-CO" sz="2200" b="0" dirty="0">
                    <a:solidFill>
                      <a:schemeClr val="tx1"/>
                    </a:solidFill>
                    <a:latin typeface="Noto Sans"/>
                    <a:ea typeface="Noto Sans"/>
                    <a:cs typeface="Noto Sans"/>
                    <a:sym typeface="Noto Sans"/>
                  </a:rPr>
                  <a:t>Para la media el resultado es exacto, porque el promedio de los promedios de cada institución, ponderado por su número de registros con dato, es igual al promedio de todos los datos [3,4].</a:t>
                </a:r>
              </a:p>
            </p:txBody>
          </p:sp>
        </mc:Choice>
        <mc:Fallback xmlns="">
          <p:sp>
            <p:nvSpPr>
              <p:cNvPr id="5" name="TextBox 5"/>
              <p:cNvSpPr txBox="1">
                <a:spLocks noRot="1" noChangeAspect="1" noMove="1" noResize="1" noEditPoints="1" noAdjustHandles="1" noChangeArrowheads="1" noChangeShapeType="1" noTextEdit="1"/>
              </p:cNvSpPr>
              <p:nvPr/>
            </p:nvSpPr>
            <p:spPr>
              <a:xfrm>
                <a:off x="548640" y="4251960"/>
                <a:ext cx="11091672" cy="1920240"/>
              </a:xfrm>
              <a:prstGeom prst="rect">
                <a:avLst/>
              </a:prstGeom>
              <a:blipFill>
                <a:blip r:embed="rId2"/>
                <a:stretch>
                  <a:fillRect l="-1099" t="-4444" r="-1044"/>
                </a:stretch>
              </a:blipFill>
              <a:ln>
                <a:noFill/>
              </a:ln>
            </p:spPr>
            <p:txBody>
              <a:bodyPr/>
              <a:lstStyle/>
              <a:p>
                <a:r>
                  <a:rPr lang="es-ES">
                    <a:noFill/>
                  </a:rPr>
                  <a:t> </a:t>
                </a:r>
              </a:p>
            </p:txBody>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5. Enfoque federado</a:t>
            </a:r>
            <a:endParaRPr lang="es-CO" sz="3600" dirty="0"/>
          </a:p>
        </p:txBody>
      </p:sp>
      <p:sp>
        <p:nvSpPr>
          <p:cNvPr id="3" name="TextBox 3"/>
          <p:cNvSpPr txBox="1"/>
          <p:nvPr/>
        </p:nvSpPr>
        <p:spPr>
          <a:xfrm>
            <a:off x="548640" y="1737359"/>
            <a:ext cx="11091672" cy="3505639"/>
          </a:xfrm>
          <a:prstGeom prst="rect">
            <a:avLst/>
          </a:prstGeom>
          <a:noFill/>
          <a:ln>
            <a:noFill/>
          </a:ln>
        </p:spPr>
        <p:txBody>
          <a:bodyPr wrap="square" lIns="45720" tIns="45720" rIns="45720" bIns="45720" rtlCol="0" anchor="t">
            <a:noAutofit/>
          </a:bodyPr>
          <a:lstStyle/>
          <a:p>
            <a:pPr algn="just">
              <a:lnSpc>
                <a:spcPct val="90000"/>
              </a:lnSpc>
              <a:spcAft>
                <a:spcPts val="2400"/>
              </a:spcAft>
            </a:pPr>
            <a:r>
              <a:rPr lang="es-CO" sz="2200" b="0" dirty="0">
                <a:solidFill>
                  <a:schemeClr val="tx1"/>
                </a:solidFill>
                <a:latin typeface="Noto Sans"/>
                <a:ea typeface="Noto Sans"/>
                <a:cs typeface="Noto Sans"/>
                <a:sym typeface="Noto Sans"/>
              </a:rPr>
              <a:t>La </a:t>
            </a:r>
            <a:r>
              <a:rPr lang="es-CO" sz="2200" b="1" dirty="0">
                <a:solidFill>
                  <a:schemeClr val="tx1"/>
                </a:solidFill>
                <a:latin typeface="Noto Sans"/>
                <a:ea typeface="Noto Sans"/>
                <a:cs typeface="Noto Sans"/>
                <a:sym typeface="Noto Sans"/>
              </a:rPr>
              <a:t>desviación estándar </a:t>
            </a:r>
            <a:r>
              <a:rPr lang="es-CO" sz="2200" dirty="0">
                <a:solidFill>
                  <a:schemeClr val="tx1"/>
                </a:solidFill>
                <a:latin typeface="Noto Sans"/>
                <a:ea typeface="Noto Sans"/>
                <a:cs typeface="Noto Sans"/>
                <a:sym typeface="Noto Sans"/>
              </a:rPr>
              <a:t>(s) </a:t>
            </a:r>
            <a:r>
              <a:rPr lang="es-CO" sz="2200" b="0" dirty="0">
                <a:solidFill>
                  <a:schemeClr val="tx1"/>
                </a:solidFill>
                <a:latin typeface="Noto Sans"/>
                <a:ea typeface="Noto Sans"/>
                <a:cs typeface="Noto Sans"/>
                <a:sym typeface="Noto Sans"/>
              </a:rPr>
              <a:t>no se puede combinar mediante el uso del promedio ponderado. </a:t>
            </a:r>
          </a:p>
          <a:p>
            <a:pPr algn="just">
              <a:lnSpc>
                <a:spcPct val="90000"/>
              </a:lnSpc>
              <a:spcAft>
                <a:spcPts val="2400"/>
              </a:spcAft>
            </a:pPr>
            <a:r>
              <a:rPr lang="es-CO" sz="2200" dirty="0">
                <a:solidFill>
                  <a:schemeClr val="tx1"/>
                </a:solidFill>
                <a:latin typeface="Noto Sans"/>
                <a:ea typeface="Noto Sans"/>
                <a:cs typeface="Noto Sans"/>
                <a:sym typeface="Noto Sans"/>
              </a:rPr>
              <a:t>Si por ejemplo se </a:t>
            </a:r>
            <a:r>
              <a:rPr lang="es-CO" sz="2200" b="0" dirty="0">
                <a:solidFill>
                  <a:schemeClr val="tx1"/>
                </a:solidFill>
                <a:latin typeface="Noto Sans"/>
                <a:ea typeface="Noto Sans"/>
                <a:cs typeface="Noto Sans"/>
                <a:sym typeface="Noto Sans"/>
              </a:rPr>
              <a:t>aplicara esto con la edad el resultado sería 19.13, mientras que el resultado usando todos los datos es 19.44.</a:t>
            </a:r>
          </a:p>
          <a:p>
            <a:pPr algn="just">
              <a:lnSpc>
                <a:spcPct val="90000"/>
              </a:lnSpc>
            </a:pPr>
            <a:r>
              <a:rPr lang="es-CO" sz="2200" b="0" dirty="0">
                <a:solidFill>
                  <a:schemeClr val="tx1"/>
                </a:solidFill>
                <a:latin typeface="Noto Sans"/>
                <a:ea typeface="Noto Sans"/>
                <a:cs typeface="Noto Sans"/>
                <a:sym typeface="Noto Sans"/>
              </a:rPr>
              <a:t>Para reproducirla de forma exacta se aplica el cálculo de la desviación estándar usando </a:t>
            </a:r>
            <a:r>
              <a:rPr lang="es-CO" sz="2200" dirty="0">
                <a:solidFill>
                  <a:schemeClr val="tx1"/>
                </a:solidFill>
                <a:latin typeface="Noto Sans"/>
                <a:ea typeface="Noto Sans"/>
                <a:cs typeface="Noto Sans"/>
                <a:sym typeface="Noto Sans"/>
              </a:rPr>
              <a:t>la varianza (s²), </a:t>
            </a:r>
            <a:r>
              <a:rPr lang="es-CO" sz="2200" b="0" dirty="0">
                <a:solidFill>
                  <a:schemeClr val="tx1"/>
                </a:solidFill>
                <a:latin typeface="Noto Sans"/>
                <a:ea typeface="Noto Sans"/>
                <a:cs typeface="Noto Sans"/>
                <a:sym typeface="Noto Sans"/>
              </a:rPr>
              <a:t>debido a que su cálculo depende del uso de sumas:</a:t>
            </a:r>
          </a:p>
        </p:txBody>
      </p:sp>
      <mc:AlternateContent xmlns:mc="http://schemas.openxmlformats.org/markup-compatibility/2006" xmlns:a14="http://schemas.microsoft.com/office/drawing/2010/main">
        <mc:Choice Requires="a14">
          <p:sp>
            <p:nvSpPr>
              <p:cNvPr id="7" name="Equation 4">
                <a:extLst>
                  <a:ext uri="{FF2B5EF4-FFF2-40B4-BE49-F238E27FC236}">
                    <a16:creationId xmlns:a16="http://schemas.microsoft.com/office/drawing/2014/main" id="{81CAE72E-6DDB-1BC4-0798-7E9DA9EC7A3F}"/>
                  </a:ext>
                </a:extLst>
              </p:cNvPr>
              <p:cNvSpPr txBox="1"/>
              <p:nvPr/>
            </p:nvSpPr>
            <p:spPr>
              <a:xfrm>
                <a:off x="548640" y="4466119"/>
                <a:ext cx="5760720" cy="1681772"/>
              </a:xfrm>
              <a:prstGeom prst="rect">
                <a:avLst/>
              </a:prstGeom>
              <a:noFill/>
            </p:spPr>
            <p:txBody>
              <a:bodyPr wrap="square" anchor="ctr">
                <a:noAutofit/>
              </a:bodyPr>
              <a:lstStyle/>
              <a:p>
                <a:pPr algn="ctr">
                  <a:spcAft>
                    <a:spcPts val="2400"/>
                  </a:spcAft>
                </a:pPr>
                <a14:m>
                  <m:oMathPara xmlns:m="http://schemas.openxmlformats.org/officeDocument/2006/math">
                    <m:oMath>
                      <m:r>
                        <a:rPr lang="es-CO" sz="2400" i="1">
                          <a:latin typeface="Cambria Math"/>
                        </a:rPr>
                        <m:t>𝑠</m:t>
                      </m:r>
                      <m:r>
                        <a:rPr lang="es-CO" sz="2400">
                          <a:latin typeface="Cambria Math"/>
                        </a:rPr>
                        <m:t>=</m:t>
                      </m:r>
                      <m:rad>
                        <m:radPr>
                          <m:degHide m:val="on"/>
                          <m:ctrlPr>
                            <a:rPr lang="es-CO" sz="2400" i="1">
                              <a:latin typeface="Cambria Math" panose="02040503050406030204" pitchFamily="18" charset="0"/>
                            </a:rPr>
                          </m:ctrlPr>
                        </m:radPr>
                        <m:deg/>
                        <m:e>
                          <m:sSup>
                            <m:sSupPr>
                              <m:ctrlPr>
                                <a:rPr lang="es-CO" sz="2400" i="1">
                                  <a:latin typeface="Cambria Math"/>
                                </a:rPr>
                              </m:ctrlPr>
                            </m:sSupPr>
                            <m:e>
                              <m:r>
                                <a:rPr lang="es-CO" sz="2400" i="1">
                                  <a:latin typeface="Cambria Math"/>
                                </a:rPr>
                                <m:t>𝑠</m:t>
                              </m:r>
                            </m:e>
                            <m:sup>
                              <m:r>
                                <a:rPr lang="es-CO" sz="2400">
                                  <a:latin typeface="Cambria Math"/>
                                </a:rPr>
                                <m:t>2</m:t>
                              </m:r>
                            </m:sup>
                          </m:sSup>
                        </m:e>
                      </m:rad>
                    </m:oMath>
                  </m:oMathPara>
                </a14:m>
                <a:endParaRPr lang="es-ES" sz="2400" i="1" dirty="0">
                  <a:latin typeface="Cambria Math" panose="02040503050406030204" pitchFamily="18" charset="0"/>
                </a:endParaRPr>
              </a:p>
              <a:p>
                <a:pPr algn="ctr"/>
                <a14:m>
                  <m:oMathPara xmlns:m="http://schemas.openxmlformats.org/officeDocument/2006/math">
                    <m:oMath>
                      <m:sSup>
                        <m:sSupPr>
                          <m:ctrlPr>
                            <a:rPr lang="es-CO" sz="2400" i="1">
                              <a:latin typeface="Cambria Math"/>
                            </a:rPr>
                          </m:ctrlPr>
                        </m:sSupPr>
                        <m:e>
                          <m:r>
                            <a:rPr lang="es-CO" sz="2400" i="1">
                              <a:latin typeface="Cambria Math"/>
                            </a:rPr>
                            <m:t>𝑠</m:t>
                          </m:r>
                        </m:e>
                        <m:sup>
                          <m:r>
                            <a:rPr lang="es-CO" sz="2400" i="0">
                              <a:latin typeface="Cambria Math"/>
                            </a:rPr>
                            <m:t>2</m:t>
                          </m:r>
                        </m:sup>
                      </m:sSup>
                      <m:r>
                        <a:rPr lang="es-CO" sz="2400" i="0">
                          <a:latin typeface="Cambria Math"/>
                        </a:rPr>
                        <m:t>=</m:t>
                      </m:r>
                      <m:f>
                        <m:fPr>
                          <m:ctrlPr>
                            <a:rPr lang="es-CO" sz="2400" i="1">
                              <a:latin typeface="Cambria Math" panose="02040503050406030204" pitchFamily="18" charset="0"/>
                            </a:rPr>
                          </m:ctrlPr>
                        </m:fPr>
                        <m:num>
                          <m:nary>
                            <m:naryPr>
                              <m:chr m:val="∑"/>
                              <m:subHide m:val="on"/>
                              <m:supHide m:val="on"/>
                              <m:ctrlPr>
                                <a:rPr lang="es-CO" sz="2400" i="1">
                                  <a:latin typeface="Cambria Math" panose="02040503050406030204" pitchFamily="18" charset="0"/>
                                </a:rPr>
                              </m:ctrlPr>
                            </m:naryPr>
                            <m:sub/>
                            <m:sup/>
                            <m:e>
                              <m:sSup>
                                <m:sSupPr>
                                  <m:ctrlPr>
                                    <a:rPr lang="es-CO" sz="2400" i="1">
                                      <a:latin typeface="Cambria Math"/>
                                    </a:rPr>
                                  </m:ctrlPr>
                                </m:sSupPr>
                                <m:e>
                                  <m:r>
                                    <a:rPr lang="es-CO" sz="2400" i="1">
                                      <a:latin typeface="Cambria Math"/>
                                    </a:rPr>
                                    <m:t>𝑥</m:t>
                                  </m:r>
                                </m:e>
                                <m:sup>
                                  <m:r>
                                    <a:rPr lang="es-CO" sz="2400" i="0">
                                      <a:latin typeface="Cambria Math"/>
                                    </a:rPr>
                                    <m:t>2</m:t>
                                  </m:r>
                                </m:sup>
                              </m:sSup>
                            </m:e>
                          </m:nary>
                        </m:num>
                        <m:den>
                          <m:r>
                            <a:rPr lang="es-CO" sz="2400" i="1">
                              <a:latin typeface="Cambria Math"/>
                            </a:rPr>
                            <m:t>𝑛</m:t>
                          </m:r>
                          <m:r>
                            <a:rPr lang="es-CO" sz="2400" i="0">
                              <a:latin typeface="Cambria Math"/>
                            </a:rPr>
                            <m:t>−1</m:t>
                          </m:r>
                        </m:den>
                      </m:f>
                      <m:r>
                        <a:rPr lang="es-CO" sz="2400" i="0">
                          <a:latin typeface="Cambria Math"/>
                        </a:rPr>
                        <m:t>−</m:t>
                      </m:r>
                      <m:f>
                        <m:fPr>
                          <m:ctrlPr>
                            <a:rPr lang="es-CO" sz="2400" i="1">
                              <a:latin typeface="Cambria Math" panose="02040503050406030204" pitchFamily="18" charset="0"/>
                            </a:rPr>
                          </m:ctrlPr>
                        </m:fPr>
                        <m:num>
                          <m:sSup>
                            <m:sSupPr>
                              <m:ctrlPr>
                                <a:rPr lang="es-CO" sz="2400" i="1">
                                  <a:latin typeface="Cambria Math" panose="02040503050406030204" pitchFamily="18" charset="0"/>
                                </a:rPr>
                              </m:ctrlPr>
                            </m:sSupPr>
                            <m:e>
                              <m:d>
                                <m:dPr>
                                  <m:ctrlPr>
                                    <a:rPr lang="es-CO" sz="2400" i="1">
                                      <a:latin typeface="Cambria Math" panose="02040503050406030204" pitchFamily="18" charset="0"/>
                                    </a:rPr>
                                  </m:ctrlPr>
                                </m:dPr>
                                <m:e>
                                  <m:nary>
                                    <m:naryPr>
                                      <m:chr m:val="∑"/>
                                      <m:subHide m:val="on"/>
                                      <m:supHide m:val="on"/>
                                      <m:ctrlPr>
                                        <a:rPr lang="es-CO" sz="2400" i="1">
                                          <a:latin typeface="Cambria Math" panose="02040503050406030204" pitchFamily="18" charset="0"/>
                                        </a:rPr>
                                      </m:ctrlPr>
                                    </m:naryPr>
                                    <m:sub/>
                                    <m:sup/>
                                    <m:e>
                                      <m:r>
                                        <a:rPr lang="es-CO" sz="2400" i="1">
                                          <a:latin typeface="Cambria Math"/>
                                        </a:rPr>
                                        <m:t>𝑥</m:t>
                                      </m:r>
                                    </m:e>
                                  </m:nary>
                                </m:e>
                              </m:d>
                            </m:e>
                            <m:sup>
                              <m:r>
                                <a:rPr lang="es-CO" sz="2400" i="0">
                                  <a:latin typeface="Cambria Math"/>
                                </a:rPr>
                                <m:t>2</m:t>
                              </m:r>
                            </m:sup>
                          </m:sSup>
                        </m:num>
                        <m:den>
                          <m:r>
                            <a:rPr lang="es-CO" sz="2400" i="1">
                              <a:latin typeface="Cambria Math"/>
                            </a:rPr>
                            <m:t>𝑛</m:t>
                          </m:r>
                          <m:d>
                            <m:dPr>
                              <m:ctrlPr>
                                <a:rPr lang="es-CO" sz="2400" i="1">
                                  <a:latin typeface="Cambria Math"/>
                                </a:rPr>
                              </m:ctrlPr>
                            </m:dPr>
                            <m:e>
                              <m:r>
                                <a:rPr lang="es-CO" sz="2400" i="1">
                                  <a:latin typeface="Cambria Math"/>
                                </a:rPr>
                                <m:t>𝑛</m:t>
                              </m:r>
                              <m:r>
                                <a:rPr lang="es-CO" sz="2400" i="0">
                                  <a:latin typeface="Cambria Math"/>
                                </a:rPr>
                                <m:t>−1</m:t>
                              </m:r>
                            </m:e>
                          </m:d>
                        </m:den>
                      </m:f>
                    </m:oMath>
                  </m:oMathPara>
                </a14:m>
                <a:endParaRPr dirty="0"/>
              </a:p>
            </p:txBody>
          </p:sp>
        </mc:Choice>
        <mc:Fallback xmlns="">
          <p:sp>
            <p:nvSpPr>
              <p:cNvPr id="7" name="Equation 4">
                <a:extLst>
                  <a:ext uri="{FF2B5EF4-FFF2-40B4-BE49-F238E27FC236}">
                    <a16:creationId xmlns:a16="http://schemas.microsoft.com/office/drawing/2014/main" id="{81CAE72E-6DDB-1BC4-0798-7E9DA9EC7A3F}"/>
                  </a:ext>
                </a:extLst>
              </p:cNvPr>
              <p:cNvSpPr txBox="1">
                <a:spLocks noRot="1" noChangeAspect="1" noMove="1" noResize="1" noEditPoints="1" noAdjustHandles="1" noChangeArrowheads="1" noChangeShapeType="1" noTextEdit="1"/>
              </p:cNvSpPr>
              <p:nvPr/>
            </p:nvSpPr>
            <p:spPr>
              <a:xfrm>
                <a:off x="548640" y="4466119"/>
                <a:ext cx="5760720" cy="1681772"/>
              </a:xfrm>
              <a:prstGeom prst="rect">
                <a:avLst/>
              </a:prstGeom>
              <a:blipFill>
                <a:blip r:embed="rId2"/>
                <a:stretch>
                  <a:fillRect/>
                </a:stretch>
              </a:blipFill>
            </p:spPr>
            <p:txBody>
              <a:bodyPr/>
              <a:lstStyle/>
              <a:p>
                <a:r>
                  <a:rPr lang="es-ES">
                    <a:noFill/>
                  </a:rPr>
                  <a:t> </a:t>
                </a:r>
              </a:p>
            </p:txBody>
          </p:sp>
        </mc:Fallback>
      </mc:AlternateContent>
      <p:sp>
        <p:nvSpPr>
          <p:cNvPr id="20" name="Definitions 20"/>
          <p:cNvSpPr txBox="1"/>
          <p:nvPr/>
        </p:nvSpPr>
        <p:spPr>
          <a:xfrm>
            <a:off x="6492240" y="4224528"/>
            <a:ext cx="5148072" cy="1993392"/>
          </a:xfrm>
          <a:prstGeom prst="rect">
            <a:avLst/>
          </a:prstGeom>
          <a:noFill/>
        </p:spPr>
        <p:txBody>
          <a:bodyPr wrap="square" lIns="45720" tIns="45720" rIns="45720" bIns="45720" anchor="ctr">
            <a:noAutofit/>
          </a:bodyPr>
          <a:lstStyle/>
          <a:p>
            <a:pPr marL="0" indent="0" algn="l">
              <a:lnSpc>
                <a:spcPct val="90000"/>
              </a:lnSpc>
              <a:spcBef>
                <a:spcPts val="0"/>
              </a:spcBef>
              <a:spcAft>
                <a:spcPts val="1000"/>
              </a:spcAft>
              <a:buNone/>
            </a:pPr>
            <a:r>
              <a:rPr lang="es-CO" sz="1800" b="1" dirty="0">
                <a:solidFill>
                  <a:schemeClr val="tx1"/>
                </a:solidFill>
                <a:latin typeface="Noto Sans"/>
                <a:ea typeface="Noto Sans"/>
                <a:cs typeface="Noto Sans"/>
                <a:sym typeface="Noto Sans"/>
              </a:rPr>
              <a:t>n: </a:t>
            </a:r>
            <a:r>
              <a:rPr lang="es-CO" sz="1800" b="0" dirty="0">
                <a:solidFill>
                  <a:schemeClr val="tx1"/>
                </a:solidFill>
                <a:latin typeface="Noto Sans"/>
                <a:ea typeface="Noto Sans"/>
                <a:cs typeface="Noto Sans"/>
                <a:sym typeface="Noto Sans"/>
              </a:rPr>
              <a:t>Total de registros con dato de todas las instituciones (n = Σnᵢ).</a:t>
            </a:r>
          </a:p>
          <a:p>
            <a:pPr marL="0" indent="0" algn="l">
              <a:lnSpc>
                <a:spcPct val="90000"/>
              </a:lnSpc>
              <a:spcBef>
                <a:spcPts val="0"/>
              </a:spcBef>
              <a:spcAft>
                <a:spcPts val="1000"/>
              </a:spcAft>
              <a:buNone/>
            </a:pPr>
            <a:r>
              <a:rPr lang="es-CO" sz="1800" b="1" dirty="0">
                <a:solidFill>
                  <a:schemeClr val="tx1"/>
                </a:solidFill>
                <a:latin typeface="Noto Sans"/>
                <a:ea typeface="Noto Sans"/>
                <a:cs typeface="Noto Sans"/>
                <a:sym typeface="Noto Sans"/>
              </a:rPr>
              <a:t>Σx: </a:t>
            </a:r>
            <a:r>
              <a:rPr lang="es-CO" sz="1800" b="0" dirty="0">
                <a:solidFill>
                  <a:schemeClr val="tx1"/>
                </a:solidFill>
                <a:latin typeface="Noto Sans"/>
                <a:ea typeface="Noto Sans"/>
                <a:cs typeface="Noto Sans"/>
                <a:sym typeface="Noto Sans"/>
              </a:rPr>
              <a:t>Suma de los valores de todas las instituciones.</a:t>
            </a:r>
          </a:p>
          <a:p>
            <a:pPr marL="0" indent="0" algn="l">
              <a:lnSpc>
                <a:spcPct val="90000"/>
              </a:lnSpc>
              <a:spcBef>
                <a:spcPts val="0"/>
              </a:spcBef>
              <a:spcAft>
                <a:spcPts val="0"/>
              </a:spcAft>
              <a:buNone/>
            </a:pPr>
            <a:r>
              <a:rPr lang="es-CO" sz="1800" b="1" dirty="0">
                <a:solidFill>
                  <a:schemeClr val="tx1"/>
                </a:solidFill>
                <a:latin typeface="Noto Sans"/>
                <a:ea typeface="Noto Sans"/>
                <a:cs typeface="Noto Sans"/>
                <a:sym typeface="Noto Sans"/>
              </a:rPr>
              <a:t>Σx²: </a:t>
            </a:r>
            <a:r>
              <a:rPr lang="es-CO" sz="1800" b="0" dirty="0">
                <a:solidFill>
                  <a:schemeClr val="tx1"/>
                </a:solidFill>
                <a:latin typeface="Noto Sans"/>
                <a:ea typeface="Noto Sans"/>
                <a:cs typeface="Noto Sans"/>
                <a:sym typeface="Noto Sans"/>
              </a:rPr>
              <a:t>Suma de los cuadrados de los valores de todas las instituciones.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202F1-8083-E6F7-DC35-C3408C3FBF54}"/>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767C6F22-4B8E-6987-9A1F-08947950EDAF}"/>
              </a:ext>
            </a:extLst>
          </p:cNvPr>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5. Enfoque federado</a:t>
            </a:r>
            <a:endParaRPr lang="es-CO" sz="3600" dirty="0"/>
          </a:p>
        </p:txBody>
      </p:sp>
      <p:sp>
        <p:nvSpPr>
          <p:cNvPr id="3" name="TextBox 3">
            <a:extLst>
              <a:ext uri="{FF2B5EF4-FFF2-40B4-BE49-F238E27FC236}">
                <a16:creationId xmlns:a16="http://schemas.microsoft.com/office/drawing/2014/main" id="{443D4D8C-ED15-819C-34E5-11E8BCA9456D}"/>
              </a:ext>
            </a:extLst>
          </p:cNvPr>
          <p:cNvSpPr txBox="1"/>
          <p:nvPr/>
        </p:nvSpPr>
        <p:spPr>
          <a:xfrm>
            <a:off x="548640" y="1737359"/>
            <a:ext cx="11091672" cy="4420039"/>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1000"/>
              </a:spcAft>
              <a:buNone/>
            </a:pPr>
            <a:r>
              <a:rPr lang="es-CO" sz="2200" dirty="0">
                <a:solidFill>
                  <a:schemeClr val="tx1"/>
                </a:solidFill>
                <a:latin typeface="Noto Sans"/>
                <a:ea typeface="Noto Sans"/>
                <a:cs typeface="Noto Sans"/>
                <a:sym typeface="Noto Sans"/>
              </a:rPr>
              <a:t>Para poder aplicar el cálculo de la varianza, cada institución comparte dos valores adicionales: </a:t>
            </a:r>
          </a:p>
          <a:p>
            <a:pPr marL="342900" indent="-342900">
              <a:lnSpc>
                <a:spcPct val="90000"/>
              </a:lnSpc>
              <a:spcAft>
                <a:spcPts val="1000"/>
              </a:spcAft>
              <a:buClr>
                <a:srgbClr val="0673BA"/>
              </a:buClr>
              <a:buSzPct val="100000"/>
              <a:buFont typeface="Arial"/>
              <a:buChar char="•"/>
            </a:pPr>
            <a:r>
              <a:rPr lang="es-CO" sz="2200" dirty="0">
                <a:solidFill>
                  <a:schemeClr val="tx1"/>
                </a:solidFill>
                <a:latin typeface="Noto Sans"/>
                <a:ea typeface="Noto Sans"/>
                <a:cs typeface="Noto Sans"/>
                <a:sym typeface="Noto Sans"/>
              </a:rPr>
              <a:t>La suma de sus valores, (</a:t>
            </a:r>
            <a:r>
              <a:rPr lang="es-CO" sz="2200" dirty="0" err="1">
                <a:solidFill>
                  <a:schemeClr val="tx1"/>
                </a:solidFill>
                <a:latin typeface="Noto Sans"/>
                <a:ea typeface="Noto Sans"/>
                <a:cs typeface="Noto Sans"/>
                <a:sym typeface="Noto Sans"/>
              </a:rPr>
              <a:t>Σx</a:t>
            </a:r>
            <a:r>
              <a:rPr lang="es-CO" sz="2200" dirty="0">
                <a:solidFill>
                  <a:schemeClr val="tx1"/>
                </a:solidFill>
                <a:latin typeface="Noto Sans"/>
                <a:ea typeface="Noto Sans"/>
                <a:cs typeface="Noto Sans"/>
                <a:sym typeface="Noto Sans"/>
              </a:rPr>
              <a:t>)ᵢ</a:t>
            </a:r>
          </a:p>
          <a:p>
            <a:pPr marL="342900" indent="-342900">
              <a:lnSpc>
                <a:spcPct val="90000"/>
              </a:lnSpc>
              <a:spcAft>
                <a:spcPts val="2400"/>
              </a:spcAft>
              <a:buClr>
                <a:srgbClr val="0673BA"/>
              </a:buClr>
              <a:buSzPct val="100000"/>
              <a:buFont typeface="Arial"/>
              <a:buChar char="•"/>
            </a:pPr>
            <a:r>
              <a:rPr lang="es-CO" sz="2200" dirty="0">
                <a:solidFill>
                  <a:schemeClr val="tx1"/>
                </a:solidFill>
                <a:latin typeface="Noto Sans"/>
                <a:ea typeface="Noto Sans"/>
                <a:cs typeface="Noto Sans"/>
                <a:sym typeface="Noto Sans"/>
              </a:rPr>
              <a:t>La suma de los cuadrados de sus valores, (Σx²)ᵢ</a:t>
            </a:r>
          </a:p>
          <a:p>
            <a:pPr marL="0" indent="0" algn="just">
              <a:lnSpc>
                <a:spcPct val="90000"/>
              </a:lnSpc>
              <a:spcBef>
                <a:spcPts val="0"/>
              </a:spcBef>
              <a:spcAft>
                <a:spcPts val="0"/>
              </a:spcAft>
              <a:buNone/>
            </a:pPr>
            <a:r>
              <a:rPr lang="es-CO" sz="2200" dirty="0">
                <a:solidFill>
                  <a:schemeClr val="tx1"/>
                </a:solidFill>
                <a:latin typeface="Noto Sans"/>
                <a:ea typeface="Noto Sans"/>
                <a:cs typeface="Noto Sans"/>
                <a:sym typeface="Noto Sans"/>
              </a:rPr>
              <a:t>Ambos valores son resúmenes agregados, por lo que se siguen sin compartir registros individuales.</a:t>
            </a:r>
          </a:p>
        </p:txBody>
      </p:sp>
    </p:spTree>
    <p:extLst>
      <p:ext uri="{BB962C8B-B14F-4D97-AF65-F5344CB8AC3E}">
        <p14:creationId xmlns:p14="http://schemas.microsoft.com/office/powerpoint/2010/main" val="36259874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5. Enfoque federado</a:t>
            </a:r>
            <a:endParaRPr lang="es-CO" sz="3600" dirty="0"/>
          </a:p>
        </p:txBody>
      </p:sp>
      <p:sp>
        <p:nvSpPr>
          <p:cNvPr id="3" name="TextBox 3"/>
          <p:cNvSpPr txBox="1"/>
          <p:nvPr/>
        </p:nvSpPr>
        <p:spPr>
          <a:xfrm>
            <a:off x="548640" y="1737360"/>
            <a:ext cx="11091672" cy="91440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0"/>
              </a:spcAft>
              <a:buNone/>
            </a:pPr>
            <a:r>
              <a:rPr lang="es-CO" sz="2200" b="0" dirty="0">
                <a:solidFill>
                  <a:schemeClr val="tx1"/>
                </a:solidFill>
                <a:latin typeface="Noto Sans"/>
                <a:ea typeface="Noto Sans"/>
                <a:cs typeface="Noto Sans"/>
                <a:sym typeface="Noto Sans"/>
              </a:rPr>
              <a:t>El servidor central obtiene los valores totales que usa para la fórmula de la varianza sumando los valores de las k instituciones:</a:t>
            </a:r>
          </a:p>
        </p:txBody>
      </p:sp>
      <mc:AlternateContent xmlns:mc="http://schemas.openxmlformats.org/markup-compatibility/2006" xmlns:a14="http://schemas.microsoft.com/office/drawing/2010/main">
        <mc:Choice Requires="a14">
          <p:sp>
            <p:nvSpPr>
              <p:cNvPr id="30" name="Equation 30"/>
              <p:cNvSpPr txBox="1"/>
              <p:nvPr/>
            </p:nvSpPr>
            <p:spPr>
              <a:xfrm>
                <a:off x="548640" y="2834640"/>
                <a:ext cx="11091672" cy="1280160"/>
              </a:xfrm>
              <a:prstGeom prst="rect">
                <a:avLst/>
              </a:prstGeom>
              <a:noFill/>
            </p:spPr>
            <p:txBody>
              <a:bodyPr wrap="square" anchor="ctr">
                <a:noAutofit/>
              </a:bodyPr>
              <a:lstStyle/>
              <a:p>
                <a:pPr algn="ctr"/>
                <a14:m>
                  <m:oMathPara xmlns:m="http://schemas.openxmlformats.org/officeDocument/2006/math">
                    <m:oMath>
                      <m:nary>
                        <m:naryPr>
                          <m:chr m:val="∑"/>
                          <m:subHide m:val="on"/>
                          <m:supHide m:val="on"/>
                          <m:ctrlPr>
                            <a:rPr lang="es-CO" sz="2400" i="1">
                              <a:latin typeface="Cambria Math" panose="02040503050406030204" pitchFamily="18" charset="0"/>
                            </a:rPr>
                          </m:ctrlPr>
                        </m:naryPr>
                        <m:sub/>
                        <m:sup/>
                        <m:e>
                          <m:r>
                            <a:rPr lang="es-CO" sz="2400" i="1">
                              <a:latin typeface="Cambria Math"/>
                            </a:rPr>
                            <m:t>𝑥</m:t>
                          </m:r>
                        </m:e>
                      </m:nary>
                      <m:r>
                        <a:rPr lang="es-CO" sz="2400" i="0">
                          <a:latin typeface="Cambria Math"/>
                        </a:rPr>
                        <m:t>=</m:t>
                      </m:r>
                      <m:nary>
                        <m:naryPr>
                          <m:chr m:val="∑"/>
                          <m:ctrlPr>
                            <a:rPr lang="es-CO" sz="2400" i="1">
                              <a:latin typeface="Cambria Math"/>
                            </a:rPr>
                          </m:ctrlPr>
                        </m:naryPr>
                        <m:sub>
                          <m:r>
                            <a:rPr lang="es-CO" sz="2400" i="1">
                              <a:latin typeface="Cambria Math"/>
                            </a:rPr>
                            <m:t>𝑖</m:t>
                          </m:r>
                          <m:r>
                            <a:rPr lang="es-CO" sz="2400" i="0">
                              <a:latin typeface="Cambria Math"/>
                            </a:rPr>
                            <m:t>=1</m:t>
                          </m:r>
                        </m:sub>
                        <m:sup>
                          <m:r>
                            <a:rPr lang="es-CO" sz="2400" i="1">
                              <a:latin typeface="Cambria Math"/>
                            </a:rPr>
                            <m:t>𝑘</m:t>
                          </m:r>
                        </m:sup>
                        <m:e>
                          <m:sSub>
                            <m:sSubPr>
                              <m:ctrlPr>
                                <a:rPr lang="es-CO" sz="2400" i="1">
                                  <a:latin typeface="Cambria Math" panose="02040503050406030204" pitchFamily="18" charset="0"/>
                                </a:rPr>
                              </m:ctrlPr>
                            </m:sSubPr>
                            <m:e>
                              <m:d>
                                <m:dPr>
                                  <m:ctrlPr>
                                    <a:rPr lang="es-CO" sz="2400" i="1">
                                      <a:latin typeface="Cambria Math" panose="02040503050406030204" pitchFamily="18" charset="0"/>
                                    </a:rPr>
                                  </m:ctrlPr>
                                </m:dPr>
                                <m:e>
                                  <m:nary>
                                    <m:naryPr>
                                      <m:chr m:val="∑"/>
                                      <m:subHide m:val="on"/>
                                      <m:supHide m:val="on"/>
                                      <m:ctrlPr>
                                        <a:rPr lang="es-CO" sz="2400" i="1">
                                          <a:latin typeface="Cambria Math" panose="02040503050406030204" pitchFamily="18" charset="0"/>
                                        </a:rPr>
                                      </m:ctrlPr>
                                    </m:naryPr>
                                    <m:sub/>
                                    <m:sup/>
                                    <m:e>
                                      <m:r>
                                        <a:rPr lang="es-CO" sz="2400" i="1">
                                          <a:latin typeface="Cambria Math"/>
                                        </a:rPr>
                                        <m:t>𝑥</m:t>
                                      </m:r>
                                    </m:e>
                                  </m:nary>
                                </m:e>
                              </m:d>
                            </m:e>
                            <m:sub>
                              <m:r>
                                <a:rPr lang="es-CO" sz="2400" i="1">
                                  <a:latin typeface="Cambria Math"/>
                                </a:rPr>
                                <m:t>𝑖</m:t>
                              </m:r>
                            </m:sub>
                          </m:sSub>
                        </m:e>
                      </m:nary>
                      <m:r>
                        <a:rPr lang="es-CO" sz="2400" i="0">
                          <a:latin typeface="Cambria Math"/>
                        </a:rPr>
                        <m:t>  </m:t>
                      </m:r>
                      <m:nary>
                        <m:naryPr>
                          <m:chr m:val="∑"/>
                          <m:subHide m:val="on"/>
                          <m:supHide m:val="on"/>
                          <m:ctrlPr>
                            <a:rPr lang="es-CO" sz="2400" i="1">
                              <a:latin typeface="Cambria Math" panose="02040503050406030204" pitchFamily="18" charset="0"/>
                            </a:rPr>
                          </m:ctrlPr>
                        </m:naryPr>
                        <m:sub/>
                        <m:sup/>
                        <m:e>
                          <m:sSup>
                            <m:sSupPr>
                              <m:ctrlPr>
                                <a:rPr lang="es-CO" sz="2400" i="1">
                                  <a:latin typeface="Cambria Math"/>
                                </a:rPr>
                              </m:ctrlPr>
                            </m:sSupPr>
                            <m:e>
                              <m:r>
                                <a:rPr lang="es-CO" sz="2400" i="1">
                                  <a:latin typeface="Cambria Math"/>
                                </a:rPr>
                                <m:t>𝑥</m:t>
                              </m:r>
                            </m:e>
                            <m:sup>
                              <m:r>
                                <a:rPr lang="es-CO" sz="2400" i="0">
                                  <a:latin typeface="Cambria Math"/>
                                </a:rPr>
                                <m:t>2</m:t>
                              </m:r>
                            </m:sup>
                          </m:sSup>
                        </m:e>
                      </m:nary>
                      <m:r>
                        <a:rPr lang="es-CO" sz="2400" i="0">
                          <a:latin typeface="Cambria Math"/>
                        </a:rPr>
                        <m:t>=</m:t>
                      </m:r>
                      <m:nary>
                        <m:naryPr>
                          <m:chr m:val="∑"/>
                          <m:ctrlPr>
                            <a:rPr lang="es-CO" sz="2400" i="1">
                              <a:latin typeface="Cambria Math"/>
                            </a:rPr>
                          </m:ctrlPr>
                        </m:naryPr>
                        <m:sub>
                          <m:r>
                            <a:rPr lang="es-CO" sz="2400" i="1">
                              <a:latin typeface="Cambria Math"/>
                            </a:rPr>
                            <m:t>𝑖</m:t>
                          </m:r>
                          <m:r>
                            <a:rPr lang="es-CO" sz="2400" i="0">
                              <a:latin typeface="Cambria Math"/>
                            </a:rPr>
                            <m:t>=1</m:t>
                          </m:r>
                        </m:sub>
                        <m:sup>
                          <m:r>
                            <a:rPr lang="es-CO" sz="2400" i="1">
                              <a:latin typeface="Cambria Math"/>
                            </a:rPr>
                            <m:t>𝑘</m:t>
                          </m:r>
                        </m:sup>
                        <m:e>
                          <m:sSub>
                            <m:sSubPr>
                              <m:ctrlPr>
                                <a:rPr lang="es-CO" sz="2400" i="1">
                                  <a:latin typeface="Cambria Math" panose="02040503050406030204" pitchFamily="18" charset="0"/>
                                </a:rPr>
                              </m:ctrlPr>
                            </m:sSubPr>
                            <m:e>
                              <m:d>
                                <m:dPr>
                                  <m:ctrlPr>
                                    <a:rPr lang="es-CO" sz="2400" i="1">
                                      <a:latin typeface="Cambria Math" panose="02040503050406030204" pitchFamily="18" charset="0"/>
                                    </a:rPr>
                                  </m:ctrlPr>
                                </m:dPr>
                                <m:e>
                                  <m:nary>
                                    <m:naryPr>
                                      <m:chr m:val="∑"/>
                                      <m:subHide m:val="on"/>
                                      <m:supHide m:val="on"/>
                                      <m:ctrlPr>
                                        <a:rPr lang="es-CO" sz="2400" i="1">
                                          <a:latin typeface="Cambria Math" panose="02040503050406030204" pitchFamily="18" charset="0"/>
                                        </a:rPr>
                                      </m:ctrlPr>
                                    </m:naryPr>
                                    <m:sub/>
                                    <m:sup/>
                                    <m:e>
                                      <m:sSup>
                                        <m:sSupPr>
                                          <m:ctrlPr>
                                            <a:rPr lang="es-CO" sz="2400" i="1">
                                              <a:latin typeface="Cambria Math"/>
                                            </a:rPr>
                                          </m:ctrlPr>
                                        </m:sSupPr>
                                        <m:e>
                                          <m:r>
                                            <a:rPr lang="es-CO" sz="2400" i="1">
                                              <a:latin typeface="Cambria Math"/>
                                            </a:rPr>
                                            <m:t>𝑥</m:t>
                                          </m:r>
                                        </m:e>
                                        <m:sup>
                                          <m:r>
                                            <a:rPr lang="es-CO" sz="2400" i="0">
                                              <a:latin typeface="Cambria Math"/>
                                            </a:rPr>
                                            <m:t>2</m:t>
                                          </m:r>
                                        </m:sup>
                                      </m:sSup>
                                    </m:e>
                                  </m:nary>
                                </m:e>
                              </m:d>
                            </m:e>
                            <m:sub>
                              <m:r>
                                <a:rPr lang="es-CO" sz="2400" i="1">
                                  <a:latin typeface="Cambria Math"/>
                                </a:rPr>
                                <m:t>𝑖</m:t>
                              </m:r>
                            </m:sub>
                          </m:sSub>
                        </m:e>
                      </m:nary>
                      <m:r>
                        <a:rPr lang="es-CO" sz="2400" i="0">
                          <a:latin typeface="Cambria Math"/>
                        </a:rPr>
                        <m:t>  </m:t>
                      </m:r>
                      <m:r>
                        <a:rPr lang="es-CO" sz="2400" i="1">
                          <a:latin typeface="Cambria Math"/>
                        </a:rPr>
                        <m:t>𝑛</m:t>
                      </m:r>
                      <m:r>
                        <a:rPr lang="es-CO" sz="2400" i="0">
                          <a:latin typeface="Cambria Math"/>
                        </a:rPr>
                        <m:t>=</m:t>
                      </m:r>
                      <m:nary>
                        <m:naryPr>
                          <m:chr m:val="∑"/>
                          <m:ctrlPr>
                            <a:rPr lang="es-CO" sz="2400" i="1">
                              <a:latin typeface="Cambria Math"/>
                            </a:rPr>
                          </m:ctrlPr>
                        </m:naryPr>
                        <m:sub>
                          <m:r>
                            <a:rPr lang="es-CO" sz="2400" i="1">
                              <a:latin typeface="Cambria Math"/>
                            </a:rPr>
                            <m:t>𝑖</m:t>
                          </m:r>
                          <m:r>
                            <a:rPr lang="es-CO" sz="2400" i="0">
                              <a:latin typeface="Cambria Math"/>
                            </a:rPr>
                            <m:t>=1</m:t>
                          </m:r>
                        </m:sub>
                        <m:sup>
                          <m:r>
                            <a:rPr lang="es-CO" sz="2400" i="1">
                              <a:latin typeface="Cambria Math"/>
                            </a:rPr>
                            <m:t>𝑘</m:t>
                          </m:r>
                        </m:sup>
                        <m:e>
                          <m:sSub>
                            <m:sSubPr>
                              <m:ctrlPr>
                                <a:rPr lang="es-CO" sz="2400" i="1">
                                  <a:latin typeface="Cambria Math"/>
                                </a:rPr>
                              </m:ctrlPr>
                            </m:sSubPr>
                            <m:e>
                              <m:r>
                                <a:rPr lang="es-CO" sz="2400" i="1">
                                  <a:latin typeface="Cambria Math"/>
                                </a:rPr>
                                <m:t>𝑛</m:t>
                              </m:r>
                            </m:e>
                            <m:sub>
                              <m:r>
                                <a:rPr lang="es-CO" sz="2400" i="1">
                                  <a:latin typeface="Cambria Math"/>
                                </a:rPr>
                                <m:t>𝑖</m:t>
                              </m:r>
                            </m:sub>
                          </m:sSub>
                        </m:e>
                      </m:nary>
                    </m:oMath>
                  </m:oMathPara>
                </a14:m>
                <a:endParaRPr/>
              </a:p>
            </p:txBody>
          </p:sp>
        </mc:Choice>
        <mc:Fallback xmlns="">
          <p:sp>
            <p:nvSpPr>
              <p:cNvPr id="30" name="Equation 30"/>
              <p:cNvSpPr txBox="1"/>
              <p:nvPr/>
            </p:nvSpPr>
            <p:spPr>
              <a:xfrm>
                <a:off x="548640" y="2834640"/>
                <a:ext cx="11091672" cy="1280160"/>
              </a:xfrm>
              <a:prstGeom prst="rect">
                <a:avLst/>
              </a:prstGeom>
              <a:noFill/>
            </p:spPr>
            <p:txBody>
              <a:bodyPr wrap="square" anchor="ctr">
                <a:noAutofit/>
              </a:bodyPr>
              <a:lstStyle/>
              <a:p>
                <a:pPr algn="ctr"/>
                <a:r>
                  <a:rPr lang="es-CO" sz="2400" b="0" dirty="0">
                    <a:solidFill>
                      <a:schemeClr val="tx1"/>
                    </a:solidFill>
                    <a:latin typeface="Noto Sans"/>
                    <a:ea typeface="Noto Sans"/>
                    <a:cs typeface="Noto Sans"/>
                    <a:sym typeface="Noto Sans"/>
                  </a:rPr>
                  <a:t>Σx = Σ (Σx)ᵢ    Σx² = Σ (Σx²)ᵢ    n = Σ nᵢ</a:t>
                </a:r>
              </a:p>
            </p:txBody>
          </p:sp>
        </mc:Fallback>
      </mc:AlternateContent>
      <p:sp>
        <p:nvSpPr>
          <p:cNvPr id="31" name="TextBox 31"/>
          <p:cNvSpPr txBox="1"/>
          <p:nvPr/>
        </p:nvSpPr>
        <p:spPr>
          <a:xfrm>
            <a:off x="548640" y="4343400"/>
            <a:ext cx="11091672" cy="109728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0"/>
              </a:spcAft>
              <a:buNone/>
            </a:pPr>
            <a:r>
              <a:rPr lang="es-CO" sz="2200" b="0" dirty="0">
                <a:solidFill>
                  <a:schemeClr val="tx1"/>
                </a:solidFill>
                <a:latin typeface="Noto Sans"/>
                <a:ea typeface="Noto Sans"/>
                <a:cs typeface="Noto Sans"/>
                <a:sym typeface="Noto Sans"/>
              </a:rPr>
              <a:t>Como las sumas se pueden sumar entre instituciones sin perder información, el resultado es exactamente el mismo del enfoque centralizado.</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5. Enfoque federado</a:t>
            </a:r>
            <a:endParaRPr lang="es-CO" sz="3600" dirty="0"/>
          </a:p>
        </p:txBody>
      </p:sp>
      <p:sp>
        <p:nvSpPr>
          <p:cNvPr id="3" name="TextBox 3"/>
          <p:cNvSpPr txBox="1"/>
          <p:nvPr/>
        </p:nvSpPr>
        <p:spPr>
          <a:xfrm>
            <a:off x="548640" y="1737360"/>
            <a:ext cx="11091672" cy="3291840"/>
          </a:xfrm>
          <a:prstGeom prst="rect">
            <a:avLst/>
          </a:prstGeom>
          <a:noFill/>
          <a:ln>
            <a:noFill/>
          </a:ln>
        </p:spPr>
        <p:txBody>
          <a:bodyPr wrap="square" lIns="45720" tIns="45720" rIns="45720" bIns="45720" rtlCol="0" anchor="t">
            <a:noAutofit/>
          </a:bodyPr>
          <a:lstStyle/>
          <a:p>
            <a:pPr algn="just">
              <a:lnSpc>
                <a:spcPct val="90000"/>
              </a:lnSpc>
              <a:spcAft>
                <a:spcPts val="2400"/>
              </a:spcAft>
            </a:pPr>
            <a:r>
              <a:rPr lang="es-CO" sz="2200" dirty="0">
                <a:solidFill>
                  <a:schemeClr val="tx1"/>
                </a:solidFill>
                <a:latin typeface="Noto Sans"/>
                <a:ea typeface="Noto Sans"/>
                <a:cs typeface="Noto Sans"/>
                <a:sym typeface="Noto Sans"/>
              </a:rPr>
              <a:t>La mediana, Q1 y Q3 no se pueden reconstruir de forma exacta a partir de los resúmenes de cada institución, porque dependen de la posición de cada valor cuando se ordenan todos los datos, no de cantidades que se puedan sumar.</a:t>
            </a:r>
          </a:p>
          <a:p>
            <a:pPr algn="just">
              <a:lnSpc>
                <a:spcPct val="90000"/>
              </a:lnSpc>
              <a:spcAft>
                <a:spcPts val="2400"/>
              </a:spcAft>
            </a:pPr>
            <a:r>
              <a:rPr lang="es-CO" sz="2200" dirty="0">
                <a:solidFill>
                  <a:schemeClr val="tx1"/>
                </a:solidFill>
                <a:latin typeface="Noto Sans"/>
                <a:ea typeface="Noto Sans"/>
                <a:cs typeface="Noto Sans"/>
                <a:sym typeface="Noto Sans"/>
              </a:rPr>
              <a:t>Por eso se aproximan con el mismo promedio ponderado. El resultado es cercano al centralizado, pero no necesariamente igual.</a:t>
            </a:r>
          </a:p>
          <a:p>
            <a:pPr algn="just">
              <a:lnSpc>
                <a:spcPct val="90000"/>
              </a:lnSpc>
              <a:spcAft>
                <a:spcPts val="0"/>
              </a:spcAft>
            </a:pPr>
            <a:r>
              <a:rPr lang="es-CO" sz="2200" dirty="0">
                <a:solidFill>
                  <a:schemeClr val="tx1"/>
                </a:solidFill>
                <a:latin typeface="Noto Sans"/>
                <a:ea typeface="Noto Sans"/>
                <a:cs typeface="Noto Sans"/>
                <a:sym typeface="Noto Sans"/>
              </a:rPr>
              <a:t>Hay que recordar que estas medidas solo aplican a variables de tipo continuo y en este caso solo hay una y corresponde a la edad.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5. Enfoque federado</a:t>
            </a:r>
            <a:endParaRPr lang="es-CO" sz="3600" dirty="0"/>
          </a:p>
        </p:txBody>
      </p:sp>
      <p:pic>
        <p:nvPicPr>
          <p:cNvPr id="4" name="Imagen 3">
            <a:extLst>
              <a:ext uri="{FF2B5EF4-FFF2-40B4-BE49-F238E27FC236}">
                <a16:creationId xmlns:a16="http://schemas.microsoft.com/office/drawing/2014/main" id="{DBCAEC7F-A3D0-91C3-F3CB-D513842A9D42}"/>
              </a:ext>
            </a:extLst>
          </p:cNvPr>
          <p:cNvPicPr>
            <a:picLocks noChangeAspect="1"/>
          </p:cNvPicPr>
          <p:nvPr/>
        </p:nvPicPr>
        <p:blipFill>
          <a:blip r:embed="rId2"/>
          <a:stretch>
            <a:fillRect/>
          </a:stretch>
        </p:blipFill>
        <p:spPr>
          <a:xfrm>
            <a:off x="548640" y="1673352"/>
            <a:ext cx="6812845" cy="4519559"/>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6. Comparación</a:t>
            </a:r>
            <a:endParaRPr lang="es-CO" sz="3600" dirty="0"/>
          </a:p>
        </p:txBody>
      </p:sp>
      <p:sp>
        <p:nvSpPr>
          <p:cNvPr id="3" name="TextBox 3"/>
          <p:cNvSpPr txBox="1"/>
          <p:nvPr/>
        </p:nvSpPr>
        <p:spPr>
          <a:xfrm>
            <a:off x="548640" y="1737360"/>
            <a:ext cx="11091672" cy="448056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2400"/>
              </a:spcAft>
              <a:buNone/>
            </a:pPr>
            <a:r>
              <a:rPr lang="es-CO" sz="2200" b="0" dirty="0">
                <a:solidFill>
                  <a:schemeClr val="tx1"/>
                </a:solidFill>
                <a:latin typeface="Noto Sans"/>
                <a:ea typeface="Noto Sans"/>
                <a:cs typeface="Noto Sans"/>
                <a:sym typeface="Noto Sans"/>
              </a:rPr>
              <a:t>El objetivo de esta sección es comparar los resultados de los enfoques centralizado y federado para comprobar si coinciden.</a:t>
            </a:r>
          </a:p>
          <a:p>
            <a:pPr marL="0" indent="0" algn="just">
              <a:lnSpc>
                <a:spcPct val="90000"/>
              </a:lnSpc>
              <a:spcBef>
                <a:spcPts val="0"/>
              </a:spcBef>
              <a:spcAft>
                <a:spcPts val="1000"/>
              </a:spcAft>
              <a:buNone/>
            </a:pPr>
            <a:r>
              <a:rPr lang="es-CO" sz="2200" b="0" dirty="0">
                <a:solidFill>
                  <a:schemeClr val="tx1"/>
                </a:solidFill>
                <a:latin typeface="Noto Sans"/>
                <a:ea typeface="Noto Sans"/>
                <a:cs typeface="Noto Sans"/>
                <a:sym typeface="Noto Sans"/>
              </a:rPr>
              <a:t>Para esto, el código de la celda presenta, para cada variable, una tabla que compara los resultados medida a medida:</a:t>
            </a:r>
          </a:p>
          <a:p>
            <a:pPr marL="342900" indent="-342900" algn="l">
              <a:lnSpc>
                <a:spcPct val="90000"/>
              </a:lnSpc>
              <a:spcBef>
                <a:spcPts val="0"/>
              </a:spcBef>
              <a:spcAft>
                <a:spcPts val="1000"/>
              </a:spcAft>
              <a:buClr>
                <a:srgbClr val="0673BA"/>
              </a:buClr>
              <a:buSzPct val="100000"/>
              <a:buFont typeface="Arial"/>
              <a:buChar char="•"/>
            </a:pPr>
            <a:r>
              <a:rPr lang="es-CO" sz="2000" b="0" dirty="0">
                <a:solidFill>
                  <a:schemeClr val="tx1"/>
                </a:solidFill>
                <a:latin typeface="Noto Sans"/>
                <a:ea typeface="Noto Sans"/>
                <a:cs typeface="Noto Sans"/>
                <a:sym typeface="Noto Sans"/>
              </a:rPr>
              <a:t>Recorre cada variable e identifica si es numérica, para saber qué medidas mostrar.</a:t>
            </a:r>
          </a:p>
          <a:p>
            <a:pPr marL="342900" indent="-342900" algn="l">
              <a:lnSpc>
                <a:spcPct val="90000"/>
              </a:lnSpc>
              <a:spcBef>
                <a:spcPts val="0"/>
              </a:spcBef>
              <a:spcAft>
                <a:spcPts val="1000"/>
              </a:spcAft>
              <a:buClr>
                <a:srgbClr val="0673BA"/>
              </a:buClr>
              <a:buSzPct val="100000"/>
              <a:buFont typeface="Arial"/>
              <a:buChar char="•"/>
            </a:pPr>
            <a:r>
              <a:rPr lang="es-CO" sz="2000" b="0" dirty="0">
                <a:solidFill>
                  <a:schemeClr val="tx1"/>
                </a:solidFill>
                <a:latin typeface="Noto Sans"/>
                <a:ea typeface="Noto Sans"/>
                <a:cs typeface="Noto Sans"/>
                <a:sym typeface="Noto Sans"/>
              </a:rPr>
              <a:t>Quita la suma y la suma de los cuadrados de los resultados centralizados y por institución, porque no son medidas a comparar y solo se usaron para calcular la desviación estándar en el enfoque federado.</a:t>
            </a:r>
          </a:p>
          <a:p>
            <a:pPr marL="342900" indent="-342900" algn="l">
              <a:lnSpc>
                <a:spcPct val="90000"/>
              </a:lnSpc>
              <a:spcBef>
                <a:spcPts val="0"/>
              </a:spcBef>
              <a:spcAft>
                <a:spcPts val="1000"/>
              </a:spcAft>
              <a:buClr>
                <a:srgbClr val="0673BA"/>
              </a:buClr>
              <a:buSzPct val="100000"/>
              <a:buFont typeface="Arial"/>
              <a:buChar char="•"/>
            </a:pPr>
            <a:r>
              <a:rPr lang="es-CO" sz="2000" b="0" dirty="0">
                <a:solidFill>
                  <a:schemeClr val="tx1"/>
                </a:solidFill>
                <a:latin typeface="Noto Sans"/>
                <a:ea typeface="Noto Sans"/>
                <a:cs typeface="Noto Sans"/>
                <a:sym typeface="Noto Sans"/>
              </a:rPr>
              <a:t>Une en una sola tabla los resultados centralizados, federados y de cada institución.</a:t>
            </a:r>
          </a:p>
          <a:p>
            <a:pPr marL="342900" indent="-342900" algn="l">
              <a:lnSpc>
                <a:spcPct val="90000"/>
              </a:lnSpc>
              <a:spcBef>
                <a:spcPts val="0"/>
              </a:spcBef>
              <a:spcAft>
                <a:spcPts val="0"/>
              </a:spcAft>
              <a:buClr>
                <a:srgbClr val="0673BA"/>
              </a:buClr>
              <a:buSzPct val="100000"/>
              <a:buFont typeface="Arial"/>
              <a:buChar char="•"/>
            </a:pPr>
            <a:r>
              <a:rPr lang="es-CO" sz="2000" b="0" dirty="0">
                <a:solidFill>
                  <a:schemeClr val="tx1"/>
                </a:solidFill>
                <a:latin typeface="Noto Sans"/>
                <a:ea typeface="Noto Sans"/>
                <a:cs typeface="Noto Sans"/>
                <a:sym typeface="Noto Sans"/>
              </a:rPr>
              <a:t>Da formato a la tabla para presentarla. Por ejemplo, la media va junto a su desviación estándar y cada conteo junto a su porcentaje.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6. Comparación</a:t>
            </a:r>
            <a:endParaRPr lang="es-CO" sz="3600" dirty="0"/>
          </a:p>
        </p:txBody>
      </p:sp>
      <p:sp>
        <p:nvSpPr>
          <p:cNvPr id="3" name="TextBox 3"/>
          <p:cNvSpPr txBox="1"/>
          <p:nvPr/>
        </p:nvSpPr>
        <p:spPr>
          <a:xfrm>
            <a:off x="548640" y="5120640"/>
            <a:ext cx="11091672" cy="1097280"/>
          </a:xfrm>
          <a:prstGeom prst="rect">
            <a:avLst/>
          </a:prstGeom>
          <a:noFill/>
          <a:ln>
            <a:noFill/>
          </a:ln>
        </p:spPr>
        <p:txBody>
          <a:bodyPr wrap="square" lIns="45720" tIns="45720" rIns="45720" bIns="45720" rtlCol="0" anchor="t">
            <a:noAutofit/>
          </a:bodyPr>
          <a:lstStyle/>
          <a:p>
            <a:pPr marL="0" indent="0" algn="just">
              <a:lnSpc>
                <a:spcPct val="90000"/>
              </a:lnSpc>
              <a:spcBef>
                <a:spcPts val="0"/>
              </a:spcBef>
              <a:spcAft>
                <a:spcPts val="0"/>
              </a:spcAft>
              <a:buNone/>
            </a:pPr>
            <a:r>
              <a:rPr lang="es-CO" sz="2200" b="1" dirty="0">
                <a:solidFill>
                  <a:schemeClr val="tx1"/>
                </a:solidFill>
                <a:latin typeface="Noto Sans"/>
                <a:ea typeface="Noto Sans"/>
                <a:cs typeface="Noto Sans"/>
                <a:sym typeface="Noto Sans"/>
              </a:rPr>
              <a:t>Nota: </a:t>
            </a:r>
            <a:r>
              <a:rPr lang="es-CO" sz="2200" b="0" dirty="0">
                <a:solidFill>
                  <a:schemeClr val="tx1"/>
                </a:solidFill>
                <a:latin typeface="Noto Sans"/>
                <a:ea typeface="Noto Sans"/>
                <a:cs typeface="Noto Sans"/>
                <a:sym typeface="Noto Sans"/>
              </a:rPr>
              <a:t>Solo la mediana, Q1 y Q3 difieren entre ambos enfoques (por ejemplo, la mediana es 25.0 en el centralizado y 25.42 en el federado). Las demás medidas coinciden exactamente.</a:t>
            </a:r>
          </a:p>
        </p:txBody>
      </p:sp>
      <p:pic>
        <p:nvPicPr>
          <p:cNvPr id="5" name="Imagen 4">
            <a:extLst>
              <a:ext uri="{FF2B5EF4-FFF2-40B4-BE49-F238E27FC236}">
                <a16:creationId xmlns:a16="http://schemas.microsoft.com/office/drawing/2014/main" id="{6A2D985F-5D35-B9FB-71C5-392870ECAC1A}"/>
              </a:ext>
            </a:extLst>
          </p:cNvPr>
          <p:cNvPicPr>
            <a:picLocks noChangeAspect="1"/>
          </p:cNvPicPr>
          <p:nvPr/>
        </p:nvPicPr>
        <p:blipFill>
          <a:blip r:embed="rId2"/>
          <a:srcRect b="36798"/>
          <a:stretch>
            <a:fillRect/>
          </a:stretch>
        </p:blipFill>
        <p:spPr>
          <a:xfrm>
            <a:off x="1688743" y="1673352"/>
            <a:ext cx="8811466" cy="3220987"/>
          </a:xfrm>
          <a:prstGeom prst="rect">
            <a:avLst/>
          </a:prstGeom>
        </p:spPr>
      </p:pic>
      <p:sp>
        <p:nvSpPr>
          <p:cNvPr id="6" name="Rectángulo: esquinas redondeadas 5">
            <a:extLst>
              <a:ext uri="{FF2B5EF4-FFF2-40B4-BE49-F238E27FC236}">
                <a16:creationId xmlns:a16="http://schemas.microsoft.com/office/drawing/2014/main" id="{64A6DEB1-7732-6FEE-C23E-D9508F982B14}"/>
              </a:ext>
            </a:extLst>
          </p:cNvPr>
          <p:cNvSpPr/>
          <p:nvPr/>
        </p:nvSpPr>
        <p:spPr>
          <a:xfrm>
            <a:off x="1920898" y="2493221"/>
            <a:ext cx="3354993" cy="624950"/>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6. Comparación</a:t>
            </a:r>
            <a:endParaRPr lang="es-CO" sz="3600" dirty="0"/>
          </a:p>
        </p:txBody>
      </p:sp>
      <p:pic>
        <p:nvPicPr>
          <p:cNvPr id="4" name="Imagen 3">
            <a:extLst>
              <a:ext uri="{FF2B5EF4-FFF2-40B4-BE49-F238E27FC236}">
                <a16:creationId xmlns:a16="http://schemas.microsoft.com/office/drawing/2014/main" id="{60A88B05-4252-FC98-54FA-5ACFA3CBA492}"/>
              </a:ext>
            </a:extLst>
          </p:cNvPr>
          <p:cNvPicPr>
            <a:picLocks noChangeAspect="1"/>
          </p:cNvPicPr>
          <p:nvPr/>
        </p:nvPicPr>
        <p:blipFill>
          <a:blip r:embed="rId2"/>
          <a:stretch>
            <a:fillRect/>
          </a:stretch>
        </p:blipFill>
        <p:spPr>
          <a:xfrm>
            <a:off x="1914983" y="1838634"/>
            <a:ext cx="8358985" cy="1786108"/>
          </a:xfrm>
          <a:prstGeom prst="rect">
            <a:avLst/>
          </a:prstGeom>
        </p:spPr>
      </p:pic>
      <p:pic>
        <p:nvPicPr>
          <p:cNvPr id="6" name="Imagen 5">
            <a:extLst>
              <a:ext uri="{FF2B5EF4-FFF2-40B4-BE49-F238E27FC236}">
                <a16:creationId xmlns:a16="http://schemas.microsoft.com/office/drawing/2014/main" id="{CCB165E9-D962-58FF-0AF6-79D8CEF9440B}"/>
              </a:ext>
            </a:extLst>
          </p:cNvPr>
          <p:cNvPicPr>
            <a:picLocks noChangeAspect="1"/>
          </p:cNvPicPr>
          <p:nvPr/>
        </p:nvPicPr>
        <p:blipFill>
          <a:blip r:embed="rId3"/>
          <a:stretch>
            <a:fillRect/>
          </a:stretch>
        </p:blipFill>
        <p:spPr>
          <a:xfrm>
            <a:off x="1914982" y="4121234"/>
            <a:ext cx="8358984" cy="1879341"/>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7. Conclusiones</a:t>
            </a:r>
            <a:endParaRPr lang="es-CO" sz="3600" dirty="0"/>
          </a:p>
        </p:txBody>
      </p:sp>
      <p:sp>
        <p:nvSpPr>
          <p:cNvPr id="3" name="TextBox 3"/>
          <p:cNvSpPr txBox="1"/>
          <p:nvPr/>
        </p:nvSpPr>
        <p:spPr>
          <a:xfrm>
            <a:off x="548640" y="1737360"/>
            <a:ext cx="11091672" cy="4480560"/>
          </a:xfrm>
          <a:prstGeom prst="rect">
            <a:avLst/>
          </a:prstGeom>
          <a:noFill/>
          <a:ln>
            <a:noFill/>
          </a:ln>
        </p:spPr>
        <p:txBody>
          <a:bodyPr wrap="square" lIns="45720" tIns="45720" rIns="45720" bIns="45720" rtlCol="0" anchor="t">
            <a:noAutofit/>
          </a:bodyPr>
          <a:lstStyle/>
          <a:p>
            <a:pPr marL="342900" indent="-342900" algn="l">
              <a:lnSpc>
                <a:spcPct val="90000"/>
              </a:lnSpc>
              <a:spcBef>
                <a:spcPts val="0"/>
              </a:spcBef>
              <a:spcAft>
                <a:spcPts val="1000"/>
              </a:spcAft>
              <a:buClr>
                <a:srgbClr val="0673BA"/>
              </a:buClr>
              <a:buSzPct val="100000"/>
              <a:buFont typeface="Arial"/>
              <a:buChar char="•"/>
            </a:pPr>
            <a:r>
              <a:rPr lang="es-CO" sz="2200" b="0" dirty="0">
                <a:solidFill>
                  <a:schemeClr val="tx1"/>
                </a:solidFill>
                <a:latin typeface="Noto Sans"/>
                <a:ea typeface="Noto Sans"/>
                <a:cs typeface="Noto Sans"/>
                <a:sym typeface="Noto Sans"/>
              </a:rPr>
              <a:t>Las instituciones nunca comparten registros individuales, solo sus resultados ya agregados.</a:t>
            </a:r>
          </a:p>
          <a:p>
            <a:pPr marL="342900" indent="-342900" algn="l">
              <a:lnSpc>
                <a:spcPct val="90000"/>
              </a:lnSpc>
              <a:spcBef>
                <a:spcPts val="0"/>
              </a:spcBef>
              <a:spcAft>
                <a:spcPts val="1000"/>
              </a:spcAft>
              <a:buClr>
                <a:srgbClr val="0673BA"/>
              </a:buClr>
              <a:buSzPct val="100000"/>
              <a:buFont typeface="Arial"/>
              <a:buChar char="•"/>
            </a:pPr>
            <a:r>
              <a:rPr lang="es-CO" sz="2200" b="0" dirty="0">
                <a:solidFill>
                  <a:schemeClr val="tx1"/>
                </a:solidFill>
                <a:latin typeface="Noto Sans"/>
                <a:ea typeface="Noto Sans"/>
                <a:cs typeface="Noto Sans"/>
                <a:sym typeface="Noto Sans"/>
              </a:rPr>
              <a:t>En las variables categóricas, el enfoque federado reproduce exactamente los resultados centralizados, porque solo requiere sumar conteos entre instituciones.</a:t>
            </a:r>
          </a:p>
          <a:p>
            <a:pPr marL="342900" indent="-342900" algn="l">
              <a:lnSpc>
                <a:spcPct val="90000"/>
              </a:lnSpc>
              <a:spcBef>
                <a:spcPts val="0"/>
              </a:spcBef>
              <a:spcAft>
                <a:spcPts val="0"/>
              </a:spcAft>
              <a:buClr>
                <a:srgbClr val="0673BA"/>
              </a:buClr>
              <a:buSzPct val="100000"/>
              <a:buFont typeface="Arial"/>
              <a:buChar char="•"/>
            </a:pPr>
            <a:r>
              <a:rPr lang="es-CO" sz="2200" b="0" dirty="0">
                <a:solidFill>
                  <a:schemeClr val="tx1"/>
                </a:solidFill>
                <a:latin typeface="Noto Sans"/>
                <a:ea typeface="Noto Sans"/>
                <a:cs typeface="Noto Sans"/>
                <a:sym typeface="Noto Sans"/>
              </a:rPr>
              <a:t>En las variables continuas, la mayoría de las medidas también son exactas, porque se derivan de sumas y conteos que se pueden combinar sin los datos individuales. La excepción son la mediana y los cuartiles porque dependen del orden de los valores.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7. Conclusiones</a:t>
            </a:r>
            <a:endParaRPr lang="es-CO" sz="3600" dirty="0"/>
          </a:p>
        </p:txBody>
      </p:sp>
      <p:sp>
        <p:nvSpPr>
          <p:cNvPr id="3" name="TextBox 3"/>
          <p:cNvSpPr txBox="1"/>
          <p:nvPr/>
        </p:nvSpPr>
        <p:spPr>
          <a:xfrm>
            <a:off x="548640" y="1737360"/>
            <a:ext cx="11091672" cy="4480560"/>
          </a:xfrm>
          <a:prstGeom prst="rect">
            <a:avLst/>
          </a:prstGeom>
          <a:noFill/>
          <a:ln>
            <a:noFill/>
          </a:ln>
        </p:spPr>
        <p:txBody>
          <a:bodyPr wrap="square" lIns="45720" tIns="45720" rIns="45720" bIns="45720" rtlCol="0" anchor="t">
            <a:noAutofit/>
          </a:bodyPr>
          <a:lstStyle/>
          <a:p>
            <a:pPr marL="342900" indent="-342900" algn="l">
              <a:lnSpc>
                <a:spcPct val="90000"/>
              </a:lnSpc>
              <a:spcBef>
                <a:spcPts val="0"/>
              </a:spcBef>
              <a:spcAft>
                <a:spcPts val="1000"/>
              </a:spcAft>
              <a:buClr>
                <a:srgbClr val="0673BA"/>
              </a:buClr>
              <a:buSzPct val="100000"/>
              <a:buFont typeface="Arial"/>
              <a:buChar char="•"/>
            </a:pPr>
            <a:r>
              <a:rPr lang="es-CO" sz="2200" b="0" dirty="0">
                <a:solidFill>
                  <a:schemeClr val="tx1"/>
                </a:solidFill>
                <a:latin typeface="Noto Sans"/>
                <a:ea typeface="Noto Sans"/>
                <a:cs typeface="Noto Sans"/>
                <a:sym typeface="Noto Sans"/>
              </a:rPr>
              <a:t>Como la combinación se pondera por el número de registros con dato, las instituciones con más datos influyen más en el resultado (por ejemplo, H2 con 5,543 registros frente a H4 con 294).</a:t>
            </a:r>
          </a:p>
          <a:p>
            <a:pPr marL="342900" indent="-342900" algn="l">
              <a:lnSpc>
                <a:spcPct val="90000"/>
              </a:lnSpc>
              <a:spcBef>
                <a:spcPts val="0"/>
              </a:spcBef>
              <a:spcAft>
                <a:spcPts val="0"/>
              </a:spcAft>
              <a:buClr>
                <a:srgbClr val="0673BA"/>
              </a:buClr>
              <a:buSzPct val="100000"/>
              <a:buFont typeface="Arial"/>
              <a:buChar char="•"/>
            </a:pPr>
            <a:r>
              <a:rPr lang="es-CO" sz="2200" b="0" dirty="0">
                <a:solidFill>
                  <a:schemeClr val="tx1"/>
                </a:solidFill>
                <a:latin typeface="Noto Sans"/>
                <a:ea typeface="Noto Sans"/>
                <a:cs typeface="Noto Sans"/>
                <a:sym typeface="Noto Sans"/>
              </a:rPr>
              <a:t>La diferencia en la mediana y los cuartiles fue pequeña en esta base de datos, pero depende de qué tan distintas sean las distribuciones entre instituciones. Cuanto más heterogéneas, mayor será el error esperado de la aproximación.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548640" y="987552"/>
            <a:ext cx="11091672" cy="685800"/>
          </a:xfrm>
        </p:spPr>
        <p:txBody>
          <a:bodyPr anchor="ctr">
            <a:noAutofit/>
          </a:bodyPr>
          <a:lstStyle/>
          <a:p>
            <a:pPr marL="0" indent="0" algn="l">
              <a:lnSpc>
                <a:spcPct val="90000"/>
              </a:lnSpc>
              <a:spcBef>
                <a:spcPts val="0"/>
              </a:spcBef>
              <a:spcAft>
                <a:spcPts val="0"/>
              </a:spcAft>
              <a:buNone/>
            </a:pPr>
            <a:r>
              <a:rPr lang="es-CO" sz="3600" b="0" dirty="0">
                <a:solidFill>
                  <a:srgbClr val="0E2841"/>
                </a:solidFill>
                <a:latin typeface="Noto Sans SemiBold"/>
                <a:ea typeface="Noto Sans SemiBold"/>
                <a:cs typeface="Noto Sans SemiBold"/>
                <a:sym typeface="Noto Sans SemiBold"/>
              </a:rPr>
              <a:t>Referencias</a:t>
            </a:r>
            <a:endParaRPr lang="es-CO" sz="3600" dirty="0"/>
          </a:p>
        </p:txBody>
      </p:sp>
      <p:sp>
        <p:nvSpPr>
          <p:cNvPr id="3" name="TextBox 3"/>
          <p:cNvSpPr txBox="1"/>
          <p:nvPr/>
        </p:nvSpPr>
        <p:spPr>
          <a:xfrm>
            <a:off x="548640" y="1737360"/>
            <a:ext cx="11091672" cy="4389120"/>
          </a:xfrm>
          <a:prstGeom prst="rect">
            <a:avLst/>
          </a:prstGeom>
          <a:noFill/>
          <a:ln>
            <a:noFill/>
          </a:ln>
        </p:spPr>
        <p:txBody>
          <a:bodyPr wrap="square" lIns="45720" tIns="45720" rIns="45720" bIns="45720" rtlCol="0" anchor="t">
            <a:noAutofit/>
          </a:bodyPr>
          <a:lstStyle/>
          <a:p>
            <a:pPr marL="0" indent="0" algn="l">
              <a:lnSpc>
                <a:spcPct val="90000"/>
              </a:lnSpc>
              <a:spcBef>
                <a:spcPts val="0"/>
              </a:spcBef>
              <a:spcAft>
                <a:spcPts val="1200"/>
              </a:spcAft>
              <a:buNone/>
            </a:pPr>
            <a:r>
              <a:rPr lang="es-CO" sz="2000" b="0" dirty="0">
                <a:solidFill>
                  <a:schemeClr val="tx1"/>
                </a:solidFill>
                <a:latin typeface="Noto Sans"/>
                <a:ea typeface="Noto Sans"/>
                <a:cs typeface="Noto Sans"/>
                <a:sym typeface="Noto Sans"/>
              </a:rPr>
              <a:t>1. Ou, F.-S.; Le-Rademacher, J.G.; Ballman, K.V.; Adjei, A.A.; Mandrekar, S.J. Guidelines for Statistical Reporting in Medical Journals. </a:t>
            </a:r>
            <a:r>
              <a:rPr lang="es-CO" sz="2000" b="0" i="1" dirty="0">
                <a:solidFill>
                  <a:schemeClr val="tx1"/>
                </a:solidFill>
                <a:latin typeface="Noto Sans"/>
                <a:ea typeface="Noto Sans"/>
                <a:cs typeface="Noto Sans"/>
                <a:sym typeface="Noto Sans"/>
              </a:rPr>
              <a:t>J. Thorac. Oncol.</a:t>
            </a:r>
            <a:r>
              <a:rPr lang="es-CO" sz="2000" b="0" dirty="0">
                <a:solidFill>
                  <a:schemeClr val="tx1"/>
                </a:solidFill>
                <a:latin typeface="Noto Sans"/>
                <a:ea typeface="Noto Sans"/>
                <a:cs typeface="Noto Sans"/>
                <a:sym typeface="Noto Sans"/>
              </a:rPr>
              <a:t> </a:t>
            </a:r>
            <a:r>
              <a:rPr lang="es-CO" sz="2000" b="1" dirty="0">
                <a:solidFill>
                  <a:schemeClr val="tx1"/>
                </a:solidFill>
                <a:latin typeface="Noto Sans"/>
                <a:ea typeface="Noto Sans"/>
                <a:cs typeface="Noto Sans"/>
                <a:sym typeface="Noto Sans"/>
              </a:rPr>
              <a:t>2020</a:t>
            </a:r>
            <a:r>
              <a:rPr lang="es-CO" sz="2000" b="0" dirty="0">
                <a:solidFill>
                  <a:schemeClr val="tx1"/>
                </a:solidFill>
                <a:latin typeface="Noto Sans"/>
                <a:ea typeface="Noto Sans"/>
                <a:cs typeface="Noto Sans"/>
                <a:sym typeface="Noto Sans"/>
              </a:rPr>
              <a:t>, </a:t>
            </a:r>
            <a:r>
              <a:rPr lang="es-CO" sz="2000" b="0" i="1" dirty="0">
                <a:solidFill>
                  <a:schemeClr val="tx1"/>
                </a:solidFill>
                <a:latin typeface="Noto Sans"/>
                <a:ea typeface="Noto Sans"/>
                <a:cs typeface="Noto Sans"/>
                <a:sym typeface="Noto Sans"/>
              </a:rPr>
              <a:t>15</a:t>
            </a:r>
            <a:r>
              <a:rPr lang="es-CO" sz="2000" b="0" dirty="0">
                <a:solidFill>
                  <a:schemeClr val="tx1"/>
                </a:solidFill>
                <a:latin typeface="Noto Sans"/>
                <a:ea typeface="Noto Sans"/>
                <a:cs typeface="Noto Sans"/>
                <a:sym typeface="Noto Sans"/>
              </a:rPr>
              <a:t>, 1722–1726. </a:t>
            </a:r>
            <a:r>
              <a:rPr lang="es-CO" sz="2000" b="0" dirty="0">
                <a:solidFill>
                  <a:schemeClr val="hlink"/>
                </a:solidFill>
                <a:latin typeface="Noto Sans"/>
                <a:ea typeface="Noto Sans"/>
                <a:cs typeface="Noto Sans"/>
                <a:sym typeface="Noto Sans"/>
                <a:hlinkClick r:id="rId2"/>
              </a:rPr>
              <a:t>[CrossRef]</a:t>
            </a:r>
            <a:r>
              <a:rPr lang="es-CO" sz="2000" b="0" dirty="0">
                <a:solidFill>
                  <a:schemeClr val="tx1"/>
                </a:solidFill>
                <a:latin typeface="Noto Sans"/>
                <a:ea typeface="Noto Sans"/>
                <a:cs typeface="Noto Sans"/>
                <a:sym typeface="Noto Sans"/>
              </a:rPr>
              <a:t> </a:t>
            </a:r>
            <a:r>
              <a:rPr lang="es-CO" sz="2000" b="0" dirty="0">
                <a:solidFill>
                  <a:schemeClr val="hlink"/>
                </a:solidFill>
                <a:latin typeface="Noto Sans"/>
                <a:ea typeface="Noto Sans"/>
                <a:cs typeface="Noto Sans"/>
                <a:sym typeface="Noto Sans"/>
                <a:hlinkClick r:id="rId3"/>
              </a:rPr>
              <a:t>[PubMed]</a:t>
            </a:r>
          </a:p>
          <a:p>
            <a:pPr marL="0" indent="0" algn="l">
              <a:lnSpc>
                <a:spcPct val="90000"/>
              </a:lnSpc>
              <a:spcBef>
                <a:spcPts val="0"/>
              </a:spcBef>
              <a:spcAft>
                <a:spcPts val="1200"/>
              </a:spcAft>
              <a:buNone/>
            </a:pPr>
            <a:r>
              <a:rPr lang="es-CO" sz="2000" b="0" dirty="0">
                <a:solidFill>
                  <a:schemeClr val="tx1"/>
                </a:solidFill>
                <a:latin typeface="Noto Sans"/>
                <a:ea typeface="Noto Sans"/>
                <a:cs typeface="Noto Sans"/>
                <a:sym typeface="Noto Sans"/>
              </a:rPr>
              <a:t>2. Hayes-Larson, E.; Kezios, K.L.; Mooney, S.J.; Lovasi, G. Who Is in This Study, Anyway? Guidelines for a Useful Table 1. </a:t>
            </a:r>
            <a:r>
              <a:rPr lang="es-CO" sz="2000" b="0" i="1" dirty="0">
                <a:solidFill>
                  <a:schemeClr val="tx1"/>
                </a:solidFill>
                <a:latin typeface="Noto Sans"/>
                <a:ea typeface="Noto Sans"/>
                <a:cs typeface="Noto Sans"/>
                <a:sym typeface="Noto Sans"/>
              </a:rPr>
              <a:t>J. Clin. Epidemiol.</a:t>
            </a:r>
            <a:r>
              <a:rPr lang="es-CO" sz="2000" b="0" dirty="0">
                <a:solidFill>
                  <a:schemeClr val="tx1"/>
                </a:solidFill>
                <a:latin typeface="Noto Sans"/>
                <a:ea typeface="Noto Sans"/>
                <a:cs typeface="Noto Sans"/>
                <a:sym typeface="Noto Sans"/>
              </a:rPr>
              <a:t> </a:t>
            </a:r>
            <a:r>
              <a:rPr lang="es-CO" sz="2000" b="1" dirty="0">
                <a:solidFill>
                  <a:schemeClr val="tx1"/>
                </a:solidFill>
                <a:latin typeface="Noto Sans"/>
                <a:ea typeface="Noto Sans"/>
                <a:cs typeface="Noto Sans"/>
                <a:sym typeface="Noto Sans"/>
              </a:rPr>
              <a:t>2019</a:t>
            </a:r>
            <a:r>
              <a:rPr lang="es-CO" sz="2000" b="0" dirty="0">
                <a:solidFill>
                  <a:schemeClr val="tx1"/>
                </a:solidFill>
                <a:latin typeface="Noto Sans"/>
                <a:ea typeface="Noto Sans"/>
                <a:cs typeface="Noto Sans"/>
                <a:sym typeface="Noto Sans"/>
              </a:rPr>
              <a:t>, </a:t>
            </a:r>
            <a:r>
              <a:rPr lang="es-CO" sz="2000" b="0" i="1" dirty="0">
                <a:solidFill>
                  <a:schemeClr val="tx1"/>
                </a:solidFill>
                <a:latin typeface="Noto Sans"/>
                <a:ea typeface="Noto Sans"/>
                <a:cs typeface="Noto Sans"/>
                <a:sym typeface="Noto Sans"/>
              </a:rPr>
              <a:t>114</a:t>
            </a:r>
            <a:r>
              <a:rPr lang="es-CO" sz="2000" b="0" dirty="0">
                <a:solidFill>
                  <a:schemeClr val="tx1"/>
                </a:solidFill>
                <a:latin typeface="Noto Sans"/>
                <a:ea typeface="Noto Sans"/>
                <a:cs typeface="Noto Sans"/>
                <a:sym typeface="Noto Sans"/>
              </a:rPr>
              <a:t>, 125–132. </a:t>
            </a:r>
            <a:r>
              <a:rPr lang="es-CO" sz="2000" b="0" dirty="0">
                <a:solidFill>
                  <a:schemeClr val="hlink"/>
                </a:solidFill>
                <a:latin typeface="Noto Sans"/>
                <a:ea typeface="Noto Sans"/>
                <a:cs typeface="Noto Sans"/>
                <a:sym typeface="Noto Sans"/>
                <a:hlinkClick r:id="rId4"/>
              </a:rPr>
              <a:t>[CrossRef]</a:t>
            </a:r>
            <a:r>
              <a:rPr lang="es-CO" sz="2000" b="0" dirty="0">
                <a:solidFill>
                  <a:schemeClr val="tx1"/>
                </a:solidFill>
                <a:latin typeface="Noto Sans"/>
                <a:ea typeface="Noto Sans"/>
                <a:cs typeface="Noto Sans"/>
                <a:sym typeface="Noto Sans"/>
              </a:rPr>
              <a:t> </a:t>
            </a:r>
            <a:r>
              <a:rPr lang="es-CO" sz="2000" b="0" dirty="0">
                <a:solidFill>
                  <a:schemeClr val="hlink"/>
                </a:solidFill>
                <a:latin typeface="Noto Sans"/>
                <a:ea typeface="Noto Sans"/>
                <a:cs typeface="Noto Sans"/>
                <a:sym typeface="Noto Sans"/>
                <a:hlinkClick r:id="rId5"/>
              </a:rPr>
              <a:t>[PubMed]</a:t>
            </a:r>
          </a:p>
          <a:p>
            <a:pPr marL="0" indent="0" algn="l">
              <a:lnSpc>
                <a:spcPct val="90000"/>
              </a:lnSpc>
              <a:spcBef>
                <a:spcPts val="0"/>
              </a:spcBef>
              <a:spcAft>
                <a:spcPts val="1200"/>
              </a:spcAft>
              <a:buNone/>
            </a:pPr>
            <a:r>
              <a:rPr lang="es-CO" sz="2000" b="0" dirty="0">
                <a:solidFill>
                  <a:schemeClr val="tx1"/>
                </a:solidFill>
                <a:latin typeface="Noto Sans"/>
                <a:ea typeface="Noto Sans"/>
                <a:cs typeface="Noto Sans"/>
                <a:sym typeface="Noto Sans"/>
              </a:rPr>
              <a:t>3. Tirrell, T.F.; Rademaker, A.W.; Lieber, R.L. Analysis of Hierarchical Biomechanical Data Structures Using Mixed-Effects Models. </a:t>
            </a:r>
            <a:r>
              <a:rPr lang="es-CO" sz="2000" b="0" i="1" dirty="0">
                <a:solidFill>
                  <a:schemeClr val="tx1"/>
                </a:solidFill>
                <a:latin typeface="Noto Sans"/>
                <a:ea typeface="Noto Sans"/>
                <a:cs typeface="Noto Sans"/>
                <a:sym typeface="Noto Sans"/>
              </a:rPr>
              <a:t>J. Biomech.</a:t>
            </a:r>
            <a:r>
              <a:rPr lang="es-CO" sz="2000" b="0" dirty="0">
                <a:solidFill>
                  <a:schemeClr val="tx1"/>
                </a:solidFill>
                <a:latin typeface="Noto Sans"/>
                <a:ea typeface="Noto Sans"/>
                <a:cs typeface="Noto Sans"/>
                <a:sym typeface="Noto Sans"/>
              </a:rPr>
              <a:t> </a:t>
            </a:r>
            <a:r>
              <a:rPr lang="es-CO" sz="2000" b="1" dirty="0">
                <a:solidFill>
                  <a:schemeClr val="tx1"/>
                </a:solidFill>
                <a:latin typeface="Noto Sans"/>
                <a:ea typeface="Noto Sans"/>
                <a:cs typeface="Noto Sans"/>
                <a:sym typeface="Noto Sans"/>
              </a:rPr>
              <a:t>2018</a:t>
            </a:r>
            <a:r>
              <a:rPr lang="es-CO" sz="2000" b="0" dirty="0">
                <a:solidFill>
                  <a:schemeClr val="tx1"/>
                </a:solidFill>
                <a:latin typeface="Noto Sans"/>
                <a:ea typeface="Noto Sans"/>
                <a:cs typeface="Noto Sans"/>
                <a:sym typeface="Noto Sans"/>
              </a:rPr>
              <a:t>, </a:t>
            </a:r>
            <a:r>
              <a:rPr lang="es-CO" sz="2000" b="0" i="1" dirty="0">
                <a:solidFill>
                  <a:schemeClr val="tx1"/>
                </a:solidFill>
                <a:latin typeface="Noto Sans"/>
                <a:ea typeface="Noto Sans"/>
                <a:cs typeface="Noto Sans"/>
                <a:sym typeface="Noto Sans"/>
              </a:rPr>
              <a:t>69</a:t>
            </a:r>
            <a:r>
              <a:rPr lang="es-CO" sz="2000" b="0" dirty="0">
                <a:solidFill>
                  <a:schemeClr val="tx1"/>
                </a:solidFill>
                <a:latin typeface="Noto Sans"/>
                <a:ea typeface="Noto Sans"/>
                <a:cs typeface="Noto Sans"/>
                <a:sym typeface="Noto Sans"/>
              </a:rPr>
              <a:t>, 34–39. </a:t>
            </a:r>
            <a:r>
              <a:rPr lang="es-CO" sz="2000" b="0" dirty="0">
                <a:solidFill>
                  <a:schemeClr val="hlink"/>
                </a:solidFill>
                <a:latin typeface="Noto Sans"/>
                <a:ea typeface="Noto Sans"/>
                <a:cs typeface="Noto Sans"/>
                <a:sym typeface="Noto Sans"/>
                <a:hlinkClick r:id="rId6"/>
              </a:rPr>
              <a:t>[CrossRef]</a:t>
            </a:r>
            <a:r>
              <a:rPr lang="es-CO" sz="2000" b="0" dirty="0">
                <a:solidFill>
                  <a:schemeClr val="tx1"/>
                </a:solidFill>
                <a:latin typeface="Noto Sans"/>
                <a:ea typeface="Noto Sans"/>
                <a:cs typeface="Noto Sans"/>
                <a:sym typeface="Noto Sans"/>
              </a:rPr>
              <a:t> </a:t>
            </a:r>
            <a:r>
              <a:rPr lang="es-CO" sz="2000" b="0" dirty="0">
                <a:solidFill>
                  <a:schemeClr val="hlink"/>
                </a:solidFill>
                <a:latin typeface="Noto Sans"/>
                <a:ea typeface="Noto Sans"/>
                <a:cs typeface="Noto Sans"/>
                <a:sym typeface="Noto Sans"/>
                <a:hlinkClick r:id="rId7"/>
              </a:rPr>
              <a:t>[PubMed]</a:t>
            </a:r>
          </a:p>
          <a:p>
            <a:pPr marL="0" indent="0" algn="l">
              <a:lnSpc>
                <a:spcPct val="90000"/>
              </a:lnSpc>
              <a:spcBef>
                <a:spcPts val="0"/>
              </a:spcBef>
              <a:spcAft>
                <a:spcPts val="1200"/>
              </a:spcAft>
              <a:buNone/>
            </a:pPr>
            <a:r>
              <a:rPr lang="es-CO" sz="2000" b="0" dirty="0">
                <a:solidFill>
                  <a:schemeClr val="tx1"/>
                </a:solidFill>
                <a:latin typeface="Noto Sans"/>
                <a:ea typeface="Noto Sans"/>
                <a:cs typeface="Noto Sans"/>
                <a:sym typeface="Noto Sans"/>
              </a:rPr>
              <a:t>4. Higgins, J.P.T.; Li, T.; Deeks, J.J. Choosing Effect Measures and Computing Estimates of Effect. In </a:t>
            </a:r>
            <a:r>
              <a:rPr lang="es-CO" sz="2000" b="0" i="1" dirty="0">
                <a:solidFill>
                  <a:schemeClr val="tx1"/>
                </a:solidFill>
                <a:latin typeface="Noto Sans"/>
                <a:ea typeface="Noto Sans"/>
                <a:cs typeface="Noto Sans"/>
                <a:sym typeface="Noto Sans"/>
              </a:rPr>
              <a:t>Cochrane Handbook for Systematic Reviews of Interventions</a:t>
            </a:r>
            <a:r>
              <a:rPr lang="es-CO" sz="2000" b="0" dirty="0">
                <a:solidFill>
                  <a:schemeClr val="tx1"/>
                </a:solidFill>
                <a:latin typeface="Noto Sans"/>
                <a:ea typeface="Noto Sans"/>
                <a:cs typeface="Noto Sans"/>
                <a:sym typeface="Noto Sans"/>
              </a:rPr>
              <a:t>, 2nd ed.; Higgins, J.P.T., Thomas, J., Chandler, J., Cumpston, M., Li, T., Page, M.J., Welch, V.A., Eds.; Wiley: Chichester, UK, </a:t>
            </a:r>
            <a:r>
              <a:rPr lang="es-CO" sz="2000" b="1" dirty="0">
                <a:solidFill>
                  <a:schemeClr val="tx1"/>
                </a:solidFill>
                <a:latin typeface="Noto Sans"/>
                <a:ea typeface="Noto Sans"/>
                <a:cs typeface="Noto Sans"/>
                <a:sym typeface="Noto Sans"/>
              </a:rPr>
              <a:t>2019</a:t>
            </a:r>
            <a:r>
              <a:rPr lang="es-CO" sz="2000" b="0" dirty="0">
                <a:solidFill>
                  <a:schemeClr val="tx1"/>
                </a:solidFill>
                <a:latin typeface="Noto Sans"/>
                <a:ea typeface="Noto Sans"/>
                <a:cs typeface="Noto Sans"/>
                <a:sym typeface="Noto Sans"/>
              </a:rPr>
              <a:t>; pp. 143–176. </a:t>
            </a:r>
            <a:r>
              <a:rPr lang="es-CO" sz="2000" b="0" dirty="0">
                <a:solidFill>
                  <a:schemeClr val="hlink"/>
                </a:solidFill>
                <a:latin typeface="Noto Sans"/>
                <a:ea typeface="Noto Sans"/>
                <a:cs typeface="Noto Sans"/>
                <a:sym typeface="Noto Sans"/>
                <a:hlinkClick r:id="rId8"/>
              </a:rPr>
              <a:t>[CrossRef]</a:t>
            </a:r>
          </a:p>
        </p:txBody>
      </p:sp>
    </p:spTree>
  </p:cSld>
  <p:clrMapOvr>
    <a:masterClrMapping/>
  </p:clrMapOvr>
</p:sld>
</file>

<file path=ppt/theme/theme1.xml><?xml version="1.0" encoding="utf-8"?>
<a:theme xmlns:a="http://schemas.openxmlformats.org/drawingml/2006/main" name="TGHN Regional Programme">
  <a:themeElements>
    <a:clrScheme name="TGHN Theme 1">
      <a:dk1>
        <a:srgbClr val="000000"/>
      </a:dk1>
      <a:lt1>
        <a:srgbClr val="FFFFFF"/>
      </a:lt1>
      <a:dk2>
        <a:srgbClr val="0E2841"/>
      </a:dk2>
      <a:lt2>
        <a:srgbClr val="E8E8E8"/>
      </a:lt2>
      <a:accent1>
        <a:srgbClr val="0071BC"/>
      </a:accent1>
      <a:accent2>
        <a:srgbClr val="771213"/>
      </a:accent2>
      <a:accent3>
        <a:srgbClr val="80AF40"/>
      </a:accent3>
      <a:accent4>
        <a:srgbClr val="79CBC6"/>
      </a:accent4>
      <a:accent5>
        <a:srgbClr val="F06EA9"/>
      </a:accent5>
      <a:accent6>
        <a:srgbClr val="CBDFF3"/>
      </a:accent6>
      <a:hlink>
        <a:srgbClr val="E97132"/>
      </a:hlink>
      <a:folHlink>
        <a:srgbClr val="E9713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iseño personalizado">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236</TotalTime>
  <Words>1984</Words>
  <Application>Microsoft Office PowerPoint</Application>
  <PresentationFormat>Panorámica</PresentationFormat>
  <Paragraphs>180</Paragraphs>
  <Slides>29</Slides>
  <Notes>1</Notes>
  <HiddenSlides>0</HiddenSlides>
  <MMClips>0</MMClips>
  <ScaleCrop>false</ScaleCrop>
  <HeadingPairs>
    <vt:vector size="6" baseType="variant">
      <vt:variant>
        <vt:lpstr>Fuentes usadas</vt:lpstr>
      </vt:variant>
      <vt:variant>
        <vt:i4>6</vt:i4>
      </vt:variant>
      <vt:variant>
        <vt:lpstr>Tema</vt:lpstr>
      </vt:variant>
      <vt:variant>
        <vt:i4>2</vt:i4>
      </vt:variant>
      <vt:variant>
        <vt:lpstr>Títulos de diapositiva</vt:lpstr>
      </vt:variant>
      <vt:variant>
        <vt:i4>29</vt:i4>
      </vt:variant>
    </vt:vector>
  </HeadingPairs>
  <TitlesOfParts>
    <vt:vector size="37" baseType="lpstr">
      <vt:lpstr>Noto Sans SemiBold</vt:lpstr>
      <vt:lpstr>Cambria Math</vt:lpstr>
      <vt:lpstr>Arial</vt:lpstr>
      <vt:lpstr>Noto Sans</vt:lpstr>
      <vt:lpstr>Calibri</vt:lpstr>
      <vt:lpstr>Calibri Light</vt:lpstr>
      <vt:lpstr>TGHN Regional Programme</vt:lpstr>
      <vt:lpstr>Diseño personalizado</vt:lpstr>
      <vt:lpstr>Estadística descriptiva</vt:lpstr>
      <vt:lpstr>Introducción</vt:lpstr>
      <vt:lpstr>Objetivo</vt:lpstr>
      <vt:lpstr>Contenido</vt:lpstr>
      <vt:lpstr>2. Preparación de los datos</vt:lpstr>
      <vt:lpstr>3. Función de estadística descriptiva</vt:lpstr>
      <vt:lpstr>3. Función de estadística descriptiva</vt:lpstr>
      <vt:lpstr>3. Función de estadística descriptiva</vt:lpstr>
      <vt:lpstr>3. Función de estadística descriptiva</vt:lpstr>
      <vt:lpstr>4. Enfoque centralizado</vt:lpstr>
      <vt:lpstr>4. Enfoque centralizado</vt:lpstr>
      <vt:lpstr>5. Enfoque federado</vt:lpstr>
      <vt:lpstr>5. Enfoque federado</vt:lpstr>
      <vt:lpstr>5. Enfoque federado</vt:lpstr>
      <vt:lpstr>5. Enfoque federado</vt:lpstr>
      <vt:lpstr>5. Enfoque federado</vt:lpstr>
      <vt:lpstr>5. Enfoque federado</vt:lpstr>
      <vt:lpstr>5. Enfoque federado</vt:lpstr>
      <vt:lpstr>5. Enfoque federado</vt:lpstr>
      <vt:lpstr>5. Enfoque federado</vt:lpstr>
      <vt:lpstr>5. Enfoque federado</vt:lpstr>
      <vt:lpstr>5. Enfoque federado</vt:lpstr>
      <vt:lpstr>5. Enfoque federado</vt:lpstr>
      <vt:lpstr>6. Comparación</vt:lpstr>
      <vt:lpstr>6. Comparación</vt:lpstr>
      <vt:lpstr>6. Comparación</vt:lpstr>
      <vt:lpstr>7. Conclusiones</vt:lpstr>
      <vt:lpstr>7. Conclusiones</vt:lpstr>
      <vt:lpstr>Referencias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cp:lastModifiedBy>carlos sarmiento</cp:lastModifiedBy>
  <cp:revision>32</cp:revision>
  <dcterms:modified xsi:type="dcterms:W3CDTF">2026-10-02T20:02:04Z</dcterms:modified>
</cp:coreProperties>
</file>