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7" r:id="rId1"/>
    <p:sldMasterId id="2147483668" r:id="rId2"/>
  </p:sldMasterIdLst>
  <p:notesMasterIdLst>
    <p:notesMasterId r:id="rId58"/>
  </p:notesMasterIdLst>
  <p:sldIdLst>
    <p:sldId id="261" r:id="rId3"/>
    <p:sldId id="270" r:id="rId4"/>
    <p:sldId id="271" r:id="rId5"/>
    <p:sldId id="272" r:id="rId6"/>
    <p:sldId id="263" r:id="rId7"/>
    <p:sldId id="264" r:id="rId8"/>
    <p:sldId id="275" r:id="rId9"/>
    <p:sldId id="283" r:id="rId10"/>
    <p:sldId id="284" r:id="rId11"/>
    <p:sldId id="277" r:id="rId12"/>
    <p:sldId id="276" r:id="rId13"/>
    <p:sldId id="278" r:id="rId14"/>
    <p:sldId id="279" r:id="rId15"/>
    <p:sldId id="282" r:id="rId16"/>
    <p:sldId id="285" r:id="rId17"/>
    <p:sldId id="286" r:id="rId18"/>
    <p:sldId id="287" r:id="rId19"/>
    <p:sldId id="289" r:id="rId20"/>
    <p:sldId id="288" r:id="rId21"/>
    <p:sldId id="290" r:id="rId22"/>
    <p:sldId id="291" r:id="rId23"/>
    <p:sldId id="292" r:id="rId24"/>
    <p:sldId id="293" r:id="rId25"/>
    <p:sldId id="294" r:id="rId26"/>
    <p:sldId id="296" r:id="rId27"/>
    <p:sldId id="298" r:id="rId28"/>
    <p:sldId id="299" r:id="rId29"/>
    <p:sldId id="300" r:id="rId30"/>
    <p:sldId id="302" r:id="rId31"/>
    <p:sldId id="303" r:id="rId32"/>
    <p:sldId id="304" r:id="rId33"/>
    <p:sldId id="305" r:id="rId34"/>
    <p:sldId id="324" r:id="rId35"/>
    <p:sldId id="307" r:id="rId36"/>
    <p:sldId id="308" r:id="rId37"/>
    <p:sldId id="309" r:id="rId38"/>
    <p:sldId id="310" r:id="rId39"/>
    <p:sldId id="311" r:id="rId40"/>
    <p:sldId id="325" r:id="rId41"/>
    <p:sldId id="312" r:id="rId42"/>
    <p:sldId id="313" r:id="rId43"/>
    <p:sldId id="314" r:id="rId44"/>
    <p:sldId id="315" r:id="rId45"/>
    <p:sldId id="316" r:id="rId46"/>
    <p:sldId id="317" r:id="rId47"/>
    <p:sldId id="318" r:id="rId48"/>
    <p:sldId id="319" r:id="rId49"/>
    <p:sldId id="320" r:id="rId50"/>
    <p:sldId id="321" r:id="rId51"/>
    <p:sldId id="262" r:id="rId52"/>
    <p:sldId id="269" r:id="rId53"/>
    <p:sldId id="267" r:id="rId54"/>
    <p:sldId id="268" r:id="rId55"/>
    <p:sldId id="273" r:id="rId56"/>
    <p:sldId id="274" r:id="rId57"/>
  </p:sldIdLst>
  <p:sldSz cx="12192000" cy="6858000"/>
  <p:notesSz cx="6858000" cy="9144000"/>
  <p:embeddedFontLst>
    <p:embeddedFont>
      <p:font typeface="Cambria Math" panose="02040503050406030204" pitchFamily="18" charset="0"/>
      <p:regular r:id="rId59"/>
    </p:embeddedFont>
    <p:embeddedFont>
      <p:font typeface="Noto Sans" panose="020B0604020202020204" charset="0"/>
      <p:regular r:id="rId60"/>
      <p:bold r:id="rId61"/>
    </p:embeddedFont>
    <p:embeddedFont>
      <p:font typeface="Noto Sans SemiBold" panose="020B0604020202020204" charset="0"/>
      <p:regular r:id="rId62"/>
      <p:bold r:id="rId63"/>
      <p:italic r:id="rId64"/>
      <p:boldItalic r:id="rId6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909BBDD-0D2F-4512-BD4F-111AB59D770F}" v="3" dt="2026-10-01T03:15:27.52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912"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font" Target="fonts/font5.fntdata"/><Relationship Id="rId68"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notesMaster" Target="notesMasters/notesMaster1.xml"/><Relationship Id="rId66"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font" Target="fonts/font3.fntdata"/><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font" Target="fonts/font6.fntdata"/><Relationship Id="rId69"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font" Target="fonts/font1.fntdata"/><Relationship Id="rId67"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font" Target="fonts/font4.fntdata"/><Relationship Id="rId7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font" Target="fonts/font2.fntdata"/><Relationship Id="rId65" Type="http://schemas.openxmlformats.org/officeDocument/2006/relationships/font" Target="fonts/font7.fntdata"/><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‹Nº›</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1" name="Google Shape;24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4_Main Title Slide" userDrawn="1">
  <p:cSld name="4_Main Title Slide">
    <p:spTree>
      <p:nvGrpSpPr>
        <p:cNvPr id="1" name="Shape 12"/>
        <p:cNvGrpSpPr/>
        <p:nvPr/>
      </p:nvGrpSpPr>
      <p:grpSpPr>
        <a:xfrm>
          <a:off x="0" y="0"/>
          <a:ext cx="0" cy="0"/>
          <a:chOff x="0" y="0"/>
          <a:chExt cx="0" cy="0"/>
        </a:xfrm>
      </p:grpSpPr>
      <p:pic>
        <p:nvPicPr>
          <p:cNvPr id="3" name="Imagen 2">
            <a:extLst>
              <a:ext uri="{FF2B5EF4-FFF2-40B4-BE49-F238E27FC236}">
                <a16:creationId xmlns:a16="http://schemas.microsoft.com/office/drawing/2014/main" id="{9B612C50-4774-4A19-A815-E180A9158FE2}"/>
              </a:ext>
            </a:extLst>
          </p:cNvPr>
          <p:cNvPicPr>
            <a:picLocks noChangeAspect="1"/>
          </p:cNvPicPr>
          <p:nvPr userDrawn="1"/>
        </p:nvPicPr>
        <p:blipFill>
          <a:blip r:embed="rId2"/>
          <a:stretch>
            <a:fillRect/>
          </a:stretch>
        </p:blipFill>
        <p:spPr>
          <a:xfrm>
            <a:off x="0" y="0"/>
            <a:ext cx="12192000" cy="68580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Four column list acknowledgement">
  <p:cSld name="Four column list acknowledgement">
    <p:spTree>
      <p:nvGrpSpPr>
        <p:cNvPr id="1" name="Shape 45"/>
        <p:cNvGrpSpPr/>
        <p:nvPr/>
      </p:nvGrpSpPr>
      <p:grpSpPr>
        <a:xfrm>
          <a:off x="0" y="0"/>
          <a:ext cx="0" cy="0"/>
          <a:chOff x="0" y="0"/>
          <a:chExt cx="0" cy="0"/>
        </a:xfrm>
      </p:grpSpPr>
      <p:pic>
        <p:nvPicPr>
          <p:cNvPr id="46" name="Google Shape;46;p5" descr="A map of the world&#10;&#10;Description automatically generated"/>
          <p:cNvPicPr preferRelativeResize="0"/>
          <p:nvPr/>
        </p:nvPicPr>
        <p:blipFill rotWithShape="1">
          <a:blip r:embed="rId2">
            <a:alphaModFix amt="10000"/>
          </a:blip>
          <a:srcRect t="14912" r="21635" b="31073"/>
          <a:stretch/>
        </p:blipFill>
        <p:spPr>
          <a:xfrm>
            <a:off x="1980961" y="0"/>
            <a:ext cx="10220871" cy="6356351"/>
          </a:xfrm>
          <a:prstGeom prst="rect">
            <a:avLst/>
          </a:prstGeom>
          <a:noFill/>
          <a:ln>
            <a:noFill/>
          </a:ln>
        </p:spPr>
      </p:pic>
      <p:sp>
        <p:nvSpPr>
          <p:cNvPr id="47" name="Google Shape;47;p5"/>
          <p:cNvSpPr txBox="1">
            <a:spLocks noGrp="1"/>
          </p:cNvSpPr>
          <p:nvPr>
            <p:ph type="title"/>
          </p:nvPr>
        </p:nvSpPr>
        <p:spPr>
          <a:xfrm>
            <a:off x="127000" y="365125"/>
            <a:ext cx="11937998"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000"/>
              <a:buFont typeface="Noto Sans SemiBold"/>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8" name="Google Shape;48;p5"/>
          <p:cNvSpPr txBox="1">
            <a:spLocks noGrp="1"/>
          </p:cNvSpPr>
          <p:nvPr>
            <p:ph type="body" idx="1"/>
          </p:nvPr>
        </p:nvSpPr>
        <p:spPr>
          <a:xfrm>
            <a:off x="127000" y="1885443"/>
            <a:ext cx="11937999" cy="405411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5"/>
          <p:cNvSpPr/>
          <p:nvPr/>
        </p:nvSpPr>
        <p:spPr>
          <a:xfrm>
            <a:off x="0" y="6356350"/>
            <a:ext cx="12201832" cy="501650"/>
          </a:xfrm>
          <a:prstGeom prst="rect">
            <a:avLst/>
          </a:prstGeom>
          <a:solidFill>
            <a:srgbClr val="0673BA"/>
          </a:solidFill>
          <a:ln w="19050" cap="flat" cmpd="sng">
            <a:solidFill>
              <a:srgbClr val="0673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50" name="Google Shape;50;p5"/>
          <p:cNvSpPr txBox="1"/>
          <p:nvPr/>
        </p:nvSpPr>
        <p:spPr>
          <a:xfrm>
            <a:off x="127000" y="6458693"/>
            <a:ext cx="39116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400"/>
              <a:buFont typeface="Arial"/>
              <a:buNone/>
            </a:pPr>
            <a:r>
              <a:rPr lang="en-US" sz="1400" b="0" i="0" u="none" strike="noStrike" cap="none">
                <a:solidFill>
                  <a:schemeClr val="lt1"/>
                </a:solidFill>
                <a:latin typeface="Arial"/>
                <a:ea typeface="Arial"/>
                <a:cs typeface="Arial"/>
                <a:sym typeface="Arial"/>
              </a:rPr>
              <a:t>lac.tghn.org</a:t>
            </a:r>
            <a:endParaRPr sz="1400" b="0" i="0" u="none" strike="noStrike" cap="none">
              <a:solidFill>
                <a:schemeClr val="lt1"/>
              </a:solidFill>
              <a:latin typeface="Arial"/>
              <a:ea typeface="Arial"/>
              <a:cs typeface="Arial"/>
              <a:sym typeface="Arial"/>
            </a:endParaRPr>
          </a:p>
        </p:txBody>
      </p:sp>
      <p:sp>
        <p:nvSpPr>
          <p:cNvPr id="51" name="Google Shape;51;p5"/>
          <p:cNvSpPr txBox="1"/>
          <p:nvPr/>
        </p:nvSpPr>
        <p:spPr>
          <a:xfrm>
            <a:off x="9080500" y="6458693"/>
            <a:ext cx="2984500" cy="30777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chemeClr val="lt1"/>
              </a:buClr>
              <a:buSzPts val="1400"/>
              <a:buFont typeface="Arial"/>
              <a:buNone/>
            </a:pPr>
            <a:fld id="{00000000-1234-1234-1234-123412341234}" type="slidenum">
              <a:rPr lang="en-US" sz="1400" b="0" i="0" u="none" strike="noStrike" cap="none">
                <a:solidFill>
                  <a:schemeClr val="lt1"/>
                </a:solidFill>
                <a:latin typeface="Arial"/>
                <a:ea typeface="Arial"/>
                <a:cs typeface="Arial"/>
                <a:sym typeface="Arial"/>
              </a:rPr>
              <a:t>‹Nº›</a:t>
            </a:fld>
            <a:endParaRPr sz="1400" b="0" i="0" u="none" strike="noStrike" cap="none">
              <a:solidFill>
                <a:schemeClr val="lt1"/>
              </a:solidFill>
              <a:latin typeface="Arial"/>
              <a:ea typeface="Arial"/>
              <a:cs typeface="Arial"/>
              <a:sym typeface="Arial"/>
            </a:endParaRPr>
          </a:p>
        </p:txBody>
      </p:sp>
      <p:pic>
        <p:nvPicPr>
          <p:cNvPr id="8" name="Google Shape;67;p7">
            <a:extLst>
              <a:ext uri="{FF2B5EF4-FFF2-40B4-BE49-F238E27FC236}">
                <a16:creationId xmlns:a16="http://schemas.microsoft.com/office/drawing/2014/main" id="{F2B4C948-78BC-4F0D-9168-205BAF42234D}"/>
              </a:ext>
            </a:extLst>
          </p:cNvPr>
          <p:cNvPicPr preferRelativeResize="0"/>
          <p:nvPr userDrawn="1"/>
        </p:nvPicPr>
        <p:blipFill>
          <a:blip r:embed="rId3"/>
          <a:srcRect/>
          <a:stretch/>
        </p:blipFill>
        <p:spPr>
          <a:xfrm>
            <a:off x="2846685" y="161363"/>
            <a:ext cx="6498629" cy="735971"/>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1"/>
        <p:cNvGrpSpPr/>
        <p:nvPr/>
      </p:nvGrpSpPr>
      <p:grpSpPr>
        <a:xfrm>
          <a:off x="0" y="0"/>
          <a:ext cx="0" cy="0"/>
          <a:chOff x="0" y="0"/>
          <a:chExt cx="0" cy="0"/>
        </a:xfrm>
      </p:grpSpPr>
      <p:sp>
        <p:nvSpPr>
          <p:cNvPr id="62" name="Google Shape;62;p7"/>
          <p:cNvSpPr txBox="1">
            <a:spLocks noGrp="1"/>
          </p:cNvSpPr>
          <p:nvPr>
            <p:ph type="title"/>
          </p:nvPr>
        </p:nvSpPr>
        <p:spPr>
          <a:xfrm>
            <a:off x="831850" y="2466753"/>
            <a:ext cx="10515600" cy="2095722"/>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Noto Sans SemiBold"/>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64" name="Google Shape;64;p7"/>
          <p:cNvSpPr/>
          <p:nvPr/>
        </p:nvSpPr>
        <p:spPr>
          <a:xfrm>
            <a:off x="0" y="6356350"/>
            <a:ext cx="12201832" cy="501650"/>
          </a:xfrm>
          <a:prstGeom prst="rect">
            <a:avLst/>
          </a:prstGeom>
          <a:solidFill>
            <a:srgbClr val="0673BA"/>
          </a:solidFill>
          <a:ln w="19050" cap="flat" cmpd="sng">
            <a:solidFill>
              <a:srgbClr val="0673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65" name="Google Shape;65;p7"/>
          <p:cNvSpPr txBox="1"/>
          <p:nvPr/>
        </p:nvSpPr>
        <p:spPr>
          <a:xfrm>
            <a:off x="127000" y="6458693"/>
            <a:ext cx="39116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400"/>
              <a:buFont typeface="Arial"/>
              <a:buNone/>
            </a:pPr>
            <a:r>
              <a:rPr lang="en-US" sz="1400" b="0" i="0" u="none" strike="noStrike" cap="none">
                <a:solidFill>
                  <a:schemeClr val="lt1"/>
                </a:solidFill>
                <a:latin typeface="Arial"/>
                <a:ea typeface="Arial"/>
                <a:cs typeface="Arial"/>
                <a:sym typeface="Arial"/>
              </a:rPr>
              <a:t>lac.tghn.org</a:t>
            </a:r>
            <a:endParaRPr sz="1400" b="0" i="0" u="none" strike="noStrike" cap="none">
              <a:solidFill>
                <a:schemeClr val="lt1"/>
              </a:solidFill>
              <a:latin typeface="Arial"/>
              <a:ea typeface="Arial"/>
              <a:cs typeface="Arial"/>
              <a:sym typeface="Arial"/>
            </a:endParaRPr>
          </a:p>
        </p:txBody>
      </p:sp>
      <p:sp>
        <p:nvSpPr>
          <p:cNvPr id="66" name="Google Shape;66;p7"/>
          <p:cNvSpPr txBox="1"/>
          <p:nvPr/>
        </p:nvSpPr>
        <p:spPr>
          <a:xfrm>
            <a:off x="9080500" y="6458693"/>
            <a:ext cx="2984500" cy="30777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chemeClr val="lt1"/>
              </a:buClr>
              <a:buSzPts val="1400"/>
              <a:buFont typeface="Arial"/>
              <a:buNone/>
            </a:pPr>
            <a:fld id="{00000000-1234-1234-1234-123412341234}" type="slidenum">
              <a:rPr lang="en-US" sz="1400" b="0" i="0" u="none" strike="noStrike" cap="none">
                <a:solidFill>
                  <a:schemeClr val="lt1"/>
                </a:solidFill>
                <a:latin typeface="Arial"/>
                <a:ea typeface="Arial"/>
                <a:cs typeface="Arial"/>
                <a:sym typeface="Arial"/>
              </a:rPr>
              <a:t>‹Nº›</a:t>
            </a:fld>
            <a:endParaRPr sz="1400" b="0" i="0" u="none" strike="noStrike" cap="none">
              <a:solidFill>
                <a:schemeClr val="lt1"/>
              </a:solidFill>
              <a:latin typeface="Arial"/>
              <a:ea typeface="Arial"/>
              <a:cs typeface="Arial"/>
              <a:sym typeface="Arial"/>
            </a:endParaRPr>
          </a:p>
        </p:txBody>
      </p:sp>
      <p:pic>
        <p:nvPicPr>
          <p:cNvPr id="8" name="Google Shape;67;p7">
            <a:extLst>
              <a:ext uri="{FF2B5EF4-FFF2-40B4-BE49-F238E27FC236}">
                <a16:creationId xmlns:a16="http://schemas.microsoft.com/office/drawing/2014/main" id="{8FD4A93B-5CA7-44EB-A22C-8F378AB98947}"/>
              </a:ext>
            </a:extLst>
          </p:cNvPr>
          <p:cNvPicPr preferRelativeResize="0"/>
          <p:nvPr userDrawn="1"/>
        </p:nvPicPr>
        <p:blipFill>
          <a:blip r:embed="rId2"/>
          <a:srcRect/>
          <a:stretch/>
        </p:blipFill>
        <p:spPr>
          <a:xfrm>
            <a:off x="2846685" y="161363"/>
            <a:ext cx="6498629" cy="735971"/>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Four column list acknowledgement">
  <p:cSld name="1_Four column list acknowledgement">
    <p:spTree>
      <p:nvGrpSpPr>
        <p:cNvPr id="1" name="Shape 89"/>
        <p:cNvGrpSpPr/>
        <p:nvPr/>
      </p:nvGrpSpPr>
      <p:grpSpPr>
        <a:xfrm>
          <a:off x="0" y="0"/>
          <a:ext cx="0" cy="0"/>
          <a:chOff x="0" y="0"/>
          <a:chExt cx="0" cy="0"/>
        </a:xfrm>
      </p:grpSpPr>
      <p:pic>
        <p:nvPicPr>
          <p:cNvPr id="90" name="Google Shape;90;p11" descr="A map of the world&#10;&#10;Description automatically generated"/>
          <p:cNvPicPr preferRelativeResize="0"/>
          <p:nvPr/>
        </p:nvPicPr>
        <p:blipFill rotWithShape="1">
          <a:blip r:embed="rId2">
            <a:alphaModFix amt="10000"/>
          </a:blip>
          <a:srcRect t="14912" r="21635" b="31073"/>
          <a:stretch/>
        </p:blipFill>
        <p:spPr>
          <a:xfrm>
            <a:off x="1980961" y="0"/>
            <a:ext cx="10220871" cy="6356351"/>
          </a:xfrm>
          <a:prstGeom prst="rect">
            <a:avLst/>
          </a:prstGeom>
          <a:noFill/>
          <a:ln>
            <a:noFill/>
          </a:ln>
        </p:spPr>
      </p:pic>
      <p:sp>
        <p:nvSpPr>
          <p:cNvPr id="91" name="Google Shape;91;p11"/>
          <p:cNvSpPr/>
          <p:nvPr/>
        </p:nvSpPr>
        <p:spPr>
          <a:xfrm>
            <a:off x="0" y="6356350"/>
            <a:ext cx="12201832" cy="501650"/>
          </a:xfrm>
          <a:prstGeom prst="rect">
            <a:avLst/>
          </a:prstGeom>
          <a:solidFill>
            <a:srgbClr val="0673BA"/>
          </a:solidFill>
          <a:ln w="19050" cap="flat" cmpd="sng">
            <a:solidFill>
              <a:srgbClr val="0673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2" name="Google Shape;92;p11"/>
          <p:cNvSpPr txBox="1">
            <a:spLocks noGrp="1"/>
          </p:cNvSpPr>
          <p:nvPr>
            <p:ph type="sldNum" idx="12"/>
          </p:nvPr>
        </p:nvSpPr>
        <p:spPr>
          <a:xfrm>
            <a:off x="8610599" y="6393638"/>
            <a:ext cx="3375213"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chemeClr val="lt1"/>
                </a:solidFill>
                <a:latin typeface="Arial"/>
                <a:ea typeface="Arial"/>
                <a:cs typeface="Arial"/>
                <a:sym typeface="Arial"/>
              </a:defRPr>
            </a:lvl1pPr>
            <a:lvl2pPr marL="0" marR="0" lvl="1" indent="0" algn="r" rtl="0">
              <a:spcBef>
                <a:spcPts val="0"/>
              </a:spcBef>
              <a:buNone/>
              <a:defRPr sz="1200" b="0" i="0" u="none" strike="noStrike" cap="none">
                <a:solidFill>
                  <a:schemeClr val="lt1"/>
                </a:solidFill>
                <a:latin typeface="Arial"/>
                <a:ea typeface="Arial"/>
                <a:cs typeface="Arial"/>
                <a:sym typeface="Arial"/>
              </a:defRPr>
            </a:lvl2pPr>
            <a:lvl3pPr marL="0" marR="0" lvl="2" indent="0" algn="r" rtl="0">
              <a:spcBef>
                <a:spcPts val="0"/>
              </a:spcBef>
              <a:buNone/>
              <a:defRPr sz="1200" b="0" i="0" u="none" strike="noStrike" cap="none">
                <a:solidFill>
                  <a:schemeClr val="lt1"/>
                </a:solidFill>
                <a:latin typeface="Arial"/>
                <a:ea typeface="Arial"/>
                <a:cs typeface="Arial"/>
                <a:sym typeface="Arial"/>
              </a:defRPr>
            </a:lvl3pPr>
            <a:lvl4pPr marL="0" marR="0" lvl="3" indent="0" algn="r" rtl="0">
              <a:spcBef>
                <a:spcPts val="0"/>
              </a:spcBef>
              <a:buNone/>
              <a:defRPr sz="1200" b="0" i="0" u="none" strike="noStrike" cap="none">
                <a:solidFill>
                  <a:schemeClr val="lt1"/>
                </a:solidFill>
                <a:latin typeface="Arial"/>
                <a:ea typeface="Arial"/>
                <a:cs typeface="Arial"/>
                <a:sym typeface="Arial"/>
              </a:defRPr>
            </a:lvl4pPr>
            <a:lvl5pPr marL="0" marR="0" lvl="4" indent="0" algn="r" rtl="0">
              <a:spcBef>
                <a:spcPts val="0"/>
              </a:spcBef>
              <a:buNone/>
              <a:defRPr sz="1200" b="0" i="0" u="none" strike="noStrike" cap="none">
                <a:solidFill>
                  <a:schemeClr val="lt1"/>
                </a:solidFill>
                <a:latin typeface="Arial"/>
                <a:ea typeface="Arial"/>
                <a:cs typeface="Arial"/>
                <a:sym typeface="Arial"/>
              </a:defRPr>
            </a:lvl5pPr>
            <a:lvl6pPr marL="0" marR="0" lvl="5" indent="0" algn="r" rtl="0">
              <a:spcBef>
                <a:spcPts val="0"/>
              </a:spcBef>
              <a:buNone/>
              <a:defRPr sz="1200" b="0" i="0" u="none" strike="noStrike" cap="none">
                <a:solidFill>
                  <a:schemeClr val="lt1"/>
                </a:solidFill>
                <a:latin typeface="Arial"/>
                <a:ea typeface="Arial"/>
                <a:cs typeface="Arial"/>
                <a:sym typeface="Arial"/>
              </a:defRPr>
            </a:lvl6pPr>
            <a:lvl7pPr marL="0" marR="0" lvl="6" indent="0" algn="r" rtl="0">
              <a:spcBef>
                <a:spcPts val="0"/>
              </a:spcBef>
              <a:buNone/>
              <a:defRPr sz="1200" b="0" i="0" u="none" strike="noStrike" cap="none">
                <a:solidFill>
                  <a:schemeClr val="lt1"/>
                </a:solidFill>
                <a:latin typeface="Arial"/>
                <a:ea typeface="Arial"/>
                <a:cs typeface="Arial"/>
                <a:sym typeface="Arial"/>
              </a:defRPr>
            </a:lvl7pPr>
            <a:lvl8pPr marL="0" marR="0" lvl="7" indent="0" algn="r" rtl="0">
              <a:spcBef>
                <a:spcPts val="0"/>
              </a:spcBef>
              <a:buNone/>
              <a:defRPr sz="1200" b="0" i="0" u="none" strike="noStrike" cap="none">
                <a:solidFill>
                  <a:schemeClr val="lt1"/>
                </a:solidFill>
                <a:latin typeface="Arial"/>
                <a:ea typeface="Arial"/>
                <a:cs typeface="Arial"/>
                <a:sym typeface="Arial"/>
              </a:defRPr>
            </a:lvl8pPr>
            <a:lvl9pPr marL="0" marR="0" lvl="8" indent="0" algn="r" rtl="0">
              <a:spcBef>
                <a:spcPts val="0"/>
              </a:spcBef>
              <a:buNone/>
              <a:defRPr sz="12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
        <p:nvSpPr>
          <p:cNvPr id="93" name="Google Shape;93;p11"/>
          <p:cNvSpPr txBox="1"/>
          <p:nvPr/>
        </p:nvSpPr>
        <p:spPr>
          <a:xfrm>
            <a:off x="206188" y="6389431"/>
            <a:ext cx="525042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chemeClr val="lt1"/>
                </a:solidFill>
                <a:latin typeface="Arial"/>
                <a:ea typeface="Arial"/>
                <a:cs typeface="Arial"/>
                <a:sym typeface="Arial"/>
              </a:rPr>
              <a:t>www.theglobalhealthnetwork.org</a:t>
            </a:r>
            <a:endParaRPr sz="1800">
              <a:solidFill>
                <a:schemeClr val="lt1"/>
              </a:solidFill>
              <a:latin typeface="Arial"/>
              <a:ea typeface="Arial"/>
              <a:cs typeface="Arial"/>
              <a:sym typeface="Arial"/>
            </a:endParaRPr>
          </a:p>
        </p:txBody>
      </p:sp>
      <p:sp>
        <p:nvSpPr>
          <p:cNvPr id="94" name="Google Shape;94;p11"/>
          <p:cNvSpPr txBox="1">
            <a:spLocks noGrp="1"/>
          </p:cNvSpPr>
          <p:nvPr>
            <p:ph type="title"/>
          </p:nvPr>
        </p:nvSpPr>
        <p:spPr>
          <a:xfrm>
            <a:off x="206188" y="365125"/>
            <a:ext cx="11779624"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000"/>
              <a:buFont typeface="Noto Sans SemiBold"/>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5" name="Google Shape;95;p11"/>
          <p:cNvSpPr txBox="1">
            <a:spLocks noGrp="1"/>
          </p:cNvSpPr>
          <p:nvPr>
            <p:ph type="body" idx="1"/>
          </p:nvPr>
        </p:nvSpPr>
        <p:spPr>
          <a:xfrm>
            <a:off x="206188" y="1885443"/>
            <a:ext cx="11779623" cy="405411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6" name="Google Shape;96;p11"/>
          <p:cNvSpPr/>
          <p:nvPr/>
        </p:nvSpPr>
        <p:spPr>
          <a:xfrm>
            <a:off x="0" y="6356350"/>
            <a:ext cx="12201832" cy="501650"/>
          </a:xfrm>
          <a:prstGeom prst="rect">
            <a:avLst/>
          </a:prstGeom>
          <a:solidFill>
            <a:srgbClr val="0673BA"/>
          </a:solidFill>
          <a:ln w="19050" cap="flat" cmpd="sng">
            <a:solidFill>
              <a:srgbClr val="0673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97" name="Google Shape;97;p11"/>
          <p:cNvSpPr txBox="1"/>
          <p:nvPr/>
        </p:nvSpPr>
        <p:spPr>
          <a:xfrm>
            <a:off x="127000" y="6458693"/>
            <a:ext cx="39116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400"/>
              <a:buFont typeface="Arial"/>
              <a:buNone/>
            </a:pPr>
            <a:r>
              <a:rPr lang="en-US" sz="1400">
                <a:solidFill>
                  <a:schemeClr val="lt1"/>
                </a:solidFill>
                <a:latin typeface="Arial"/>
                <a:ea typeface="Arial"/>
                <a:cs typeface="Arial"/>
                <a:sym typeface="Arial"/>
              </a:rPr>
              <a:t>lac.tghn.org</a:t>
            </a:r>
            <a:endParaRPr sz="1400" b="0" i="0">
              <a:solidFill>
                <a:schemeClr val="lt1"/>
              </a:solidFill>
              <a:latin typeface="Arial"/>
              <a:ea typeface="Arial"/>
              <a:cs typeface="Arial"/>
              <a:sym typeface="Arial"/>
            </a:endParaRPr>
          </a:p>
        </p:txBody>
      </p:sp>
      <p:sp>
        <p:nvSpPr>
          <p:cNvPr id="98" name="Google Shape;98;p11"/>
          <p:cNvSpPr txBox="1"/>
          <p:nvPr/>
        </p:nvSpPr>
        <p:spPr>
          <a:xfrm>
            <a:off x="9080500" y="6458693"/>
            <a:ext cx="2984500" cy="30777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chemeClr val="lt1"/>
              </a:buClr>
              <a:buSzPts val="1400"/>
              <a:buFont typeface="Arial"/>
              <a:buNone/>
            </a:pPr>
            <a:fld id="{00000000-1234-1234-1234-123412341234}" type="slidenum">
              <a:rPr lang="en-US" sz="1400">
                <a:solidFill>
                  <a:schemeClr val="lt1"/>
                </a:solidFill>
                <a:latin typeface="Arial"/>
                <a:ea typeface="Arial"/>
                <a:cs typeface="Arial"/>
                <a:sym typeface="Arial"/>
              </a:rPr>
              <a:t>‹Nº›</a:t>
            </a:fld>
            <a:endParaRPr sz="1400" b="0" i="0">
              <a:solidFill>
                <a:schemeClr val="lt1"/>
              </a:solidFill>
              <a:latin typeface="Arial"/>
              <a:ea typeface="Arial"/>
              <a:cs typeface="Arial"/>
              <a:sym typeface="Arial"/>
            </a:endParaRPr>
          </a:p>
        </p:txBody>
      </p:sp>
      <p:pic>
        <p:nvPicPr>
          <p:cNvPr id="12" name="Google Shape;67;p7">
            <a:extLst>
              <a:ext uri="{FF2B5EF4-FFF2-40B4-BE49-F238E27FC236}">
                <a16:creationId xmlns:a16="http://schemas.microsoft.com/office/drawing/2014/main" id="{83ADB874-9257-4D82-B5CE-3EBB98FD61DE}"/>
              </a:ext>
            </a:extLst>
          </p:cNvPr>
          <p:cNvPicPr preferRelativeResize="0"/>
          <p:nvPr userDrawn="1"/>
        </p:nvPicPr>
        <p:blipFill>
          <a:blip r:embed="rId3"/>
          <a:srcRect/>
          <a:stretch/>
        </p:blipFill>
        <p:spPr>
          <a:xfrm>
            <a:off x="2846685" y="161363"/>
            <a:ext cx="6498629" cy="735971"/>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Title Slide">
  <p:cSld name="Main Title Slide">
    <p:spTree>
      <p:nvGrpSpPr>
        <p:cNvPr id="1" name="Shape 139"/>
        <p:cNvGrpSpPr/>
        <p:nvPr/>
      </p:nvGrpSpPr>
      <p:grpSpPr>
        <a:xfrm>
          <a:off x="0" y="0"/>
          <a:ext cx="0" cy="0"/>
          <a:chOff x="0" y="0"/>
          <a:chExt cx="0" cy="0"/>
        </a:xfrm>
      </p:grpSpPr>
      <p:sp>
        <p:nvSpPr>
          <p:cNvPr id="140" name="Google Shape;140;p15"/>
          <p:cNvSpPr/>
          <p:nvPr/>
        </p:nvSpPr>
        <p:spPr>
          <a:xfrm>
            <a:off x="9832" y="1884834"/>
            <a:ext cx="12192000" cy="4973166"/>
          </a:xfrm>
          <a:prstGeom prst="rect">
            <a:avLst/>
          </a:prstGeom>
          <a:solidFill>
            <a:srgbClr val="0673BA"/>
          </a:solidFill>
          <a:ln w="19050" cap="flat" cmpd="sng">
            <a:solidFill>
              <a:srgbClr val="0673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41" name="Google Shape;141;p15"/>
          <p:cNvPicPr preferRelativeResize="0"/>
          <p:nvPr/>
        </p:nvPicPr>
        <p:blipFill rotWithShape="1">
          <a:blip r:embed="rId2">
            <a:alphaModFix amt="10000"/>
          </a:blip>
          <a:srcRect t="10864" r="4297" b="45730"/>
          <a:stretch/>
        </p:blipFill>
        <p:spPr>
          <a:xfrm>
            <a:off x="-9832" y="1876813"/>
            <a:ext cx="12192000" cy="4989208"/>
          </a:xfrm>
          <a:prstGeom prst="rect">
            <a:avLst/>
          </a:prstGeom>
          <a:noFill/>
          <a:ln>
            <a:noFill/>
          </a:ln>
        </p:spPr>
      </p:pic>
      <p:sp>
        <p:nvSpPr>
          <p:cNvPr id="142" name="Google Shape;142;p15"/>
          <p:cNvSpPr txBox="1">
            <a:spLocks noGrp="1"/>
          </p:cNvSpPr>
          <p:nvPr>
            <p:ph type="ctrTitle"/>
          </p:nvPr>
        </p:nvSpPr>
        <p:spPr>
          <a:xfrm>
            <a:off x="206188" y="2494210"/>
            <a:ext cx="9429425" cy="19440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Noto Sans SemiBold"/>
              <a:buNone/>
              <a:defRPr sz="6000" b="1" i="0">
                <a:solidFill>
                  <a:schemeClr val="lt1"/>
                </a:solidFill>
                <a:latin typeface="Noto Sans SemiBold"/>
                <a:ea typeface="Noto Sans SemiBold"/>
                <a:cs typeface="Noto Sans SemiBold"/>
                <a:sym typeface="Noto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3" name="Google Shape;143;p15"/>
          <p:cNvSpPr txBox="1">
            <a:spLocks noGrp="1"/>
          </p:cNvSpPr>
          <p:nvPr>
            <p:ph type="subTitle" idx="1"/>
          </p:nvPr>
        </p:nvSpPr>
        <p:spPr>
          <a:xfrm>
            <a:off x="206188" y="4676105"/>
            <a:ext cx="9429425" cy="1458357"/>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400"/>
              <a:buNone/>
              <a:defRPr sz="2400" b="0" i="0">
                <a:solidFill>
                  <a:schemeClr val="lt1"/>
                </a:solidFill>
                <a:latin typeface="Noto Sans"/>
                <a:ea typeface="Noto Sans"/>
                <a:cs typeface="Noto Sans"/>
                <a:sym typeface="Noto Sa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8" name="Google Shape;67;p7">
            <a:extLst>
              <a:ext uri="{FF2B5EF4-FFF2-40B4-BE49-F238E27FC236}">
                <a16:creationId xmlns:a16="http://schemas.microsoft.com/office/drawing/2014/main" id="{B6A81CA7-6D40-45C6-9227-7616A9409CA8}"/>
              </a:ext>
            </a:extLst>
          </p:cNvPr>
          <p:cNvPicPr preferRelativeResize="0"/>
          <p:nvPr userDrawn="1"/>
        </p:nvPicPr>
        <p:blipFill>
          <a:blip r:embed="rId3"/>
          <a:srcRect/>
          <a:stretch/>
        </p:blipFill>
        <p:spPr>
          <a:xfrm>
            <a:off x="2846685" y="161363"/>
            <a:ext cx="6498629" cy="735971"/>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45"/>
        <p:cNvGrpSpPr/>
        <p:nvPr/>
      </p:nvGrpSpPr>
      <p:grpSpPr>
        <a:xfrm>
          <a:off x="0" y="0"/>
          <a:ext cx="0" cy="0"/>
          <a:chOff x="0" y="0"/>
          <a:chExt cx="0" cy="0"/>
        </a:xfrm>
      </p:grpSpPr>
      <p:sp>
        <p:nvSpPr>
          <p:cNvPr id="146" name="Google Shape;146;p16"/>
          <p:cNvSpPr/>
          <p:nvPr/>
        </p:nvSpPr>
        <p:spPr>
          <a:xfrm>
            <a:off x="0" y="6356350"/>
            <a:ext cx="12201832" cy="501650"/>
          </a:xfrm>
          <a:prstGeom prst="rect">
            <a:avLst/>
          </a:prstGeom>
          <a:solidFill>
            <a:srgbClr val="0673BA"/>
          </a:solidFill>
          <a:ln w="19050" cap="flat" cmpd="sng">
            <a:solidFill>
              <a:srgbClr val="0673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47" name="Google Shape;147;p16"/>
          <p:cNvSpPr txBox="1"/>
          <p:nvPr/>
        </p:nvSpPr>
        <p:spPr>
          <a:xfrm>
            <a:off x="127000" y="6458693"/>
            <a:ext cx="39116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400"/>
              <a:buFont typeface="Arial"/>
              <a:buNone/>
            </a:pPr>
            <a:r>
              <a:rPr lang="en-US" sz="1400">
                <a:solidFill>
                  <a:schemeClr val="lt1"/>
                </a:solidFill>
                <a:latin typeface="Arial"/>
                <a:ea typeface="Arial"/>
                <a:cs typeface="Arial"/>
                <a:sym typeface="Arial"/>
              </a:rPr>
              <a:t>lac.tghn.org</a:t>
            </a:r>
            <a:endParaRPr sz="1400" b="0" i="0">
              <a:solidFill>
                <a:schemeClr val="lt1"/>
              </a:solidFill>
              <a:latin typeface="Arial"/>
              <a:ea typeface="Arial"/>
              <a:cs typeface="Arial"/>
              <a:sym typeface="Arial"/>
            </a:endParaRPr>
          </a:p>
        </p:txBody>
      </p:sp>
      <p:sp>
        <p:nvSpPr>
          <p:cNvPr id="148" name="Google Shape;148;p16"/>
          <p:cNvSpPr txBox="1"/>
          <p:nvPr/>
        </p:nvSpPr>
        <p:spPr>
          <a:xfrm>
            <a:off x="9080500" y="6458693"/>
            <a:ext cx="2984500" cy="30777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chemeClr val="lt1"/>
              </a:buClr>
              <a:buSzPts val="1400"/>
              <a:buFont typeface="Arial"/>
              <a:buNone/>
            </a:pPr>
            <a:fld id="{00000000-1234-1234-1234-123412341234}" type="slidenum">
              <a:rPr lang="en-US" sz="1400">
                <a:solidFill>
                  <a:schemeClr val="lt1"/>
                </a:solidFill>
                <a:latin typeface="Arial"/>
                <a:ea typeface="Arial"/>
                <a:cs typeface="Arial"/>
                <a:sym typeface="Arial"/>
              </a:rPr>
              <a:t>‹Nº›</a:t>
            </a:fld>
            <a:endParaRPr sz="1400" b="0" i="0">
              <a:solidFill>
                <a:schemeClr val="lt1"/>
              </a:solidFill>
              <a:latin typeface="Arial"/>
              <a:ea typeface="Arial"/>
              <a:cs typeface="Arial"/>
              <a:sym typeface="Arial"/>
            </a:endParaRPr>
          </a:p>
        </p:txBody>
      </p:sp>
      <p:sp>
        <p:nvSpPr>
          <p:cNvPr id="149" name="Google Shape;149;p16"/>
          <p:cNvSpPr txBox="1">
            <a:spLocks noGrp="1"/>
          </p:cNvSpPr>
          <p:nvPr>
            <p:ph type="title"/>
          </p:nvPr>
        </p:nvSpPr>
        <p:spPr>
          <a:xfrm>
            <a:off x="127000" y="365125"/>
            <a:ext cx="11937998"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000"/>
              <a:buFont typeface="Noto Sans SemiBold"/>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50"/>
        <p:cNvGrpSpPr/>
        <p:nvPr/>
      </p:nvGrpSpPr>
      <p:grpSpPr>
        <a:xfrm>
          <a:off x="0" y="0"/>
          <a:ext cx="0" cy="0"/>
          <a:chOff x="0" y="0"/>
          <a:chExt cx="0" cy="0"/>
        </a:xfrm>
      </p:grpSpPr>
      <p:sp>
        <p:nvSpPr>
          <p:cNvPr id="151" name="Google Shape;151;p17"/>
          <p:cNvSpPr txBox="1">
            <a:spLocks noGrp="1"/>
          </p:cNvSpPr>
          <p:nvPr>
            <p:ph type="title"/>
          </p:nvPr>
        </p:nvSpPr>
        <p:spPr>
          <a:xfrm>
            <a:off x="127000" y="457200"/>
            <a:ext cx="4645025"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Noto Sans SemiBold"/>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2" name="Google Shape;152;p17"/>
          <p:cNvSpPr>
            <a:spLocks noGrp="1"/>
          </p:cNvSpPr>
          <p:nvPr>
            <p:ph type="pic" idx="2"/>
          </p:nvPr>
        </p:nvSpPr>
        <p:spPr>
          <a:xfrm>
            <a:off x="5183188" y="987425"/>
            <a:ext cx="6259304" cy="4873625"/>
          </a:xfrm>
          <a:prstGeom prst="rect">
            <a:avLst/>
          </a:prstGeom>
          <a:noFill/>
          <a:ln>
            <a:noFill/>
          </a:ln>
        </p:spPr>
      </p:sp>
      <p:sp>
        <p:nvSpPr>
          <p:cNvPr id="153" name="Google Shape;153;p17"/>
          <p:cNvSpPr txBox="1">
            <a:spLocks noGrp="1"/>
          </p:cNvSpPr>
          <p:nvPr>
            <p:ph type="body" idx="1"/>
          </p:nvPr>
        </p:nvSpPr>
        <p:spPr>
          <a:xfrm>
            <a:off x="749508" y="2057400"/>
            <a:ext cx="402251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54" name="Google Shape;154;p17"/>
          <p:cNvSpPr/>
          <p:nvPr/>
        </p:nvSpPr>
        <p:spPr>
          <a:xfrm>
            <a:off x="0" y="6356350"/>
            <a:ext cx="12201832" cy="501650"/>
          </a:xfrm>
          <a:prstGeom prst="rect">
            <a:avLst/>
          </a:prstGeom>
          <a:solidFill>
            <a:srgbClr val="0673BA"/>
          </a:solidFill>
          <a:ln w="19050" cap="flat" cmpd="sng">
            <a:solidFill>
              <a:srgbClr val="0673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55" name="Google Shape;155;p17"/>
          <p:cNvSpPr txBox="1"/>
          <p:nvPr/>
        </p:nvSpPr>
        <p:spPr>
          <a:xfrm>
            <a:off x="127000" y="6458693"/>
            <a:ext cx="39116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400"/>
              <a:buFont typeface="Arial"/>
              <a:buNone/>
            </a:pPr>
            <a:r>
              <a:rPr lang="en-US" sz="1400">
                <a:solidFill>
                  <a:schemeClr val="lt1"/>
                </a:solidFill>
                <a:latin typeface="Arial"/>
                <a:ea typeface="Arial"/>
                <a:cs typeface="Arial"/>
                <a:sym typeface="Arial"/>
              </a:rPr>
              <a:t>lac.tghn.org</a:t>
            </a:r>
            <a:endParaRPr sz="1400" b="0" i="0">
              <a:solidFill>
                <a:schemeClr val="lt1"/>
              </a:solidFill>
              <a:latin typeface="Arial"/>
              <a:ea typeface="Arial"/>
              <a:cs typeface="Arial"/>
              <a:sym typeface="Arial"/>
            </a:endParaRPr>
          </a:p>
        </p:txBody>
      </p:sp>
      <p:sp>
        <p:nvSpPr>
          <p:cNvPr id="156" name="Google Shape;156;p17"/>
          <p:cNvSpPr txBox="1"/>
          <p:nvPr/>
        </p:nvSpPr>
        <p:spPr>
          <a:xfrm>
            <a:off x="9080500" y="6458693"/>
            <a:ext cx="2984500" cy="30777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chemeClr val="lt1"/>
              </a:buClr>
              <a:buSzPts val="1400"/>
              <a:buFont typeface="Arial"/>
              <a:buNone/>
            </a:pPr>
            <a:fld id="{00000000-1234-1234-1234-123412341234}" type="slidenum">
              <a:rPr lang="en-US" sz="1400">
                <a:solidFill>
                  <a:schemeClr val="lt1"/>
                </a:solidFill>
                <a:latin typeface="Arial"/>
                <a:ea typeface="Arial"/>
                <a:cs typeface="Arial"/>
                <a:sym typeface="Arial"/>
              </a:rPr>
              <a:t>‹Nº›</a:t>
            </a:fld>
            <a:endParaRPr sz="1400" b="0" i="0">
              <a:solidFill>
                <a:schemeClr val="lt1"/>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57"/>
        <p:cNvGrpSpPr/>
        <p:nvPr/>
      </p:nvGrpSpPr>
      <p:grpSpPr>
        <a:xfrm>
          <a:off x="0" y="0"/>
          <a:ext cx="0" cy="0"/>
          <a:chOff x="0" y="0"/>
          <a:chExt cx="0" cy="0"/>
        </a:xfrm>
      </p:grpSpPr>
      <p:sp>
        <p:nvSpPr>
          <p:cNvPr id="158" name="Google Shape;158;p18"/>
          <p:cNvSpPr txBox="1">
            <a:spLocks noGrp="1"/>
          </p:cNvSpPr>
          <p:nvPr>
            <p:ph type="title"/>
          </p:nvPr>
        </p:nvSpPr>
        <p:spPr>
          <a:xfrm>
            <a:off x="838200" y="365125"/>
            <a:ext cx="11226800" cy="13874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9" name="Google Shape;159;p18"/>
          <p:cNvSpPr txBox="1">
            <a:spLocks noGrp="1"/>
          </p:cNvSpPr>
          <p:nvPr>
            <p:ph type="body" idx="1"/>
          </p:nvPr>
        </p:nvSpPr>
        <p:spPr>
          <a:xfrm rot="5400000">
            <a:off x="4698805" y="-1189232"/>
            <a:ext cx="4691063" cy="1004132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0" name="Google Shape;160;p18"/>
          <p:cNvSpPr/>
          <p:nvPr/>
        </p:nvSpPr>
        <p:spPr>
          <a:xfrm>
            <a:off x="0" y="6356350"/>
            <a:ext cx="12201832" cy="501650"/>
          </a:xfrm>
          <a:prstGeom prst="rect">
            <a:avLst/>
          </a:prstGeom>
          <a:solidFill>
            <a:srgbClr val="0673BA"/>
          </a:solidFill>
          <a:ln w="19050" cap="flat" cmpd="sng">
            <a:solidFill>
              <a:srgbClr val="0673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61" name="Google Shape;161;p18"/>
          <p:cNvSpPr txBox="1"/>
          <p:nvPr/>
        </p:nvSpPr>
        <p:spPr>
          <a:xfrm>
            <a:off x="127000" y="6458693"/>
            <a:ext cx="39116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400"/>
              <a:buFont typeface="Arial"/>
              <a:buNone/>
            </a:pPr>
            <a:r>
              <a:rPr lang="en-US" sz="1400">
                <a:solidFill>
                  <a:schemeClr val="lt1"/>
                </a:solidFill>
                <a:latin typeface="Arial"/>
                <a:ea typeface="Arial"/>
                <a:cs typeface="Arial"/>
                <a:sym typeface="Arial"/>
              </a:rPr>
              <a:t>lac.tghn.org</a:t>
            </a:r>
            <a:endParaRPr sz="1400" b="0" i="0">
              <a:solidFill>
                <a:schemeClr val="lt1"/>
              </a:solidFill>
              <a:latin typeface="Arial"/>
              <a:ea typeface="Arial"/>
              <a:cs typeface="Arial"/>
              <a:sym typeface="Arial"/>
            </a:endParaRPr>
          </a:p>
        </p:txBody>
      </p:sp>
      <p:sp>
        <p:nvSpPr>
          <p:cNvPr id="162" name="Google Shape;162;p18"/>
          <p:cNvSpPr txBox="1"/>
          <p:nvPr/>
        </p:nvSpPr>
        <p:spPr>
          <a:xfrm>
            <a:off x="9080500" y="6458693"/>
            <a:ext cx="2984500" cy="30777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chemeClr val="lt1"/>
              </a:buClr>
              <a:buSzPts val="1400"/>
              <a:buFont typeface="Arial"/>
              <a:buNone/>
            </a:pPr>
            <a:fld id="{00000000-1234-1234-1234-123412341234}" type="slidenum">
              <a:rPr lang="en-US" sz="1400">
                <a:solidFill>
                  <a:schemeClr val="lt1"/>
                </a:solidFill>
                <a:latin typeface="Arial"/>
                <a:ea typeface="Arial"/>
                <a:cs typeface="Arial"/>
                <a:sym typeface="Arial"/>
              </a:rPr>
              <a:t>‹Nº›</a:t>
            </a:fld>
            <a:endParaRPr sz="1400" b="0" i="0">
              <a:solidFill>
                <a:schemeClr val="lt1"/>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63"/>
        <p:cNvGrpSpPr/>
        <p:nvPr/>
      </p:nvGrpSpPr>
      <p:grpSpPr>
        <a:xfrm>
          <a:off x="0" y="0"/>
          <a:ext cx="0" cy="0"/>
          <a:chOff x="0" y="0"/>
          <a:chExt cx="0" cy="0"/>
        </a:xfrm>
      </p:grpSpPr>
      <p:sp>
        <p:nvSpPr>
          <p:cNvPr id="164" name="Google Shape;164;p19"/>
          <p:cNvSpPr txBox="1">
            <a:spLocks noGrp="1"/>
          </p:cNvSpPr>
          <p:nvPr>
            <p:ph type="title"/>
          </p:nvPr>
        </p:nvSpPr>
        <p:spPr>
          <a:xfrm rot="5400000">
            <a:off x="7489031" y="1600994"/>
            <a:ext cx="5811838" cy="3340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5" name="Google Shape;165;p19"/>
          <p:cNvSpPr txBox="1">
            <a:spLocks noGrp="1"/>
          </p:cNvSpPr>
          <p:nvPr>
            <p:ph type="body" idx="1"/>
          </p:nvPr>
        </p:nvSpPr>
        <p:spPr>
          <a:xfrm rot="5400000">
            <a:off x="1443831" y="-951706"/>
            <a:ext cx="5811838" cy="84455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6" name="Google Shape;166;p19"/>
          <p:cNvSpPr/>
          <p:nvPr/>
        </p:nvSpPr>
        <p:spPr>
          <a:xfrm>
            <a:off x="0" y="6356350"/>
            <a:ext cx="12201832" cy="501650"/>
          </a:xfrm>
          <a:prstGeom prst="rect">
            <a:avLst/>
          </a:prstGeom>
          <a:solidFill>
            <a:srgbClr val="0673BA"/>
          </a:solidFill>
          <a:ln w="19050" cap="flat" cmpd="sng">
            <a:solidFill>
              <a:srgbClr val="0673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67" name="Google Shape;167;p19"/>
          <p:cNvSpPr txBox="1"/>
          <p:nvPr/>
        </p:nvSpPr>
        <p:spPr>
          <a:xfrm>
            <a:off x="127000" y="6458693"/>
            <a:ext cx="39116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400"/>
              <a:buFont typeface="Arial"/>
              <a:buNone/>
            </a:pPr>
            <a:r>
              <a:rPr lang="en-US" sz="1400">
                <a:solidFill>
                  <a:schemeClr val="lt1"/>
                </a:solidFill>
                <a:latin typeface="Arial"/>
                <a:ea typeface="Arial"/>
                <a:cs typeface="Arial"/>
                <a:sym typeface="Arial"/>
              </a:rPr>
              <a:t>lac.tghn.org</a:t>
            </a:r>
            <a:endParaRPr sz="1400" b="0" i="0">
              <a:solidFill>
                <a:schemeClr val="lt1"/>
              </a:solidFill>
              <a:latin typeface="Arial"/>
              <a:ea typeface="Arial"/>
              <a:cs typeface="Arial"/>
              <a:sym typeface="Arial"/>
            </a:endParaRPr>
          </a:p>
        </p:txBody>
      </p:sp>
      <p:sp>
        <p:nvSpPr>
          <p:cNvPr id="168" name="Google Shape;168;p19"/>
          <p:cNvSpPr txBox="1"/>
          <p:nvPr/>
        </p:nvSpPr>
        <p:spPr>
          <a:xfrm>
            <a:off x="9080500" y="6458693"/>
            <a:ext cx="2984500" cy="30777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chemeClr val="lt1"/>
              </a:buClr>
              <a:buSzPts val="1400"/>
              <a:buFont typeface="Arial"/>
              <a:buNone/>
            </a:pPr>
            <a:fld id="{00000000-1234-1234-1234-123412341234}" type="slidenum">
              <a:rPr lang="en-US" sz="1400">
                <a:solidFill>
                  <a:schemeClr val="lt1"/>
                </a:solidFill>
                <a:latin typeface="Arial"/>
                <a:ea typeface="Arial"/>
                <a:cs typeface="Arial"/>
                <a:sym typeface="Arial"/>
              </a:rPr>
              <a:t>‹Nº›</a:t>
            </a:fld>
            <a:endParaRPr sz="1400" b="0" i="0">
              <a:solidFill>
                <a:schemeClr val="lt1"/>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3_Title and Content">
  <p:cSld name="3_Title and Content">
    <p:spTree>
      <p:nvGrpSpPr>
        <p:cNvPr id="1" name="Shape 169"/>
        <p:cNvGrpSpPr/>
        <p:nvPr/>
      </p:nvGrpSpPr>
      <p:grpSpPr>
        <a:xfrm>
          <a:off x="0" y="0"/>
          <a:ext cx="0" cy="0"/>
          <a:chOff x="0" y="0"/>
          <a:chExt cx="0" cy="0"/>
        </a:xfrm>
      </p:grpSpPr>
      <p:sp>
        <p:nvSpPr>
          <p:cNvPr id="170" name="Google Shape;170;p20"/>
          <p:cNvSpPr/>
          <p:nvPr/>
        </p:nvSpPr>
        <p:spPr>
          <a:xfrm>
            <a:off x="0" y="6356350"/>
            <a:ext cx="12201832" cy="501650"/>
          </a:xfrm>
          <a:prstGeom prst="rect">
            <a:avLst/>
          </a:prstGeom>
          <a:solidFill>
            <a:srgbClr val="0673BA"/>
          </a:solidFill>
          <a:ln w="19050" cap="flat" cmpd="sng">
            <a:solidFill>
              <a:srgbClr val="0673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71" name="Google Shape;171;p20"/>
          <p:cNvSpPr txBox="1"/>
          <p:nvPr/>
        </p:nvSpPr>
        <p:spPr>
          <a:xfrm>
            <a:off x="127000" y="6458693"/>
            <a:ext cx="39116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400"/>
              <a:buFont typeface="Arial"/>
              <a:buNone/>
            </a:pPr>
            <a:r>
              <a:rPr lang="en-US" sz="1400">
                <a:solidFill>
                  <a:schemeClr val="lt1"/>
                </a:solidFill>
                <a:latin typeface="Arial"/>
                <a:ea typeface="Arial"/>
                <a:cs typeface="Arial"/>
                <a:sym typeface="Arial"/>
              </a:rPr>
              <a:t>lac.tghn.org</a:t>
            </a:r>
            <a:endParaRPr sz="1400" b="0" i="0">
              <a:solidFill>
                <a:schemeClr val="lt1"/>
              </a:solidFill>
              <a:latin typeface="Arial"/>
              <a:ea typeface="Arial"/>
              <a:cs typeface="Arial"/>
              <a:sym typeface="Arial"/>
            </a:endParaRPr>
          </a:p>
        </p:txBody>
      </p:sp>
      <p:sp>
        <p:nvSpPr>
          <p:cNvPr id="172" name="Google Shape;172;p20"/>
          <p:cNvSpPr txBox="1"/>
          <p:nvPr/>
        </p:nvSpPr>
        <p:spPr>
          <a:xfrm>
            <a:off x="8816787" y="4382770"/>
            <a:ext cx="3375213"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200">
                <a:solidFill>
                  <a:schemeClr val="lt1"/>
                </a:solidFill>
                <a:latin typeface="Arial"/>
                <a:ea typeface="Arial"/>
                <a:cs typeface="Arial"/>
                <a:sym typeface="Arial"/>
              </a:rPr>
              <a:t>‹Nº›</a:t>
            </a:fld>
            <a:endParaRPr sz="1200">
              <a:solidFill>
                <a:schemeClr val="lt1"/>
              </a:solidFill>
              <a:latin typeface="Arial"/>
              <a:ea typeface="Arial"/>
              <a:cs typeface="Arial"/>
              <a:sym typeface="Arial"/>
            </a:endParaRPr>
          </a:p>
        </p:txBody>
      </p:sp>
      <p:sp>
        <p:nvSpPr>
          <p:cNvPr id="173" name="Google Shape;173;p20"/>
          <p:cNvSpPr txBox="1"/>
          <p:nvPr/>
        </p:nvSpPr>
        <p:spPr>
          <a:xfrm>
            <a:off x="9080500" y="6458693"/>
            <a:ext cx="2984500" cy="30777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chemeClr val="lt1"/>
              </a:buClr>
              <a:buSzPts val="1400"/>
              <a:buFont typeface="Arial"/>
              <a:buNone/>
            </a:pPr>
            <a:fld id="{00000000-1234-1234-1234-123412341234}" type="slidenum">
              <a:rPr lang="en-US" sz="1400">
                <a:solidFill>
                  <a:schemeClr val="lt1"/>
                </a:solidFill>
                <a:latin typeface="Arial"/>
                <a:ea typeface="Arial"/>
                <a:cs typeface="Arial"/>
                <a:sym typeface="Arial"/>
              </a:rPr>
              <a:t>‹Nº›</a:t>
            </a:fld>
            <a:endParaRPr sz="1400" b="0" i="0">
              <a:solidFill>
                <a:schemeClr val="lt1"/>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E4F96F-8F72-42AA-A830-A0E3809246B0}"/>
              </a:ext>
            </a:extLst>
          </p:cNvPr>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endParaRPr lang="es-CO"/>
          </a:p>
        </p:txBody>
      </p:sp>
      <p:sp>
        <p:nvSpPr>
          <p:cNvPr id="3" name="Subtítulo 2">
            <a:extLst>
              <a:ext uri="{FF2B5EF4-FFF2-40B4-BE49-F238E27FC236}">
                <a16:creationId xmlns:a16="http://schemas.microsoft.com/office/drawing/2014/main" id="{62FC1A8F-408C-49E7-BC11-8DB03E679AC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CO"/>
          </a:p>
        </p:txBody>
      </p:sp>
      <p:sp>
        <p:nvSpPr>
          <p:cNvPr id="4" name="Marcador de fecha 3">
            <a:extLst>
              <a:ext uri="{FF2B5EF4-FFF2-40B4-BE49-F238E27FC236}">
                <a16:creationId xmlns:a16="http://schemas.microsoft.com/office/drawing/2014/main" id="{C715ABDB-8A25-4CE5-8FA4-A83E75AC8948}"/>
              </a:ext>
            </a:extLst>
          </p:cNvPr>
          <p:cNvSpPr>
            <a:spLocks noGrp="1"/>
          </p:cNvSpPr>
          <p:nvPr>
            <p:ph type="dt" sz="half" idx="10"/>
          </p:nvPr>
        </p:nvSpPr>
        <p:spPr/>
        <p:txBody>
          <a:bodyPr/>
          <a:lstStyle/>
          <a:p>
            <a:fld id="{93E9D6B8-5579-43BB-B455-9065CD0ADFC9}" type="datetimeFigureOut">
              <a:rPr lang="es-CO" smtClean="0"/>
              <a:t>5/10/2026</a:t>
            </a:fld>
            <a:endParaRPr lang="es-CO"/>
          </a:p>
        </p:txBody>
      </p:sp>
      <p:sp>
        <p:nvSpPr>
          <p:cNvPr id="5" name="Marcador de pie de página 4">
            <a:extLst>
              <a:ext uri="{FF2B5EF4-FFF2-40B4-BE49-F238E27FC236}">
                <a16:creationId xmlns:a16="http://schemas.microsoft.com/office/drawing/2014/main" id="{004D3370-BAA1-422C-8F8B-AD255E545EAD}"/>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D6A4B5AF-298D-4A41-9C43-8A942868F725}"/>
              </a:ext>
            </a:extLst>
          </p:cNvPr>
          <p:cNvSpPr>
            <a:spLocks noGrp="1"/>
          </p:cNvSpPr>
          <p:nvPr>
            <p:ph type="sldNum" sz="quarter" idx="12"/>
          </p:nvPr>
        </p:nvSpPr>
        <p:spPr/>
        <p:txBody>
          <a:bodyPr/>
          <a:lstStyle/>
          <a:p>
            <a:fld id="{F02EE436-99F1-4F6D-A5FC-68F56FAEBAFB}" type="slidenum">
              <a:rPr lang="es-CO" smtClean="0"/>
              <a:t>‹Nº›</a:t>
            </a:fld>
            <a:endParaRPr lang="es-CO"/>
          </a:p>
        </p:txBody>
      </p:sp>
    </p:spTree>
    <p:extLst>
      <p:ext uri="{BB962C8B-B14F-4D97-AF65-F5344CB8AC3E}">
        <p14:creationId xmlns:p14="http://schemas.microsoft.com/office/powerpoint/2010/main" val="9979792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9EDC9D-05C8-43F2-BFF8-2B3D6C314F4E}"/>
              </a:ext>
            </a:extLst>
          </p:cNvPr>
          <p:cNvSpPr>
            <a:spLocks noGrp="1"/>
          </p:cNvSpPr>
          <p:nvPr>
            <p:ph type="title"/>
          </p:nvPr>
        </p:nvSpPr>
        <p:spPr/>
        <p:txBody>
          <a:bodyPr/>
          <a:lstStyle/>
          <a:p>
            <a:r>
              <a:rPr lang="es-MX"/>
              <a:t>Haz clic para modificar el estilo de título del patrón</a:t>
            </a:r>
            <a:endParaRPr lang="es-CO"/>
          </a:p>
        </p:txBody>
      </p:sp>
      <p:sp>
        <p:nvSpPr>
          <p:cNvPr id="3" name="Marcador de contenido 2">
            <a:extLst>
              <a:ext uri="{FF2B5EF4-FFF2-40B4-BE49-F238E27FC236}">
                <a16:creationId xmlns:a16="http://schemas.microsoft.com/office/drawing/2014/main" id="{C145C3B5-F63E-4B19-ACC5-CEF14D07904F}"/>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2EE9140F-A1C7-4CDC-B9EB-1E88AB997A99}"/>
              </a:ext>
            </a:extLst>
          </p:cNvPr>
          <p:cNvSpPr>
            <a:spLocks noGrp="1"/>
          </p:cNvSpPr>
          <p:nvPr>
            <p:ph type="dt" sz="half" idx="10"/>
          </p:nvPr>
        </p:nvSpPr>
        <p:spPr/>
        <p:txBody>
          <a:bodyPr/>
          <a:lstStyle/>
          <a:p>
            <a:fld id="{93E9D6B8-5579-43BB-B455-9065CD0ADFC9}" type="datetimeFigureOut">
              <a:rPr lang="es-CO" smtClean="0"/>
              <a:t>5/10/2026</a:t>
            </a:fld>
            <a:endParaRPr lang="es-CO"/>
          </a:p>
        </p:txBody>
      </p:sp>
      <p:sp>
        <p:nvSpPr>
          <p:cNvPr id="5" name="Marcador de pie de página 4">
            <a:extLst>
              <a:ext uri="{FF2B5EF4-FFF2-40B4-BE49-F238E27FC236}">
                <a16:creationId xmlns:a16="http://schemas.microsoft.com/office/drawing/2014/main" id="{EC441BAD-AE44-4F3A-A469-633D090C1CC1}"/>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1C69355-8B2D-4D94-8A7C-BB960A00A92F}"/>
              </a:ext>
            </a:extLst>
          </p:cNvPr>
          <p:cNvSpPr>
            <a:spLocks noGrp="1"/>
          </p:cNvSpPr>
          <p:nvPr>
            <p:ph type="sldNum" sz="quarter" idx="12"/>
          </p:nvPr>
        </p:nvSpPr>
        <p:spPr/>
        <p:txBody>
          <a:bodyPr/>
          <a:lstStyle/>
          <a:p>
            <a:fld id="{F02EE436-99F1-4F6D-A5FC-68F56FAEBAFB}" type="slidenum">
              <a:rPr lang="es-CO" smtClean="0"/>
              <a:t>‹Nº›</a:t>
            </a:fld>
            <a:endParaRPr lang="es-CO"/>
          </a:p>
        </p:txBody>
      </p:sp>
    </p:spTree>
    <p:extLst>
      <p:ext uri="{BB962C8B-B14F-4D97-AF65-F5344CB8AC3E}">
        <p14:creationId xmlns:p14="http://schemas.microsoft.com/office/powerpoint/2010/main" val="28296105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40A942-2659-469A-96B1-B1682C1A6F14}"/>
              </a:ext>
            </a:extLst>
          </p:cNvPr>
          <p:cNvSpPr>
            <a:spLocks noGrp="1"/>
          </p:cNvSpPr>
          <p:nvPr>
            <p:ph type="title"/>
          </p:nvPr>
        </p:nvSpPr>
        <p:spPr>
          <a:xfrm>
            <a:off x="831850" y="1709738"/>
            <a:ext cx="10515600" cy="2852737"/>
          </a:xfrm>
        </p:spPr>
        <p:txBody>
          <a:bodyPr anchor="b"/>
          <a:lstStyle>
            <a:lvl1pPr>
              <a:defRPr sz="6000"/>
            </a:lvl1pPr>
          </a:lstStyle>
          <a:p>
            <a:r>
              <a:rPr lang="es-MX"/>
              <a:t>Haz clic para modificar el estilo de título del patrón</a:t>
            </a:r>
            <a:endParaRPr lang="es-CO"/>
          </a:p>
        </p:txBody>
      </p:sp>
      <p:sp>
        <p:nvSpPr>
          <p:cNvPr id="3" name="Marcador de texto 2">
            <a:extLst>
              <a:ext uri="{FF2B5EF4-FFF2-40B4-BE49-F238E27FC236}">
                <a16:creationId xmlns:a16="http://schemas.microsoft.com/office/drawing/2014/main" id="{A66D8770-FC43-4E13-BB6E-56F4293D4BF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MX"/>
              <a:t>Haga clic para modificar los estilos de texto del patrón</a:t>
            </a:r>
          </a:p>
        </p:txBody>
      </p:sp>
      <p:sp>
        <p:nvSpPr>
          <p:cNvPr id="4" name="Marcador de fecha 3">
            <a:extLst>
              <a:ext uri="{FF2B5EF4-FFF2-40B4-BE49-F238E27FC236}">
                <a16:creationId xmlns:a16="http://schemas.microsoft.com/office/drawing/2014/main" id="{65BDF625-DEA1-4CD4-99D6-09126F49C4A6}"/>
              </a:ext>
            </a:extLst>
          </p:cNvPr>
          <p:cNvSpPr>
            <a:spLocks noGrp="1"/>
          </p:cNvSpPr>
          <p:nvPr>
            <p:ph type="dt" sz="half" idx="10"/>
          </p:nvPr>
        </p:nvSpPr>
        <p:spPr/>
        <p:txBody>
          <a:bodyPr/>
          <a:lstStyle/>
          <a:p>
            <a:fld id="{93E9D6B8-5579-43BB-B455-9065CD0ADFC9}" type="datetimeFigureOut">
              <a:rPr lang="es-CO" smtClean="0"/>
              <a:t>5/10/2026</a:t>
            </a:fld>
            <a:endParaRPr lang="es-CO"/>
          </a:p>
        </p:txBody>
      </p:sp>
      <p:sp>
        <p:nvSpPr>
          <p:cNvPr id="5" name="Marcador de pie de página 4">
            <a:extLst>
              <a:ext uri="{FF2B5EF4-FFF2-40B4-BE49-F238E27FC236}">
                <a16:creationId xmlns:a16="http://schemas.microsoft.com/office/drawing/2014/main" id="{D518CB36-A5BE-4360-8438-EE069D2436E7}"/>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D110941-6122-4A96-B0B9-837401AC8DD4}"/>
              </a:ext>
            </a:extLst>
          </p:cNvPr>
          <p:cNvSpPr>
            <a:spLocks noGrp="1"/>
          </p:cNvSpPr>
          <p:nvPr>
            <p:ph type="sldNum" sz="quarter" idx="12"/>
          </p:nvPr>
        </p:nvSpPr>
        <p:spPr/>
        <p:txBody>
          <a:bodyPr/>
          <a:lstStyle/>
          <a:p>
            <a:fld id="{F02EE436-99F1-4F6D-A5FC-68F56FAEBAFB}" type="slidenum">
              <a:rPr lang="es-CO" smtClean="0"/>
              <a:t>‹Nº›</a:t>
            </a:fld>
            <a:endParaRPr lang="es-CO"/>
          </a:p>
        </p:txBody>
      </p:sp>
    </p:spTree>
    <p:extLst>
      <p:ext uri="{BB962C8B-B14F-4D97-AF65-F5344CB8AC3E}">
        <p14:creationId xmlns:p14="http://schemas.microsoft.com/office/powerpoint/2010/main" val="33336076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02DA1D2-61E3-4076-A24A-57C8C8FF663A}"/>
              </a:ext>
            </a:extLst>
          </p:cNvPr>
          <p:cNvSpPr>
            <a:spLocks noGrp="1"/>
          </p:cNvSpPr>
          <p:nvPr>
            <p:ph type="title"/>
          </p:nvPr>
        </p:nvSpPr>
        <p:spPr/>
        <p:txBody>
          <a:bodyPr/>
          <a:lstStyle/>
          <a:p>
            <a:r>
              <a:rPr lang="es-MX"/>
              <a:t>Haz clic para modificar el estilo de título del patrón</a:t>
            </a:r>
            <a:endParaRPr lang="es-CO"/>
          </a:p>
        </p:txBody>
      </p:sp>
      <p:sp>
        <p:nvSpPr>
          <p:cNvPr id="3" name="Marcador de contenido 2">
            <a:extLst>
              <a:ext uri="{FF2B5EF4-FFF2-40B4-BE49-F238E27FC236}">
                <a16:creationId xmlns:a16="http://schemas.microsoft.com/office/drawing/2014/main" id="{360C5A68-CCB3-4B07-B11D-2F9063C8BE77}"/>
              </a:ext>
            </a:extLst>
          </p:cNvPr>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contenido 3">
            <a:extLst>
              <a:ext uri="{FF2B5EF4-FFF2-40B4-BE49-F238E27FC236}">
                <a16:creationId xmlns:a16="http://schemas.microsoft.com/office/drawing/2014/main" id="{34F30839-7E32-4EF4-98F5-B8CFDE5145B0}"/>
              </a:ext>
            </a:extLst>
          </p:cNvPr>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5" name="Marcador de fecha 4">
            <a:extLst>
              <a:ext uri="{FF2B5EF4-FFF2-40B4-BE49-F238E27FC236}">
                <a16:creationId xmlns:a16="http://schemas.microsoft.com/office/drawing/2014/main" id="{978BC141-8D36-4B86-8A3E-3B8EED3491A1}"/>
              </a:ext>
            </a:extLst>
          </p:cNvPr>
          <p:cNvSpPr>
            <a:spLocks noGrp="1"/>
          </p:cNvSpPr>
          <p:nvPr>
            <p:ph type="dt" sz="half" idx="10"/>
          </p:nvPr>
        </p:nvSpPr>
        <p:spPr/>
        <p:txBody>
          <a:bodyPr/>
          <a:lstStyle/>
          <a:p>
            <a:fld id="{93E9D6B8-5579-43BB-B455-9065CD0ADFC9}" type="datetimeFigureOut">
              <a:rPr lang="es-CO" smtClean="0"/>
              <a:t>5/10/2026</a:t>
            </a:fld>
            <a:endParaRPr lang="es-CO"/>
          </a:p>
        </p:txBody>
      </p:sp>
      <p:sp>
        <p:nvSpPr>
          <p:cNvPr id="6" name="Marcador de pie de página 5">
            <a:extLst>
              <a:ext uri="{FF2B5EF4-FFF2-40B4-BE49-F238E27FC236}">
                <a16:creationId xmlns:a16="http://schemas.microsoft.com/office/drawing/2014/main" id="{0EB82771-11DA-4C33-8E36-A3D010AA9D3D}"/>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0F0E41EA-7EEC-4B11-911C-5B52655F8433}"/>
              </a:ext>
            </a:extLst>
          </p:cNvPr>
          <p:cNvSpPr>
            <a:spLocks noGrp="1"/>
          </p:cNvSpPr>
          <p:nvPr>
            <p:ph type="sldNum" sz="quarter" idx="12"/>
          </p:nvPr>
        </p:nvSpPr>
        <p:spPr/>
        <p:txBody>
          <a:bodyPr/>
          <a:lstStyle/>
          <a:p>
            <a:fld id="{F02EE436-99F1-4F6D-A5FC-68F56FAEBAFB}" type="slidenum">
              <a:rPr lang="es-CO" smtClean="0"/>
              <a:t>‹Nº›</a:t>
            </a:fld>
            <a:endParaRPr lang="es-CO"/>
          </a:p>
        </p:txBody>
      </p:sp>
    </p:spTree>
    <p:extLst>
      <p:ext uri="{BB962C8B-B14F-4D97-AF65-F5344CB8AC3E}">
        <p14:creationId xmlns:p14="http://schemas.microsoft.com/office/powerpoint/2010/main" val="17308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188004-2276-4511-ADB3-AF8DC1418D32}"/>
              </a:ext>
            </a:extLst>
          </p:cNvPr>
          <p:cNvSpPr>
            <a:spLocks noGrp="1"/>
          </p:cNvSpPr>
          <p:nvPr>
            <p:ph type="title"/>
          </p:nvPr>
        </p:nvSpPr>
        <p:spPr>
          <a:xfrm>
            <a:off x="839788" y="365125"/>
            <a:ext cx="10515600" cy="1325563"/>
          </a:xfrm>
        </p:spPr>
        <p:txBody>
          <a:bodyPr/>
          <a:lstStyle/>
          <a:p>
            <a:r>
              <a:rPr lang="es-MX"/>
              <a:t>Haz clic para modificar el estilo de título del patrón</a:t>
            </a:r>
            <a:endParaRPr lang="es-CO"/>
          </a:p>
        </p:txBody>
      </p:sp>
      <p:sp>
        <p:nvSpPr>
          <p:cNvPr id="3" name="Marcador de texto 2">
            <a:extLst>
              <a:ext uri="{FF2B5EF4-FFF2-40B4-BE49-F238E27FC236}">
                <a16:creationId xmlns:a16="http://schemas.microsoft.com/office/drawing/2014/main" id="{F0D45D54-F2D6-4C67-A262-C8E71DF986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Marcador de contenido 3">
            <a:extLst>
              <a:ext uri="{FF2B5EF4-FFF2-40B4-BE49-F238E27FC236}">
                <a16:creationId xmlns:a16="http://schemas.microsoft.com/office/drawing/2014/main" id="{DAF44F1B-F6B9-486C-A32E-B9E1AD228A35}"/>
              </a:ext>
            </a:extLst>
          </p:cNvPr>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5" name="Marcador de texto 4">
            <a:extLst>
              <a:ext uri="{FF2B5EF4-FFF2-40B4-BE49-F238E27FC236}">
                <a16:creationId xmlns:a16="http://schemas.microsoft.com/office/drawing/2014/main" id="{0B0B35D0-AC0D-4F38-8BA6-F142A129A7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Marcador de contenido 5">
            <a:extLst>
              <a:ext uri="{FF2B5EF4-FFF2-40B4-BE49-F238E27FC236}">
                <a16:creationId xmlns:a16="http://schemas.microsoft.com/office/drawing/2014/main" id="{A1E2750E-4A92-48D5-A3D7-F789EDBC9DCB}"/>
              </a:ext>
            </a:extLst>
          </p:cNvPr>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7" name="Marcador de fecha 6">
            <a:extLst>
              <a:ext uri="{FF2B5EF4-FFF2-40B4-BE49-F238E27FC236}">
                <a16:creationId xmlns:a16="http://schemas.microsoft.com/office/drawing/2014/main" id="{86EF02BB-19B7-4E3C-B37F-38F643782894}"/>
              </a:ext>
            </a:extLst>
          </p:cNvPr>
          <p:cNvSpPr>
            <a:spLocks noGrp="1"/>
          </p:cNvSpPr>
          <p:nvPr>
            <p:ph type="dt" sz="half" idx="10"/>
          </p:nvPr>
        </p:nvSpPr>
        <p:spPr/>
        <p:txBody>
          <a:bodyPr/>
          <a:lstStyle/>
          <a:p>
            <a:fld id="{93E9D6B8-5579-43BB-B455-9065CD0ADFC9}" type="datetimeFigureOut">
              <a:rPr lang="es-CO" smtClean="0"/>
              <a:t>5/10/2026</a:t>
            </a:fld>
            <a:endParaRPr lang="es-CO"/>
          </a:p>
        </p:txBody>
      </p:sp>
      <p:sp>
        <p:nvSpPr>
          <p:cNvPr id="8" name="Marcador de pie de página 7">
            <a:extLst>
              <a:ext uri="{FF2B5EF4-FFF2-40B4-BE49-F238E27FC236}">
                <a16:creationId xmlns:a16="http://schemas.microsoft.com/office/drawing/2014/main" id="{EE04AECE-A522-4AD6-A703-EDA07245EBD7}"/>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1F67E73B-7679-4D78-A03D-10B39C6C5F39}"/>
              </a:ext>
            </a:extLst>
          </p:cNvPr>
          <p:cNvSpPr>
            <a:spLocks noGrp="1"/>
          </p:cNvSpPr>
          <p:nvPr>
            <p:ph type="sldNum" sz="quarter" idx="12"/>
          </p:nvPr>
        </p:nvSpPr>
        <p:spPr/>
        <p:txBody>
          <a:bodyPr/>
          <a:lstStyle/>
          <a:p>
            <a:fld id="{F02EE436-99F1-4F6D-A5FC-68F56FAEBAFB}" type="slidenum">
              <a:rPr lang="es-CO" smtClean="0"/>
              <a:t>‹Nº›</a:t>
            </a:fld>
            <a:endParaRPr lang="es-CO"/>
          </a:p>
        </p:txBody>
      </p:sp>
    </p:spTree>
    <p:extLst>
      <p:ext uri="{BB962C8B-B14F-4D97-AF65-F5344CB8AC3E}">
        <p14:creationId xmlns:p14="http://schemas.microsoft.com/office/powerpoint/2010/main" val="5339793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4BACF1-2609-431A-AAAF-4C02EE3785C8}"/>
              </a:ext>
            </a:extLst>
          </p:cNvPr>
          <p:cNvSpPr>
            <a:spLocks noGrp="1"/>
          </p:cNvSpPr>
          <p:nvPr>
            <p:ph type="title"/>
          </p:nvPr>
        </p:nvSpPr>
        <p:spPr/>
        <p:txBody>
          <a:bodyPr/>
          <a:lstStyle/>
          <a:p>
            <a:r>
              <a:rPr lang="es-MX"/>
              <a:t>Haz clic para modificar el estilo de título del patrón</a:t>
            </a:r>
            <a:endParaRPr lang="es-CO"/>
          </a:p>
        </p:txBody>
      </p:sp>
      <p:sp>
        <p:nvSpPr>
          <p:cNvPr id="3" name="Marcador de fecha 2">
            <a:extLst>
              <a:ext uri="{FF2B5EF4-FFF2-40B4-BE49-F238E27FC236}">
                <a16:creationId xmlns:a16="http://schemas.microsoft.com/office/drawing/2014/main" id="{F02BE7A7-3C3C-4AD5-A98D-B6C877A5E473}"/>
              </a:ext>
            </a:extLst>
          </p:cNvPr>
          <p:cNvSpPr>
            <a:spLocks noGrp="1"/>
          </p:cNvSpPr>
          <p:nvPr>
            <p:ph type="dt" sz="half" idx="10"/>
          </p:nvPr>
        </p:nvSpPr>
        <p:spPr/>
        <p:txBody>
          <a:bodyPr/>
          <a:lstStyle/>
          <a:p>
            <a:fld id="{93E9D6B8-5579-43BB-B455-9065CD0ADFC9}" type="datetimeFigureOut">
              <a:rPr lang="es-CO" smtClean="0"/>
              <a:t>5/10/2026</a:t>
            </a:fld>
            <a:endParaRPr lang="es-CO"/>
          </a:p>
        </p:txBody>
      </p:sp>
      <p:sp>
        <p:nvSpPr>
          <p:cNvPr id="4" name="Marcador de pie de página 3">
            <a:extLst>
              <a:ext uri="{FF2B5EF4-FFF2-40B4-BE49-F238E27FC236}">
                <a16:creationId xmlns:a16="http://schemas.microsoft.com/office/drawing/2014/main" id="{9DBBE023-F0F6-42B0-9D47-ADF36C3B572B}"/>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74705CE0-A244-487D-9341-93CAF3AE9EDE}"/>
              </a:ext>
            </a:extLst>
          </p:cNvPr>
          <p:cNvSpPr>
            <a:spLocks noGrp="1"/>
          </p:cNvSpPr>
          <p:nvPr>
            <p:ph type="sldNum" sz="quarter" idx="12"/>
          </p:nvPr>
        </p:nvSpPr>
        <p:spPr/>
        <p:txBody>
          <a:bodyPr/>
          <a:lstStyle/>
          <a:p>
            <a:fld id="{F02EE436-99F1-4F6D-A5FC-68F56FAEBAFB}" type="slidenum">
              <a:rPr lang="es-CO" smtClean="0"/>
              <a:t>‹Nº›</a:t>
            </a:fld>
            <a:endParaRPr lang="es-CO"/>
          </a:p>
        </p:txBody>
      </p:sp>
    </p:spTree>
    <p:extLst>
      <p:ext uri="{BB962C8B-B14F-4D97-AF65-F5344CB8AC3E}">
        <p14:creationId xmlns:p14="http://schemas.microsoft.com/office/powerpoint/2010/main" val="34544701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ED62BE20-FB31-4FDF-BD72-6C0D2C14B4EE}"/>
              </a:ext>
            </a:extLst>
          </p:cNvPr>
          <p:cNvSpPr>
            <a:spLocks noGrp="1"/>
          </p:cNvSpPr>
          <p:nvPr>
            <p:ph type="dt" sz="half" idx="10"/>
          </p:nvPr>
        </p:nvSpPr>
        <p:spPr/>
        <p:txBody>
          <a:bodyPr/>
          <a:lstStyle/>
          <a:p>
            <a:fld id="{93E9D6B8-5579-43BB-B455-9065CD0ADFC9}" type="datetimeFigureOut">
              <a:rPr lang="es-CO" smtClean="0"/>
              <a:t>5/10/2026</a:t>
            </a:fld>
            <a:endParaRPr lang="es-CO"/>
          </a:p>
        </p:txBody>
      </p:sp>
      <p:sp>
        <p:nvSpPr>
          <p:cNvPr id="3" name="Marcador de pie de página 2">
            <a:extLst>
              <a:ext uri="{FF2B5EF4-FFF2-40B4-BE49-F238E27FC236}">
                <a16:creationId xmlns:a16="http://schemas.microsoft.com/office/drawing/2014/main" id="{5E76A5CB-3CC0-47BD-9541-6DC8D57C6AAA}"/>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5581B8F2-74E0-473D-BC37-B0BA5EDF3E0F}"/>
              </a:ext>
            </a:extLst>
          </p:cNvPr>
          <p:cNvSpPr>
            <a:spLocks noGrp="1"/>
          </p:cNvSpPr>
          <p:nvPr>
            <p:ph type="sldNum" sz="quarter" idx="12"/>
          </p:nvPr>
        </p:nvSpPr>
        <p:spPr/>
        <p:txBody>
          <a:bodyPr/>
          <a:lstStyle/>
          <a:p>
            <a:fld id="{F02EE436-99F1-4F6D-A5FC-68F56FAEBAFB}" type="slidenum">
              <a:rPr lang="es-CO" smtClean="0"/>
              <a:t>‹Nº›</a:t>
            </a:fld>
            <a:endParaRPr lang="es-CO"/>
          </a:p>
        </p:txBody>
      </p:sp>
    </p:spTree>
    <p:extLst>
      <p:ext uri="{BB962C8B-B14F-4D97-AF65-F5344CB8AC3E}">
        <p14:creationId xmlns:p14="http://schemas.microsoft.com/office/powerpoint/2010/main" val="34108539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0DAA823-B37A-410C-A618-7D624CC88B50}"/>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contenido 2">
            <a:extLst>
              <a:ext uri="{FF2B5EF4-FFF2-40B4-BE49-F238E27FC236}">
                <a16:creationId xmlns:a16="http://schemas.microsoft.com/office/drawing/2014/main" id="{F4E13B61-8112-4EA1-96D8-AC4BB05B36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texto 3">
            <a:extLst>
              <a:ext uri="{FF2B5EF4-FFF2-40B4-BE49-F238E27FC236}">
                <a16:creationId xmlns:a16="http://schemas.microsoft.com/office/drawing/2014/main" id="{6D965709-2EF8-44C4-B192-B013E112C4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E35D09C0-BFD1-4178-B973-34B5BCE054E0}"/>
              </a:ext>
            </a:extLst>
          </p:cNvPr>
          <p:cNvSpPr>
            <a:spLocks noGrp="1"/>
          </p:cNvSpPr>
          <p:nvPr>
            <p:ph type="dt" sz="half" idx="10"/>
          </p:nvPr>
        </p:nvSpPr>
        <p:spPr/>
        <p:txBody>
          <a:bodyPr/>
          <a:lstStyle/>
          <a:p>
            <a:fld id="{93E9D6B8-5579-43BB-B455-9065CD0ADFC9}" type="datetimeFigureOut">
              <a:rPr lang="es-CO" smtClean="0"/>
              <a:t>5/10/2026</a:t>
            </a:fld>
            <a:endParaRPr lang="es-CO"/>
          </a:p>
        </p:txBody>
      </p:sp>
      <p:sp>
        <p:nvSpPr>
          <p:cNvPr id="6" name="Marcador de pie de página 5">
            <a:extLst>
              <a:ext uri="{FF2B5EF4-FFF2-40B4-BE49-F238E27FC236}">
                <a16:creationId xmlns:a16="http://schemas.microsoft.com/office/drawing/2014/main" id="{83A6232D-2C65-4DDF-809D-E82D0A0DCC26}"/>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C9A3A7C5-3E94-4218-89DA-37895AB9490B}"/>
              </a:ext>
            </a:extLst>
          </p:cNvPr>
          <p:cNvSpPr>
            <a:spLocks noGrp="1"/>
          </p:cNvSpPr>
          <p:nvPr>
            <p:ph type="sldNum" sz="quarter" idx="12"/>
          </p:nvPr>
        </p:nvSpPr>
        <p:spPr/>
        <p:txBody>
          <a:bodyPr/>
          <a:lstStyle/>
          <a:p>
            <a:fld id="{F02EE436-99F1-4F6D-A5FC-68F56FAEBAFB}" type="slidenum">
              <a:rPr lang="es-CO" smtClean="0"/>
              <a:t>‹Nº›</a:t>
            </a:fld>
            <a:endParaRPr lang="es-CO"/>
          </a:p>
        </p:txBody>
      </p:sp>
    </p:spTree>
    <p:extLst>
      <p:ext uri="{BB962C8B-B14F-4D97-AF65-F5344CB8AC3E}">
        <p14:creationId xmlns:p14="http://schemas.microsoft.com/office/powerpoint/2010/main" val="319205150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0A8FA8-412B-42AB-A7F6-5F7A1015689E}"/>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posición de imagen 2">
            <a:extLst>
              <a:ext uri="{FF2B5EF4-FFF2-40B4-BE49-F238E27FC236}">
                <a16:creationId xmlns:a16="http://schemas.microsoft.com/office/drawing/2014/main" id="{AB145078-AAE2-4ECB-AA08-5AABE51D31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6567B250-0BE0-4D45-82D1-2A0DBBEAAC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78E8E942-A1E0-4016-95C8-9B9BF89AF8C3}"/>
              </a:ext>
            </a:extLst>
          </p:cNvPr>
          <p:cNvSpPr>
            <a:spLocks noGrp="1"/>
          </p:cNvSpPr>
          <p:nvPr>
            <p:ph type="dt" sz="half" idx="10"/>
          </p:nvPr>
        </p:nvSpPr>
        <p:spPr/>
        <p:txBody>
          <a:bodyPr/>
          <a:lstStyle/>
          <a:p>
            <a:fld id="{93E9D6B8-5579-43BB-B455-9065CD0ADFC9}" type="datetimeFigureOut">
              <a:rPr lang="es-CO" smtClean="0"/>
              <a:t>5/10/2026</a:t>
            </a:fld>
            <a:endParaRPr lang="es-CO"/>
          </a:p>
        </p:txBody>
      </p:sp>
      <p:sp>
        <p:nvSpPr>
          <p:cNvPr id="6" name="Marcador de pie de página 5">
            <a:extLst>
              <a:ext uri="{FF2B5EF4-FFF2-40B4-BE49-F238E27FC236}">
                <a16:creationId xmlns:a16="http://schemas.microsoft.com/office/drawing/2014/main" id="{11955E18-5513-4AE6-B234-4D7C68EFF218}"/>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FC1378B4-1B1F-4C5F-8872-C41FF35852EF}"/>
              </a:ext>
            </a:extLst>
          </p:cNvPr>
          <p:cNvSpPr>
            <a:spLocks noGrp="1"/>
          </p:cNvSpPr>
          <p:nvPr>
            <p:ph type="sldNum" sz="quarter" idx="12"/>
          </p:nvPr>
        </p:nvSpPr>
        <p:spPr/>
        <p:txBody>
          <a:bodyPr/>
          <a:lstStyle/>
          <a:p>
            <a:fld id="{F02EE436-99F1-4F6D-A5FC-68F56FAEBAFB}" type="slidenum">
              <a:rPr lang="es-CO" smtClean="0"/>
              <a:t>‹Nº›</a:t>
            </a:fld>
            <a:endParaRPr lang="es-CO"/>
          </a:p>
        </p:txBody>
      </p:sp>
    </p:spTree>
    <p:extLst>
      <p:ext uri="{BB962C8B-B14F-4D97-AF65-F5344CB8AC3E}">
        <p14:creationId xmlns:p14="http://schemas.microsoft.com/office/powerpoint/2010/main" val="273045339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7E4E18-2990-483E-88E0-43DF74DAA6B6}"/>
              </a:ext>
            </a:extLst>
          </p:cNvPr>
          <p:cNvSpPr>
            <a:spLocks noGrp="1"/>
          </p:cNvSpPr>
          <p:nvPr>
            <p:ph type="title"/>
          </p:nvPr>
        </p:nvSpPr>
        <p:spPr/>
        <p:txBody>
          <a:bodyPr/>
          <a:lstStyle/>
          <a:p>
            <a:r>
              <a:rPr lang="es-MX"/>
              <a:t>Haz clic para modificar el estilo de título del patrón</a:t>
            </a:r>
            <a:endParaRPr lang="es-CO"/>
          </a:p>
        </p:txBody>
      </p:sp>
      <p:sp>
        <p:nvSpPr>
          <p:cNvPr id="3" name="Marcador de texto vertical 2">
            <a:extLst>
              <a:ext uri="{FF2B5EF4-FFF2-40B4-BE49-F238E27FC236}">
                <a16:creationId xmlns:a16="http://schemas.microsoft.com/office/drawing/2014/main" id="{DBD4B2C7-D083-46AA-8E5A-D003959E8507}"/>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FD6C4379-68F4-457A-BA8D-C77E63F51A45}"/>
              </a:ext>
            </a:extLst>
          </p:cNvPr>
          <p:cNvSpPr>
            <a:spLocks noGrp="1"/>
          </p:cNvSpPr>
          <p:nvPr>
            <p:ph type="dt" sz="half" idx="10"/>
          </p:nvPr>
        </p:nvSpPr>
        <p:spPr/>
        <p:txBody>
          <a:bodyPr/>
          <a:lstStyle/>
          <a:p>
            <a:fld id="{93E9D6B8-5579-43BB-B455-9065CD0ADFC9}" type="datetimeFigureOut">
              <a:rPr lang="es-CO" smtClean="0"/>
              <a:t>5/10/2026</a:t>
            </a:fld>
            <a:endParaRPr lang="es-CO"/>
          </a:p>
        </p:txBody>
      </p:sp>
      <p:sp>
        <p:nvSpPr>
          <p:cNvPr id="5" name="Marcador de pie de página 4">
            <a:extLst>
              <a:ext uri="{FF2B5EF4-FFF2-40B4-BE49-F238E27FC236}">
                <a16:creationId xmlns:a16="http://schemas.microsoft.com/office/drawing/2014/main" id="{DC6ED189-6619-461C-A861-98582B5036A4}"/>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FA1ACA52-8342-415B-9FF6-9420BAE42F55}"/>
              </a:ext>
            </a:extLst>
          </p:cNvPr>
          <p:cNvSpPr>
            <a:spLocks noGrp="1"/>
          </p:cNvSpPr>
          <p:nvPr>
            <p:ph type="sldNum" sz="quarter" idx="12"/>
          </p:nvPr>
        </p:nvSpPr>
        <p:spPr/>
        <p:txBody>
          <a:bodyPr/>
          <a:lstStyle/>
          <a:p>
            <a:fld id="{F02EE436-99F1-4F6D-A5FC-68F56FAEBAFB}" type="slidenum">
              <a:rPr lang="es-CO" smtClean="0"/>
              <a:t>‹Nº›</a:t>
            </a:fld>
            <a:endParaRPr lang="es-CO"/>
          </a:p>
        </p:txBody>
      </p:sp>
    </p:spTree>
    <p:extLst>
      <p:ext uri="{BB962C8B-B14F-4D97-AF65-F5344CB8AC3E}">
        <p14:creationId xmlns:p14="http://schemas.microsoft.com/office/powerpoint/2010/main" val="13320204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20C05042-F31B-46E1-89C3-EB12F1454A8F}"/>
              </a:ext>
            </a:extLst>
          </p:cNvPr>
          <p:cNvSpPr>
            <a:spLocks noGrp="1"/>
          </p:cNvSpPr>
          <p:nvPr>
            <p:ph type="title" orient="vert"/>
          </p:nvPr>
        </p:nvSpPr>
        <p:spPr>
          <a:xfrm>
            <a:off x="8724900" y="365125"/>
            <a:ext cx="2628900" cy="5811838"/>
          </a:xfrm>
        </p:spPr>
        <p:txBody>
          <a:bodyPr vert="eaVert"/>
          <a:lstStyle/>
          <a:p>
            <a:r>
              <a:rPr lang="es-MX"/>
              <a:t>Haz clic para modificar el estilo de título del patrón</a:t>
            </a:r>
            <a:endParaRPr lang="es-CO"/>
          </a:p>
        </p:txBody>
      </p:sp>
      <p:sp>
        <p:nvSpPr>
          <p:cNvPr id="3" name="Marcador de texto vertical 2">
            <a:extLst>
              <a:ext uri="{FF2B5EF4-FFF2-40B4-BE49-F238E27FC236}">
                <a16:creationId xmlns:a16="http://schemas.microsoft.com/office/drawing/2014/main" id="{D8D980B7-5C1A-42C0-B044-528FDD08A1FF}"/>
              </a:ext>
            </a:extLst>
          </p:cNvPr>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15D63FF1-7E5D-4612-B288-E5EB4E4C0984}"/>
              </a:ext>
            </a:extLst>
          </p:cNvPr>
          <p:cNvSpPr>
            <a:spLocks noGrp="1"/>
          </p:cNvSpPr>
          <p:nvPr>
            <p:ph type="dt" sz="half" idx="10"/>
          </p:nvPr>
        </p:nvSpPr>
        <p:spPr/>
        <p:txBody>
          <a:bodyPr/>
          <a:lstStyle/>
          <a:p>
            <a:fld id="{93E9D6B8-5579-43BB-B455-9065CD0ADFC9}" type="datetimeFigureOut">
              <a:rPr lang="es-CO" smtClean="0"/>
              <a:t>5/10/2026</a:t>
            </a:fld>
            <a:endParaRPr lang="es-CO"/>
          </a:p>
        </p:txBody>
      </p:sp>
      <p:sp>
        <p:nvSpPr>
          <p:cNvPr id="5" name="Marcador de pie de página 4">
            <a:extLst>
              <a:ext uri="{FF2B5EF4-FFF2-40B4-BE49-F238E27FC236}">
                <a16:creationId xmlns:a16="http://schemas.microsoft.com/office/drawing/2014/main" id="{7C5C76A6-39D9-4184-87DD-073172AF0862}"/>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4CE04071-4B44-4CBB-82A1-C0A60DBDC393}"/>
              </a:ext>
            </a:extLst>
          </p:cNvPr>
          <p:cNvSpPr>
            <a:spLocks noGrp="1"/>
          </p:cNvSpPr>
          <p:nvPr>
            <p:ph type="sldNum" sz="quarter" idx="12"/>
          </p:nvPr>
        </p:nvSpPr>
        <p:spPr/>
        <p:txBody>
          <a:bodyPr/>
          <a:lstStyle/>
          <a:p>
            <a:fld id="{F02EE436-99F1-4F6D-A5FC-68F56FAEBAFB}" type="slidenum">
              <a:rPr lang="es-CO" smtClean="0"/>
              <a:t>‹Nº›</a:t>
            </a:fld>
            <a:endParaRPr lang="es-CO"/>
          </a:p>
        </p:txBody>
      </p:sp>
    </p:spTree>
    <p:extLst>
      <p:ext uri="{BB962C8B-B14F-4D97-AF65-F5344CB8AC3E}">
        <p14:creationId xmlns:p14="http://schemas.microsoft.com/office/powerpoint/2010/main" val="235212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body" idx="1"/>
          </p:nvPr>
        </p:nvSpPr>
        <p:spPr>
          <a:xfrm>
            <a:off x="127000" y="1485900"/>
            <a:ext cx="11226800" cy="4691063"/>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Noto Sans"/>
                <a:ea typeface="Noto Sans"/>
                <a:cs typeface="Noto Sans"/>
                <a:sym typeface="Noto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Noto Sans"/>
                <a:ea typeface="Noto Sans"/>
                <a:cs typeface="Noto Sans"/>
                <a:sym typeface="Noto Sans"/>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Noto Sans"/>
                <a:ea typeface="Noto Sans"/>
                <a:cs typeface="Noto Sans"/>
                <a:sym typeface="Noto Sans"/>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Noto Sans"/>
                <a:ea typeface="Noto Sans"/>
                <a:cs typeface="Noto Sans"/>
                <a:sym typeface="Noto Sans"/>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Noto Sans"/>
                <a:ea typeface="Noto Sans"/>
                <a:cs typeface="Noto Sans"/>
                <a:sym typeface="Noto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1" name="Google Shape;11;p1"/>
          <p:cNvSpPr txBox="1">
            <a:spLocks noGrp="1"/>
          </p:cNvSpPr>
          <p:nvPr>
            <p:ph type="title"/>
          </p:nvPr>
        </p:nvSpPr>
        <p:spPr>
          <a:xfrm>
            <a:off x="127000" y="217365"/>
            <a:ext cx="11226800" cy="112767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000"/>
              <a:buFont typeface="Noto Sans SemiBold"/>
              <a:buNone/>
              <a:defRPr sz="4000" b="1" i="0" u="none" strike="noStrike" cap="none">
                <a:solidFill>
                  <a:schemeClr val="dk1"/>
                </a:solidFill>
                <a:latin typeface="Noto Sans SemiBold"/>
                <a:ea typeface="Noto Sans SemiBold"/>
                <a:cs typeface="Noto Sans SemiBold"/>
                <a:sym typeface="Noto Sans SemiBold"/>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3" r:id="rId3"/>
    <p:sldLayoutId id="2147483657" r:id="rId4"/>
    <p:sldLayoutId id="2147483661" r:id="rId5"/>
    <p:sldLayoutId id="2147483662" r:id="rId6"/>
    <p:sldLayoutId id="2147483663" r:id="rId7"/>
    <p:sldLayoutId id="2147483664" r:id="rId8"/>
    <p:sldLayoutId id="2147483665" r:id="rId9"/>
    <p:sldLayoutId id="2147483666"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122EB26D-21A2-43A1-93C1-372F295E198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CO"/>
          </a:p>
        </p:txBody>
      </p:sp>
      <p:sp>
        <p:nvSpPr>
          <p:cNvPr id="3" name="Marcador de texto 2">
            <a:extLst>
              <a:ext uri="{FF2B5EF4-FFF2-40B4-BE49-F238E27FC236}">
                <a16:creationId xmlns:a16="http://schemas.microsoft.com/office/drawing/2014/main" id="{B1FED00D-CAD3-42C6-B212-6DAE6F6D2E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B8C1317E-59CB-4E30-B479-59C77FF64F0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E9D6B8-5579-43BB-B455-9065CD0ADFC9}" type="datetimeFigureOut">
              <a:rPr lang="es-CO" smtClean="0"/>
              <a:t>5/10/2026</a:t>
            </a:fld>
            <a:endParaRPr lang="es-CO"/>
          </a:p>
        </p:txBody>
      </p:sp>
      <p:sp>
        <p:nvSpPr>
          <p:cNvPr id="5" name="Marcador de pie de página 4">
            <a:extLst>
              <a:ext uri="{FF2B5EF4-FFF2-40B4-BE49-F238E27FC236}">
                <a16:creationId xmlns:a16="http://schemas.microsoft.com/office/drawing/2014/main" id="{FF3BE975-65F2-47B6-A241-AD12E1E412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072F7CAF-34CC-47FA-9F49-B78FC094B84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02EE436-99F1-4F6D-A5FC-68F56FAEBAFB}" type="slidenum">
              <a:rPr lang="es-CO" smtClean="0"/>
              <a:t>‹Nº›</a:t>
            </a:fld>
            <a:endParaRPr lang="es-CO"/>
          </a:p>
        </p:txBody>
      </p:sp>
    </p:spTree>
    <p:extLst>
      <p:ext uri="{BB962C8B-B14F-4D97-AF65-F5344CB8AC3E}">
        <p14:creationId xmlns:p14="http://schemas.microsoft.com/office/powerpoint/2010/main" val="4034643931"/>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hyperlink" Target="https://colab.research.google.com/github/ISARICResearch/Dissemination/blob/main/workshops/federated%20analytics/FederatedAnalysis_Project/notebooks/03_odds_ratios.ipynb" TargetMode="Externa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sv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832104" y="2103120"/>
            <a:ext cx="10515600" cy="2011680"/>
          </a:xfrm>
        </p:spPr>
        <p:txBody>
          <a:bodyPr anchor="b">
            <a:noAutofit/>
          </a:bodyPr>
          <a:lstStyle/>
          <a:p>
            <a:pPr marL="0" indent="0" algn="l">
              <a:lnSpc>
                <a:spcPct val="90000"/>
              </a:lnSpc>
              <a:spcBef>
                <a:spcPts val="0"/>
              </a:spcBef>
              <a:spcAft>
                <a:spcPts val="0"/>
              </a:spcAft>
              <a:buNone/>
            </a:pPr>
            <a:r>
              <a:rPr lang="es-CO" sz="6000" b="0" dirty="0">
                <a:solidFill>
                  <a:srgbClr val="0673BA"/>
                </a:solidFill>
                <a:latin typeface="Noto Sans SemiBold"/>
                <a:ea typeface="Noto Sans SemiBold"/>
                <a:cs typeface="Noto Sans SemiBold"/>
                <a:sym typeface="Noto Sans SemiBold"/>
              </a:rPr>
              <a:t>Medidas de asociación (odds ratio)</a:t>
            </a:r>
            <a:endParaRPr lang="es-CO" sz="6000" dirty="0"/>
          </a:p>
        </p:txBody>
      </p:sp>
      <p:sp>
        <p:nvSpPr>
          <p:cNvPr id="3" name="Subtitle 3"/>
          <p:cNvSpPr>
            <a:spLocks noGrp="1"/>
          </p:cNvSpPr>
          <p:nvPr>
            <p:ph type="body" idx="1"/>
          </p:nvPr>
        </p:nvSpPr>
        <p:spPr>
          <a:xfrm>
            <a:off x="832104" y="4297680"/>
            <a:ext cx="10515600" cy="1097280"/>
          </a:xfrm>
        </p:spPr>
        <p:txBody>
          <a:bodyPr anchor="t">
            <a:noAutofit/>
          </a:bodyPr>
          <a:lstStyle/>
          <a:p>
            <a:pPr marL="0" indent="0" algn="l">
              <a:lnSpc>
                <a:spcPct val="100000"/>
              </a:lnSpc>
              <a:spcBef>
                <a:spcPts val="0"/>
              </a:spcBef>
              <a:spcAft>
                <a:spcPts val="0"/>
              </a:spcAft>
              <a:buNone/>
            </a:pPr>
            <a:r>
              <a:rPr lang="es-CO" sz="2800" b="0" dirty="0">
                <a:solidFill>
                  <a:srgbClr val="595959"/>
                </a:solidFill>
                <a:latin typeface="Noto Sans"/>
                <a:ea typeface="Noto Sans"/>
                <a:cs typeface="Noto Sans"/>
                <a:sym typeface="Noto Sans"/>
              </a:rPr>
              <a:t>Análisis federado para la investigación en salud en Colombia</a:t>
            </a:r>
            <a:endParaRPr lang="es-CO"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153CA-6AAB-E8C1-108E-5E7ED1D027A4}"/>
            </a:ext>
          </a:extLst>
        </p:cNvPr>
        <p:cNvGrpSpPr/>
        <p:nvPr/>
      </p:nvGrpSpPr>
      <p:grpSpPr>
        <a:xfrm>
          <a:off x="0" y="0"/>
          <a:ext cx="0" cy="0"/>
          <a:chOff x="0" y="0"/>
          <a:chExt cx="0" cy="0"/>
        </a:xfrm>
      </p:grpSpPr>
      <p:sp>
        <p:nvSpPr>
          <p:cNvPr id="2" name="Title 2">
            <a:extLst>
              <a:ext uri="{FF2B5EF4-FFF2-40B4-BE49-F238E27FC236}">
                <a16:creationId xmlns:a16="http://schemas.microsoft.com/office/drawing/2014/main" id="{120DA2FC-E1FE-7ECC-626E-1E5F8FE3E439}"/>
              </a:ext>
            </a:extLst>
          </p:cNvPr>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Introducción</a:t>
            </a:r>
            <a:endParaRPr lang="es-CO" sz="3600" dirty="0"/>
          </a:p>
        </p:txBody>
      </p:sp>
      <p:sp>
        <p:nvSpPr>
          <p:cNvPr id="3" name="TextBox 3">
            <a:extLst>
              <a:ext uri="{FF2B5EF4-FFF2-40B4-BE49-F238E27FC236}">
                <a16:creationId xmlns:a16="http://schemas.microsoft.com/office/drawing/2014/main" id="{65189FBC-1D5A-8B88-77C7-A3DD35FAC742}"/>
              </a:ext>
            </a:extLst>
          </p:cNvPr>
          <p:cNvSpPr txBox="1"/>
          <p:nvPr/>
        </p:nvSpPr>
        <p:spPr>
          <a:xfrm>
            <a:off x="548640" y="1737360"/>
            <a:ext cx="11091672" cy="329184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2400"/>
              </a:spcAft>
              <a:buNone/>
            </a:pPr>
            <a:r>
              <a:rPr lang="es-CO" sz="2200" b="0" dirty="0">
                <a:solidFill>
                  <a:schemeClr val="tx1"/>
                </a:solidFill>
                <a:latin typeface="Noto Sans"/>
                <a:ea typeface="Noto Sans"/>
                <a:cs typeface="Noto Sans"/>
                <a:sym typeface="Noto Sans"/>
              </a:rPr>
              <a:t>Los </a:t>
            </a:r>
            <a:r>
              <a:rPr lang="es-CO" sz="2200" b="1" dirty="0">
                <a:solidFill>
                  <a:schemeClr val="tx1"/>
                </a:solidFill>
                <a:latin typeface="Noto Sans"/>
                <a:ea typeface="Noto Sans"/>
                <a:cs typeface="Noto Sans"/>
                <a:sym typeface="Noto Sans"/>
              </a:rPr>
              <a:t>odds ratios</a:t>
            </a:r>
            <a:r>
              <a:rPr lang="es-CO" sz="2200" b="0" dirty="0">
                <a:solidFill>
                  <a:schemeClr val="tx1"/>
                </a:solidFill>
                <a:latin typeface="Noto Sans"/>
                <a:ea typeface="Noto Sans"/>
                <a:cs typeface="Noto Sans"/>
                <a:sym typeface="Noto Sans"/>
              </a:rPr>
              <a:t> son una medida estadística que evalúa qué tan fuerte es la </a:t>
            </a:r>
            <a:r>
              <a:rPr lang="es-CO" sz="2200" b="1" dirty="0">
                <a:solidFill>
                  <a:schemeClr val="tx1"/>
                </a:solidFill>
                <a:latin typeface="Noto Sans"/>
                <a:ea typeface="Noto Sans"/>
                <a:cs typeface="Noto Sans"/>
                <a:sym typeface="Noto Sans"/>
              </a:rPr>
              <a:t>asociación entre una variable y un desenlace específico</a:t>
            </a:r>
            <a:r>
              <a:rPr lang="es-CO" sz="2200" b="0" dirty="0">
                <a:solidFill>
                  <a:schemeClr val="tx1"/>
                </a:solidFill>
                <a:latin typeface="Noto Sans"/>
                <a:ea typeface="Noto Sans"/>
                <a:cs typeface="Noto Sans"/>
                <a:sym typeface="Noto Sans"/>
              </a:rPr>
              <a:t>.</a:t>
            </a:r>
          </a:p>
          <a:p>
            <a:pPr marL="0" indent="0" algn="just">
              <a:lnSpc>
                <a:spcPct val="90000"/>
              </a:lnSpc>
              <a:spcBef>
                <a:spcPts val="0"/>
              </a:spcBef>
              <a:spcAft>
                <a:spcPts val="2400"/>
              </a:spcAft>
              <a:buNone/>
            </a:pPr>
            <a:r>
              <a:rPr lang="es-CO" sz="2200" b="0" dirty="0">
                <a:solidFill>
                  <a:schemeClr val="tx1"/>
                </a:solidFill>
                <a:latin typeface="Noto Sans"/>
                <a:ea typeface="Noto Sans"/>
                <a:cs typeface="Noto Sans"/>
                <a:sym typeface="Noto Sans"/>
              </a:rPr>
              <a:t>En este taller se evalúa la asociación de las variables de la base de datos de dengue con el fallecimiento de los pacientes con dengue severo.</a:t>
            </a:r>
          </a:p>
          <a:p>
            <a:pPr algn="just">
              <a:lnSpc>
                <a:spcPct val="90000"/>
              </a:lnSpc>
              <a:spcAft>
                <a:spcPts val="2400"/>
              </a:spcAft>
            </a:pPr>
            <a:r>
              <a:rPr lang="es-CO" sz="2200" dirty="0">
                <a:solidFill>
                  <a:schemeClr val="tx1"/>
                </a:solidFill>
                <a:latin typeface="Noto Sans"/>
                <a:ea typeface="Noto Sans"/>
                <a:cs typeface="Noto Sans"/>
                <a:sym typeface="Noto Sans"/>
              </a:rPr>
              <a:t>Los </a:t>
            </a:r>
            <a:r>
              <a:rPr lang="es-CO" sz="2200" b="1" dirty="0" err="1">
                <a:solidFill>
                  <a:schemeClr val="tx1"/>
                </a:solidFill>
                <a:latin typeface="Noto Sans"/>
                <a:ea typeface="Noto Sans"/>
                <a:cs typeface="Noto Sans"/>
                <a:sym typeface="Noto Sans"/>
              </a:rPr>
              <a:t>odds</a:t>
            </a:r>
            <a:r>
              <a:rPr lang="es-CO" sz="2200" b="1" dirty="0">
                <a:solidFill>
                  <a:schemeClr val="tx1"/>
                </a:solidFill>
                <a:latin typeface="Noto Sans"/>
                <a:ea typeface="Noto Sans"/>
                <a:cs typeface="Noto Sans"/>
                <a:sym typeface="Noto Sans"/>
              </a:rPr>
              <a:t> ratios</a:t>
            </a:r>
            <a:r>
              <a:rPr lang="es-CO" sz="2200" dirty="0">
                <a:solidFill>
                  <a:schemeClr val="tx1"/>
                </a:solidFill>
                <a:latin typeface="Noto Sans"/>
                <a:ea typeface="Noto Sans"/>
                <a:cs typeface="Noto Sans"/>
                <a:sym typeface="Noto Sans"/>
              </a:rPr>
              <a:t> suelen obtenerse ajustando un modelo de regresión logística.</a:t>
            </a:r>
          </a:p>
          <a:p>
            <a:pPr algn="just">
              <a:lnSpc>
                <a:spcPct val="90000"/>
              </a:lnSpc>
            </a:pPr>
            <a:r>
              <a:rPr lang="es-CO" sz="2200" dirty="0">
                <a:solidFill>
                  <a:schemeClr val="tx1"/>
                </a:solidFill>
                <a:latin typeface="Noto Sans"/>
                <a:ea typeface="Noto Sans"/>
                <a:cs typeface="Noto Sans"/>
                <a:sym typeface="Noto Sans"/>
              </a:rPr>
              <a:t>Este modelo relaciona la probabilidad (</a:t>
            </a:r>
            <a:r>
              <a:rPr lang="es-CO" sz="2200" b="1" dirty="0">
                <a:solidFill>
                  <a:schemeClr val="tx1"/>
                </a:solidFill>
                <a:latin typeface="Noto Sans"/>
                <a:ea typeface="Noto Sans"/>
                <a:cs typeface="Noto Sans"/>
                <a:sym typeface="Noto Sans"/>
              </a:rPr>
              <a:t>p</a:t>
            </a:r>
            <a:r>
              <a:rPr lang="es-CO" sz="2200" dirty="0">
                <a:solidFill>
                  <a:schemeClr val="tx1"/>
                </a:solidFill>
                <a:latin typeface="Noto Sans"/>
                <a:ea typeface="Noto Sans"/>
                <a:cs typeface="Noto Sans"/>
                <a:sym typeface="Noto Sans"/>
              </a:rPr>
              <a:t>) del desenlace con una o más variables (</a:t>
            </a:r>
            <a:r>
              <a:rPr lang="es-CO" sz="2200" b="1" dirty="0">
                <a:solidFill>
                  <a:schemeClr val="tx1"/>
                </a:solidFill>
                <a:latin typeface="Noto Sans"/>
                <a:ea typeface="Noto Sans"/>
                <a:cs typeface="Noto Sans"/>
                <a:sym typeface="Noto Sans"/>
              </a:rPr>
              <a:t>x</a:t>
            </a:r>
            <a:r>
              <a:rPr lang="es-CO" sz="2200" dirty="0">
                <a:solidFill>
                  <a:schemeClr val="tx1"/>
                </a:solidFill>
                <a:latin typeface="Noto Sans"/>
                <a:ea typeface="Noto Sans"/>
                <a:cs typeface="Noto Sans"/>
                <a:sym typeface="Noto Sans"/>
              </a:rPr>
              <a:t>), asignando a cada una un coeficiente (</a:t>
            </a:r>
            <a:r>
              <a:rPr lang="es-CO" sz="2200" b="1" dirty="0">
                <a:solidFill>
                  <a:schemeClr val="tx1"/>
                </a:solidFill>
                <a:latin typeface="Noto Sans"/>
                <a:ea typeface="Noto Sans"/>
                <a:cs typeface="Noto Sans"/>
                <a:sym typeface="Noto Sans"/>
              </a:rPr>
              <a:t>β</a:t>
            </a:r>
            <a:r>
              <a:rPr lang="es-CO" sz="2200" dirty="0">
                <a:solidFill>
                  <a:schemeClr val="tx1"/>
                </a:solidFill>
                <a:latin typeface="Noto Sans"/>
                <a:ea typeface="Noto Sans"/>
                <a:cs typeface="Noto Sans"/>
                <a:sym typeface="Noto Sans"/>
              </a:rPr>
              <a:t>), mediante la siguiente ecuación:</a:t>
            </a:r>
          </a:p>
          <a:p>
            <a:pPr marL="0" indent="0" algn="just">
              <a:lnSpc>
                <a:spcPct val="90000"/>
              </a:lnSpc>
              <a:spcBef>
                <a:spcPts val="0"/>
              </a:spcBef>
              <a:spcAft>
                <a:spcPts val="2400"/>
              </a:spcAft>
              <a:buNone/>
            </a:pPr>
            <a:endParaRPr lang="es-CO" sz="2200" b="0" dirty="0">
              <a:solidFill>
                <a:schemeClr val="tx1"/>
              </a:solidFill>
              <a:latin typeface="Noto Sans"/>
              <a:ea typeface="Noto Sans"/>
              <a:cs typeface="Noto Sans"/>
              <a:sym typeface="Noto Sans"/>
            </a:endParaRPr>
          </a:p>
        </p:txBody>
      </p:sp>
      <mc:AlternateContent xmlns:mc="http://schemas.openxmlformats.org/markup-compatibility/2006" xmlns:a14="http://schemas.microsoft.com/office/drawing/2010/main">
        <mc:Choice Requires="a14">
          <p:sp>
            <p:nvSpPr>
              <p:cNvPr id="6" name="Equation 4">
                <a:extLst>
                  <a:ext uri="{FF2B5EF4-FFF2-40B4-BE49-F238E27FC236}">
                    <a16:creationId xmlns:a16="http://schemas.microsoft.com/office/drawing/2014/main" id="{01291CDD-BE6F-03CF-D81B-CC2422A93913}"/>
                  </a:ext>
                </a:extLst>
              </p:cNvPr>
              <p:cNvSpPr txBox="1"/>
              <p:nvPr/>
            </p:nvSpPr>
            <p:spPr>
              <a:xfrm>
                <a:off x="548640" y="4984463"/>
                <a:ext cx="11091672" cy="1005840"/>
              </a:xfrm>
              <a:prstGeom prst="rect">
                <a:avLst/>
              </a:prstGeom>
              <a:noFill/>
            </p:spPr>
            <p:txBody>
              <a:bodyPr wrap="square" anchor="ctr">
                <a:noAutofit/>
              </a:bodyPr>
              <a:lstStyle/>
              <a:p>
                <a:pPr algn="ctr"/>
                <a14:m>
                  <m:oMathPara xmlns:m="http://schemas.openxmlformats.org/officeDocument/2006/math">
                    <m:oMath>
                      <m:r>
                        <m:rPr>
                          <m:sty m:val="p"/>
                        </m:rPr>
                        <a:rPr lang="es-CO" sz="2400" i="0">
                          <a:latin typeface="Cambria Math"/>
                        </a:rPr>
                        <m:t>ln</m:t>
                      </m:r>
                      <m:d>
                        <m:dPr>
                          <m:ctrlPr>
                            <a:rPr lang="es-CO" sz="2400" i="1">
                              <a:latin typeface="Cambria Math" panose="02040503050406030204" pitchFamily="18" charset="0"/>
                            </a:rPr>
                          </m:ctrlPr>
                        </m:dPr>
                        <m:e>
                          <m:f>
                            <m:fPr>
                              <m:ctrlPr>
                                <a:rPr lang="es-CO" sz="2400" i="1">
                                  <a:latin typeface="Cambria Math"/>
                                </a:rPr>
                              </m:ctrlPr>
                            </m:fPr>
                            <m:num>
                              <m:r>
                                <a:rPr lang="es-CO" sz="2400" i="1">
                                  <a:latin typeface="Cambria Math"/>
                                </a:rPr>
                                <m:t>𝑝</m:t>
                              </m:r>
                            </m:num>
                            <m:den>
                              <m:r>
                                <a:rPr lang="es-CO" sz="2400" i="0">
                                  <a:latin typeface="Cambria Math"/>
                                </a:rPr>
                                <m:t>1−</m:t>
                              </m:r>
                              <m:r>
                                <a:rPr lang="es-CO" sz="2400" i="1">
                                  <a:latin typeface="Cambria Math"/>
                                </a:rPr>
                                <m:t>𝑝</m:t>
                              </m:r>
                            </m:den>
                          </m:f>
                        </m:e>
                      </m:d>
                      <m:r>
                        <a:rPr lang="es-CO" sz="2400" i="0">
                          <a:latin typeface="Cambria Math"/>
                        </a:rPr>
                        <m:t>=</m:t>
                      </m:r>
                      <m:sSub>
                        <m:sSubPr>
                          <m:ctrlPr>
                            <a:rPr lang="es-CO" sz="2400" i="1">
                              <a:latin typeface="Cambria Math"/>
                            </a:rPr>
                          </m:ctrlPr>
                        </m:sSubPr>
                        <m:e>
                          <m:r>
                            <a:rPr lang="es-CO" sz="2400" i="1">
                              <a:latin typeface="Cambria Math"/>
                            </a:rPr>
                            <m:t>𝛽</m:t>
                          </m:r>
                        </m:e>
                        <m:sub>
                          <m:r>
                            <a:rPr lang="es-CO" sz="2400" i="0">
                              <a:latin typeface="Cambria Math"/>
                            </a:rPr>
                            <m:t>0</m:t>
                          </m:r>
                        </m:sub>
                      </m:sSub>
                      <m:r>
                        <a:rPr lang="es-CO" sz="2400" i="0">
                          <a:latin typeface="Cambria Math"/>
                        </a:rPr>
                        <m:t>+</m:t>
                      </m:r>
                      <m:sSub>
                        <m:sSubPr>
                          <m:ctrlPr>
                            <a:rPr lang="es-CO" sz="2400" i="1">
                              <a:latin typeface="Cambria Math"/>
                            </a:rPr>
                          </m:ctrlPr>
                        </m:sSubPr>
                        <m:e>
                          <m:r>
                            <a:rPr lang="es-CO" sz="2400" i="1">
                              <a:latin typeface="Cambria Math"/>
                            </a:rPr>
                            <m:t>𝛽</m:t>
                          </m:r>
                        </m:e>
                        <m:sub>
                          <m:r>
                            <a:rPr lang="es-CO" sz="2400" i="0">
                              <a:latin typeface="Cambria Math"/>
                            </a:rPr>
                            <m:t>1</m:t>
                          </m:r>
                        </m:sub>
                      </m:sSub>
                      <m:sSub>
                        <m:sSubPr>
                          <m:ctrlPr>
                            <a:rPr lang="es-CO" sz="2400" i="1">
                              <a:latin typeface="Cambria Math"/>
                            </a:rPr>
                          </m:ctrlPr>
                        </m:sSubPr>
                        <m:e>
                          <m:r>
                            <a:rPr lang="es-CO" sz="2400" i="1">
                              <a:latin typeface="Cambria Math"/>
                            </a:rPr>
                            <m:t>𝑥</m:t>
                          </m:r>
                        </m:e>
                        <m:sub>
                          <m:r>
                            <a:rPr lang="es-CO" sz="2400" i="0">
                              <a:latin typeface="Cambria Math"/>
                            </a:rPr>
                            <m:t>1</m:t>
                          </m:r>
                        </m:sub>
                      </m:sSub>
                      <m:r>
                        <a:rPr lang="es-CO" sz="2400" i="0">
                          <a:latin typeface="Cambria Math"/>
                        </a:rPr>
                        <m:t>+</m:t>
                      </m:r>
                      <m:sSub>
                        <m:sSubPr>
                          <m:ctrlPr>
                            <a:rPr lang="es-CO" sz="2400" i="1">
                              <a:latin typeface="Cambria Math"/>
                            </a:rPr>
                          </m:ctrlPr>
                        </m:sSubPr>
                        <m:e>
                          <m:r>
                            <a:rPr lang="es-CO" sz="2400" i="1">
                              <a:latin typeface="Cambria Math"/>
                            </a:rPr>
                            <m:t>𝛽</m:t>
                          </m:r>
                        </m:e>
                        <m:sub>
                          <m:r>
                            <a:rPr lang="es-CO" sz="2400" i="0">
                              <a:latin typeface="Cambria Math"/>
                            </a:rPr>
                            <m:t>2</m:t>
                          </m:r>
                        </m:sub>
                      </m:sSub>
                      <m:sSub>
                        <m:sSubPr>
                          <m:ctrlPr>
                            <a:rPr lang="es-CO" sz="2400" i="1">
                              <a:latin typeface="Cambria Math"/>
                            </a:rPr>
                          </m:ctrlPr>
                        </m:sSubPr>
                        <m:e>
                          <m:r>
                            <a:rPr lang="es-CO" sz="2400" i="1">
                              <a:latin typeface="Cambria Math"/>
                            </a:rPr>
                            <m:t>𝑥</m:t>
                          </m:r>
                        </m:e>
                        <m:sub>
                          <m:r>
                            <a:rPr lang="es-CO" sz="2400" i="0">
                              <a:latin typeface="Cambria Math"/>
                            </a:rPr>
                            <m:t>2</m:t>
                          </m:r>
                        </m:sub>
                      </m:sSub>
                      <m:r>
                        <a:rPr lang="es-CO" sz="2400" i="0">
                          <a:latin typeface="Cambria Math"/>
                        </a:rPr>
                        <m:t>+…+</m:t>
                      </m:r>
                      <m:sSub>
                        <m:sSubPr>
                          <m:ctrlPr>
                            <a:rPr lang="es-CO" sz="2400" i="1">
                              <a:latin typeface="Cambria Math"/>
                            </a:rPr>
                          </m:ctrlPr>
                        </m:sSubPr>
                        <m:e>
                          <m:r>
                            <a:rPr lang="es-CO" sz="2400" i="1">
                              <a:latin typeface="Cambria Math"/>
                            </a:rPr>
                            <m:t>𝛽</m:t>
                          </m:r>
                        </m:e>
                        <m:sub>
                          <m:r>
                            <a:rPr lang="es-CO" sz="2400" i="1">
                              <a:latin typeface="Cambria Math"/>
                            </a:rPr>
                            <m:t>𝑘</m:t>
                          </m:r>
                        </m:sub>
                      </m:sSub>
                      <m:sSub>
                        <m:sSubPr>
                          <m:ctrlPr>
                            <a:rPr lang="es-CO" sz="2400" i="1">
                              <a:latin typeface="Cambria Math"/>
                            </a:rPr>
                          </m:ctrlPr>
                        </m:sSubPr>
                        <m:e>
                          <m:r>
                            <a:rPr lang="es-CO" sz="2400" i="1">
                              <a:latin typeface="Cambria Math"/>
                            </a:rPr>
                            <m:t>𝑥</m:t>
                          </m:r>
                        </m:e>
                        <m:sub>
                          <m:r>
                            <a:rPr lang="es-CO" sz="2400" i="1">
                              <a:latin typeface="Cambria Math"/>
                            </a:rPr>
                            <m:t>𝑘</m:t>
                          </m:r>
                        </m:sub>
                      </m:sSub>
                    </m:oMath>
                  </m:oMathPara>
                </a14:m>
                <a:endParaRPr dirty="0"/>
              </a:p>
            </p:txBody>
          </p:sp>
        </mc:Choice>
        <mc:Fallback xmlns="">
          <p:sp>
            <p:nvSpPr>
              <p:cNvPr id="6" name="Equation 4">
                <a:extLst>
                  <a:ext uri="{FF2B5EF4-FFF2-40B4-BE49-F238E27FC236}">
                    <a16:creationId xmlns:a16="http://schemas.microsoft.com/office/drawing/2014/main" id="{01291CDD-BE6F-03CF-D81B-CC2422A93913}"/>
                  </a:ext>
                </a:extLst>
              </p:cNvPr>
              <p:cNvSpPr txBox="1">
                <a:spLocks noRot="1" noChangeAspect="1" noMove="1" noResize="1" noEditPoints="1" noAdjustHandles="1" noChangeArrowheads="1" noChangeShapeType="1" noTextEdit="1"/>
              </p:cNvSpPr>
              <p:nvPr/>
            </p:nvSpPr>
            <p:spPr>
              <a:xfrm>
                <a:off x="548640" y="4984463"/>
                <a:ext cx="11091672" cy="1005840"/>
              </a:xfrm>
              <a:prstGeom prst="rect">
                <a:avLst/>
              </a:prstGeom>
              <a:blipFill>
                <a:blip r:embed="rId2"/>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23682054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D07D1-0FCE-F510-F44A-3EACCAD1EFF7}"/>
            </a:ext>
          </a:extLst>
        </p:cNvPr>
        <p:cNvGrpSpPr/>
        <p:nvPr/>
      </p:nvGrpSpPr>
      <p:grpSpPr>
        <a:xfrm>
          <a:off x="0" y="0"/>
          <a:ext cx="0" cy="0"/>
          <a:chOff x="0" y="0"/>
          <a:chExt cx="0" cy="0"/>
        </a:xfrm>
      </p:grpSpPr>
      <p:sp>
        <p:nvSpPr>
          <p:cNvPr id="2" name="Title 2">
            <a:extLst>
              <a:ext uri="{FF2B5EF4-FFF2-40B4-BE49-F238E27FC236}">
                <a16:creationId xmlns:a16="http://schemas.microsoft.com/office/drawing/2014/main" id="{3A271A74-8248-FB22-9272-B611ADA4DA1C}"/>
              </a:ext>
            </a:extLst>
          </p:cNvPr>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Introducción</a:t>
            </a:r>
            <a:endParaRPr lang="es-CO" sz="3600" dirty="0"/>
          </a:p>
        </p:txBody>
      </p:sp>
      <p:sp>
        <p:nvSpPr>
          <p:cNvPr id="3" name="TextBox 3"/>
          <p:cNvSpPr txBox="1"/>
          <p:nvPr/>
        </p:nvSpPr>
        <p:spPr>
          <a:xfrm>
            <a:off x="548640" y="3191256"/>
            <a:ext cx="11091672" cy="178308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2400"/>
              </a:spcAft>
              <a:buNone/>
            </a:pPr>
            <a:r>
              <a:rPr lang="es-CO" sz="2200" b="0" dirty="0">
                <a:solidFill>
                  <a:schemeClr val="tx1"/>
                </a:solidFill>
                <a:latin typeface="Noto Sans"/>
                <a:ea typeface="Noto Sans"/>
                <a:cs typeface="Noto Sans"/>
                <a:sym typeface="Noto Sans"/>
              </a:rPr>
              <a:t>Los coeficientes (</a:t>
            </a:r>
            <a:r>
              <a:rPr lang="es-CO" sz="2200" b="1" dirty="0">
                <a:solidFill>
                  <a:schemeClr val="tx1"/>
                </a:solidFill>
                <a:latin typeface="Noto Sans"/>
                <a:ea typeface="Noto Sans"/>
                <a:cs typeface="Noto Sans"/>
                <a:sym typeface="Noto Sans"/>
              </a:rPr>
              <a:t>β</a:t>
            </a:r>
            <a:r>
              <a:rPr lang="es-CO" sz="2200" b="0" dirty="0">
                <a:solidFill>
                  <a:schemeClr val="tx1"/>
                </a:solidFill>
                <a:latin typeface="Noto Sans"/>
                <a:ea typeface="Noto Sans"/>
                <a:cs typeface="Noto Sans"/>
                <a:sym typeface="Noto Sans"/>
              </a:rPr>
              <a:t>) estimados por el modelo expresan la asociación de cada variable con el desenlace.</a:t>
            </a:r>
          </a:p>
          <a:p>
            <a:pPr marL="0" indent="0" algn="just">
              <a:lnSpc>
                <a:spcPct val="90000"/>
              </a:lnSpc>
              <a:spcBef>
                <a:spcPts val="0"/>
              </a:spcBef>
              <a:spcAft>
                <a:spcPts val="0"/>
              </a:spcAft>
              <a:buNone/>
            </a:pPr>
            <a:r>
              <a:rPr lang="es-CO" sz="2200" b="0" dirty="0">
                <a:solidFill>
                  <a:schemeClr val="tx1"/>
                </a:solidFill>
                <a:latin typeface="Noto Sans"/>
                <a:ea typeface="Noto Sans"/>
                <a:cs typeface="Noto Sans"/>
                <a:sym typeface="Noto Sans"/>
              </a:rPr>
              <a:t>El </a:t>
            </a:r>
            <a:r>
              <a:rPr lang="es-CO" sz="2200" b="1" dirty="0">
                <a:solidFill>
                  <a:schemeClr val="tx1"/>
                </a:solidFill>
                <a:latin typeface="Noto Sans"/>
                <a:ea typeface="Noto Sans"/>
                <a:cs typeface="Noto Sans"/>
                <a:sym typeface="Noto Sans"/>
              </a:rPr>
              <a:t>odds ratio</a:t>
            </a:r>
            <a:r>
              <a:rPr lang="es-CO" sz="2200" b="0" dirty="0">
                <a:solidFill>
                  <a:schemeClr val="tx1"/>
                </a:solidFill>
                <a:latin typeface="Noto Sans"/>
                <a:ea typeface="Noto Sans"/>
                <a:cs typeface="Noto Sans"/>
                <a:sym typeface="Noto Sans"/>
              </a:rPr>
              <a:t> de cada variable se calcula como el exponencial de su coeficiente:</a:t>
            </a:r>
          </a:p>
        </p:txBody>
      </p:sp>
      <mc:AlternateContent xmlns:mc="http://schemas.openxmlformats.org/markup-compatibility/2006" xmlns:a14="http://schemas.microsoft.com/office/drawing/2010/main">
        <mc:Choice Requires="a14">
          <p:sp>
            <p:nvSpPr>
              <p:cNvPr id="7" name="Equation 7"/>
              <p:cNvSpPr txBox="1"/>
              <p:nvPr/>
            </p:nvSpPr>
            <p:spPr>
              <a:xfrm>
                <a:off x="548640" y="4754880"/>
                <a:ext cx="11091672" cy="731520"/>
              </a:xfrm>
              <a:prstGeom prst="rect">
                <a:avLst/>
              </a:prstGeom>
              <a:noFill/>
            </p:spPr>
            <p:txBody>
              <a:bodyPr wrap="square" anchor="ctr">
                <a:noAutofit/>
              </a:bodyPr>
              <a:lstStyle/>
              <a:p>
                <a:pPr algn="ctr"/>
                <a14:m>
                  <m:oMathPara xmlns:m="http://schemas.openxmlformats.org/officeDocument/2006/math">
                    <m:oMath>
                      <m:r>
                        <m:rPr>
                          <m:nor/>
                        </m:rPr>
                        <a:rPr lang="es-CO" sz="2400" i="0">
                          <a:solidFill>
                            <a:schemeClr val="tx1"/>
                          </a:solidFill>
                          <a:latin typeface="Noto Sans"/>
                          <a:ea typeface="Noto Sans"/>
                          <a:cs typeface="Noto Sans"/>
                          <a:sym typeface="Noto Sans"/>
                        </a:rPr>
                        <m:t>Odds ratio de </m:t>
                      </m:r>
                      <m:sSub>
                        <m:sSubPr>
                          <m:ctrlPr>
                            <a:rPr lang="es-CO" sz="2400" i="1">
                              <a:latin typeface="Cambria Math"/>
                            </a:rPr>
                          </m:ctrlPr>
                        </m:sSubPr>
                        <m:e>
                          <m:r>
                            <a:rPr lang="es-CO" sz="2400" i="1">
                              <a:latin typeface="Cambria Math"/>
                            </a:rPr>
                            <m:t>𝑥</m:t>
                          </m:r>
                        </m:e>
                        <m:sub>
                          <m:r>
                            <a:rPr lang="es-CO" sz="2400" i="1">
                              <a:latin typeface="Cambria Math"/>
                            </a:rPr>
                            <m:t>𝑗</m:t>
                          </m:r>
                        </m:sub>
                      </m:sSub>
                      <m:r>
                        <a:rPr lang="es-CO" sz="2400" i="0">
                          <a:latin typeface="Cambria Math"/>
                        </a:rPr>
                        <m:t>=</m:t>
                      </m:r>
                      <m:sSup>
                        <m:sSupPr>
                          <m:ctrlPr>
                            <a:rPr lang="es-CO" sz="2400" i="1">
                              <a:latin typeface="Cambria Math"/>
                            </a:rPr>
                          </m:ctrlPr>
                        </m:sSupPr>
                        <m:e>
                          <m:r>
                            <a:rPr lang="es-CO" sz="2400" i="1">
                              <a:latin typeface="Cambria Math"/>
                            </a:rPr>
                            <m:t>𝑒</m:t>
                          </m:r>
                        </m:e>
                        <m:sup>
                          <m:sSub>
                            <m:sSubPr>
                              <m:ctrlPr>
                                <a:rPr lang="es-CO" sz="2400" i="1">
                                  <a:latin typeface="Cambria Math"/>
                                </a:rPr>
                              </m:ctrlPr>
                            </m:sSubPr>
                            <m:e>
                              <m:r>
                                <a:rPr lang="es-CO" sz="2400" i="1">
                                  <a:latin typeface="Cambria Math"/>
                                </a:rPr>
                                <m:t>𝛽</m:t>
                              </m:r>
                            </m:e>
                            <m:sub>
                              <m:r>
                                <a:rPr lang="es-CO" sz="2400" i="1">
                                  <a:latin typeface="Cambria Math"/>
                                </a:rPr>
                                <m:t>𝑗</m:t>
                              </m:r>
                            </m:sub>
                          </m:sSub>
                        </m:sup>
                      </m:sSup>
                    </m:oMath>
                  </m:oMathPara>
                </a14:m>
                <a:endParaRPr/>
              </a:p>
            </p:txBody>
          </p:sp>
        </mc:Choice>
        <mc:Fallback xmlns="">
          <p:sp>
            <p:nvSpPr>
              <p:cNvPr id="7" name="Equation 7"/>
              <p:cNvSpPr txBox="1"/>
              <p:nvPr/>
            </p:nvSpPr>
            <p:spPr>
              <a:xfrm>
                <a:off x="548640" y="4754880"/>
                <a:ext cx="11091672" cy="731520"/>
              </a:xfrm>
              <a:prstGeom prst="rect">
                <a:avLst/>
              </a:prstGeom>
              <a:noFill/>
            </p:spPr>
            <p:txBody>
              <a:bodyPr wrap="square" anchor="ctr">
                <a:noAutofit/>
              </a:bodyPr>
              <a:lstStyle/>
              <a:p>
                <a:pPr algn="ctr"/>
                <a:r>
                  <a:rPr lang="es-CO" sz="2400" b="0" dirty="0">
                    <a:solidFill>
                      <a:schemeClr val="tx1"/>
                    </a:solidFill>
                    <a:latin typeface="Noto Sans"/>
                    <a:ea typeface="Noto Sans"/>
                    <a:cs typeface="Noto Sans"/>
                    <a:sym typeface="Noto Sans"/>
                  </a:rPr>
                  <a:t>Odds ratio de xⱼ = e^βⱼ</a:t>
                </a:r>
              </a:p>
            </p:txBody>
          </p:sp>
        </mc:Fallback>
      </mc:AlternateContent>
      <mc:AlternateContent xmlns:mc="http://schemas.openxmlformats.org/markup-compatibility/2006" xmlns:a14="http://schemas.microsoft.com/office/drawing/2010/main">
        <mc:Choice Requires="a14">
          <p:sp>
            <p:nvSpPr>
              <p:cNvPr id="6" name="Equation 4">
                <a:extLst>
                  <a:ext uri="{FF2B5EF4-FFF2-40B4-BE49-F238E27FC236}">
                    <a16:creationId xmlns:a16="http://schemas.microsoft.com/office/drawing/2014/main" id="{B5F7ADB0-C18E-378F-5D7D-A997A3B166A8}"/>
                  </a:ext>
                </a:extLst>
              </p:cNvPr>
              <p:cNvSpPr txBox="1"/>
              <p:nvPr/>
            </p:nvSpPr>
            <p:spPr>
              <a:xfrm>
                <a:off x="548640" y="1918928"/>
                <a:ext cx="11091672" cy="1005840"/>
              </a:xfrm>
              <a:prstGeom prst="rect">
                <a:avLst/>
              </a:prstGeom>
              <a:noFill/>
            </p:spPr>
            <p:txBody>
              <a:bodyPr wrap="square" anchor="ctr">
                <a:noAutofit/>
              </a:bodyPr>
              <a:lstStyle/>
              <a:p>
                <a:pPr algn="ctr"/>
                <a14:m>
                  <m:oMathPara xmlns:m="http://schemas.openxmlformats.org/officeDocument/2006/math">
                    <m:oMath>
                      <m:r>
                        <m:rPr>
                          <m:sty m:val="p"/>
                        </m:rPr>
                        <a:rPr lang="es-CO" sz="2400" i="0">
                          <a:latin typeface="Cambria Math"/>
                        </a:rPr>
                        <m:t>ln</m:t>
                      </m:r>
                      <m:d>
                        <m:dPr>
                          <m:ctrlPr>
                            <a:rPr lang="es-CO" sz="2400" i="1">
                              <a:latin typeface="Cambria Math" panose="02040503050406030204" pitchFamily="18" charset="0"/>
                            </a:rPr>
                          </m:ctrlPr>
                        </m:dPr>
                        <m:e>
                          <m:f>
                            <m:fPr>
                              <m:ctrlPr>
                                <a:rPr lang="es-CO" sz="2400" i="1">
                                  <a:latin typeface="Cambria Math"/>
                                </a:rPr>
                              </m:ctrlPr>
                            </m:fPr>
                            <m:num>
                              <m:r>
                                <a:rPr lang="es-CO" sz="2400" i="1">
                                  <a:latin typeface="Cambria Math"/>
                                </a:rPr>
                                <m:t>𝑝</m:t>
                              </m:r>
                            </m:num>
                            <m:den>
                              <m:r>
                                <a:rPr lang="es-CO" sz="2400" i="0">
                                  <a:latin typeface="Cambria Math"/>
                                </a:rPr>
                                <m:t>1−</m:t>
                              </m:r>
                              <m:r>
                                <a:rPr lang="es-CO" sz="2400" i="1">
                                  <a:latin typeface="Cambria Math"/>
                                </a:rPr>
                                <m:t>𝑝</m:t>
                              </m:r>
                            </m:den>
                          </m:f>
                        </m:e>
                      </m:d>
                      <m:r>
                        <a:rPr lang="es-CO" sz="2400" i="0">
                          <a:latin typeface="Cambria Math"/>
                        </a:rPr>
                        <m:t>=</m:t>
                      </m:r>
                      <m:sSub>
                        <m:sSubPr>
                          <m:ctrlPr>
                            <a:rPr lang="es-CO" sz="2400" i="1">
                              <a:latin typeface="Cambria Math"/>
                            </a:rPr>
                          </m:ctrlPr>
                        </m:sSubPr>
                        <m:e>
                          <m:r>
                            <a:rPr lang="es-CO" sz="2400" i="1">
                              <a:latin typeface="Cambria Math"/>
                            </a:rPr>
                            <m:t>𝛽</m:t>
                          </m:r>
                        </m:e>
                        <m:sub>
                          <m:r>
                            <a:rPr lang="es-CO" sz="2400" i="0">
                              <a:latin typeface="Cambria Math"/>
                            </a:rPr>
                            <m:t>0</m:t>
                          </m:r>
                        </m:sub>
                      </m:sSub>
                      <m:r>
                        <a:rPr lang="es-CO" sz="2400" i="0">
                          <a:latin typeface="Cambria Math"/>
                        </a:rPr>
                        <m:t>+</m:t>
                      </m:r>
                      <m:sSub>
                        <m:sSubPr>
                          <m:ctrlPr>
                            <a:rPr lang="es-CO" sz="2400" i="1">
                              <a:latin typeface="Cambria Math"/>
                            </a:rPr>
                          </m:ctrlPr>
                        </m:sSubPr>
                        <m:e>
                          <m:r>
                            <a:rPr lang="es-CO" sz="2400" i="1">
                              <a:latin typeface="Cambria Math"/>
                            </a:rPr>
                            <m:t>𝛽</m:t>
                          </m:r>
                        </m:e>
                        <m:sub>
                          <m:r>
                            <a:rPr lang="es-CO" sz="2400" i="0">
                              <a:latin typeface="Cambria Math"/>
                            </a:rPr>
                            <m:t>1</m:t>
                          </m:r>
                        </m:sub>
                      </m:sSub>
                      <m:sSub>
                        <m:sSubPr>
                          <m:ctrlPr>
                            <a:rPr lang="es-CO" sz="2400" i="1">
                              <a:latin typeface="Cambria Math"/>
                            </a:rPr>
                          </m:ctrlPr>
                        </m:sSubPr>
                        <m:e>
                          <m:r>
                            <a:rPr lang="es-CO" sz="2400" i="1">
                              <a:latin typeface="Cambria Math"/>
                            </a:rPr>
                            <m:t>𝑥</m:t>
                          </m:r>
                        </m:e>
                        <m:sub>
                          <m:r>
                            <a:rPr lang="es-CO" sz="2400" i="0">
                              <a:latin typeface="Cambria Math"/>
                            </a:rPr>
                            <m:t>1</m:t>
                          </m:r>
                        </m:sub>
                      </m:sSub>
                      <m:r>
                        <a:rPr lang="es-CO" sz="2400" i="0">
                          <a:latin typeface="Cambria Math"/>
                        </a:rPr>
                        <m:t>+</m:t>
                      </m:r>
                      <m:sSub>
                        <m:sSubPr>
                          <m:ctrlPr>
                            <a:rPr lang="es-CO" sz="2400" i="1">
                              <a:latin typeface="Cambria Math"/>
                            </a:rPr>
                          </m:ctrlPr>
                        </m:sSubPr>
                        <m:e>
                          <m:r>
                            <a:rPr lang="es-CO" sz="2400" i="1">
                              <a:latin typeface="Cambria Math"/>
                            </a:rPr>
                            <m:t>𝛽</m:t>
                          </m:r>
                        </m:e>
                        <m:sub>
                          <m:r>
                            <a:rPr lang="es-CO" sz="2400" i="0">
                              <a:latin typeface="Cambria Math"/>
                            </a:rPr>
                            <m:t>2</m:t>
                          </m:r>
                        </m:sub>
                      </m:sSub>
                      <m:sSub>
                        <m:sSubPr>
                          <m:ctrlPr>
                            <a:rPr lang="es-CO" sz="2400" i="1">
                              <a:latin typeface="Cambria Math"/>
                            </a:rPr>
                          </m:ctrlPr>
                        </m:sSubPr>
                        <m:e>
                          <m:r>
                            <a:rPr lang="es-CO" sz="2400" i="1">
                              <a:latin typeface="Cambria Math"/>
                            </a:rPr>
                            <m:t>𝑥</m:t>
                          </m:r>
                        </m:e>
                        <m:sub>
                          <m:r>
                            <a:rPr lang="es-CO" sz="2400" i="0">
                              <a:latin typeface="Cambria Math"/>
                            </a:rPr>
                            <m:t>2</m:t>
                          </m:r>
                        </m:sub>
                      </m:sSub>
                      <m:r>
                        <a:rPr lang="es-CO" sz="2400" i="0">
                          <a:latin typeface="Cambria Math"/>
                        </a:rPr>
                        <m:t>+…+</m:t>
                      </m:r>
                      <m:sSub>
                        <m:sSubPr>
                          <m:ctrlPr>
                            <a:rPr lang="es-CO" sz="2400" i="1">
                              <a:latin typeface="Cambria Math"/>
                            </a:rPr>
                          </m:ctrlPr>
                        </m:sSubPr>
                        <m:e>
                          <m:r>
                            <a:rPr lang="es-CO" sz="2400" i="1">
                              <a:latin typeface="Cambria Math"/>
                            </a:rPr>
                            <m:t>𝛽</m:t>
                          </m:r>
                        </m:e>
                        <m:sub>
                          <m:r>
                            <a:rPr lang="es-CO" sz="2400" i="1">
                              <a:latin typeface="Cambria Math"/>
                            </a:rPr>
                            <m:t>𝑘</m:t>
                          </m:r>
                        </m:sub>
                      </m:sSub>
                      <m:sSub>
                        <m:sSubPr>
                          <m:ctrlPr>
                            <a:rPr lang="es-CO" sz="2400" i="1">
                              <a:latin typeface="Cambria Math"/>
                            </a:rPr>
                          </m:ctrlPr>
                        </m:sSubPr>
                        <m:e>
                          <m:r>
                            <a:rPr lang="es-CO" sz="2400" i="1">
                              <a:latin typeface="Cambria Math"/>
                            </a:rPr>
                            <m:t>𝑥</m:t>
                          </m:r>
                        </m:e>
                        <m:sub>
                          <m:r>
                            <a:rPr lang="es-CO" sz="2400" i="1">
                              <a:latin typeface="Cambria Math"/>
                            </a:rPr>
                            <m:t>𝑘</m:t>
                          </m:r>
                        </m:sub>
                      </m:sSub>
                    </m:oMath>
                  </m:oMathPara>
                </a14:m>
                <a:endParaRPr dirty="0"/>
              </a:p>
            </p:txBody>
          </p:sp>
        </mc:Choice>
        <mc:Fallback xmlns="">
          <p:sp>
            <p:nvSpPr>
              <p:cNvPr id="6" name="Equation 4">
                <a:extLst>
                  <a:ext uri="{FF2B5EF4-FFF2-40B4-BE49-F238E27FC236}">
                    <a16:creationId xmlns:a16="http://schemas.microsoft.com/office/drawing/2014/main" id="{B5F7ADB0-C18E-378F-5D7D-A997A3B166A8}"/>
                  </a:ext>
                </a:extLst>
              </p:cNvPr>
              <p:cNvSpPr txBox="1">
                <a:spLocks noRot="1" noChangeAspect="1" noMove="1" noResize="1" noEditPoints="1" noAdjustHandles="1" noChangeArrowheads="1" noChangeShapeType="1" noTextEdit="1"/>
              </p:cNvSpPr>
              <p:nvPr/>
            </p:nvSpPr>
            <p:spPr>
              <a:xfrm>
                <a:off x="548640" y="1918928"/>
                <a:ext cx="11091672" cy="1005840"/>
              </a:xfrm>
              <a:prstGeom prst="rect">
                <a:avLst/>
              </a:prstGeom>
              <a:blipFill>
                <a:blip r:embed="rId3"/>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34131892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Introducción</a:t>
            </a:r>
            <a:endParaRPr lang="es-CO" sz="3600" dirty="0"/>
          </a:p>
        </p:txBody>
      </p:sp>
      <p:sp>
        <p:nvSpPr>
          <p:cNvPr id="3" name="TextBox 3"/>
          <p:cNvSpPr txBox="1"/>
          <p:nvPr/>
        </p:nvSpPr>
        <p:spPr>
          <a:xfrm>
            <a:off x="548640" y="1737360"/>
            <a:ext cx="11091672" cy="443484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1000"/>
              </a:spcAft>
              <a:buNone/>
            </a:pPr>
            <a:r>
              <a:rPr lang="es-CO" sz="2200" b="1" dirty="0">
                <a:solidFill>
                  <a:schemeClr val="tx1"/>
                </a:solidFill>
                <a:latin typeface="Noto Sans"/>
                <a:ea typeface="Noto Sans"/>
                <a:cs typeface="Noto Sans"/>
                <a:sym typeface="Noto Sans"/>
              </a:rPr>
              <a:t>Interpretación</a:t>
            </a:r>
          </a:p>
          <a:p>
            <a:pPr marL="342900" indent="-342900" algn="l">
              <a:lnSpc>
                <a:spcPct val="90000"/>
              </a:lnSpc>
              <a:spcBef>
                <a:spcPts val="0"/>
              </a:spcBef>
              <a:spcAft>
                <a:spcPts val="1000"/>
              </a:spcAft>
              <a:buClr>
                <a:srgbClr val="0673BA"/>
              </a:buClr>
              <a:buSzPct val="100000"/>
              <a:buFont typeface="Arial"/>
              <a:buChar char="•"/>
            </a:pPr>
            <a:r>
              <a:rPr lang="es-CO" sz="2200" b="0" dirty="0">
                <a:solidFill>
                  <a:schemeClr val="tx1"/>
                </a:solidFill>
                <a:latin typeface="Noto Sans"/>
                <a:ea typeface="Noto Sans"/>
                <a:cs typeface="Noto Sans"/>
                <a:sym typeface="Noto Sans"/>
              </a:rPr>
              <a:t>Un </a:t>
            </a:r>
            <a:r>
              <a:rPr lang="es-CO" sz="2200" b="1" dirty="0">
                <a:solidFill>
                  <a:schemeClr val="tx1"/>
                </a:solidFill>
                <a:latin typeface="Noto Sans"/>
                <a:ea typeface="Noto Sans"/>
                <a:cs typeface="Noto Sans"/>
                <a:sym typeface="Noto Sans"/>
              </a:rPr>
              <a:t>odds ratio</a:t>
            </a:r>
            <a:r>
              <a:rPr lang="es-CO" sz="2200" b="0" dirty="0">
                <a:solidFill>
                  <a:schemeClr val="tx1"/>
                </a:solidFill>
                <a:latin typeface="Noto Sans"/>
                <a:ea typeface="Noto Sans"/>
                <a:cs typeface="Noto Sans"/>
                <a:sym typeface="Noto Sans"/>
              </a:rPr>
              <a:t> igual a 1 indica que la variable no está asociada con el desenlace.</a:t>
            </a:r>
          </a:p>
          <a:p>
            <a:pPr marL="342900" indent="-342900" algn="l">
              <a:lnSpc>
                <a:spcPct val="90000"/>
              </a:lnSpc>
              <a:spcBef>
                <a:spcPts val="0"/>
              </a:spcBef>
              <a:spcAft>
                <a:spcPts val="1000"/>
              </a:spcAft>
              <a:buClr>
                <a:srgbClr val="0673BA"/>
              </a:buClr>
              <a:buSzPct val="100000"/>
              <a:buFont typeface="Arial"/>
              <a:buChar char="•"/>
            </a:pPr>
            <a:r>
              <a:rPr lang="es-CO" sz="2200" b="0" dirty="0">
                <a:solidFill>
                  <a:schemeClr val="tx1"/>
                </a:solidFill>
                <a:latin typeface="Noto Sans"/>
                <a:ea typeface="Noto Sans"/>
                <a:cs typeface="Noto Sans"/>
                <a:sym typeface="Noto Sans"/>
              </a:rPr>
              <a:t>Un valor mayor que 1 indica una asociación positiva, es decir, la variable se relaciona con una mayor ocurrencia del desenlace. Entre más alto el valor, más fuerte es la asociación.</a:t>
            </a:r>
          </a:p>
          <a:p>
            <a:pPr marL="342900" indent="-342900" algn="l">
              <a:lnSpc>
                <a:spcPct val="90000"/>
              </a:lnSpc>
              <a:spcBef>
                <a:spcPts val="0"/>
              </a:spcBef>
              <a:spcAft>
                <a:spcPts val="2400"/>
              </a:spcAft>
              <a:buClr>
                <a:srgbClr val="0673BA"/>
              </a:buClr>
              <a:buSzPct val="100000"/>
              <a:buFont typeface="Arial"/>
              <a:buChar char="•"/>
            </a:pPr>
            <a:r>
              <a:rPr lang="es-CO" sz="2200" b="0" dirty="0">
                <a:solidFill>
                  <a:schemeClr val="tx1"/>
                </a:solidFill>
                <a:latin typeface="Noto Sans"/>
                <a:ea typeface="Noto Sans"/>
                <a:cs typeface="Noto Sans"/>
                <a:sym typeface="Noto Sans"/>
              </a:rPr>
              <a:t>Un valor menor que 1 indica una asociación negativa, es decir, la variable se relaciona con una menor ocurrencia del desenlace.</a:t>
            </a:r>
          </a:p>
          <a:p>
            <a:pPr marL="0" indent="0" algn="just">
              <a:lnSpc>
                <a:spcPct val="90000"/>
              </a:lnSpc>
              <a:spcBef>
                <a:spcPts val="0"/>
              </a:spcBef>
              <a:spcAft>
                <a:spcPts val="1000"/>
              </a:spcAft>
              <a:buNone/>
            </a:pPr>
            <a:r>
              <a:rPr lang="es-CO" sz="2200" b="1" dirty="0">
                <a:solidFill>
                  <a:schemeClr val="tx1"/>
                </a:solidFill>
                <a:latin typeface="Noto Sans"/>
                <a:ea typeface="Noto Sans"/>
                <a:cs typeface="Noto Sans"/>
                <a:sym typeface="Noto Sans"/>
              </a:rPr>
              <a:t>Notas</a:t>
            </a:r>
          </a:p>
          <a:p>
            <a:pPr marL="342900" indent="-342900" algn="l">
              <a:lnSpc>
                <a:spcPct val="90000"/>
              </a:lnSpc>
              <a:spcBef>
                <a:spcPts val="0"/>
              </a:spcBef>
              <a:spcAft>
                <a:spcPts val="1000"/>
              </a:spcAft>
              <a:buClr>
                <a:srgbClr val="0673BA"/>
              </a:buClr>
              <a:buSzPct val="100000"/>
              <a:buFont typeface="Arial"/>
              <a:buChar char="•"/>
            </a:pPr>
            <a:r>
              <a:rPr lang="es-CO" sz="2200" b="0" dirty="0">
                <a:solidFill>
                  <a:schemeClr val="tx1"/>
                </a:solidFill>
                <a:latin typeface="Noto Sans"/>
                <a:ea typeface="Noto Sans"/>
                <a:cs typeface="Noto Sans"/>
                <a:sym typeface="Noto Sans"/>
              </a:rPr>
              <a:t>El odds ratio no es una probabilidad ni indica cuántas veces es más probable el desenlace.</a:t>
            </a:r>
          </a:p>
          <a:p>
            <a:pPr marL="342900" indent="-342900" algn="l">
              <a:lnSpc>
                <a:spcPct val="90000"/>
              </a:lnSpc>
              <a:spcBef>
                <a:spcPts val="0"/>
              </a:spcBef>
              <a:spcAft>
                <a:spcPts val="0"/>
              </a:spcAft>
              <a:buClr>
                <a:srgbClr val="0673BA"/>
              </a:buClr>
              <a:buSzPct val="100000"/>
              <a:buFont typeface="Arial"/>
              <a:buChar char="•"/>
            </a:pPr>
            <a:r>
              <a:rPr lang="es-CO" sz="2200" b="0" dirty="0">
                <a:solidFill>
                  <a:schemeClr val="tx1"/>
                </a:solidFill>
                <a:latin typeface="Noto Sans"/>
                <a:ea typeface="Noto Sans"/>
                <a:cs typeface="Noto Sans"/>
                <a:sym typeface="Noto Sans"/>
              </a:rPr>
              <a:t>Sus valores van de 0 a infinito.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Objetivo</a:t>
            </a:r>
            <a:endParaRPr lang="es-CO" sz="3600" dirty="0"/>
          </a:p>
        </p:txBody>
      </p:sp>
      <p:sp>
        <p:nvSpPr>
          <p:cNvPr id="3" name="TextBox 3"/>
          <p:cNvSpPr txBox="1"/>
          <p:nvPr/>
        </p:nvSpPr>
        <p:spPr>
          <a:xfrm>
            <a:off x="548640" y="1737360"/>
            <a:ext cx="11091672" cy="438912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1000"/>
              </a:spcAft>
              <a:buNone/>
            </a:pPr>
            <a:r>
              <a:rPr lang="es-CO" sz="2200" b="0" dirty="0">
                <a:solidFill>
                  <a:schemeClr val="tx1"/>
                </a:solidFill>
                <a:latin typeface="Noto Sans"/>
                <a:ea typeface="Noto Sans"/>
                <a:cs typeface="Noto Sans"/>
                <a:sym typeface="Noto Sans"/>
              </a:rPr>
              <a:t>Comparar los odds ratios obtenidos con los enfoques centralizado y federado.</a:t>
            </a:r>
          </a:p>
        </p:txBody>
      </p:sp>
      <p:sp>
        <p:nvSpPr>
          <p:cNvPr id="4" name="Title 2">
            <a:extLst>
              <a:ext uri="{FF2B5EF4-FFF2-40B4-BE49-F238E27FC236}">
                <a16:creationId xmlns:a16="http://schemas.microsoft.com/office/drawing/2014/main" id="{B55DEF41-5B19-77D8-5848-068B7DC09794}"/>
              </a:ext>
            </a:extLst>
          </p:cNvPr>
          <p:cNvSpPr txBox="1">
            <a:spLocks/>
          </p:cNvSpPr>
          <p:nvPr/>
        </p:nvSpPr>
        <p:spPr>
          <a:xfrm>
            <a:off x="548640" y="2934761"/>
            <a:ext cx="11091672" cy="6858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6000"/>
              <a:buFont typeface="Noto Sans SemiBold"/>
              <a:buNone/>
              <a:defRPr sz="6000" b="1" i="0" u="none" strike="noStrike" cap="none">
                <a:solidFill>
                  <a:schemeClr val="dk1"/>
                </a:solidFill>
                <a:latin typeface="Noto Sans SemiBold"/>
                <a:ea typeface="Noto Sans SemiBold"/>
                <a:cs typeface="Noto Sans SemiBold"/>
                <a:sym typeface="Noto Sans SemiBold"/>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s-CO" sz="3600" b="0">
                <a:solidFill>
                  <a:srgbClr val="0E2841"/>
                </a:solidFill>
              </a:rPr>
              <a:t>Acceso al notebook</a:t>
            </a:r>
            <a:endParaRPr lang="es-CO" sz="3600" dirty="0"/>
          </a:p>
        </p:txBody>
      </p:sp>
      <p:sp>
        <p:nvSpPr>
          <p:cNvPr id="5" name="TextBox 3">
            <a:extLst>
              <a:ext uri="{FF2B5EF4-FFF2-40B4-BE49-F238E27FC236}">
                <a16:creationId xmlns:a16="http://schemas.microsoft.com/office/drawing/2014/main" id="{00680884-00D8-6AF5-66A7-2575A98825C7}"/>
              </a:ext>
            </a:extLst>
          </p:cNvPr>
          <p:cNvSpPr txBox="1"/>
          <p:nvPr/>
        </p:nvSpPr>
        <p:spPr>
          <a:xfrm>
            <a:off x="548640" y="3684569"/>
            <a:ext cx="11091672" cy="91440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0"/>
              </a:spcAft>
              <a:buNone/>
            </a:pPr>
            <a:r>
              <a:rPr lang="es-CO" sz="2200" b="0" dirty="0">
                <a:solidFill>
                  <a:schemeClr val="tx1"/>
                </a:solidFill>
                <a:latin typeface="Noto Sans"/>
                <a:ea typeface="Noto Sans"/>
                <a:cs typeface="Noto Sans"/>
                <a:sym typeface="Noto Sans"/>
              </a:rPr>
              <a:t>El notebook de este taller se puede abrir directamente en Google Colab desde el siguiente enlace:</a:t>
            </a:r>
          </a:p>
        </p:txBody>
      </p:sp>
      <p:graphicFrame>
        <p:nvGraphicFramePr>
          <p:cNvPr id="6" name="Notebook link">
            <a:extLst>
              <a:ext uri="{FF2B5EF4-FFF2-40B4-BE49-F238E27FC236}">
                <a16:creationId xmlns:a16="http://schemas.microsoft.com/office/drawing/2014/main" id="{D3475CFE-462A-9E65-9604-D4AE781E2172}"/>
              </a:ext>
            </a:extLst>
          </p:cNvPr>
          <p:cNvGraphicFramePr>
            <a:graphicFrameLocks noGrp="1"/>
          </p:cNvGraphicFramePr>
          <p:nvPr>
            <p:extLst>
              <p:ext uri="{D42A27DB-BD31-4B8C-83A1-F6EECF244321}">
                <p14:modId xmlns:p14="http://schemas.microsoft.com/office/powerpoint/2010/main" val="3142766232"/>
              </p:ext>
            </p:extLst>
          </p:nvPr>
        </p:nvGraphicFramePr>
        <p:xfrm>
          <a:off x="548640" y="4690409"/>
          <a:ext cx="11091672" cy="877824"/>
        </p:xfrm>
        <a:graphic>
          <a:graphicData uri="http://schemas.openxmlformats.org/drawingml/2006/table">
            <a:tbl>
              <a:tblPr firstRow="1" bandRow="1"/>
              <a:tblGrid>
                <a:gridCol w="4206240">
                  <a:extLst>
                    <a:ext uri="{9D8B030D-6E8A-4147-A177-3AD203B41FA5}">
                      <a16:colId xmlns:a16="http://schemas.microsoft.com/office/drawing/2014/main" val="20000"/>
                    </a:ext>
                  </a:extLst>
                </a:gridCol>
                <a:gridCol w="5148072">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tblGrid>
              <a:tr h="438912">
                <a:tc>
                  <a:txBody>
                    <a:bodyPr/>
                    <a:lstStyle/>
                    <a:p>
                      <a:pPr marL="0" indent="0" algn="l">
                        <a:lnSpc>
                          <a:spcPct val="90000"/>
                        </a:lnSpc>
                        <a:spcBef>
                          <a:spcPts val="0"/>
                        </a:spcBef>
                        <a:spcAft>
                          <a:spcPts val="0"/>
                        </a:spcAft>
                        <a:buNone/>
                      </a:pPr>
                      <a:r>
                        <a:rPr lang="es-CO" sz="2000" b="1" dirty="0">
                          <a:solidFill>
                            <a:srgbClr val="FFFFFF"/>
                          </a:solidFill>
                          <a:latin typeface="Noto Sans"/>
                          <a:ea typeface="Noto Sans"/>
                          <a:cs typeface="Noto Sans"/>
                          <a:sym typeface="Noto Sans"/>
                        </a:rPr>
                        <a:t>Notebook</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673BA"/>
                    </a:solidFill>
                  </a:tcPr>
                </a:tc>
                <a:tc>
                  <a:txBody>
                    <a:bodyPr/>
                    <a:lstStyle/>
                    <a:p>
                      <a:pPr marL="0" indent="0" algn="l">
                        <a:lnSpc>
                          <a:spcPct val="90000"/>
                        </a:lnSpc>
                        <a:spcBef>
                          <a:spcPts val="0"/>
                        </a:spcBef>
                        <a:spcAft>
                          <a:spcPts val="0"/>
                        </a:spcAft>
                        <a:buNone/>
                      </a:pPr>
                      <a:r>
                        <a:rPr lang="es-CO" sz="2000" b="1" dirty="0">
                          <a:solidFill>
                            <a:srgbClr val="FFFFFF"/>
                          </a:solidFill>
                          <a:latin typeface="Noto Sans"/>
                          <a:ea typeface="Noto Sans"/>
                          <a:cs typeface="Noto Sans"/>
                          <a:sym typeface="Noto Sans"/>
                        </a:rPr>
                        <a:t>Análisis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673BA"/>
                    </a:solidFill>
                  </a:tcPr>
                </a:tc>
                <a:tc>
                  <a:txBody>
                    <a:bodyPr/>
                    <a:lstStyle/>
                    <a:p>
                      <a:pPr marL="0" indent="0" algn="l">
                        <a:lnSpc>
                          <a:spcPct val="90000"/>
                        </a:lnSpc>
                        <a:spcBef>
                          <a:spcPts val="0"/>
                        </a:spcBef>
                        <a:spcAft>
                          <a:spcPts val="0"/>
                        </a:spcAft>
                        <a:buNone/>
                      </a:pPr>
                      <a:r>
                        <a:rPr lang="es-CO" sz="2000" b="1" dirty="0">
                          <a:solidFill>
                            <a:srgbClr val="FFFFFF"/>
                          </a:solidFill>
                          <a:latin typeface="Noto Sans"/>
                          <a:ea typeface="Noto Sans"/>
                          <a:cs typeface="Noto Sans"/>
                          <a:sym typeface="Noto Sans"/>
                        </a:rPr>
                        <a:t>Enlace</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673BA"/>
                    </a:solidFill>
                  </a:tcPr>
                </a:tc>
                <a:extLst>
                  <a:ext uri="{0D108BD9-81ED-4DB2-BD59-A6C34878D82A}">
                    <a16:rowId xmlns:a16="http://schemas.microsoft.com/office/drawing/2014/main" val="10000"/>
                  </a:ext>
                </a:extLst>
              </a:tr>
              <a:tr h="438912">
                <a:tc>
                  <a:txBody>
                    <a:bodyPr/>
                    <a:lstStyle/>
                    <a:p>
                      <a:pPr marL="0" indent="0" algn="l">
                        <a:lnSpc>
                          <a:spcPct val="90000"/>
                        </a:lnSpc>
                        <a:spcBef>
                          <a:spcPts val="0"/>
                        </a:spcBef>
                        <a:spcAft>
                          <a:spcPts val="0"/>
                        </a:spcAft>
                        <a:buNone/>
                      </a:pPr>
                      <a:r>
                        <a:rPr lang="es-CO" sz="2000" b="0" dirty="0">
                          <a:solidFill>
                            <a:srgbClr val="0E2841"/>
                          </a:solidFill>
                          <a:latin typeface="Noto Sans"/>
                          <a:ea typeface="Noto Sans"/>
                          <a:cs typeface="Noto Sans"/>
                          <a:sym typeface="Noto Sans"/>
                        </a:rPr>
                        <a:t>03_odds_ratios.ipynb</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tc>
                  <a:txBody>
                    <a:bodyPr/>
                    <a:lstStyle/>
                    <a:p>
                      <a:pPr marL="0" indent="0" algn="l">
                        <a:lnSpc>
                          <a:spcPct val="90000"/>
                        </a:lnSpc>
                        <a:spcBef>
                          <a:spcPts val="0"/>
                        </a:spcBef>
                        <a:spcAft>
                          <a:spcPts val="0"/>
                        </a:spcAft>
                        <a:buNone/>
                      </a:pPr>
                      <a:r>
                        <a:rPr lang="es-CO" sz="2000" b="0" dirty="0">
                          <a:solidFill>
                            <a:srgbClr val="0E2841"/>
                          </a:solidFill>
                          <a:latin typeface="Noto Sans"/>
                          <a:ea typeface="Noto Sans"/>
                          <a:cs typeface="Noto Sans"/>
                          <a:sym typeface="Noto Sans"/>
                        </a:rPr>
                        <a:t>Medidas de asociación (odds ratio)</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tc>
                  <a:txBody>
                    <a:bodyPr/>
                    <a:lstStyle/>
                    <a:p>
                      <a:pPr marL="0" indent="0" algn="l">
                        <a:lnSpc>
                          <a:spcPct val="90000"/>
                        </a:lnSpc>
                        <a:spcBef>
                          <a:spcPts val="0"/>
                        </a:spcBef>
                        <a:spcAft>
                          <a:spcPts val="0"/>
                        </a:spcAft>
                        <a:buNone/>
                      </a:pPr>
                      <a:r>
                        <a:rPr lang="es-CO" sz="2000" b="0" dirty="0">
                          <a:solidFill>
                            <a:schemeClr val="hlink"/>
                          </a:solidFill>
                          <a:latin typeface="Noto Sans"/>
                          <a:ea typeface="Noto Sans"/>
                          <a:cs typeface="Noto Sans"/>
                          <a:sym typeface="Noto Sans"/>
                          <a:hlinkClick r:id="rId2"/>
                        </a:rPr>
                        <a:t>Abrir</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Contenido</a:t>
            </a:r>
            <a:endParaRPr lang="es-CO" sz="3600" dirty="0"/>
          </a:p>
        </p:txBody>
      </p:sp>
      <p:sp>
        <p:nvSpPr>
          <p:cNvPr id="3" name="TextBox 3"/>
          <p:cNvSpPr txBox="1"/>
          <p:nvPr/>
        </p:nvSpPr>
        <p:spPr>
          <a:xfrm>
            <a:off x="548640" y="1737360"/>
            <a:ext cx="11091672" cy="4389120"/>
          </a:xfrm>
          <a:prstGeom prst="rect">
            <a:avLst/>
          </a:prstGeom>
          <a:noFill/>
          <a:ln>
            <a:noFill/>
          </a:ln>
        </p:spPr>
        <p:txBody>
          <a:bodyPr wrap="square" lIns="45720" tIns="45720" rIns="45720" bIns="45720" rtlCol="0" anchor="t">
            <a:noAutofit/>
          </a:bodyPr>
          <a:lstStyle/>
          <a:p>
            <a:pPr marL="457200" indent="-457200" algn="l">
              <a:lnSpc>
                <a:spcPct val="90000"/>
              </a:lnSpc>
              <a:spcBef>
                <a:spcPts val="0"/>
              </a:spcBef>
              <a:spcAft>
                <a:spcPts val="1000"/>
              </a:spcAft>
              <a:buNone/>
            </a:pPr>
            <a:r>
              <a:rPr lang="es-CO" sz="2200" b="1" dirty="0">
                <a:solidFill>
                  <a:schemeClr val="tx1"/>
                </a:solidFill>
                <a:latin typeface="Noto Sans"/>
                <a:ea typeface="Noto Sans"/>
                <a:cs typeface="Noto Sans"/>
                <a:sym typeface="Noto Sans"/>
              </a:rPr>
              <a:t>1.</a:t>
            </a:r>
            <a:r>
              <a:rPr lang="es-CO" sz="2200" b="0" dirty="0">
                <a:solidFill>
                  <a:schemeClr val="tx1"/>
                </a:solidFill>
                <a:latin typeface="Noto Sans"/>
                <a:ea typeface="Noto Sans"/>
                <a:cs typeface="Noto Sans"/>
                <a:sym typeface="Noto Sans"/>
              </a:rPr>
              <a:t>	Configuración</a:t>
            </a:r>
          </a:p>
          <a:p>
            <a:pPr marL="457200" indent="-457200" algn="l">
              <a:lnSpc>
                <a:spcPct val="90000"/>
              </a:lnSpc>
              <a:spcBef>
                <a:spcPts val="0"/>
              </a:spcBef>
              <a:spcAft>
                <a:spcPts val="1000"/>
              </a:spcAft>
              <a:buNone/>
            </a:pPr>
            <a:r>
              <a:rPr lang="es-CO" sz="2200" b="1" dirty="0">
                <a:solidFill>
                  <a:schemeClr val="tx1"/>
                </a:solidFill>
                <a:latin typeface="Noto Sans"/>
                <a:ea typeface="Noto Sans"/>
                <a:cs typeface="Noto Sans"/>
                <a:sym typeface="Noto Sans"/>
              </a:rPr>
              <a:t>2.</a:t>
            </a:r>
            <a:r>
              <a:rPr lang="es-CO" sz="2200" b="0" dirty="0">
                <a:solidFill>
                  <a:schemeClr val="tx1"/>
                </a:solidFill>
                <a:latin typeface="Noto Sans"/>
                <a:ea typeface="Noto Sans"/>
                <a:cs typeface="Noto Sans"/>
                <a:sym typeface="Noto Sans"/>
              </a:rPr>
              <a:t>	Preparación de los datos</a:t>
            </a:r>
          </a:p>
          <a:p>
            <a:pPr marL="457200" indent="-457200" algn="l">
              <a:lnSpc>
                <a:spcPct val="90000"/>
              </a:lnSpc>
              <a:spcBef>
                <a:spcPts val="0"/>
              </a:spcBef>
              <a:spcAft>
                <a:spcPts val="1000"/>
              </a:spcAft>
              <a:buNone/>
            </a:pPr>
            <a:r>
              <a:rPr lang="es-CO" sz="2200" b="1" dirty="0">
                <a:solidFill>
                  <a:schemeClr val="tx1"/>
                </a:solidFill>
                <a:latin typeface="Noto Sans"/>
                <a:ea typeface="Noto Sans"/>
                <a:cs typeface="Noto Sans"/>
                <a:sym typeface="Noto Sans"/>
              </a:rPr>
              <a:t>3.</a:t>
            </a:r>
            <a:r>
              <a:rPr lang="es-CO" sz="2200" b="0" dirty="0">
                <a:solidFill>
                  <a:schemeClr val="tx1"/>
                </a:solidFill>
                <a:latin typeface="Noto Sans"/>
                <a:ea typeface="Noto Sans"/>
                <a:cs typeface="Noto Sans"/>
                <a:sym typeface="Noto Sans"/>
              </a:rPr>
              <a:t>	Consideraciones</a:t>
            </a:r>
          </a:p>
          <a:p>
            <a:pPr marL="457200" indent="-457200" algn="l">
              <a:lnSpc>
                <a:spcPct val="90000"/>
              </a:lnSpc>
              <a:spcBef>
                <a:spcPts val="0"/>
              </a:spcBef>
              <a:spcAft>
                <a:spcPts val="1000"/>
              </a:spcAft>
              <a:buNone/>
            </a:pPr>
            <a:r>
              <a:rPr lang="es-CO" sz="2200" b="1" dirty="0">
                <a:solidFill>
                  <a:schemeClr val="tx1"/>
                </a:solidFill>
                <a:latin typeface="Noto Sans"/>
                <a:ea typeface="Noto Sans"/>
                <a:cs typeface="Noto Sans"/>
                <a:sym typeface="Noto Sans"/>
              </a:rPr>
              <a:t>4.</a:t>
            </a:r>
            <a:r>
              <a:rPr lang="es-CO" sz="2200" b="0" dirty="0">
                <a:solidFill>
                  <a:schemeClr val="tx1"/>
                </a:solidFill>
                <a:latin typeface="Noto Sans"/>
                <a:ea typeface="Noto Sans"/>
                <a:cs typeface="Noto Sans"/>
                <a:sym typeface="Noto Sans"/>
              </a:rPr>
              <a:t>	Enfoque centralizado</a:t>
            </a:r>
          </a:p>
          <a:p>
            <a:pPr marL="457200" indent="-457200" algn="l">
              <a:lnSpc>
                <a:spcPct val="90000"/>
              </a:lnSpc>
              <a:spcBef>
                <a:spcPts val="0"/>
              </a:spcBef>
              <a:spcAft>
                <a:spcPts val="1000"/>
              </a:spcAft>
              <a:buNone/>
            </a:pPr>
            <a:r>
              <a:rPr lang="es-CO" sz="2200" b="1" dirty="0">
                <a:solidFill>
                  <a:schemeClr val="tx1"/>
                </a:solidFill>
                <a:latin typeface="Noto Sans"/>
                <a:ea typeface="Noto Sans"/>
                <a:cs typeface="Noto Sans"/>
                <a:sym typeface="Noto Sans"/>
              </a:rPr>
              <a:t>5.</a:t>
            </a:r>
            <a:r>
              <a:rPr lang="es-CO" sz="2200" b="0" dirty="0">
                <a:solidFill>
                  <a:schemeClr val="tx1"/>
                </a:solidFill>
                <a:latin typeface="Noto Sans"/>
                <a:ea typeface="Noto Sans"/>
                <a:cs typeface="Noto Sans"/>
                <a:sym typeface="Noto Sans"/>
              </a:rPr>
              <a:t>	Enfoque federado</a:t>
            </a:r>
          </a:p>
          <a:p>
            <a:pPr marL="457200" indent="-457200" algn="l">
              <a:lnSpc>
                <a:spcPct val="90000"/>
              </a:lnSpc>
              <a:spcBef>
                <a:spcPts val="0"/>
              </a:spcBef>
              <a:spcAft>
                <a:spcPts val="1000"/>
              </a:spcAft>
              <a:buNone/>
            </a:pPr>
            <a:r>
              <a:rPr lang="es-CO" sz="2200" b="1" dirty="0">
                <a:solidFill>
                  <a:schemeClr val="tx1"/>
                </a:solidFill>
                <a:latin typeface="Noto Sans"/>
                <a:ea typeface="Noto Sans"/>
                <a:cs typeface="Noto Sans"/>
                <a:sym typeface="Noto Sans"/>
              </a:rPr>
              <a:t>6.</a:t>
            </a:r>
            <a:r>
              <a:rPr lang="es-CO" sz="2200" b="0" dirty="0">
                <a:solidFill>
                  <a:schemeClr val="tx1"/>
                </a:solidFill>
                <a:latin typeface="Noto Sans"/>
                <a:ea typeface="Noto Sans"/>
                <a:cs typeface="Noto Sans"/>
                <a:sym typeface="Noto Sans"/>
              </a:rPr>
              <a:t>	Comparación</a:t>
            </a:r>
          </a:p>
          <a:p>
            <a:pPr marL="457200" indent="-457200" algn="l">
              <a:lnSpc>
                <a:spcPct val="90000"/>
              </a:lnSpc>
              <a:spcBef>
                <a:spcPts val="0"/>
              </a:spcBef>
              <a:spcAft>
                <a:spcPts val="0"/>
              </a:spcAft>
              <a:buNone/>
            </a:pPr>
            <a:r>
              <a:rPr lang="es-CO" sz="2200" b="1" dirty="0">
                <a:solidFill>
                  <a:schemeClr val="tx1"/>
                </a:solidFill>
                <a:latin typeface="Noto Sans"/>
                <a:ea typeface="Noto Sans"/>
                <a:cs typeface="Noto Sans"/>
                <a:sym typeface="Noto Sans"/>
              </a:rPr>
              <a:t>7.</a:t>
            </a:r>
            <a:r>
              <a:rPr lang="es-CO" sz="2200" b="0" dirty="0">
                <a:solidFill>
                  <a:schemeClr val="tx1"/>
                </a:solidFill>
                <a:latin typeface="Noto Sans"/>
                <a:ea typeface="Noto Sans"/>
                <a:cs typeface="Noto Sans"/>
                <a:sym typeface="Noto Sans"/>
              </a:rPr>
              <a:t>	Conclusiones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2. Preparación de los datos</a:t>
            </a:r>
            <a:endParaRPr lang="es-CO" sz="3600" dirty="0"/>
          </a:p>
        </p:txBody>
      </p:sp>
      <p:sp>
        <p:nvSpPr>
          <p:cNvPr id="3" name="TextBox 3"/>
          <p:cNvSpPr txBox="1"/>
          <p:nvPr/>
        </p:nvSpPr>
        <p:spPr>
          <a:xfrm>
            <a:off x="548640" y="1737360"/>
            <a:ext cx="11091672" cy="443484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2400"/>
              </a:spcAft>
              <a:buNone/>
            </a:pPr>
            <a:r>
              <a:rPr lang="es-CO" sz="2200" b="0" dirty="0">
                <a:solidFill>
                  <a:schemeClr val="tx1"/>
                </a:solidFill>
                <a:latin typeface="Noto Sans"/>
                <a:ea typeface="Noto Sans"/>
                <a:cs typeface="Noto Sans"/>
                <a:sym typeface="Noto Sans"/>
              </a:rPr>
              <a:t>El objetivo de esta sección es preparar la base de datos para calcular los odds ratios.</a:t>
            </a:r>
          </a:p>
          <a:p>
            <a:pPr marL="0" indent="0" algn="just">
              <a:lnSpc>
                <a:spcPct val="90000"/>
              </a:lnSpc>
              <a:spcBef>
                <a:spcPts val="0"/>
              </a:spcBef>
              <a:spcAft>
                <a:spcPts val="1000"/>
              </a:spcAft>
              <a:buNone/>
            </a:pPr>
            <a:r>
              <a:rPr lang="es-CO" sz="2200" b="0" dirty="0">
                <a:solidFill>
                  <a:schemeClr val="tx1"/>
                </a:solidFill>
                <a:latin typeface="Noto Sans"/>
                <a:ea typeface="Noto Sans"/>
                <a:cs typeface="Noto Sans"/>
                <a:sym typeface="Noto Sans"/>
              </a:rPr>
              <a:t>Para esto se realizan los siguientes procedimientos</a:t>
            </a:r>
          </a:p>
          <a:p>
            <a:pPr marL="342900" indent="-342900" algn="l">
              <a:lnSpc>
                <a:spcPct val="90000"/>
              </a:lnSpc>
              <a:spcBef>
                <a:spcPts val="0"/>
              </a:spcBef>
              <a:spcAft>
                <a:spcPts val="1000"/>
              </a:spcAft>
              <a:buClr>
                <a:srgbClr val="0673BA"/>
              </a:buClr>
              <a:buSzPct val="100000"/>
              <a:buFont typeface="Arial"/>
              <a:buChar char="•"/>
            </a:pPr>
            <a:r>
              <a:rPr lang="es-CO" sz="2200" b="0" dirty="0">
                <a:solidFill>
                  <a:schemeClr val="tx1"/>
                </a:solidFill>
                <a:latin typeface="Noto Sans"/>
                <a:ea typeface="Noto Sans"/>
                <a:cs typeface="Noto Sans"/>
                <a:sym typeface="Noto Sans"/>
              </a:rPr>
              <a:t>Se seleccionan los pacientes con dengue severo</a:t>
            </a:r>
          </a:p>
          <a:p>
            <a:pPr marL="342900" indent="-342900" algn="l">
              <a:lnSpc>
                <a:spcPct val="90000"/>
              </a:lnSpc>
              <a:spcBef>
                <a:spcPts val="0"/>
              </a:spcBef>
              <a:spcAft>
                <a:spcPts val="1000"/>
              </a:spcAft>
              <a:buClr>
                <a:srgbClr val="0673BA"/>
              </a:buClr>
              <a:buSzPct val="100000"/>
              <a:buFont typeface="Arial"/>
              <a:buChar char="•"/>
            </a:pPr>
            <a:r>
              <a:rPr lang="es-CO" sz="2200" b="0" dirty="0">
                <a:solidFill>
                  <a:schemeClr val="tx1"/>
                </a:solidFill>
                <a:latin typeface="Noto Sans"/>
                <a:ea typeface="Noto Sans"/>
                <a:cs typeface="Noto Sans"/>
                <a:sym typeface="Noto Sans"/>
              </a:rPr>
              <a:t>Se conservan solo las columnas necesarias</a:t>
            </a:r>
          </a:p>
          <a:p>
            <a:pPr marL="342900" indent="-342900" algn="l">
              <a:lnSpc>
                <a:spcPct val="90000"/>
              </a:lnSpc>
              <a:spcBef>
                <a:spcPts val="0"/>
              </a:spcBef>
              <a:spcAft>
                <a:spcPts val="1000"/>
              </a:spcAft>
              <a:buClr>
                <a:srgbClr val="0673BA"/>
              </a:buClr>
              <a:buSzPct val="100000"/>
              <a:buFont typeface="Arial"/>
              <a:buChar char="•"/>
            </a:pPr>
            <a:r>
              <a:rPr lang="es-CO" sz="2200" b="0" dirty="0">
                <a:solidFill>
                  <a:schemeClr val="tx1"/>
                </a:solidFill>
                <a:latin typeface="Noto Sans"/>
                <a:ea typeface="Noto Sans"/>
                <a:cs typeface="Noto Sans"/>
                <a:sym typeface="Noto Sans"/>
              </a:rPr>
              <a:t>Se eliminan los registros que no se pueden usar</a:t>
            </a:r>
          </a:p>
          <a:p>
            <a:pPr marL="342900" indent="-342900" algn="l">
              <a:lnSpc>
                <a:spcPct val="90000"/>
              </a:lnSpc>
              <a:spcBef>
                <a:spcPts val="0"/>
              </a:spcBef>
              <a:spcAft>
                <a:spcPts val="1000"/>
              </a:spcAft>
              <a:buClr>
                <a:srgbClr val="0673BA"/>
              </a:buClr>
              <a:buSzPct val="100000"/>
              <a:buFont typeface="Arial"/>
              <a:buChar char="•"/>
            </a:pPr>
            <a:r>
              <a:rPr lang="es-CO" sz="2200" b="0" dirty="0">
                <a:solidFill>
                  <a:schemeClr val="tx1"/>
                </a:solidFill>
                <a:latin typeface="Noto Sans"/>
                <a:ea typeface="Noto Sans"/>
                <a:cs typeface="Noto Sans"/>
                <a:sym typeface="Noto Sans"/>
              </a:rPr>
              <a:t>Se completan los valores faltantes</a:t>
            </a:r>
          </a:p>
          <a:p>
            <a:pPr marL="342900" indent="-342900" algn="l">
              <a:lnSpc>
                <a:spcPct val="90000"/>
              </a:lnSpc>
              <a:spcBef>
                <a:spcPts val="0"/>
              </a:spcBef>
              <a:spcAft>
                <a:spcPts val="0"/>
              </a:spcAft>
              <a:buClr>
                <a:srgbClr val="0673BA"/>
              </a:buClr>
              <a:buSzPct val="100000"/>
              <a:buFont typeface="Arial"/>
              <a:buChar char="•"/>
            </a:pPr>
            <a:r>
              <a:rPr lang="es-CO" sz="2200" b="0" dirty="0">
                <a:solidFill>
                  <a:schemeClr val="tx1"/>
                </a:solidFill>
                <a:latin typeface="Noto Sans"/>
                <a:ea typeface="Noto Sans"/>
                <a:cs typeface="Noto Sans"/>
                <a:sym typeface="Noto Sans"/>
              </a:rPr>
              <a:t>Se convierten todas las columnas a valores numéricos, como lo requiere la regresión logística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2. Preparación de los datos</a:t>
            </a:r>
            <a:endParaRPr lang="es-CO" sz="3600" dirty="0"/>
          </a:p>
        </p:txBody>
      </p:sp>
      <p:sp>
        <p:nvSpPr>
          <p:cNvPr id="3" name="TextBox 3"/>
          <p:cNvSpPr txBox="1"/>
          <p:nvPr/>
        </p:nvSpPr>
        <p:spPr>
          <a:xfrm>
            <a:off x="548640" y="1737360"/>
            <a:ext cx="11091672" cy="443484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2400"/>
              </a:spcAft>
              <a:buNone/>
            </a:pPr>
            <a:r>
              <a:rPr lang="es-CO" sz="2200" b="1" dirty="0">
                <a:solidFill>
                  <a:schemeClr val="tx1"/>
                </a:solidFill>
                <a:latin typeface="Noto Sans"/>
                <a:ea typeface="Noto Sans"/>
                <a:cs typeface="Noto Sans"/>
                <a:sym typeface="Noto Sans"/>
              </a:rPr>
              <a:t>2.1. Selección de pacientes con dengue severo.</a:t>
            </a:r>
          </a:p>
          <a:p>
            <a:pPr marL="0" indent="0" algn="just">
              <a:lnSpc>
                <a:spcPct val="90000"/>
              </a:lnSpc>
              <a:spcBef>
                <a:spcPts val="0"/>
              </a:spcBef>
              <a:spcAft>
                <a:spcPts val="2400"/>
              </a:spcAft>
              <a:buNone/>
            </a:pPr>
            <a:r>
              <a:rPr lang="es-CO" sz="2200" b="0" dirty="0">
                <a:solidFill>
                  <a:schemeClr val="tx1"/>
                </a:solidFill>
                <a:latin typeface="Noto Sans"/>
                <a:ea typeface="Noto Sans"/>
                <a:cs typeface="Noto Sans"/>
                <a:sym typeface="Noto Sans"/>
              </a:rPr>
              <a:t>El taller se enfoca en los pacientes cuya clasificación final (</a:t>
            </a:r>
            <a:r>
              <a:rPr lang="es-CO" sz="2200" b="1" dirty="0">
                <a:solidFill>
                  <a:schemeClr val="tx1"/>
                </a:solidFill>
                <a:latin typeface="Noto Sans"/>
                <a:ea typeface="Noto Sans"/>
                <a:cs typeface="Noto Sans"/>
                <a:sym typeface="Noto Sans"/>
              </a:rPr>
              <a:t>final_classification</a:t>
            </a:r>
            <a:r>
              <a:rPr lang="es-CO" sz="2200" b="0" dirty="0">
                <a:solidFill>
                  <a:schemeClr val="tx1"/>
                </a:solidFill>
                <a:latin typeface="Noto Sans"/>
                <a:ea typeface="Noto Sans"/>
                <a:cs typeface="Noto Sans"/>
                <a:sym typeface="Noto Sans"/>
              </a:rPr>
              <a:t>) es “Severe dengue”.</a:t>
            </a:r>
          </a:p>
          <a:p>
            <a:pPr marL="0" indent="0" algn="just">
              <a:lnSpc>
                <a:spcPct val="90000"/>
              </a:lnSpc>
              <a:spcBef>
                <a:spcPts val="0"/>
              </a:spcBef>
              <a:spcAft>
                <a:spcPts val="2400"/>
              </a:spcAft>
              <a:buNone/>
            </a:pPr>
            <a:r>
              <a:rPr lang="es-CO" sz="2200" b="0" dirty="0">
                <a:solidFill>
                  <a:schemeClr val="tx1"/>
                </a:solidFill>
                <a:latin typeface="Noto Sans"/>
                <a:ea typeface="Noto Sans"/>
                <a:cs typeface="Noto Sans"/>
                <a:sym typeface="Noto Sans"/>
              </a:rPr>
              <a:t>El objetivo es identificar, dentro de este grupo, cómo se asocian las variables de la base de datos con el fallecimiento.</a:t>
            </a:r>
          </a:p>
          <a:p>
            <a:pPr marL="0" indent="0" algn="just">
              <a:lnSpc>
                <a:spcPct val="90000"/>
              </a:lnSpc>
              <a:spcBef>
                <a:spcPts val="0"/>
              </a:spcBef>
              <a:spcAft>
                <a:spcPts val="0"/>
              </a:spcAft>
              <a:buNone/>
            </a:pPr>
            <a:r>
              <a:rPr lang="es-CO" sz="2200" b="0" dirty="0">
                <a:solidFill>
                  <a:schemeClr val="tx1"/>
                </a:solidFill>
                <a:latin typeface="Noto Sans"/>
                <a:ea typeface="Noto Sans"/>
                <a:cs typeface="Noto Sans"/>
                <a:sym typeface="Noto Sans"/>
              </a:rPr>
              <a:t>Después de este paso, la base de datos tiene 571 pacientes, de los cuales 97 fallecieron (17%), una proporción mayor que en toda la base de datos (cerca del 1%).</a:t>
            </a:r>
          </a:p>
        </p:txBody>
      </p:sp>
      <p:pic>
        <p:nvPicPr>
          <p:cNvPr id="5" name="Imagen 4">
            <a:extLst>
              <a:ext uri="{FF2B5EF4-FFF2-40B4-BE49-F238E27FC236}">
                <a16:creationId xmlns:a16="http://schemas.microsoft.com/office/drawing/2014/main" id="{0FF3418A-967C-52E2-4576-A9DA7DDF3B80}"/>
              </a:ext>
            </a:extLst>
          </p:cNvPr>
          <p:cNvPicPr>
            <a:picLocks noChangeAspect="1"/>
          </p:cNvPicPr>
          <p:nvPr/>
        </p:nvPicPr>
        <p:blipFill>
          <a:blip r:embed="rId2"/>
          <a:stretch>
            <a:fillRect/>
          </a:stretch>
        </p:blipFill>
        <p:spPr>
          <a:xfrm>
            <a:off x="548639" y="5257800"/>
            <a:ext cx="6256417" cy="6858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2. Preparación de los datos</a:t>
            </a:r>
            <a:endParaRPr lang="es-CO" sz="3600" dirty="0"/>
          </a:p>
        </p:txBody>
      </p:sp>
      <p:sp>
        <p:nvSpPr>
          <p:cNvPr id="3" name="TextBox 3"/>
          <p:cNvSpPr txBox="1"/>
          <p:nvPr/>
        </p:nvSpPr>
        <p:spPr>
          <a:xfrm>
            <a:off x="548640" y="1737360"/>
            <a:ext cx="11091672" cy="82296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0"/>
              </a:spcAft>
              <a:buNone/>
            </a:pPr>
            <a:r>
              <a:rPr lang="es-CO" sz="2200" b="0" dirty="0">
                <a:solidFill>
                  <a:schemeClr val="tx1"/>
                </a:solidFill>
                <a:latin typeface="Noto Sans"/>
                <a:ea typeface="Noto Sans"/>
                <a:cs typeface="Noto Sans"/>
                <a:sym typeface="Noto Sans"/>
              </a:rPr>
              <a:t>El siguiente gráfico muestra la distribución del desenlace en total y en cada institución para pacientes con dengue severo.</a:t>
            </a:r>
          </a:p>
        </p:txBody>
      </p:sp>
      <p:pic>
        <p:nvPicPr>
          <p:cNvPr id="5" name="Imagen 4">
            <a:extLst>
              <a:ext uri="{FF2B5EF4-FFF2-40B4-BE49-F238E27FC236}">
                <a16:creationId xmlns:a16="http://schemas.microsoft.com/office/drawing/2014/main" id="{D1556B28-0103-E014-AB25-85C957AAAEF8}"/>
              </a:ext>
            </a:extLst>
          </p:cNvPr>
          <p:cNvPicPr>
            <a:picLocks noChangeAspect="1"/>
          </p:cNvPicPr>
          <p:nvPr/>
        </p:nvPicPr>
        <p:blipFill>
          <a:blip r:embed="rId2"/>
          <a:stretch>
            <a:fillRect/>
          </a:stretch>
        </p:blipFill>
        <p:spPr>
          <a:xfrm>
            <a:off x="1493301" y="2560320"/>
            <a:ext cx="9205398" cy="365342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B365F9-0868-76F2-DC93-E88EF6428B76}"/>
            </a:ext>
          </a:extLst>
        </p:cNvPr>
        <p:cNvGrpSpPr/>
        <p:nvPr/>
      </p:nvGrpSpPr>
      <p:grpSpPr>
        <a:xfrm>
          <a:off x="0" y="0"/>
          <a:ext cx="0" cy="0"/>
          <a:chOff x="0" y="0"/>
          <a:chExt cx="0" cy="0"/>
        </a:xfrm>
      </p:grpSpPr>
      <p:sp>
        <p:nvSpPr>
          <p:cNvPr id="2" name="Title 2">
            <a:extLst>
              <a:ext uri="{FF2B5EF4-FFF2-40B4-BE49-F238E27FC236}">
                <a16:creationId xmlns:a16="http://schemas.microsoft.com/office/drawing/2014/main" id="{DCA0B875-7A5F-0AA0-1BD7-86E45CBD296A}"/>
              </a:ext>
            </a:extLst>
          </p:cNvPr>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2. Preparación de los datos</a:t>
            </a:r>
            <a:endParaRPr lang="es-CO" sz="3600" dirty="0"/>
          </a:p>
        </p:txBody>
      </p:sp>
      <p:sp>
        <p:nvSpPr>
          <p:cNvPr id="3" name="TextBox 3">
            <a:extLst>
              <a:ext uri="{FF2B5EF4-FFF2-40B4-BE49-F238E27FC236}">
                <a16:creationId xmlns:a16="http://schemas.microsoft.com/office/drawing/2014/main" id="{5061BC29-C3F1-DD00-154C-9A37E9F8A846}"/>
              </a:ext>
            </a:extLst>
          </p:cNvPr>
          <p:cNvSpPr txBox="1"/>
          <p:nvPr/>
        </p:nvSpPr>
        <p:spPr>
          <a:xfrm>
            <a:off x="548640" y="1737360"/>
            <a:ext cx="11091672" cy="443484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2400"/>
              </a:spcAft>
              <a:buNone/>
            </a:pPr>
            <a:r>
              <a:rPr lang="es-CO" sz="2200" b="1" dirty="0">
                <a:solidFill>
                  <a:schemeClr val="tx1"/>
                </a:solidFill>
                <a:latin typeface="Noto Sans"/>
                <a:ea typeface="Noto Sans"/>
                <a:cs typeface="Noto Sans"/>
                <a:sym typeface="Noto Sans"/>
              </a:rPr>
              <a:t>2.2. Eliminación de columnas no utilizadas.</a:t>
            </a:r>
          </a:p>
          <a:p>
            <a:pPr marL="0" indent="0" algn="just">
              <a:lnSpc>
                <a:spcPct val="90000"/>
              </a:lnSpc>
              <a:spcBef>
                <a:spcPts val="0"/>
              </a:spcBef>
              <a:spcAft>
                <a:spcPts val="1000"/>
              </a:spcAft>
              <a:buNone/>
            </a:pPr>
            <a:r>
              <a:rPr lang="es-CO" sz="2200" b="0" dirty="0">
                <a:solidFill>
                  <a:schemeClr val="tx1"/>
                </a:solidFill>
                <a:latin typeface="Noto Sans"/>
                <a:ea typeface="Noto Sans"/>
                <a:cs typeface="Noto Sans"/>
                <a:sym typeface="Noto Sans"/>
              </a:rPr>
              <a:t>Se eliminan las columnas que no se usan como variables de análisis:</a:t>
            </a:r>
          </a:p>
          <a:p>
            <a:pPr marL="342900" indent="-342900" algn="l">
              <a:lnSpc>
                <a:spcPct val="90000"/>
              </a:lnSpc>
              <a:spcBef>
                <a:spcPts val="0"/>
              </a:spcBef>
              <a:spcAft>
                <a:spcPts val="1000"/>
              </a:spcAft>
              <a:buClr>
                <a:srgbClr val="0673BA"/>
              </a:buClr>
              <a:buSzPct val="100000"/>
              <a:buFont typeface="Arial"/>
              <a:buChar char="•"/>
            </a:pPr>
            <a:r>
              <a:rPr lang="es-CO" sz="2200" b="0" dirty="0">
                <a:solidFill>
                  <a:schemeClr val="tx1"/>
                </a:solidFill>
                <a:latin typeface="Noto Sans"/>
                <a:ea typeface="Noto Sans"/>
                <a:cs typeface="Noto Sans"/>
                <a:sym typeface="Noto Sans"/>
              </a:rPr>
              <a:t>El identificador (</a:t>
            </a:r>
            <a:r>
              <a:rPr lang="es-CO" sz="2200" b="1" dirty="0">
                <a:solidFill>
                  <a:schemeClr val="tx1"/>
                </a:solidFill>
                <a:latin typeface="Noto Sans"/>
                <a:ea typeface="Noto Sans"/>
                <a:cs typeface="Noto Sans"/>
                <a:sym typeface="Noto Sans"/>
              </a:rPr>
              <a:t>record_id</a:t>
            </a:r>
            <a:r>
              <a:rPr lang="es-CO" sz="2200" b="0" dirty="0">
                <a:solidFill>
                  <a:schemeClr val="tx1"/>
                </a:solidFill>
                <a:latin typeface="Noto Sans"/>
                <a:ea typeface="Noto Sans"/>
                <a:cs typeface="Noto Sans"/>
                <a:sym typeface="Noto Sans"/>
              </a:rPr>
              <a:t>)</a:t>
            </a:r>
          </a:p>
          <a:p>
            <a:pPr marL="342900" indent="-342900" algn="l">
              <a:lnSpc>
                <a:spcPct val="90000"/>
              </a:lnSpc>
              <a:spcBef>
                <a:spcPts val="0"/>
              </a:spcBef>
              <a:spcAft>
                <a:spcPts val="1000"/>
              </a:spcAft>
              <a:buClr>
                <a:srgbClr val="0673BA"/>
              </a:buClr>
              <a:buSzPct val="100000"/>
              <a:buFont typeface="Arial"/>
              <a:buChar char="•"/>
            </a:pPr>
            <a:r>
              <a:rPr lang="es-CO" sz="2200" b="0" dirty="0">
                <a:solidFill>
                  <a:schemeClr val="tx1"/>
                </a:solidFill>
                <a:latin typeface="Noto Sans"/>
                <a:ea typeface="Noto Sans"/>
                <a:cs typeface="Noto Sans"/>
                <a:sym typeface="Noto Sans"/>
              </a:rPr>
              <a:t>Las fechas</a:t>
            </a:r>
          </a:p>
          <a:p>
            <a:pPr marL="342900" indent="-342900" algn="l">
              <a:lnSpc>
                <a:spcPct val="90000"/>
              </a:lnSpc>
              <a:spcBef>
                <a:spcPts val="0"/>
              </a:spcBef>
              <a:spcAft>
                <a:spcPts val="1000"/>
              </a:spcAft>
              <a:buClr>
                <a:srgbClr val="0673BA"/>
              </a:buClr>
              <a:buSzPct val="100000"/>
              <a:buFont typeface="Arial"/>
              <a:buChar char="•"/>
            </a:pPr>
            <a:r>
              <a:rPr lang="es-CO" sz="2200" b="0" dirty="0">
                <a:solidFill>
                  <a:schemeClr val="tx1"/>
                </a:solidFill>
                <a:latin typeface="Noto Sans"/>
                <a:ea typeface="Noto Sans"/>
                <a:cs typeface="Noto Sans"/>
                <a:sym typeface="Noto Sans"/>
              </a:rPr>
              <a:t>La clasificación final (</a:t>
            </a:r>
            <a:r>
              <a:rPr lang="es-CO" sz="2200" b="1" dirty="0">
                <a:solidFill>
                  <a:schemeClr val="tx1"/>
                </a:solidFill>
                <a:latin typeface="Noto Sans"/>
                <a:ea typeface="Noto Sans"/>
                <a:cs typeface="Noto Sans"/>
                <a:sym typeface="Noto Sans"/>
              </a:rPr>
              <a:t>final_classification</a:t>
            </a:r>
            <a:r>
              <a:rPr lang="es-CO" sz="2200" b="0" dirty="0">
                <a:solidFill>
                  <a:schemeClr val="tx1"/>
                </a:solidFill>
                <a:latin typeface="Noto Sans"/>
                <a:ea typeface="Noto Sans"/>
                <a:cs typeface="Noto Sans"/>
                <a:sym typeface="Noto Sans"/>
              </a:rPr>
              <a:t>), que es la misma para todos los pacientes después de 2.1</a:t>
            </a:r>
          </a:p>
          <a:p>
            <a:pPr marL="342900" indent="-342900" algn="l">
              <a:lnSpc>
                <a:spcPct val="90000"/>
              </a:lnSpc>
              <a:spcBef>
                <a:spcPts val="0"/>
              </a:spcBef>
              <a:spcAft>
                <a:spcPts val="0"/>
              </a:spcAft>
              <a:buClr>
                <a:srgbClr val="0673BA"/>
              </a:buClr>
              <a:buSzPct val="100000"/>
              <a:buFont typeface="Arial"/>
              <a:buChar char="•"/>
            </a:pPr>
            <a:r>
              <a:rPr lang="es-CO" sz="2200" b="0" dirty="0">
                <a:solidFill>
                  <a:schemeClr val="tx1"/>
                </a:solidFill>
                <a:latin typeface="Noto Sans"/>
                <a:ea typeface="Noto Sans"/>
                <a:cs typeface="Noto Sans"/>
                <a:sym typeface="Noto Sans"/>
              </a:rPr>
              <a:t>La hospitalización (</a:t>
            </a:r>
            <a:r>
              <a:rPr lang="es-CO" sz="2200" b="1" dirty="0">
                <a:solidFill>
                  <a:schemeClr val="tx1"/>
                </a:solidFill>
                <a:latin typeface="Noto Sans"/>
                <a:ea typeface="Noto Sans"/>
                <a:cs typeface="Noto Sans"/>
                <a:sym typeface="Noto Sans"/>
              </a:rPr>
              <a:t>hospitalized</a:t>
            </a:r>
            <a:r>
              <a:rPr lang="es-CO" sz="2200" b="0" dirty="0">
                <a:solidFill>
                  <a:schemeClr val="tx1"/>
                </a:solidFill>
                <a:latin typeface="Noto Sans"/>
                <a:ea typeface="Noto Sans"/>
                <a:cs typeface="Noto Sans"/>
                <a:sym typeface="Noto Sans"/>
              </a:rPr>
              <a:t>)</a:t>
            </a:r>
          </a:p>
        </p:txBody>
      </p:sp>
      <p:pic>
        <p:nvPicPr>
          <p:cNvPr id="5" name="Imagen 4">
            <a:extLst>
              <a:ext uri="{FF2B5EF4-FFF2-40B4-BE49-F238E27FC236}">
                <a16:creationId xmlns:a16="http://schemas.microsoft.com/office/drawing/2014/main" id="{3F0EE956-5364-FFEA-90C7-262DEA77FE97}"/>
              </a:ext>
            </a:extLst>
          </p:cNvPr>
          <p:cNvPicPr>
            <a:picLocks noChangeAspect="1"/>
          </p:cNvPicPr>
          <p:nvPr/>
        </p:nvPicPr>
        <p:blipFill>
          <a:blip r:embed="rId2"/>
          <a:stretch>
            <a:fillRect/>
          </a:stretch>
        </p:blipFill>
        <p:spPr>
          <a:xfrm>
            <a:off x="548640" y="5029200"/>
            <a:ext cx="8531218" cy="1125198"/>
          </a:xfrm>
          <a:prstGeom prst="rect">
            <a:avLst/>
          </a:prstGeom>
        </p:spPr>
      </p:pic>
    </p:spTree>
    <p:extLst>
      <p:ext uri="{BB962C8B-B14F-4D97-AF65-F5344CB8AC3E}">
        <p14:creationId xmlns:p14="http://schemas.microsoft.com/office/powerpoint/2010/main" val="17352046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2. Preparación de los datos</a:t>
            </a:r>
            <a:endParaRPr lang="es-CO" sz="3600" dirty="0"/>
          </a:p>
        </p:txBody>
      </p:sp>
      <p:sp>
        <p:nvSpPr>
          <p:cNvPr id="3" name="TextBox 3"/>
          <p:cNvSpPr txBox="1"/>
          <p:nvPr/>
        </p:nvSpPr>
        <p:spPr>
          <a:xfrm>
            <a:off x="548640" y="1737360"/>
            <a:ext cx="11091672" cy="443484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2400"/>
              </a:spcAft>
              <a:buNone/>
            </a:pPr>
            <a:r>
              <a:rPr lang="es-CO" sz="2200" b="1" dirty="0">
                <a:solidFill>
                  <a:schemeClr val="tx1"/>
                </a:solidFill>
                <a:latin typeface="Noto Sans"/>
                <a:ea typeface="Noto Sans"/>
                <a:cs typeface="Noto Sans"/>
                <a:sym typeface="Noto Sans"/>
              </a:rPr>
              <a:t>2.3. Eliminación de registros sin valores clave.</a:t>
            </a:r>
          </a:p>
          <a:p>
            <a:pPr marL="0" indent="0" algn="just">
              <a:lnSpc>
                <a:spcPct val="90000"/>
              </a:lnSpc>
              <a:spcBef>
                <a:spcPts val="0"/>
              </a:spcBef>
              <a:spcAft>
                <a:spcPts val="1000"/>
              </a:spcAft>
              <a:buNone/>
            </a:pPr>
            <a:r>
              <a:rPr lang="es-CO" sz="2200" b="0" dirty="0">
                <a:solidFill>
                  <a:schemeClr val="tx1"/>
                </a:solidFill>
                <a:latin typeface="Noto Sans"/>
                <a:ea typeface="Noto Sans"/>
                <a:cs typeface="Noto Sans"/>
                <a:sym typeface="Noto Sans"/>
              </a:rPr>
              <a:t>Se eliminan los siguientes registros:</a:t>
            </a:r>
          </a:p>
          <a:p>
            <a:pPr marL="342900" indent="-342900" algn="l">
              <a:lnSpc>
                <a:spcPct val="90000"/>
              </a:lnSpc>
              <a:spcBef>
                <a:spcPts val="0"/>
              </a:spcBef>
              <a:spcAft>
                <a:spcPts val="1000"/>
              </a:spcAft>
              <a:buClr>
                <a:srgbClr val="0673BA"/>
              </a:buClr>
              <a:buSzPct val="100000"/>
              <a:buFont typeface="Arial"/>
              <a:buChar char="•"/>
            </a:pPr>
            <a:r>
              <a:rPr lang="es-CO" sz="2200" b="0" dirty="0">
                <a:solidFill>
                  <a:schemeClr val="tx1"/>
                </a:solidFill>
                <a:latin typeface="Noto Sans"/>
                <a:ea typeface="Noto Sans"/>
                <a:cs typeface="Noto Sans"/>
                <a:sym typeface="Noto Sans"/>
              </a:rPr>
              <a:t>Sin ningún dato</a:t>
            </a:r>
          </a:p>
          <a:p>
            <a:pPr marL="342900" indent="-342900" algn="l">
              <a:lnSpc>
                <a:spcPct val="90000"/>
              </a:lnSpc>
              <a:spcBef>
                <a:spcPts val="0"/>
              </a:spcBef>
              <a:spcAft>
                <a:spcPts val="1000"/>
              </a:spcAft>
              <a:buClr>
                <a:srgbClr val="0673BA"/>
              </a:buClr>
              <a:buSzPct val="100000"/>
              <a:buFont typeface="Arial"/>
              <a:buChar char="•"/>
            </a:pPr>
            <a:r>
              <a:rPr lang="es-CO" sz="2200" b="0" dirty="0">
                <a:solidFill>
                  <a:schemeClr val="tx1"/>
                </a:solidFill>
                <a:latin typeface="Noto Sans"/>
                <a:ea typeface="Noto Sans"/>
                <a:cs typeface="Noto Sans"/>
                <a:sym typeface="Noto Sans"/>
              </a:rPr>
              <a:t>Sin desenlace</a:t>
            </a:r>
          </a:p>
          <a:p>
            <a:pPr marL="342900" indent="-342900" algn="l">
              <a:lnSpc>
                <a:spcPct val="90000"/>
              </a:lnSpc>
              <a:spcBef>
                <a:spcPts val="0"/>
              </a:spcBef>
              <a:spcAft>
                <a:spcPts val="0"/>
              </a:spcAft>
              <a:buClr>
                <a:srgbClr val="0673BA"/>
              </a:buClr>
              <a:buSzPct val="100000"/>
              <a:buFont typeface="Arial"/>
              <a:buChar char="•"/>
            </a:pPr>
            <a:r>
              <a:rPr lang="es-CO" sz="2200" b="0" dirty="0">
                <a:solidFill>
                  <a:schemeClr val="tx1"/>
                </a:solidFill>
                <a:latin typeface="Noto Sans"/>
                <a:ea typeface="Noto Sans"/>
                <a:cs typeface="Noto Sans"/>
                <a:sym typeface="Noto Sans"/>
              </a:rPr>
              <a:t>Sin institución</a:t>
            </a:r>
          </a:p>
        </p:txBody>
      </p:sp>
      <p:pic>
        <p:nvPicPr>
          <p:cNvPr id="5" name="Imagen 4">
            <a:extLst>
              <a:ext uri="{FF2B5EF4-FFF2-40B4-BE49-F238E27FC236}">
                <a16:creationId xmlns:a16="http://schemas.microsoft.com/office/drawing/2014/main" id="{C2A04221-9A34-C237-8EBC-FDB7AE1D4FD1}"/>
              </a:ext>
            </a:extLst>
          </p:cNvPr>
          <p:cNvPicPr>
            <a:picLocks noChangeAspect="1"/>
          </p:cNvPicPr>
          <p:nvPr/>
        </p:nvPicPr>
        <p:blipFill>
          <a:blip r:embed="rId2"/>
          <a:stretch>
            <a:fillRect/>
          </a:stretch>
        </p:blipFill>
        <p:spPr>
          <a:xfrm>
            <a:off x="595143" y="4160520"/>
            <a:ext cx="5721066" cy="685086"/>
          </a:xfrm>
          <a:prstGeom prst="rect">
            <a:avLst/>
          </a:prstGeom>
        </p:spPr>
      </p:pic>
      <p:sp>
        <p:nvSpPr>
          <p:cNvPr id="6" name="TextBox 6"/>
          <p:cNvSpPr txBox="1"/>
          <p:nvPr/>
        </p:nvSpPr>
        <p:spPr>
          <a:xfrm>
            <a:off x="548640" y="4983480"/>
            <a:ext cx="11091672" cy="73152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0"/>
              </a:spcAft>
              <a:buNone/>
            </a:pPr>
            <a:r>
              <a:rPr lang="es-CO" sz="2200" b="1" dirty="0">
                <a:solidFill>
                  <a:schemeClr val="tx1"/>
                </a:solidFill>
                <a:latin typeface="Noto Sans"/>
                <a:ea typeface="Noto Sans"/>
                <a:cs typeface="Noto Sans"/>
                <a:sym typeface="Noto Sans"/>
              </a:rPr>
              <a:t>Nota: </a:t>
            </a:r>
            <a:r>
              <a:rPr lang="es-CO" sz="2200" b="0" dirty="0">
                <a:solidFill>
                  <a:schemeClr val="tx1"/>
                </a:solidFill>
                <a:latin typeface="Noto Sans"/>
                <a:ea typeface="Noto Sans"/>
                <a:cs typeface="Noto Sans"/>
                <a:sym typeface="Noto Sans"/>
              </a:rPr>
              <a:t>Esta base de datos no tiene registros así, pero la revisión se incluye como un paso habitual de limpieza de datos.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D150AA-759F-1C67-ACDE-C8690E9CD894}"/>
            </a:ext>
          </a:extLst>
        </p:cNvPr>
        <p:cNvGrpSpPr/>
        <p:nvPr/>
      </p:nvGrpSpPr>
      <p:grpSpPr>
        <a:xfrm>
          <a:off x="0" y="0"/>
          <a:ext cx="0" cy="0"/>
          <a:chOff x="0" y="0"/>
          <a:chExt cx="0" cy="0"/>
        </a:xfrm>
      </p:grpSpPr>
      <p:sp>
        <p:nvSpPr>
          <p:cNvPr id="2" name="Title 2">
            <a:extLst>
              <a:ext uri="{FF2B5EF4-FFF2-40B4-BE49-F238E27FC236}">
                <a16:creationId xmlns:a16="http://schemas.microsoft.com/office/drawing/2014/main" id="{7DAF070C-8388-A196-5237-F097361ADADF}"/>
              </a:ext>
            </a:extLst>
          </p:cNvPr>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2. Preparación de los datos</a:t>
            </a:r>
            <a:endParaRPr lang="es-CO" sz="3600" dirty="0"/>
          </a:p>
        </p:txBody>
      </p:sp>
      <p:sp>
        <p:nvSpPr>
          <p:cNvPr id="3" name="TextBox 3">
            <a:extLst>
              <a:ext uri="{FF2B5EF4-FFF2-40B4-BE49-F238E27FC236}">
                <a16:creationId xmlns:a16="http://schemas.microsoft.com/office/drawing/2014/main" id="{EE24F1BB-C8FE-AA62-03DB-805A17851B64}"/>
              </a:ext>
            </a:extLst>
          </p:cNvPr>
          <p:cNvSpPr txBox="1"/>
          <p:nvPr/>
        </p:nvSpPr>
        <p:spPr>
          <a:xfrm>
            <a:off x="548640" y="1737360"/>
            <a:ext cx="11091672" cy="443484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2400"/>
              </a:spcAft>
              <a:buNone/>
            </a:pPr>
            <a:r>
              <a:rPr lang="es-CO" sz="2200" b="1" dirty="0">
                <a:solidFill>
                  <a:schemeClr val="tx1"/>
                </a:solidFill>
                <a:latin typeface="Noto Sans"/>
                <a:ea typeface="Noto Sans"/>
                <a:cs typeface="Noto Sans"/>
                <a:sym typeface="Noto Sans"/>
              </a:rPr>
              <a:t>2.4. Imputación de valores faltantes.</a:t>
            </a:r>
          </a:p>
          <a:p>
            <a:pPr marL="0" indent="0" algn="just">
              <a:lnSpc>
                <a:spcPct val="90000"/>
              </a:lnSpc>
              <a:spcBef>
                <a:spcPts val="0"/>
              </a:spcBef>
              <a:spcAft>
                <a:spcPts val="2400"/>
              </a:spcAft>
              <a:buNone/>
            </a:pPr>
            <a:r>
              <a:rPr lang="es-CO" sz="2200" b="0" dirty="0">
                <a:solidFill>
                  <a:schemeClr val="tx1"/>
                </a:solidFill>
                <a:latin typeface="Noto Sans"/>
                <a:ea typeface="Noto Sans"/>
                <a:cs typeface="Noto Sans"/>
                <a:sym typeface="Noto Sans"/>
              </a:rPr>
              <a:t>La regresión logística no admite valores faltantes, por lo que se completan antes de ajustar el modelo.</a:t>
            </a:r>
          </a:p>
          <a:p>
            <a:pPr marL="0" indent="0" algn="just">
              <a:lnSpc>
                <a:spcPct val="90000"/>
              </a:lnSpc>
              <a:spcBef>
                <a:spcPts val="0"/>
              </a:spcBef>
              <a:spcAft>
                <a:spcPts val="2400"/>
              </a:spcAft>
              <a:buNone/>
            </a:pPr>
            <a:r>
              <a:rPr lang="es-CO" sz="2200" b="0" dirty="0">
                <a:solidFill>
                  <a:schemeClr val="tx1"/>
                </a:solidFill>
                <a:latin typeface="Noto Sans"/>
                <a:ea typeface="Noto Sans"/>
                <a:cs typeface="Noto Sans"/>
                <a:sym typeface="Noto Sans"/>
              </a:rPr>
              <a:t>En los exámenes y síntomas, un valor faltante indica que el examen no se realizó o que el síntoma no se registró, por lo que se completa como “No”.</a:t>
            </a:r>
          </a:p>
          <a:p>
            <a:pPr marL="0" indent="0" algn="just">
              <a:lnSpc>
                <a:spcPct val="90000"/>
              </a:lnSpc>
              <a:spcBef>
                <a:spcPts val="0"/>
              </a:spcBef>
              <a:spcAft>
                <a:spcPts val="0"/>
              </a:spcAft>
              <a:buNone/>
            </a:pPr>
            <a:r>
              <a:rPr lang="es-CO" sz="2200" b="0" dirty="0">
                <a:solidFill>
                  <a:schemeClr val="tx1"/>
                </a:solidFill>
                <a:latin typeface="Noto Sans"/>
                <a:ea typeface="Noto Sans"/>
                <a:cs typeface="Noto Sans"/>
                <a:sym typeface="Noto Sans"/>
              </a:rPr>
              <a:t>En el sexo, los valores faltantes se completan como “Unknown”.</a:t>
            </a:r>
          </a:p>
        </p:txBody>
      </p:sp>
      <p:pic>
        <p:nvPicPr>
          <p:cNvPr id="5" name="Imagen 4">
            <a:extLst>
              <a:ext uri="{FF2B5EF4-FFF2-40B4-BE49-F238E27FC236}">
                <a16:creationId xmlns:a16="http://schemas.microsoft.com/office/drawing/2014/main" id="{79DFDFBC-3FE3-63AB-EF01-6E9BD13B369B}"/>
              </a:ext>
            </a:extLst>
          </p:cNvPr>
          <p:cNvPicPr>
            <a:picLocks noChangeAspect="1"/>
          </p:cNvPicPr>
          <p:nvPr/>
        </p:nvPicPr>
        <p:blipFill>
          <a:blip r:embed="rId2"/>
          <a:stretch>
            <a:fillRect/>
          </a:stretch>
        </p:blipFill>
        <p:spPr>
          <a:xfrm>
            <a:off x="617955" y="4590288"/>
            <a:ext cx="6878542" cy="961262"/>
          </a:xfrm>
          <a:prstGeom prst="rect">
            <a:avLst/>
          </a:prstGeom>
        </p:spPr>
      </p:pic>
      <p:sp>
        <p:nvSpPr>
          <p:cNvPr id="6" name="TextBox 6"/>
          <p:cNvSpPr txBox="1"/>
          <p:nvPr/>
        </p:nvSpPr>
        <p:spPr>
          <a:xfrm>
            <a:off x="548640" y="5709406"/>
            <a:ext cx="11091672" cy="45720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0"/>
              </a:spcAft>
              <a:buNone/>
            </a:pPr>
            <a:r>
              <a:rPr lang="es-CO" sz="2200" b="1" dirty="0">
                <a:solidFill>
                  <a:schemeClr val="tx1"/>
                </a:solidFill>
                <a:latin typeface="Noto Sans"/>
                <a:ea typeface="Noto Sans"/>
                <a:cs typeface="Noto Sans"/>
                <a:sym typeface="Noto Sans"/>
              </a:rPr>
              <a:t>Nota: </a:t>
            </a:r>
            <a:r>
              <a:rPr lang="es-CO" sz="2200" b="0" dirty="0">
                <a:solidFill>
                  <a:schemeClr val="tx1"/>
                </a:solidFill>
                <a:latin typeface="Noto Sans"/>
                <a:ea typeface="Noto Sans"/>
                <a:cs typeface="Noto Sans"/>
                <a:sym typeface="Noto Sans"/>
              </a:rPr>
              <a:t>No hay valores faltantes de sexo, pero el paso se incluye por completitud.</a:t>
            </a:r>
          </a:p>
        </p:txBody>
      </p:sp>
    </p:spTree>
    <p:extLst>
      <p:ext uri="{BB962C8B-B14F-4D97-AF65-F5344CB8AC3E}">
        <p14:creationId xmlns:p14="http://schemas.microsoft.com/office/powerpoint/2010/main" val="19120730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2. Preparación de los datos</a:t>
            </a:r>
            <a:endParaRPr lang="es-CO" sz="3600" dirty="0"/>
          </a:p>
        </p:txBody>
      </p:sp>
      <p:sp>
        <p:nvSpPr>
          <p:cNvPr id="3" name="TextBox 3"/>
          <p:cNvSpPr txBox="1"/>
          <p:nvPr/>
        </p:nvSpPr>
        <p:spPr>
          <a:xfrm>
            <a:off x="548640" y="1737360"/>
            <a:ext cx="11091672" cy="443484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2400"/>
              </a:spcAft>
              <a:buNone/>
            </a:pPr>
            <a:r>
              <a:rPr lang="es-CO" sz="2200" b="1" dirty="0">
                <a:solidFill>
                  <a:schemeClr val="tx1"/>
                </a:solidFill>
                <a:latin typeface="Noto Sans"/>
                <a:ea typeface="Noto Sans"/>
                <a:cs typeface="Noto Sans"/>
                <a:sym typeface="Noto Sans"/>
              </a:rPr>
              <a:t>2.5. Análisis de distribución.</a:t>
            </a:r>
          </a:p>
          <a:p>
            <a:pPr marL="0" indent="0" algn="just">
              <a:lnSpc>
                <a:spcPct val="90000"/>
              </a:lnSpc>
              <a:spcBef>
                <a:spcPts val="0"/>
              </a:spcBef>
              <a:spcAft>
                <a:spcPts val="2400"/>
              </a:spcAft>
              <a:buNone/>
            </a:pPr>
            <a:r>
              <a:rPr lang="es-CO" sz="2200" b="0" dirty="0">
                <a:solidFill>
                  <a:schemeClr val="tx1"/>
                </a:solidFill>
                <a:latin typeface="Noto Sans"/>
                <a:ea typeface="Noto Sans"/>
                <a:cs typeface="Noto Sans"/>
                <a:sym typeface="Noto Sans"/>
              </a:rPr>
              <a:t>Antes de ajustar los modelos se revisa cómo se distribuye cada variable con respecto al desenlace, para identificar variables candidatas a eliminar.</a:t>
            </a:r>
          </a:p>
          <a:p>
            <a:pPr marL="0" indent="0" algn="just">
              <a:lnSpc>
                <a:spcPct val="90000"/>
              </a:lnSpc>
              <a:spcBef>
                <a:spcPts val="0"/>
              </a:spcBef>
              <a:spcAft>
                <a:spcPts val="1000"/>
              </a:spcAft>
              <a:buNone/>
            </a:pPr>
            <a:r>
              <a:rPr lang="es-CO" sz="2200" b="0" dirty="0">
                <a:solidFill>
                  <a:schemeClr val="tx1"/>
                </a:solidFill>
                <a:latin typeface="Noto Sans"/>
                <a:ea typeface="Noto Sans"/>
                <a:cs typeface="Noto Sans"/>
                <a:sym typeface="Noto Sans"/>
              </a:rPr>
              <a:t>Una variable no produce un odds ratio útil si:</a:t>
            </a:r>
          </a:p>
          <a:p>
            <a:pPr marL="342900" indent="-342900" algn="l">
              <a:lnSpc>
                <a:spcPct val="90000"/>
              </a:lnSpc>
              <a:spcBef>
                <a:spcPts val="0"/>
              </a:spcBef>
              <a:spcAft>
                <a:spcPts val="1000"/>
              </a:spcAft>
              <a:buClr>
                <a:srgbClr val="0673BA"/>
              </a:buClr>
              <a:buSzPct val="100000"/>
              <a:buFont typeface="Arial"/>
              <a:buChar char="•"/>
            </a:pPr>
            <a:r>
              <a:rPr lang="es-CO" sz="2200" b="0" dirty="0">
                <a:solidFill>
                  <a:schemeClr val="tx1"/>
                </a:solidFill>
                <a:latin typeface="Noto Sans"/>
                <a:ea typeface="Noto Sans"/>
                <a:cs typeface="Noto Sans"/>
                <a:sym typeface="Noto Sans"/>
              </a:rPr>
              <a:t>No varía</a:t>
            </a:r>
          </a:p>
          <a:p>
            <a:pPr marL="342900" indent="-342900" algn="l">
              <a:lnSpc>
                <a:spcPct val="90000"/>
              </a:lnSpc>
              <a:spcBef>
                <a:spcPts val="0"/>
              </a:spcBef>
              <a:spcAft>
                <a:spcPts val="2400"/>
              </a:spcAft>
              <a:buClr>
                <a:srgbClr val="0673BA"/>
              </a:buClr>
              <a:buSzPct val="100000"/>
              <a:buFont typeface="Arial"/>
              <a:buChar char="•"/>
            </a:pPr>
            <a:r>
              <a:rPr lang="es-CO" sz="2200" b="0" dirty="0">
                <a:solidFill>
                  <a:schemeClr val="tx1"/>
                </a:solidFill>
                <a:latin typeface="Noto Sans"/>
                <a:ea typeface="Noto Sans"/>
                <a:cs typeface="Noto Sans"/>
                <a:sym typeface="Noto Sans"/>
              </a:rPr>
              <a:t>Sus valores coinciden casi por completo con uno de los desenlaces</a:t>
            </a:r>
          </a:p>
          <a:p>
            <a:pPr marL="0" indent="0" algn="just">
              <a:lnSpc>
                <a:spcPct val="90000"/>
              </a:lnSpc>
              <a:spcBef>
                <a:spcPts val="0"/>
              </a:spcBef>
              <a:spcAft>
                <a:spcPts val="2400"/>
              </a:spcAft>
              <a:buNone/>
            </a:pPr>
            <a:r>
              <a:rPr lang="es-CO" sz="2200" b="0" dirty="0">
                <a:solidFill>
                  <a:schemeClr val="tx1"/>
                </a:solidFill>
                <a:latin typeface="Noto Sans"/>
                <a:ea typeface="Noto Sans"/>
                <a:cs typeface="Noto Sans"/>
                <a:sym typeface="Noto Sans"/>
              </a:rPr>
              <a:t>En esos casos el modelo se ajusta sin errores, pero el odds ratio que se obtiene es inestable o no tiene sentido.</a:t>
            </a:r>
          </a:p>
          <a:p>
            <a:pPr marL="0" indent="0" algn="just">
              <a:lnSpc>
                <a:spcPct val="90000"/>
              </a:lnSpc>
              <a:spcBef>
                <a:spcPts val="0"/>
              </a:spcBef>
              <a:spcAft>
                <a:spcPts val="0"/>
              </a:spcAft>
              <a:buNone/>
            </a:pPr>
            <a:r>
              <a:rPr lang="es-CO" sz="2200" b="0" dirty="0">
                <a:solidFill>
                  <a:schemeClr val="tx1"/>
                </a:solidFill>
                <a:latin typeface="Noto Sans"/>
                <a:ea typeface="Noto Sans"/>
                <a:cs typeface="Noto Sans"/>
                <a:sym typeface="Noto Sans"/>
              </a:rPr>
              <a:t>En cada variable categórica, cada barra muestra el porcentaje de pacientes de esa categoría que fallecieron.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F804E-F570-B5F4-EFC8-683B1E485048}"/>
            </a:ext>
          </a:extLst>
        </p:cNvPr>
        <p:cNvGrpSpPr/>
        <p:nvPr/>
      </p:nvGrpSpPr>
      <p:grpSpPr>
        <a:xfrm>
          <a:off x="0" y="0"/>
          <a:ext cx="0" cy="0"/>
          <a:chOff x="0" y="0"/>
          <a:chExt cx="0" cy="0"/>
        </a:xfrm>
      </p:grpSpPr>
      <p:sp>
        <p:nvSpPr>
          <p:cNvPr id="2" name="Title 2">
            <a:extLst>
              <a:ext uri="{FF2B5EF4-FFF2-40B4-BE49-F238E27FC236}">
                <a16:creationId xmlns:a16="http://schemas.microsoft.com/office/drawing/2014/main" id="{11B0493E-8627-F25E-B042-B5078A72A3BE}"/>
              </a:ext>
            </a:extLst>
          </p:cNvPr>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2. Preparación de los datos</a:t>
            </a:r>
            <a:endParaRPr lang="es-CO" sz="3600" dirty="0"/>
          </a:p>
        </p:txBody>
      </p:sp>
      <p:sp>
        <p:nvSpPr>
          <p:cNvPr id="3" name="TextBox 3">
            <a:extLst>
              <a:ext uri="{FF2B5EF4-FFF2-40B4-BE49-F238E27FC236}">
                <a16:creationId xmlns:a16="http://schemas.microsoft.com/office/drawing/2014/main" id="{2E3C3722-09B5-A375-C13E-90B86A96E777}"/>
              </a:ext>
            </a:extLst>
          </p:cNvPr>
          <p:cNvSpPr txBox="1"/>
          <p:nvPr/>
        </p:nvSpPr>
        <p:spPr>
          <a:xfrm>
            <a:off x="548640" y="1737360"/>
            <a:ext cx="11091672" cy="329184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1000"/>
              </a:spcAft>
              <a:buNone/>
            </a:pPr>
            <a:r>
              <a:rPr lang="es-CO" sz="2200" b="0" dirty="0">
                <a:solidFill>
                  <a:schemeClr val="tx1"/>
                </a:solidFill>
                <a:latin typeface="Noto Sans"/>
                <a:ea typeface="Noto Sans"/>
                <a:cs typeface="Noto Sans"/>
                <a:sym typeface="Noto Sans"/>
              </a:rPr>
              <a:t>Se eliminan 10 variables:</a:t>
            </a:r>
          </a:p>
          <a:p>
            <a:pPr marL="342900" indent="-342900" algn="l">
              <a:lnSpc>
                <a:spcPct val="90000"/>
              </a:lnSpc>
              <a:spcBef>
                <a:spcPts val="0"/>
              </a:spcBef>
              <a:spcAft>
                <a:spcPts val="1000"/>
              </a:spcAft>
              <a:buClr>
                <a:srgbClr val="0673BA"/>
              </a:buClr>
              <a:buSzPct val="100000"/>
              <a:buFont typeface="Arial"/>
              <a:buChar char="•"/>
            </a:pPr>
            <a:r>
              <a:rPr lang="es-CO" sz="2000" b="1" dirty="0">
                <a:solidFill>
                  <a:schemeClr val="tx1"/>
                </a:solidFill>
                <a:latin typeface="Noto Sans"/>
                <a:ea typeface="Noto Sans"/>
                <a:cs typeface="Noto Sans"/>
                <a:sym typeface="Noto Sans"/>
              </a:rPr>
              <a:t>fever</a:t>
            </a:r>
            <a:r>
              <a:rPr lang="es-CO" sz="2000" b="0" dirty="0">
                <a:solidFill>
                  <a:schemeClr val="tx1"/>
                </a:solidFill>
                <a:latin typeface="Noto Sans"/>
                <a:ea typeface="Noto Sans"/>
                <a:cs typeface="Noto Sans"/>
                <a:sym typeface="Noto Sans"/>
              </a:rPr>
              <a:t>, porque no varía y todos los registros tienen “Yes”. Su única barra corresponde a la mortalidad de todo el grupo (17%)</a:t>
            </a:r>
          </a:p>
          <a:p>
            <a:pPr marL="342900" indent="-342900" algn="l">
              <a:lnSpc>
                <a:spcPct val="90000"/>
              </a:lnSpc>
              <a:spcBef>
                <a:spcPts val="0"/>
              </a:spcBef>
              <a:spcAft>
                <a:spcPts val="1000"/>
              </a:spcAft>
              <a:buClr>
                <a:srgbClr val="0673BA"/>
              </a:buClr>
              <a:buSzPct val="100000"/>
              <a:buFont typeface="Arial"/>
              <a:buChar char="•"/>
            </a:pPr>
            <a:r>
              <a:rPr lang="es-CO" sz="2000" b="1" dirty="0" err="1">
                <a:solidFill>
                  <a:schemeClr val="tx1"/>
                </a:solidFill>
                <a:latin typeface="Noto Sans"/>
                <a:ea typeface="Noto Sans"/>
                <a:cs typeface="Noto Sans"/>
                <a:sym typeface="Noto Sans"/>
              </a:rPr>
              <a:t>tissue_sample_taken</a:t>
            </a:r>
            <a:r>
              <a:rPr lang="es-CO" sz="2000" b="0" dirty="0">
                <a:solidFill>
                  <a:schemeClr val="tx1"/>
                </a:solidFill>
                <a:latin typeface="Noto Sans"/>
                <a:ea typeface="Noto Sans"/>
                <a:cs typeface="Noto Sans"/>
                <a:sym typeface="Noto Sans"/>
              </a:rPr>
              <a:t> y las 7 muestras por órgano, que posiblemente se toman después del fallecimiento, ya que solo 2 de los 57 pacientes con muestra están vivos. Por eso su odds ratio llega a valores de cientos</a:t>
            </a:r>
          </a:p>
          <a:p>
            <a:pPr marL="342900" indent="-342900" algn="l">
              <a:lnSpc>
                <a:spcPct val="90000"/>
              </a:lnSpc>
              <a:spcBef>
                <a:spcPts val="0"/>
              </a:spcBef>
              <a:spcAft>
                <a:spcPts val="2400"/>
              </a:spcAft>
              <a:buClr>
                <a:srgbClr val="0673BA"/>
              </a:buClr>
              <a:buSzPct val="100000"/>
              <a:buFont typeface="Arial"/>
              <a:buChar char="•"/>
            </a:pPr>
            <a:r>
              <a:rPr lang="es-CO" sz="2000" b="1" dirty="0" err="1">
                <a:solidFill>
                  <a:schemeClr val="tx1"/>
                </a:solidFill>
                <a:latin typeface="Noto Sans"/>
                <a:ea typeface="Noto Sans"/>
                <a:cs typeface="Noto Sans"/>
                <a:sym typeface="Noto Sans"/>
              </a:rPr>
              <a:t>petechiae</a:t>
            </a:r>
            <a:r>
              <a:rPr lang="es-CO" sz="2000" b="0" dirty="0">
                <a:solidFill>
                  <a:schemeClr val="tx1"/>
                </a:solidFill>
                <a:latin typeface="Noto Sans"/>
                <a:ea typeface="Noto Sans"/>
                <a:cs typeface="Noto Sans"/>
                <a:sym typeface="Noto Sans"/>
              </a:rPr>
              <a:t>, porque solo 1 paciente tiene petequias y sobrevivió, por lo que su odds ratio es 0</a:t>
            </a:r>
          </a:p>
        </p:txBody>
      </p:sp>
      <p:pic>
        <p:nvPicPr>
          <p:cNvPr id="5" name="Imagen 4">
            <a:extLst>
              <a:ext uri="{FF2B5EF4-FFF2-40B4-BE49-F238E27FC236}">
                <a16:creationId xmlns:a16="http://schemas.microsoft.com/office/drawing/2014/main" id="{A49A89E8-AC65-68F8-47F2-7FE9101DB628}"/>
              </a:ext>
            </a:extLst>
          </p:cNvPr>
          <p:cNvPicPr>
            <a:picLocks noChangeAspect="1"/>
          </p:cNvPicPr>
          <p:nvPr/>
        </p:nvPicPr>
        <p:blipFill>
          <a:blip r:embed="rId2"/>
          <a:stretch>
            <a:fillRect/>
          </a:stretch>
        </p:blipFill>
        <p:spPr>
          <a:xfrm>
            <a:off x="1958615" y="4572000"/>
            <a:ext cx="2171700" cy="1600200"/>
          </a:xfrm>
          <a:prstGeom prst="rect">
            <a:avLst/>
          </a:prstGeom>
        </p:spPr>
      </p:pic>
      <p:pic>
        <p:nvPicPr>
          <p:cNvPr id="7" name="Imagen 6">
            <a:extLst>
              <a:ext uri="{FF2B5EF4-FFF2-40B4-BE49-F238E27FC236}">
                <a16:creationId xmlns:a16="http://schemas.microsoft.com/office/drawing/2014/main" id="{7C717C43-64CD-6B5B-55CF-364BD8938D30}"/>
              </a:ext>
            </a:extLst>
          </p:cNvPr>
          <p:cNvPicPr>
            <a:picLocks noChangeAspect="1"/>
          </p:cNvPicPr>
          <p:nvPr/>
        </p:nvPicPr>
        <p:blipFill>
          <a:blip r:embed="rId3"/>
          <a:stretch>
            <a:fillRect/>
          </a:stretch>
        </p:blipFill>
        <p:spPr>
          <a:xfrm>
            <a:off x="5044715" y="4572000"/>
            <a:ext cx="2084705" cy="1600200"/>
          </a:xfrm>
          <a:prstGeom prst="rect">
            <a:avLst/>
          </a:prstGeom>
        </p:spPr>
      </p:pic>
      <p:pic>
        <p:nvPicPr>
          <p:cNvPr id="11" name="Imagen 10">
            <a:extLst>
              <a:ext uri="{FF2B5EF4-FFF2-40B4-BE49-F238E27FC236}">
                <a16:creationId xmlns:a16="http://schemas.microsoft.com/office/drawing/2014/main" id="{ABB9948C-6F33-4A5C-2D71-AE5E03292C18}"/>
              </a:ext>
            </a:extLst>
          </p:cNvPr>
          <p:cNvPicPr>
            <a:picLocks noChangeAspect="1"/>
          </p:cNvPicPr>
          <p:nvPr/>
        </p:nvPicPr>
        <p:blipFill>
          <a:blip r:embed="rId4"/>
          <a:stretch>
            <a:fillRect/>
          </a:stretch>
        </p:blipFill>
        <p:spPr>
          <a:xfrm>
            <a:off x="8043820" y="4572000"/>
            <a:ext cx="2189259" cy="1600200"/>
          </a:xfrm>
          <a:prstGeom prst="rect">
            <a:avLst/>
          </a:prstGeom>
        </p:spPr>
      </p:pic>
    </p:spTree>
    <p:extLst>
      <p:ext uri="{BB962C8B-B14F-4D97-AF65-F5344CB8AC3E}">
        <p14:creationId xmlns:p14="http://schemas.microsoft.com/office/powerpoint/2010/main" val="22989241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2. Preparación de los datos</a:t>
            </a:r>
            <a:endParaRPr lang="es-CO" sz="3600" dirty="0"/>
          </a:p>
        </p:txBody>
      </p:sp>
      <p:sp>
        <p:nvSpPr>
          <p:cNvPr id="3" name="TextBox 3"/>
          <p:cNvSpPr txBox="1"/>
          <p:nvPr/>
        </p:nvSpPr>
        <p:spPr>
          <a:xfrm>
            <a:off x="548640" y="1737360"/>
            <a:ext cx="11091672" cy="443484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2400"/>
              </a:spcAft>
              <a:buNone/>
            </a:pPr>
            <a:r>
              <a:rPr lang="es-CO" sz="2200" b="1" dirty="0">
                <a:solidFill>
                  <a:schemeClr val="tx1"/>
                </a:solidFill>
                <a:latin typeface="Noto Sans"/>
                <a:ea typeface="Noto Sans"/>
                <a:cs typeface="Noto Sans"/>
                <a:sym typeface="Noto Sans"/>
              </a:rPr>
              <a:t>2.6. Codificación numérica.</a:t>
            </a:r>
          </a:p>
          <a:p>
            <a:pPr marL="0" indent="0" algn="just">
              <a:lnSpc>
                <a:spcPct val="90000"/>
              </a:lnSpc>
              <a:spcBef>
                <a:spcPts val="0"/>
              </a:spcBef>
              <a:spcAft>
                <a:spcPts val="1000"/>
              </a:spcAft>
              <a:buNone/>
            </a:pPr>
            <a:r>
              <a:rPr lang="es-CO" sz="2200" b="0" dirty="0">
                <a:solidFill>
                  <a:schemeClr val="tx1"/>
                </a:solidFill>
                <a:latin typeface="Noto Sans"/>
                <a:ea typeface="Noto Sans"/>
                <a:cs typeface="Noto Sans"/>
                <a:sym typeface="Noto Sans"/>
              </a:rPr>
              <a:t>Se convierten todas las columnas categóricas en números, como lo requiere el modelo de regresión logística:</a:t>
            </a:r>
          </a:p>
          <a:p>
            <a:pPr marL="342900" indent="-342900" algn="l">
              <a:lnSpc>
                <a:spcPct val="90000"/>
              </a:lnSpc>
              <a:spcBef>
                <a:spcPts val="0"/>
              </a:spcBef>
              <a:spcAft>
                <a:spcPts val="1000"/>
              </a:spcAft>
              <a:buClr>
                <a:srgbClr val="0673BA"/>
              </a:buClr>
              <a:buSzPct val="100000"/>
              <a:buFont typeface="Arial"/>
              <a:buChar char="•"/>
            </a:pPr>
            <a:r>
              <a:rPr lang="es-CO" sz="2200" b="0" dirty="0">
                <a:solidFill>
                  <a:schemeClr val="tx1"/>
                </a:solidFill>
                <a:latin typeface="Noto Sans"/>
                <a:ea typeface="Noto Sans"/>
                <a:cs typeface="Noto Sans"/>
                <a:sym typeface="Noto Sans"/>
              </a:rPr>
              <a:t>Exámenes y síntomas: “Yes” / “No” → 1 / 0</a:t>
            </a:r>
          </a:p>
          <a:p>
            <a:pPr marL="342900" indent="-342900" algn="l">
              <a:lnSpc>
                <a:spcPct val="90000"/>
              </a:lnSpc>
              <a:spcBef>
                <a:spcPts val="0"/>
              </a:spcBef>
              <a:spcAft>
                <a:spcPts val="1000"/>
              </a:spcAft>
              <a:buClr>
                <a:srgbClr val="0673BA"/>
              </a:buClr>
              <a:buSzPct val="100000"/>
              <a:buFont typeface="Arial"/>
              <a:buChar char="•"/>
            </a:pPr>
            <a:r>
              <a:rPr lang="es-CO" sz="2200" b="0" dirty="0">
                <a:solidFill>
                  <a:schemeClr val="tx1"/>
                </a:solidFill>
                <a:latin typeface="Noto Sans"/>
                <a:ea typeface="Noto Sans"/>
                <a:cs typeface="Noto Sans"/>
                <a:sym typeface="Noto Sans"/>
              </a:rPr>
              <a:t>Sexo (</a:t>
            </a:r>
            <a:r>
              <a:rPr lang="es-CO" sz="2200" b="1" dirty="0">
                <a:solidFill>
                  <a:schemeClr val="tx1"/>
                </a:solidFill>
                <a:latin typeface="Noto Sans"/>
                <a:ea typeface="Noto Sans"/>
                <a:cs typeface="Noto Sans"/>
                <a:sym typeface="Noto Sans"/>
              </a:rPr>
              <a:t>sex</a:t>
            </a:r>
            <a:r>
              <a:rPr lang="es-CO" sz="2200" b="0" dirty="0">
                <a:solidFill>
                  <a:schemeClr val="tx1"/>
                </a:solidFill>
                <a:latin typeface="Noto Sans"/>
                <a:ea typeface="Noto Sans"/>
                <a:cs typeface="Noto Sans"/>
                <a:sym typeface="Noto Sans"/>
              </a:rPr>
              <a:t>): “Female” / “Male” → 0 / 1</a:t>
            </a:r>
          </a:p>
          <a:p>
            <a:pPr marL="342900" indent="-342900" algn="l">
              <a:lnSpc>
                <a:spcPct val="90000"/>
              </a:lnSpc>
              <a:spcBef>
                <a:spcPts val="0"/>
              </a:spcBef>
              <a:spcAft>
                <a:spcPts val="0"/>
              </a:spcAft>
              <a:buClr>
                <a:srgbClr val="0673BA"/>
              </a:buClr>
              <a:buSzPct val="100000"/>
              <a:buFont typeface="Arial"/>
              <a:buChar char="•"/>
            </a:pPr>
            <a:r>
              <a:rPr lang="es-CO" sz="2200" b="0" dirty="0">
                <a:solidFill>
                  <a:schemeClr val="tx1"/>
                </a:solidFill>
                <a:latin typeface="Noto Sans"/>
                <a:ea typeface="Noto Sans"/>
                <a:cs typeface="Noto Sans"/>
                <a:sym typeface="Noto Sans"/>
              </a:rPr>
              <a:t>Desenlace (</a:t>
            </a:r>
            <a:r>
              <a:rPr lang="es-CO" sz="2200" b="1" dirty="0">
                <a:solidFill>
                  <a:schemeClr val="tx1"/>
                </a:solidFill>
                <a:latin typeface="Noto Sans"/>
                <a:ea typeface="Noto Sans"/>
                <a:cs typeface="Noto Sans"/>
                <a:sym typeface="Noto Sans"/>
              </a:rPr>
              <a:t>outcome</a:t>
            </a:r>
            <a:r>
              <a:rPr lang="es-CO" sz="2200" b="0" dirty="0">
                <a:solidFill>
                  <a:schemeClr val="tx1"/>
                </a:solidFill>
                <a:latin typeface="Noto Sans"/>
                <a:ea typeface="Noto Sans"/>
                <a:cs typeface="Noto Sans"/>
                <a:sym typeface="Noto Sans"/>
              </a:rPr>
              <a:t>): “Alive” / “Dead” → 0 / 1, de modo que un odds ratio mayor que 1 indica una asociación positiva con el fallecimiento</a:t>
            </a:r>
          </a:p>
        </p:txBody>
      </p:sp>
      <p:pic>
        <p:nvPicPr>
          <p:cNvPr id="5" name="Imagen 4">
            <a:extLst>
              <a:ext uri="{FF2B5EF4-FFF2-40B4-BE49-F238E27FC236}">
                <a16:creationId xmlns:a16="http://schemas.microsoft.com/office/drawing/2014/main" id="{4231056D-4BC5-59C1-1A98-F8031EFCE901}"/>
              </a:ext>
            </a:extLst>
          </p:cNvPr>
          <p:cNvPicPr>
            <a:picLocks noChangeAspect="1"/>
          </p:cNvPicPr>
          <p:nvPr/>
        </p:nvPicPr>
        <p:blipFill>
          <a:blip r:embed="rId2"/>
          <a:stretch>
            <a:fillRect/>
          </a:stretch>
        </p:blipFill>
        <p:spPr>
          <a:xfrm>
            <a:off x="548640" y="4654296"/>
            <a:ext cx="9415787" cy="149360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2. Preparación de los datos</a:t>
            </a:r>
            <a:endParaRPr lang="es-CO" sz="3600" dirty="0"/>
          </a:p>
        </p:txBody>
      </p:sp>
      <p:sp>
        <p:nvSpPr>
          <p:cNvPr id="3" name="TextBox 3"/>
          <p:cNvSpPr txBox="1"/>
          <p:nvPr/>
        </p:nvSpPr>
        <p:spPr>
          <a:xfrm>
            <a:off x="548640" y="1737360"/>
            <a:ext cx="11091672" cy="443484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2400"/>
              </a:spcAft>
              <a:buNone/>
            </a:pPr>
            <a:r>
              <a:rPr lang="es-CO" sz="2200" b="1" dirty="0">
                <a:solidFill>
                  <a:schemeClr val="tx1"/>
                </a:solidFill>
                <a:latin typeface="Noto Sans"/>
                <a:ea typeface="Noto Sans"/>
                <a:cs typeface="Noto Sans"/>
                <a:sym typeface="Noto Sans"/>
              </a:rPr>
              <a:t>2.7. Escalado de variables.</a:t>
            </a:r>
          </a:p>
          <a:p>
            <a:pPr marL="0" indent="0" algn="just">
              <a:lnSpc>
                <a:spcPct val="90000"/>
              </a:lnSpc>
              <a:spcBef>
                <a:spcPts val="0"/>
              </a:spcBef>
              <a:spcAft>
                <a:spcPts val="2400"/>
              </a:spcAft>
              <a:buNone/>
            </a:pPr>
            <a:r>
              <a:rPr lang="es-CO" sz="2200" b="0" dirty="0">
                <a:solidFill>
                  <a:schemeClr val="tx1"/>
                </a:solidFill>
                <a:latin typeface="Noto Sans"/>
                <a:ea typeface="Noto Sans"/>
                <a:cs typeface="Noto Sans"/>
                <a:sym typeface="Noto Sans"/>
              </a:rPr>
              <a:t>La edad (</a:t>
            </a:r>
            <a:r>
              <a:rPr lang="es-CO" sz="2200" b="1" dirty="0">
                <a:solidFill>
                  <a:schemeClr val="tx1"/>
                </a:solidFill>
                <a:latin typeface="Noto Sans"/>
                <a:ea typeface="Noto Sans"/>
                <a:cs typeface="Noto Sans"/>
                <a:sym typeface="Noto Sans"/>
              </a:rPr>
              <a:t>age</a:t>
            </a:r>
            <a:r>
              <a:rPr lang="es-CO" sz="2200" b="0" dirty="0">
                <a:solidFill>
                  <a:schemeClr val="tx1"/>
                </a:solidFill>
                <a:latin typeface="Noto Sans"/>
                <a:ea typeface="Noto Sans"/>
                <a:cs typeface="Noto Sans"/>
                <a:sym typeface="Noto Sans"/>
              </a:rPr>
              <a:t>) se deja en años, sin escalarla al rango de 0 a 1 de las demás variables.</a:t>
            </a:r>
          </a:p>
          <a:p>
            <a:pPr marL="0" indent="0" algn="just">
              <a:lnSpc>
                <a:spcPct val="90000"/>
              </a:lnSpc>
              <a:spcBef>
                <a:spcPts val="0"/>
              </a:spcBef>
              <a:spcAft>
                <a:spcPts val="2400"/>
              </a:spcAft>
              <a:buNone/>
            </a:pPr>
            <a:r>
              <a:rPr lang="es-CO" sz="2200" b="0" dirty="0">
                <a:solidFill>
                  <a:schemeClr val="tx1"/>
                </a:solidFill>
                <a:latin typeface="Noto Sans"/>
                <a:ea typeface="Noto Sans"/>
                <a:cs typeface="Noto Sans"/>
                <a:sym typeface="Noto Sans"/>
              </a:rPr>
              <a:t>No es necesario escalarla, porque el método con el que se ajusta el modelo obtiene los mismos odds ratios sin importar las unidades de cada variable.</a:t>
            </a:r>
          </a:p>
          <a:p>
            <a:pPr marL="0" indent="0" algn="just">
              <a:lnSpc>
                <a:spcPct val="90000"/>
              </a:lnSpc>
              <a:spcBef>
                <a:spcPts val="0"/>
              </a:spcBef>
              <a:spcAft>
                <a:spcPts val="0"/>
              </a:spcAft>
              <a:buNone/>
            </a:pPr>
            <a:r>
              <a:rPr lang="es-CO" sz="2200" b="0" dirty="0">
                <a:solidFill>
                  <a:schemeClr val="tx1"/>
                </a:solidFill>
                <a:latin typeface="Noto Sans"/>
                <a:ea typeface="Noto Sans"/>
                <a:cs typeface="Noto Sans"/>
                <a:sym typeface="Noto Sans"/>
              </a:rPr>
              <a:t>Además, así su odds ratio se interpreta por cada año adicional de edad.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3. Consideraciones</a:t>
            </a:r>
            <a:endParaRPr lang="es-CO" sz="3600" dirty="0"/>
          </a:p>
        </p:txBody>
      </p:sp>
      <p:sp>
        <p:nvSpPr>
          <p:cNvPr id="3" name="TextBox 3"/>
          <p:cNvSpPr txBox="1"/>
          <p:nvPr/>
        </p:nvSpPr>
        <p:spPr>
          <a:xfrm>
            <a:off x="548640" y="1737360"/>
            <a:ext cx="11091672" cy="443484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2400"/>
              </a:spcAft>
              <a:buNone/>
            </a:pPr>
            <a:r>
              <a:rPr lang="es-CO" sz="2200" b="0" dirty="0">
                <a:solidFill>
                  <a:schemeClr val="tx1"/>
                </a:solidFill>
                <a:latin typeface="Noto Sans"/>
                <a:ea typeface="Noto Sans"/>
                <a:cs typeface="Noto Sans"/>
                <a:sym typeface="Noto Sans"/>
              </a:rPr>
              <a:t>En este punto se exponen decisiones de modelado que aplican a ambos enfoques.</a:t>
            </a:r>
          </a:p>
          <a:p>
            <a:pPr algn="just">
              <a:lnSpc>
                <a:spcPct val="90000"/>
              </a:lnSpc>
              <a:spcBef>
                <a:spcPts val="0"/>
              </a:spcBef>
              <a:spcAft>
                <a:spcPts val="2400"/>
              </a:spcAft>
            </a:pPr>
            <a:r>
              <a:rPr lang="es-CO" sz="2200" b="1" dirty="0">
                <a:solidFill>
                  <a:schemeClr val="tx1"/>
                </a:solidFill>
                <a:latin typeface="Noto Sans"/>
                <a:ea typeface="Noto Sans"/>
                <a:cs typeface="Noto Sans"/>
                <a:sym typeface="Noto Sans"/>
              </a:rPr>
              <a:t>No hay separación en datos de entrenamiento y prueba</a:t>
            </a:r>
          </a:p>
          <a:p>
            <a:pPr algn="just">
              <a:lnSpc>
                <a:spcPct val="90000"/>
              </a:lnSpc>
              <a:spcBef>
                <a:spcPts val="0"/>
              </a:spcBef>
              <a:spcAft>
                <a:spcPts val="2400"/>
              </a:spcAft>
            </a:pPr>
            <a:r>
              <a:rPr lang="es-CO" sz="2200" b="0" dirty="0">
                <a:solidFill>
                  <a:schemeClr val="tx1"/>
                </a:solidFill>
                <a:latin typeface="Noto Sans"/>
                <a:ea typeface="Noto Sans"/>
                <a:cs typeface="Noto Sans"/>
                <a:sym typeface="Noto Sans"/>
              </a:rPr>
              <a:t>El modelo se ajusta con todos los datos, ya que el análisis es interpretativo y no predictivo.</a:t>
            </a:r>
          </a:p>
          <a:p>
            <a:pPr algn="just">
              <a:lnSpc>
                <a:spcPct val="90000"/>
              </a:lnSpc>
              <a:spcBef>
                <a:spcPts val="0"/>
              </a:spcBef>
              <a:spcAft>
                <a:spcPts val="0"/>
              </a:spcAft>
            </a:pPr>
            <a:r>
              <a:rPr lang="es-CO" sz="2200" b="0" dirty="0">
                <a:solidFill>
                  <a:schemeClr val="tx1"/>
                </a:solidFill>
                <a:latin typeface="Noto Sans"/>
                <a:ea typeface="Noto Sans"/>
                <a:cs typeface="Noto Sans"/>
                <a:sym typeface="Noto Sans"/>
              </a:rPr>
              <a:t>El objetivo es describir cómo se asocia cada variable con el desenlace en estos datos, no medir qué tan bien se predice el desenlace de pacientes nuevos, que es para lo que sirve separar los datos.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3. Consideraciones</a:t>
            </a:r>
            <a:endParaRPr lang="es-CO" sz="3600" dirty="0"/>
          </a:p>
        </p:txBody>
      </p:sp>
      <p:sp>
        <p:nvSpPr>
          <p:cNvPr id="3" name="TextBox 3"/>
          <p:cNvSpPr txBox="1"/>
          <p:nvPr/>
        </p:nvSpPr>
        <p:spPr>
          <a:xfrm>
            <a:off x="548640" y="1737360"/>
            <a:ext cx="11091672" cy="443484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2400"/>
              </a:spcAft>
              <a:buNone/>
            </a:pPr>
            <a:r>
              <a:rPr lang="es-CO" sz="2200" b="1" dirty="0">
                <a:solidFill>
                  <a:schemeClr val="tx1"/>
                </a:solidFill>
                <a:latin typeface="Noto Sans"/>
                <a:ea typeface="Noto Sans"/>
                <a:cs typeface="Noto Sans"/>
                <a:sym typeface="Noto Sans"/>
              </a:rPr>
              <a:t>Solo se aplican modelos </a:t>
            </a:r>
            <a:r>
              <a:rPr lang="es-CO" sz="2200" b="1" dirty="0" err="1">
                <a:solidFill>
                  <a:schemeClr val="tx1"/>
                </a:solidFill>
                <a:latin typeface="Noto Sans"/>
                <a:ea typeface="Noto Sans"/>
                <a:cs typeface="Noto Sans"/>
                <a:sym typeface="Noto Sans"/>
              </a:rPr>
              <a:t>univariados</a:t>
            </a:r>
          </a:p>
          <a:p>
            <a:pPr marL="0" indent="0" algn="just">
              <a:lnSpc>
                <a:spcPct val="90000"/>
              </a:lnSpc>
              <a:spcBef>
                <a:spcPts val="0"/>
              </a:spcBef>
              <a:spcAft>
                <a:spcPts val="2400"/>
              </a:spcAft>
              <a:buNone/>
            </a:pPr>
            <a:r>
              <a:rPr lang="es-CO" sz="2200" b="0" dirty="0">
                <a:solidFill>
                  <a:schemeClr val="tx1"/>
                </a:solidFill>
                <a:latin typeface="Noto Sans"/>
                <a:ea typeface="Noto Sans"/>
                <a:cs typeface="Noto Sans"/>
                <a:sym typeface="Noto Sans"/>
              </a:rPr>
              <a:t>Un modelo con todas las variables juntas (multivariado) solo se recomienda cuando hay suficientes eventos del desenlace por cada variable, usualmente cerca de 10.</a:t>
            </a:r>
          </a:p>
          <a:p>
            <a:pPr marL="0" indent="0" algn="just">
              <a:lnSpc>
                <a:spcPct val="90000"/>
              </a:lnSpc>
              <a:spcBef>
                <a:spcPts val="0"/>
              </a:spcBef>
              <a:spcAft>
                <a:spcPts val="2400"/>
              </a:spcAft>
              <a:buNone/>
            </a:pPr>
            <a:r>
              <a:rPr lang="es-CO" sz="2200" b="0" dirty="0">
                <a:solidFill>
                  <a:schemeClr val="tx1"/>
                </a:solidFill>
                <a:latin typeface="Noto Sans"/>
                <a:ea typeface="Noto Sans"/>
                <a:cs typeface="Noto Sans"/>
                <a:sym typeface="Noto Sans"/>
              </a:rPr>
              <a:t>En este caso hay 97 fallecidos para 22 variables, es decir, entre 4 y 5 eventos por variable.</a:t>
            </a:r>
          </a:p>
          <a:p>
            <a:pPr marL="0" indent="0" algn="just">
              <a:lnSpc>
                <a:spcPct val="90000"/>
              </a:lnSpc>
              <a:spcBef>
                <a:spcPts val="0"/>
              </a:spcBef>
              <a:spcAft>
                <a:spcPts val="0"/>
              </a:spcAft>
              <a:buNone/>
            </a:pPr>
            <a:r>
              <a:rPr lang="es-CO" sz="2200" b="0" dirty="0">
                <a:solidFill>
                  <a:schemeClr val="tx1"/>
                </a:solidFill>
                <a:latin typeface="Noto Sans"/>
                <a:ea typeface="Noto Sans"/>
                <a:cs typeface="Noto Sans"/>
                <a:sym typeface="Noto Sans"/>
              </a:rPr>
              <a:t>Con tan pocos eventos, un modelo multivariado produciría estimaciones inestables y poco confiables.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3. Consideraciones</a:t>
            </a:r>
            <a:endParaRPr lang="es-CO" sz="3600" dirty="0"/>
          </a:p>
        </p:txBody>
      </p:sp>
      <p:sp>
        <p:nvSpPr>
          <p:cNvPr id="3" name="TextBox 3"/>
          <p:cNvSpPr txBox="1"/>
          <p:nvPr/>
        </p:nvSpPr>
        <p:spPr>
          <a:xfrm>
            <a:off x="548640" y="1737360"/>
            <a:ext cx="11091672" cy="178308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2400"/>
              </a:spcAft>
              <a:buNone/>
            </a:pPr>
            <a:r>
              <a:rPr lang="es-CO" sz="2200" dirty="0">
                <a:solidFill>
                  <a:schemeClr val="tx1"/>
                </a:solidFill>
                <a:latin typeface="Noto Sans"/>
                <a:ea typeface="Noto Sans"/>
                <a:cs typeface="Noto Sans"/>
                <a:sym typeface="Noto Sans"/>
              </a:rPr>
              <a:t>De esta manera, se </a:t>
            </a:r>
            <a:r>
              <a:rPr lang="es-CO" sz="2200" b="0" dirty="0">
                <a:solidFill>
                  <a:schemeClr val="tx1"/>
                </a:solidFill>
                <a:latin typeface="Noto Sans"/>
                <a:ea typeface="Noto Sans"/>
                <a:cs typeface="Noto Sans"/>
                <a:sym typeface="Noto Sans"/>
              </a:rPr>
              <a:t>ajusta un modelo por cada variable, en lugar de un solo modelo con todas las variables juntas.</a:t>
            </a:r>
          </a:p>
          <a:p>
            <a:pPr marL="0" indent="0" algn="just">
              <a:lnSpc>
                <a:spcPct val="90000"/>
              </a:lnSpc>
              <a:spcBef>
                <a:spcPts val="0"/>
              </a:spcBef>
              <a:spcAft>
                <a:spcPts val="0"/>
              </a:spcAft>
              <a:buNone/>
            </a:pPr>
            <a:r>
              <a:rPr lang="es-CO" sz="2200" b="0" dirty="0">
                <a:solidFill>
                  <a:schemeClr val="tx1"/>
                </a:solidFill>
                <a:latin typeface="Noto Sans"/>
                <a:ea typeface="Noto Sans"/>
                <a:cs typeface="Noto Sans"/>
                <a:sym typeface="Noto Sans"/>
              </a:rPr>
              <a:t>Cada modelo relaciona la probabilidad (</a:t>
            </a:r>
            <a:r>
              <a:rPr lang="es-CO" sz="2200" b="1" dirty="0">
                <a:solidFill>
                  <a:schemeClr val="tx1"/>
                </a:solidFill>
                <a:latin typeface="Noto Sans"/>
                <a:ea typeface="Noto Sans"/>
                <a:cs typeface="Noto Sans"/>
                <a:sym typeface="Noto Sans"/>
              </a:rPr>
              <a:t>p</a:t>
            </a:r>
            <a:r>
              <a:rPr lang="es-CO" sz="2200" b="0" dirty="0">
                <a:solidFill>
                  <a:schemeClr val="tx1"/>
                </a:solidFill>
                <a:latin typeface="Noto Sans"/>
                <a:ea typeface="Noto Sans"/>
                <a:cs typeface="Noto Sans"/>
                <a:sym typeface="Noto Sans"/>
              </a:rPr>
              <a:t>) de fallecer con una sola variable (</a:t>
            </a:r>
            <a:r>
              <a:rPr lang="es-CO" sz="2200" b="1" dirty="0">
                <a:solidFill>
                  <a:schemeClr val="tx1"/>
                </a:solidFill>
                <a:latin typeface="Noto Sans"/>
                <a:ea typeface="Noto Sans"/>
                <a:cs typeface="Noto Sans"/>
                <a:sym typeface="Noto Sans"/>
              </a:rPr>
              <a:t>x</a:t>
            </a:r>
            <a:r>
              <a:rPr lang="es-CO" sz="2200" b="0" dirty="0">
                <a:solidFill>
                  <a:schemeClr val="tx1"/>
                </a:solidFill>
                <a:latin typeface="Noto Sans"/>
                <a:ea typeface="Noto Sans"/>
                <a:cs typeface="Noto Sans"/>
                <a:sym typeface="Noto Sans"/>
              </a:rPr>
              <a:t>), mediante la siguiente ecuación:</a:t>
            </a:r>
          </a:p>
        </p:txBody>
      </p:sp>
      <mc:AlternateContent xmlns:mc="http://schemas.openxmlformats.org/markup-compatibility/2006" xmlns:a14="http://schemas.microsoft.com/office/drawing/2010/main">
        <mc:Choice Requires="a14">
          <p:sp>
            <p:nvSpPr>
              <p:cNvPr id="4" name="Equation 4"/>
              <p:cNvSpPr txBox="1"/>
              <p:nvPr/>
            </p:nvSpPr>
            <p:spPr>
              <a:xfrm>
                <a:off x="548640" y="3611880"/>
                <a:ext cx="11091672" cy="1005840"/>
              </a:xfrm>
              <a:prstGeom prst="rect">
                <a:avLst/>
              </a:prstGeom>
              <a:noFill/>
            </p:spPr>
            <p:txBody>
              <a:bodyPr wrap="square" anchor="ctr">
                <a:noAutofit/>
              </a:bodyPr>
              <a:lstStyle/>
              <a:p>
                <a:pPr algn="ctr"/>
                <a14:m>
                  <m:oMathPara xmlns:m="http://schemas.openxmlformats.org/officeDocument/2006/math">
                    <m:oMath>
                      <m:r>
                        <m:rPr>
                          <m:sty m:val="p"/>
                        </m:rPr>
                        <a:rPr lang="es-CO" sz="2400" i="0">
                          <a:latin typeface="Cambria Math"/>
                        </a:rPr>
                        <m:t>ln</m:t>
                      </m:r>
                      <m:d>
                        <m:dPr>
                          <m:ctrlPr>
                            <a:rPr lang="es-CO" sz="2400" i="1">
                              <a:latin typeface="Cambria Math" panose="02040503050406030204" pitchFamily="18" charset="0"/>
                            </a:rPr>
                          </m:ctrlPr>
                        </m:dPr>
                        <m:e>
                          <m:f>
                            <m:fPr>
                              <m:ctrlPr>
                                <a:rPr lang="es-CO" sz="2400" i="1">
                                  <a:latin typeface="Cambria Math"/>
                                </a:rPr>
                              </m:ctrlPr>
                            </m:fPr>
                            <m:num>
                              <m:r>
                                <a:rPr lang="es-CO" sz="2400" i="1">
                                  <a:latin typeface="Cambria Math"/>
                                </a:rPr>
                                <m:t>𝑝</m:t>
                              </m:r>
                            </m:num>
                            <m:den>
                              <m:r>
                                <a:rPr lang="es-CO" sz="2400" i="0">
                                  <a:latin typeface="Cambria Math"/>
                                </a:rPr>
                                <m:t>1−</m:t>
                              </m:r>
                              <m:r>
                                <a:rPr lang="es-CO" sz="2400" i="1">
                                  <a:latin typeface="Cambria Math"/>
                                </a:rPr>
                                <m:t>𝑝</m:t>
                              </m:r>
                            </m:den>
                          </m:f>
                        </m:e>
                      </m:d>
                      <m:r>
                        <a:rPr lang="es-CO" sz="2400" i="0">
                          <a:latin typeface="Cambria Math"/>
                        </a:rPr>
                        <m:t>=</m:t>
                      </m:r>
                      <m:sSub>
                        <m:sSubPr>
                          <m:ctrlPr>
                            <a:rPr lang="es-CO" sz="2400" i="1">
                              <a:latin typeface="Cambria Math"/>
                            </a:rPr>
                          </m:ctrlPr>
                        </m:sSubPr>
                        <m:e>
                          <m:r>
                            <a:rPr lang="es-CO" sz="2400" i="1">
                              <a:latin typeface="Cambria Math"/>
                            </a:rPr>
                            <m:t>𝛽</m:t>
                          </m:r>
                        </m:e>
                        <m:sub>
                          <m:r>
                            <a:rPr lang="es-CO" sz="2400" i="0">
                              <a:latin typeface="Cambria Math"/>
                            </a:rPr>
                            <m:t>0</m:t>
                          </m:r>
                        </m:sub>
                      </m:sSub>
                      <m:r>
                        <a:rPr lang="es-CO" sz="2400" i="0">
                          <a:latin typeface="Cambria Math"/>
                        </a:rPr>
                        <m:t>+</m:t>
                      </m:r>
                      <m:sSub>
                        <m:sSubPr>
                          <m:ctrlPr>
                            <a:rPr lang="es-CO" sz="2400" i="1">
                              <a:latin typeface="Cambria Math"/>
                            </a:rPr>
                          </m:ctrlPr>
                        </m:sSubPr>
                        <m:e>
                          <m:r>
                            <a:rPr lang="es-CO" sz="2400" i="1">
                              <a:latin typeface="Cambria Math"/>
                            </a:rPr>
                            <m:t>𝛽</m:t>
                          </m:r>
                        </m:e>
                        <m:sub>
                          <m:r>
                            <a:rPr lang="es-CO" sz="2400" i="0">
                              <a:latin typeface="Cambria Math"/>
                            </a:rPr>
                            <m:t>1</m:t>
                          </m:r>
                        </m:sub>
                      </m:sSub>
                      <m:r>
                        <a:rPr lang="es-CO" sz="2400" i="1">
                          <a:latin typeface="Cambria Math"/>
                        </a:rPr>
                        <m:t>𝑥</m:t>
                      </m:r>
                    </m:oMath>
                  </m:oMathPara>
                </a14:m>
                <a:endParaRPr/>
              </a:p>
            </p:txBody>
          </p:sp>
        </mc:Choice>
        <mc:Fallback xmlns="">
          <p:sp>
            <p:nvSpPr>
              <p:cNvPr id="4" name="Equation 4"/>
              <p:cNvSpPr txBox="1"/>
              <p:nvPr/>
            </p:nvSpPr>
            <p:spPr>
              <a:xfrm>
                <a:off x="548640" y="3611880"/>
                <a:ext cx="11091672" cy="1005840"/>
              </a:xfrm>
              <a:prstGeom prst="rect">
                <a:avLst/>
              </a:prstGeom>
              <a:noFill/>
            </p:spPr>
            <p:txBody>
              <a:bodyPr wrap="square" anchor="ctr">
                <a:noAutofit/>
              </a:bodyPr>
              <a:lstStyle/>
              <a:p>
                <a:pPr algn="ctr"/>
                <a:r>
                  <a:rPr lang="es-CO" sz="2400" b="0" dirty="0">
                    <a:solidFill>
                      <a:schemeClr val="tx1"/>
                    </a:solidFill>
                    <a:latin typeface="Noto Sans"/>
                    <a:ea typeface="Noto Sans"/>
                    <a:cs typeface="Noto Sans"/>
                    <a:sym typeface="Noto Sans"/>
                  </a:rPr>
                  <a:t>ln(p / (1 − p)) = β₀ + β₁x</a:t>
                </a:r>
              </a:p>
            </p:txBody>
          </p:sp>
        </mc:Fallback>
      </mc:AlternateContent>
      <p:sp>
        <p:nvSpPr>
          <p:cNvPr id="5" name="TextBox 5"/>
          <p:cNvSpPr txBox="1"/>
          <p:nvPr/>
        </p:nvSpPr>
        <p:spPr>
          <a:xfrm>
            <a:off x="548640" y="4800600"/>
            <a:ext cx="11091672" cy="137160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0"/>
              </a:spcAft>
              <a:buNone/>
            </a:pPr>
            <a:r>
              <a:rPr lang="es-CO" sz="2200" b="0" dirty="0">
                <a:solidFill>
                  <a:schemeClr val="tx1"/>
                </a:solidFill>
                <a:latin typeface="Noto Sans"/>
                <a:ea typeface="Noto Sans"/>
                <a:cs typeface="Noto Sans"/>
                <a:sym typeface="Noto Sans"/>
              </a:rPr>
              <a:t>Por ejemplo, se ajusta un modelo solo con el shock, otro solo con la edad, y así con cada una de las 22 variables. De cada modelo se obtiene el odds ratio de esa variable.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4. Enfoque centralizado</a:t>
            </a:r>
            <a:endParaRPr lang="es-CO" sz="3600" dirty="0"/>
          </a:p>
        </p:txBody>
      </p:sp>
      <p:sp>
        <p:nvSpPr>
          <p:cNvPr id="3" name="TextBox 3"/>
          <p:cNvSpPr txBox="1"/>
          <p:nvPr/>
        </p:nvSpPr>
        <p:spPr>
          <a:xfrm>
            <a:off x="548640" y="1737360"/>
            <a:ext cx="11091672" cy="443484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2400"/>
              </a:spcAft>
              <a:buNone/>
            </a:pPr>
            <a:r>
              <a:rPr lang="es-CO" sz="2200" b="0" dirty="0">
                <a:solidFill>
                  <a:schemeClr val="tx1"/>
                </a:solidFill>
                <a:latin typeface="Noto Sans"/>
                <a:ea typeface="Noto Sans"/>
                <a:cs typeface="Noto Sans"/>
                <a:sym typeface="Noto Sans"/>
              </a:rPr>
              <a:t>El objetivo de esta sección es calcular los odds ratios sobre toda la base de datos, como si todas las instituciones compartieran directamente sus datos.</a:t>
            </a:r>
          </a:p>
          <a:p>
            <a:pPr marL="0" indent="0" algn="just">
              <a:lnSpc>
                <a:spcPct val="90000"/>
              </a:lnSpc>
              <a:spcBef>
                <a:spcPts val="0"/>
              </a:spcBef>
              <a:spcAft>
                <a:spcPts val="2400"/>
              </a:spcAft>
              <a:buNone/>
            </a:pPr>
            <a:r>
              <a:rPr lang="es-CO" sz="2200" b="1" dirty="0">
                <a:solidFill>
                  <a:schemeClr val="tx1"/>
                </a:solidFill>
                <a:latin typeface="Noto Sans"/>
                <a:ea typeface="Noto Sans"/>
                <a:cs typeface="Noto Sans"/>
                <a:sym typeface="Noto Sans"/>
              </a:rPr>
              <a:t>4.1. Separación del desenlace y las variables.</a:t>
            </a:r>
          </a:p>
          <a:p>
            <a:pPr marL="0" indent="0" algn="just">
              <a:lnSpc>
                <a:spcPct val="90000"/>
              </a:lnSpc>
              <a:spcBef>
                <a:spcPts val="0"/>
              </a:spcBef>
              <a:spcAft>
                <a:spcPts val="2400"/>
              </a:spcAft>
              <a:buNone/>
            </a:pPr>
            <a:r>
              <a:rPr lang="es-CO" sz="2200" b="0" dirty="0">
                <a:solidFill>
                  <a:schemeClr val="tx1"/>
                </a:solidFill>
                <a:latin typeface="Noto Sans"/>
                <a:ea typeface="Noto Sans"/>
                <a:cs typeface="Noto Sans"/>
                <a:sym typeface="Noto Sans"/>
              </a:rPr>
              <a:t>Se identifican la columna del desenlace (</a:t>
            </a:r>
            <a:r>
              <a:rPr lang="es-CO" sz="2200" b="1" dirty="0">
                <a:solidFill>
                  <a:schemeClr val="tx1"/>
                </a:solidFill>
                <a:latin typeface="Noto Sans"/>
                <a:ea typeface="Noto Sans"/>
                <a:cs typeface="Noto Sans"/>
                <a:sym typeface="Noto Sans"/>
              </a:rPr>
              <a:t>outcome</a:t>
            </a:r>
            <a:r>
              <a:rPr lang="es-CO" sz="2200" b="0" dirty="0">
                <a:solidFill>
                  <a:schemeClr val="tx1"/>
                </a:solidFill>
                <a:latin typeface="Noto Sans"/>
                <a:ea typeface="Noto Sans"/>
                <a:cs typeface="Noto Sans"/>
                <a:sym typeface="Noto Sans"/>
              </a:rPr>
              <a:t>) y las variables que se modelan.</a:t>
            </a:r>
          </a:p>
          <a:p>
            <a:pPr marL="0" indent="0" algn="just">
              <a:lnSpc>
                <a:spcPct val="90000"/>
              </a:lnSpc>
              <a:spcBef>
                <a:spcPts val="0"/>
              </a:spcBef>
              <a:spcAft>
                <a:spcPts val="0"/>
              </a:spcAft>
              <a:buNone/>
            </a:pPr>
            <a:r>
              <a:rPr lang="es-CO" sz="2200" b="0" dirty="0">
                <a:solidFill>
                  <a:schemeClr val="tx1"/>
                </a:solidFill>
                <a:latin typeface="Noto Sans"/>
                <a:ea typeface="Noto Sans"/>
                <a:cs typeface="Noto Sans"/>
                <a:sym typeface="Noto Sans"/>
              </a:rPr>
              <a:t>La institución (</a:t>
            </a:r>
            <a:r>
              <a:rPr lang="es-CO" sz="2200" b="1" dirty="0">
                <a:solidFill>
                  <a:schemeClr val="tx1"/>
                </a:solidFill>
                <a:latin typeface="Noto Sans"/>
                <a:ea typeface="Noto Sans"/>
                <a:cs typeface="Noto Sans"/>
                <a:sym typeface="Noto Sans"/>
              </a:rPr>
              <a:t>institution</a:t>
            </a:r>
            <a:r>
              <a:rPr lang="es-CO" sz="2200" b="0" dirty="0">
                <a:solidFill>
                  <a:schemeClr val="tx1"/>
                </a:solidFill>
                <a:latin typeface="Noto Sans"/>
                <a:ea typeface="Noto Sans"/>
                <a:cs typeface="Noto Sans"/>
                <a:sym typeface="Noto Sans"/>
              </a:rPr>
              <a:t>) se excluye, ya que no es una variable de análisis, sino que se conserva para dividir los datos por institución en el enfoque federado.</a:t>
            </a:r>
          </a:p>
        </p:txBody>
      </p:sp>
      <p:pic>
        <p:nvPicPr>
          <p:cNvPr id="5" name="Imagen 4">
            <a:extLst>
              <a:ext uri="{FF2B5EF4-FFF2-40B4-BE49-F238E27FC236}">
                <a16:creationId xmlns:a16="http://schemas.microsoft.com/office/drawing/2014/main" id="{AB91CCD6-2E00-A48C-0ACF-734B7CEAB47E}"/>
              </a:ext>
            </a:extLst>
          </p:cNvPr>
          <p:cNvPicPr>
            <a:picLocks noChangeAspect="1"/>
          </p:cNvPicPr>
          <p:nvPr/>
        </p:nvPicPr>
        <p:blipFill>
          <a:blip r:embed="rId2"/>
          <a:stretch>
            <a:fillRect/>
          </a:stretch>
        </p:blipFill>
        <p:spPr>
          <a:xfrm>
            <a:off x="548639" y="4660924"/>
            <a:ext cx="8035745" cy="95046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4. Enfoque centralizado</a:t>
            </a:r>
            <a:endParaRPr lang="es-CO" sz="3600" dirty="0"/>
          </a:p>
        </p:txBody>
      </p:sp>
      <p:sp>
        <p:nvSpPr>
          <p:cNvPr id="3" name="TextBox 3"/>
          <p:cNvSpPr txBox="1"/>
          <p:nvPr/>
        </p:nvSpPr>
        <p:spPr>
          <a:xfrm>
            <a:off x="548640" y="1737360"/>
            <a:ext cx="11091672" cy="443484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2400"/>
              </a:spcAft>
              <a:buNone/>
            </a:pPr>
            <a:r>
              <a:rPr lang="es-CO" sz="2200" b="1" dirty="0">
                <a:solidFill>
                  <a:schemeClr val="tx1"/>
                </a:solidFill>
                <a:latin typeface="Noto Sans"/>
                <a:ea typeface="Noto Sans"/>
                <a:cs typeface="Noto Sans"/>
                <a:sym typeface="Noto Sans"/>
              </a:rPr>
              <a:t>4.2. Función del modelo univariado.</a:t>
            </a:r>
          </a:p>
          <a:p>
            <a:pPr marL="0" indent="0" algn="just">
              <a:lnSpc>
                <a:spcPct val="90000"/>
              </a:lnSpc>
              <a:spcBef>
                <a:spcPts val="0"/>
              </a:spcBef>
              <a:spcAft>
                <a:spcPts val="1000"/>
              </a:spcAft>
              <a:buNone/>
            </a:pPr>
            <a:r>
              <a:rPr lang="es-CO" sz="2200" b="0" dirty="0">
                <a:solidFill>
                  <a:schemeClr val="tx1"/>
                </a:solidFill>
                <a:latin typeface="Noto Sans"/>
                <a:ea typeface="Noto Sans"/>
                <a:cs typeface="Noto Sans"/>
                <a:sym typeface="Noto Sans"/>
              </a:rPr>
              <a:t>Se define una función que ajusta una regresión logística por cada variable, una a la vez, y obtiene de cada modelo:</a:t>
            </a:r>
          </a:p>
          <a:p>
            <a:pPr marL="342900" indent="-342900" algn="l">
              <a:lnSpc>
                <a:spcPct val="90000"/>
              </a:lnSpc>
              <a:spcBef>
                <a:spcPts val="0"/>
              </a:spcBef>
              <a:spcAft>
                <a:spcPts val="1000"/>
              </a:spcAft>
              <a:buClr>
                <a:srgbClr val="0673BA"/>
              </a:buClr>
              <a:buSzPct val="100000"/>
              <a:buFont typeface="Arial"/>
              <a:buChar char="•"/>
            </a:pPr>
            <a:r>
              <a:rPr lang="es-CO" sz="2200" b="1" dirty="0">
                <a:solidFill>
                  <a:schemeClr val="tx1"/>
                </a:solidFill>
                <a:latin typeface="Noto Sans"/>
                <a:ea typeface="Noto Sans"/>
                <a:cs typeface="Noto Sans"/>
                <a:sym typeface="Noto Sans"/>
              </a:rPr>
              <a:t>Odds ratio:</a:t>
            </a:r>
            <a:r>
              <a:rPr lang="es-CO" sz="2200" b="0" dirty="0">
                <a:solidFill>
                  <a:schemeClr val="tx1"/>
                </a:solidFill>
                <a:latin typeface="Noto Sans"/>
                <a:ea typeface="Noto Sans"/>
                <a:cs typeface="Noto Sans"/>
                <a:sym typeface="Noto Sans"/>
              </a:rPr>
              <a:t> Mide la asociación de la variable con el fallecimiento.</a:t>
            </a:r>
          </a:p>
          <a:p>
            <a:pPr marL="342900" indent="-342900">
              <a:lnSpc>
                <a:spcPct val="90000"/>
              </a:lnSpc>
              <a:spcAft>
                <a:spcPts val="1000"/>
              </a:spcAft>
              <a:buClr>
                <a:srgbClr val="0673BA"/>
              </a:buClr>
              <a:buSzPct val="100000"/>
              <a:buFont typeface="Arial"/>
              <a:buChar char="•"/>
            </a:pPr>
            <a:r>
              <a:rPr lang="es-CO" sz="2200" b="1" dirty="0">
                <a:solidFill>
                  <a:schemeClr val="tx1"/>
                </a:solidFill>
                <a:latin typeface="Noto Sans"/>
                <a:ea typeface="Noto Sans"/>
                <a:cs typeface="Noto Sans"/>
                <a:sym typeface="Noto Sans"/>
              </a:rPr>
              <a:t>Intervalo de confianza del 95%: </a:t>
            </a:r>
            <a:r>
              <a:rPr lang="es-CO" sz="2200" dirty="0">
                <a:solidFill>
                  <a:schemeClr val="tx1"/>
                </a:solidFill>
                <a:latin typeface="Noto Sans"/>
                <a:ea typeface="Noto Sans"/>
                <a:cs typeface="Noto Sans"/>
                <a:sym typeface="Noto Sans"/>
              </a:rPr>
              <a:t>Rango de valores del odds ratio compatibles con los datos, con un 95% de confianza. Un intervalo estrecho indica una estimación precisa y uno amplio, más incertidumbre. </a:t>
            </a:r>
            <a:r>
              <a:rPr lang="es-CO" sz="2200" b="1" dirty="0">
                <a:solidFill>
                  <a:schemeClr val="tx1"/>
                </a:solidFill>
                <a:latin typeface="Noto Sans"/>
                <a:ea typeface="Noto Sans"/>
                <a:cs typeface="Noto Sans"/>
                <a:sym typeface="Noto Sans"/>
              </a:rPr>
              <a:t>Si incluye el 1, la asociación no se puede distinguir de la ausencia de efecto</a:t>
            </a:r>
            <a:r>
              <a:rPr lang="es-CO" sz="2200" dirty="0">
                <a:solidFill>
                  <a:schemeClr val="tx1"/>
                </a:solidFill>
                <a:latin typeface="Noto Sans"/>
                <a:ea typeface="Noto Sans"/>
                <a:cs typeface="Noto Sans"/>
                <a:sym typeface="Noto Sans"/>
              </a:rPr>
              <a:t>. </a:t>
            </a:r>
          </a:p>
          <a:p>
            <a:pPr marL="342900" indent="-342900">
              <a:lnSpc>
                <a:spcPct val="90000"/>
              </a:lnSpc>
              <a:spcAft>
                <a:spcPts val="1000"/>
              </a:spcAft>
              <a:buClr>
                <a:srgbClr val="0673BA"/>
              </a:buClr>
              <a:buSzPct val="100000"/>
              <a:buFont typeface="Arial"/>
              <a:buChar char="•"/>
            </a:pPr>
            <a:r>
              <a:rPr lang="es-CO" sz="2200" b="1" dirty="0">
                <a:solidFill>
                  <a:schemeClr val="tx1"/>
                </a:solidFill>
                <a:latin typeface="Noto Sans"/>
                <a:ea typeface="Noto Sans"/>
                <a:cs typeface="Noto Sans"/>
                <a:sym typeface="Noto Sans"/>
              </a:rPr>
              <a:t>p-valor: </a:t>
            </a:r>
            <a:r>
              <a:rPr lang="es-CO" sz="2200" dirty="0">
                <a:solidFill>
                  <a:schemeClr val="tx1"/>
                </a:solidFill>
                <a:latin typeface="Noto Sans"/>
                <a:ea typeface="Noto Sans"/>
                <a:cs typeface="Noto Sans"/>
                <a:sym typeface="Noto Sans"/>
              </a:rPr>
              <a:t>Un valor menor que 0.05 indica que es poco probable que la asociación se deba solo al azar, y se dice que es estadísticamente significativa.</a:t>
            </a:r>
          </a:p>
          <a:p>
            <a:pPr marL="342900" indent="-342900" algn="l">
              <a:lnSpc>
                <a:spcPct val="90000"/>
              </a:lnSpc>
              <a:spcBef>
                <a:spcPts val="0"/>
              </a:spcBef>
              <a:spcAft>
                <a:spcPts val="0"/>
              </a:spcAft>
              <a:buClr>
                <a:srgbClr val="0673BA"/>
              </a:buClr>
              <a:buSzPct val="100000"/>
              <a:buFont typeface="Arial"/>
              <a:buChar char="•"/>
            </a:pPr>
            <a:endParaRPr lang="es-CO" sz="2200" b="0" dirty="0">
              <a:solidFill>
                <a:schemeClr val="tx1"/>
              </a:solidFill>
              <a:latin typeface="Noto Sans"/>
              <a:ea typeface="Noto Sans"/>
              <a:cs typeface="Noto Sans"/>
              <a:sym typeface="Noto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4. Enfoque centralizado</a:t>
            </a:r>
            <a:endParaRPr lang="es-CO" sz="3600" dirty="0"/>
          </a:p>
        </p:txBody>
      </p:sp>
      <p:sp>
        <p:nvSpPr>
          <p:cNvPr id="3" name="TextBox 3"/>
          <p:cNvSpPr txBox="1"/>
          <p:nvPr/>
        </p:nvSpPr>
        <p:spPr>
          <a:xfrm>
            <a:off x="548640" y="1737360"/>
            <a:ext cx="11091672" cy="443484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2400"/>
              </a:spcAft>
              <a:buNone/>
            </a:pPr>
            <a:r>
              <a:rPr lang="es-CO" sz="2200" b="0" dirty="0">
                <a:solidFill>
                  <a:schemeClr val="tx1"/>
                </a:solidFill>
                <a:latin typeface="Noto Sans"/>
                <a:ea typeface="Noto Sans"/>
                <a:cs typeface="Noto Sans"/>
                <a:sym typeface="Noto Sans"/>
              </a:rPr>
              <a:t>La función también guarda dos valores más:</a:t>
            </a:r>
          </a:p>
          <a:p>
            <a:pPr marL="342900" indent="-342900">
              <a:lnSpc>
                <a:spcPct val="90000"/>
              </a:lnSpc>
              <a:spcAft>
                <a:spcPts val="1000"/>
              </a:spcAft>
              <a:buClr>
                <a:srgbClr val="0673BA"/>
              </a:buClr>
              <a:buSzPct val="100000"/>
              <a:buFont typeface="Arial"/>
              <a:buChar char="•"/>
            </a:pPr>
            <a:r>
              <a:rPr lang="es-CO" sz="2200" b="1" dirty="0">
                <a:solidFill>
                  <a:schemeClr val="tx1"/>
                </a:solidFill>
                <a:latin typeface="Noto Sans"/>
                <a:ea typeface="Noto Sans"/>
                <a:cs typeface="Noto Sans"/>
                <a:sym typeface="Noto Sans"/>
              </a:rPr>
              <a:t>El coeficiente del modelo: </a:t>
            </a:r>
            <a:r>
              <a:rPr lang="es-CO" sz="2200" dirty="0">
                <a:solidFill>
                  <a:schemeClr val="tx1"/>
                </a:solidFill>
                <a:latin typeface="Noto Sans"/>
                <a:ea typeface="Noto Sans"/>
                <a:cs typeface="Noto Sans"/>
                <a:sym typeface="Noto Sans"/>
              </a:rPr>
              <a:t>El logaritmo del </a:t>
            </a:r>
            <a:r>
              <a:rPr lang="es-CO" sz="2200" dirty="0" err="1">
                <a:solidFill>
                  <a:schemeClr val="tx1"/>
                </a:solidFill>
                <a:latin typeface="Noto Sans"/>
                <a:ea typeface="Noto Sans"/>
                <a:cs typeface="Noto Sans"/>
                <a:sym typeface="Noto Sans"/>
              </a:rPr>
              <a:t>odds</a:t>
            </a:r>
            <a:r>
              <a:rPr lang="es-CO" sz="2200" dirty="0">
                <a:solidFill>
                  <a:schemeClr val="tx1"/>
                </a:solidFill>
                <a:latin typeface="Noto Sans"/>
                <a:ea typeface="Noto Sans"/>
                <a:cs typeface="Noto Sans"/>
                <a:sym typeface="Noto Sans"/>
              </a:rPr>
              <a:t> ratio</a:t>
            </a:r>
          </a:p>
          <a:p>
            <a:pPr marL="342900" indent="-342900">
              <a:lnSpc>
                <a:spcPct val="90000"/>
              </a:lnSpc>
              <a:spcAft>
                <a:spcPts val="1000"/>
              </a:spcAft>
              <a:buClr>
                <a:srgbClr val="0673BA"/>
              </a:buClr>
              <a:buSzPct val="100000"/>
              <a:buFont typeface="Arial"/>
              <a:buChar char="•"/>
            </a:pPr>
            <a:r>
              <a:rPr lang="es-CO" sz="2200" b="1" dirty="0">
                <a:solidFill>
                  <a:schemeClr val="tx1"/>
                </a:solidFill>
                <a:latin typeface="Noto Sans"/>
                <a:ea typeface="Noto Sans"/>
                <a:cs typeface="Noto Sans"/>
                <a:sym typeface="Noto Sans"/>
              </a:rPr>
              <a:t>El error estándar: </a:t>
            </a:r>
            <a:r>
              <a:rPr lang="es-CO" sz="2200" dirty="0">
                <a:solidFill>
                  <a:schemeClr val="tx1"/>
                </a:solidFill>
                <a:latin typeface="Noto Sans"/>
                <a:ea typeface="Noto Sans"/>
                <a:cs typeface="Noto Sans"/>
                <a:sym typeface="Noto Sans"/>
              </a:rPr>
              <a:t>Qué tan incierto es ese coeficiente</a:t>
            </a:r>
          </a:p>
          <a:p>
            <a:pPr marL="0" indent="0" algn="just">
              <a:lnSpc>
                <a:spcPct val="90000"/>
              </a:lnSpc>
              <a:spcBef>
                <a:spcPts val="0"/>
              </a:spcBef>
              <a:spcAft>
                <a:spcPts val="2400"/>
              </a:spcAft>
              <a:buNone/>
            </a:pPr>
            <a:r>
              <a:rPr lang="es-CO" sz="2200" dirty="0">
                <a:solidFill>
                  <a:schemeClr val="tx1"/>
                </a:solidFill>
                <a:latin typeface="Noto Sans"/>
                <a:ea typeface="Noto Sans"/>
                <a:cs typeface="Noto Sans"/>
                <a:sym typeface="Noto Sans"/>
              </a:rPr>
              <a:t>Estos valores n</a:t>
            </a:r>
            <a:r>
              <a:rPr lang="es-CO" sz="2200" b="0" dirty="0">
                <a:solidFill>
                  <a:schemeClr val="tx1"/>
                </a:solidFill>
                <a:latin typeface="Noto Sans"/>
                <a:ea typeface="Noto Sans"/>
                <a:cs typeface="Noto Sans"/>
                <a:sym typeface="Noto Sans"/>
              </a:rPr>
              <a:t>o se necesitan para el enfoque centralizado, son los valores que el enfoque federado combinará entre instituciones.</a:t>
            </a:r>
          </a:p>
          <a:p>
            <a:pPr marL="0" indent="0" algn="just">
              <a:lnSpc>
                <a:spcPct val="90000"/>
              </a:lnSpc>
              <a:spcBef>
                <a:spcPts val="0"/>
              </a:spcBef>
              <a:spcAft>
                <a:spcPts val="0"/>
              </a:spcAft>
              <a:buNone/>
            </a:pPr>
            <a:r>
              <a:rPr lang="es-CO" sz="2200" b="1" dirty="0">
                <a:solidFill>
                  <a:schemeClr val="tx1"/>
                </a:solidFill>
                <a:latin typeface="Noto Sans"/>
                <a:ea typeface="Noto Sans"/>
                <a:cs typeface="Noto Sans"/>
                <a:sym typeface="Noto Sans"/>
              </a:rPr>
              <a:t>Nota: </a:t>
            </a:r>
            <a:r>
              <a:rPr lang="es-CO" sz="2200" b="0" dirty="0">
                <a:solidFill>
                  <a:schemeClr val="tx1"/>
                </a:solidFill>
                <a:latin typeface="Noto Sans"/>
                <a:ea typeface="Noto Sans"/>
                <a:cs typeface="Noto Sans"/>
                <a:sym typeface="Noto Sans"/>
              </a:rPr>
              <a:t>Esta misma función se usa en ambos enfoques, una vez sobre toda la base de datos en el centralizado y una vez por institución en el federado.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4. Enfoque centralizado</a:t>
            </a:r>
            <a:endParaRPr lang="es-CO" sz="3600" dirty="0"/>
          </a:p>
        </p:txBody>
      </p:sp>
      <p:sp>
        <p:nvSpPr>
          <p:cNvPr id="3" name="TextBox 3"/>
          <p:cNvSpPr txBox="1"/>
          <p:nvPr/>
        </p:nvSpPr>
        <p:spPr>
          <a:xfrm>
            <a:off x="548640" y="1737360"/>
            <a:ext cx="11091672" cy="443484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2400"/>
              </a:spcAft>
              <a:buNone/>
            </a:pPr>
            <a:r>
              <a:rPr lang="es-CO" sz="2200" b="1" dirty="0">
                <a:solidFill>
                  <a:schemeClr val="tx1"/>
                </a:solidFill>
                <a:latin typeface="Noto Sans"/>
                <a:ea typeface="Noto Sans"/>
                <a:cs typeface="Noto Sans"/>
                <a:sym typeface="Noto Sans"/>
              </a:rPr>
              <a:t>4.3. Resultados centralizados.</a:t>
            </a:r>
          </a:p>
          <a:p>
            <a:pPr marL="0" indent="0" algn="just">
              <a:lnSpc>
                <a:spcPct val="90000"/>
              </a:lnSpc>
              <a:spcBef>
                <a:spcPts val="0"/>
              </a:spcBef>
              <a:spcAft>
                <a:spcPts val="0"/>
              </a:spcAft>
              <a:buNone/>
            </a:pPr>
            <a:r>
              <a:rPr lang="es-CO" sz="2200" b="0" dirty="0">
                <a:solidFill>
                  <a:schemeClr val="tx1"/>
                </a:solidFill>
                <a:latin typeface="Noto Sans"/>
                <a:ea typeface="Noto Sans"/>
                <a:cs typeface="Noto Sans"/>
                <a:sym typeface="Noto Sans"/>
              </a:rPr>
              <a:t>Se aplica la función sobre toda la base de datos y, a partir de sus resultados, se construye una tabla para presentarlos. La siguiente captura muestra algunos de ellos.</a:t>
            </a:r>
          </a:p>
        </p:txBody>
      </p:sp>
      <p:pic>
        <p:nvPicPr>
          <p:cNvPr id="5" name="Imagen 4">
            <a:extLst>
              <a:ext uri="{FF2B5EF4-FFF2-40B4-BE49-F238E27FC236}">
                <a16:creationId xmlns:a16="http://schemas.microsoft.com/office/drawing/2014/main" id="{113BCCC5-5FB2-F93E-750F-415BB66C3F1B}"/>
              </a:ext>
            </a:extLst>
          </p:cNvPr>
          <p:cNvPicPr>
            <a:picLocks noChangeAspect="1"/>
          </p:cNvPicPr>
          <p:nvPr/>
        </p:nvPicPr>
        <p:blipFill>
          <a:blip r:embed="rId2"/>
          <a:srcRect b="15335"/>
          <a:stretch>
            <a:fillRect/>
          </a:stretch>
        </p:blipFill>
        <p:spPr>
          <a:xfrm>
            <a:off x="4210190" y="3251356"/>
            <a:ext cx="3771620" cy="2984852"/>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4. Enfoque centralizado</a:t>
            </a:r>
            <a:endParaRPr lang="es-CO" sz="3600" dirty="0"/>
          </a:p>
        </p:txBody>
      </p:sp>
      <p:sp>
        <p:nvSpPr>
          <p:cNvPr id="3" name="TextBox 3"/>
          <p:cNvSpPr txBox="1"/>
          <p:nvPr/>
        </p:nvSpPr>
        <p:spPr>
          <a:xfrm>
            <a:off x="552593" y="1612863"/>
            <a:ext cx="11087719" cy="4559337"/>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2400"/>
              </a:spcAft>
              <a:buNone/>
            </a:pPr>
            <a:r>
              <a:rPr lang="es-CO" sz="2200" b="1" dirty="0">
                <a:solidFill>
                  <a:schemeClr val="tx1"/>
                </a:solidFill>
                <a:latin typeface="Noto Sans"/>
                <a:ea typeface="Noto Sans"/>
                <a:cs typeface="Noto Sans"/>
                <a:sym typeface="Noto Sans"/>
              </a:rPr>
              <a:t>4.4. Forest plot.</a:t>
            </a:r>
          </a:p>
          <a:p>
            <a:pPr marL="0" indent="0" algn="just">
              <a:lnSpc>
                <a:spcPct val="90000"/>
              </a:lnSpc>
              <a:spcBef>
                <a:spcPts val="0"/>
              </a:spcBef>
              <a:spcAft>
                <a:spcPts val="2400"/>
              </a:spcAft>
              <a:buNone/>
            </a:pPr>
            <a:r>
              <a:rPr lang="es-CO" sz="2000" b="0" dirty="0">
                <a:solidFill>
                  <a:schemeClr val="tx1"/>
                </a:solidFill>
                <a:latin typeface="Noto Sans"/>
                <a:ea typeface="Noto Sans"/>
                <a:cs typeface="Noto Sans"/>
                <a:sym typeface="Noto Sans"/>
              </a:rPr>
              <a:t>Se grafican el odds ratio y el intervalo de confianza del 95% de cada variable.</a:t>
            </a:r>
          </a:p>
          <a:p>
            <a:pPr marL="0" indent="0" algn="just">
              <a:lnSpc>
                <a:spcPct val="90000"/>
              </a:lnSpc>
              <a:spcBef>
                <a:spcPts val="0"/>
              </a:spcBef>
              <a:spcAft>
                <a:spcPts val="2400"/>
              </a:spcAft>
              <a:buNone/>
            </a:pPr>
            <a:r>
              <a:rPr lang="es-CO" sz="2000" b="0" dirty="0">
                <a:solidFill>
                  <a:schemeClr val="tx1"/>
                </a:solidFill>
                <a:latin typeface="Noto Sans"/>
                <a:ea typeface="Noto Sans"/>
                <a:cs typeface="Noto Sans"/>
                <a:sym typeface="Noto Sans"/>
              </a:rPr>
              <a:t>La línea punteada en 1 marca la ausencia de efecto. </a:t>
            </a:r>
            <a:r>
              <a:rPr lang="es-CO" sz="2000" b="1" dirty="0">
                <a:solidFill>
                  <a:schemeClr val="tx1"/>
                </a:solidFill>
                <a:latin typeface="Noto Sans"/>
                <a:ea typeface="Noto Sans"/>
                <a:cs typeface="Noto Sans"/>
                <a:sym typeface="Noto Sans"/>
              </a:rPr>
              <a:t>Un intervalo que la cruza indica que la asociación no se distingue estadísticamente de la ausencia de efecto</a:t>
            </a:r>
            <a:r>
              <a:rPr lang="es-CO" sz="2000" b="0" dirty="0">
                <a:solidFill>
                  <a:schemeClr val="tx1"/>
                </a:solidFill>
                <a:latin typeface="Noto Sans"/>
                <a:ea typeface="Noto Sans"/>
                <a:cs typeface="Noto Sans"/>
                <a:sym typeface="Noto Sans"/>
              </a:rPr>
              <a:t>.</a:t>
            </a:r>
          </a:p>
        </p:txBody>
      </p:sp>
      <p:pic>
        <p:nvPicPr>
          <p:cNvPr id="5" name="Imagen 4">
            <a:extLst>
              <a:ext uri="{FF2B5EF4-FFF2-40B4-BE49-F238E27FC236}">
                <a16:creationId xmlns:a16="http://schemas.microsoft.com/office/drawing/2014/main" id="{FC0B18DD-287D-9B41-35E7-87F902007681}"/>
              </a:ext>
            </a:extLst>
          </p:cNvPr>
          <p:cNvPicPr>
            <a:picLocks noChangeAspect="1"/>
          </p:cNvPicPr>
          <p:nvPr/>
        </p:nvPicPr>
        <p:blipFill>
          <a:blip r:embed="rId2"/>
          <a:srcRect t="48203"/>
          <a:stretch>
            <a:fillRect/>
          </a:stretch>
        </p:blipFill>
        <p:spPr>
          <a:xfrm>
            <a:off x="6745054" y="3528531"/>
            <a:ext cx="4156745" cy="2643669"/>
          </a:xfrm>
          <a:prstGeom prst="rect">
            <a:avLst/>
          </a:prstGeom>
        </p:spPr>
      </p:pic>
      <p:pic>
        <p:nvPicPr>
          <p:cNvPr id="6" name="Imagen 5">
            <a:extLst>
              <a:ext uri="{FF2B5EF4-FFF2-40B4-BE49-F238E27FC236}">
                <a16:creationId xmlns:a16="http://schemas.microsoft.com/office/drawing/2014/main" id="{3A0C2A6E-6173-3BCD-80AE-C4240BCDDF8A}"/>
              </a:ext>
            </a:extLst>
          </p:cNvPr>
          <p:cNvPicPr>
            <a:picLocks noChangeAspect="1"/>
          </p:cNvPicPr>
          <p:nvPr/>
        </p:nvPicPr>
        <p:blipFill>
          <a:blip r:embed="rId2"/>
          <a:srcRect t="-1" b="50001"/>
          <a:stretch>
            <a:fillRect/>
          </a:stretch>
        </p:blipFill>
        <p:spPr>
          <a:xfrm>
            <a:off x="1290201" y="3528531"/>
            <a:ext cx="4318328" cy="2651126"/>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4. Enfoque centralizado</a:t>
            </a:r>
            <a:endParaRPr lang="es-CO" sz="3600" dirty="0"/>
          </a:p>
        </p:txBody>
      </p:sp>
      <p:sp>
        <p:nvSpPr>
          <p:cNvPr id="3" name="TextBox 3"/>
          <p:cNvSpPr txBox="1"/>
          <p:nvPr/>
        </p:nvSpPr>
        <p:spPr>
          <a:xfrm>
            <a:off x="548640" y="1737360"/>
            <a:ext cx="11091672" cy="443484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1000"/>
              </a:spcAft>
              <a:buNone/>
            </a:pPr>
            <a:r>
              <a:rPr lang="es-CO" sz="2200" b="1" dirty="0">
                <a:solidFill>
                  <a:schemeClr val="tx1"/>
                </a:solidFill>
                <a:latin typeface="Noto Sans"/>
                <a:ea typeface="Noto Sans"/>
                <a:cs typeface="Noto Sans"/>
                <a:sym typeface="Noto Sans"/>
              </a:rPr>
              <a:t>4.5. Interpretación de los resultados.</a:t>
            </a:r>
          </a:p>
          <a:p>
            <a:pPr marL="342900" indent="-342900" algn="just">
              <a:lnSpc>
                <a:spcPct val="90000"/>
              </a:lnSpc>
              <a:spcBef>
                <a:spcPts val="0"/>
              </a:spcBef>
              <a:spcAft>
                <a:spcPts val="1000"/>
              </a:spcAft>
              <a:buClr>
                <a:srgbClr val="0673BA"/>
              </a:buClr>
              <a:buSzPct val="100000"/>
              <a:buFont typeface="Arial"/>
              <a:buChar char="•"/>
            </a:pPr>
            <a:r>
              <a:rPr lang="es-CO" sz="2200" b="1" dirty="0">
                <a:solidFill>
                  <a:schemeClr val="tx1"/>
                </a:solidFill>
                <a:latin typeface="Noto Sans"/>
                <a:ea typeface="Noto Sans"/>
                <a:cs typeface="Noto Sans"/>
                <a:sym typeface="Noto Sans"/>
              </a:rPr>
              <a:t>shock muestra la asociación más fuerte con el fallecimiento.</a:t>
            </a:r>
            <a:r>
              <a:rPr lang="es-CO" sz="2200" b="0" dirty="0">
                <a:solidFill>
                  <a:schemeClr val="tx1"/>
                </a:solidFill>
                <a:latin typeface="Noto Sans"/>
                <a:ea typeface="Noto Sans"/>
                <a:cs typeface="Noto Sans"/>
                <a:sym typeface="Noto Sans"/>
              </a:rPr>
              <a:t> Su odds ratio (9.13) es el más alto y su intervalo de confianza no incluye el 1.</a:t>
            </a:r>
          </a:p>
          <a:p>
            <a:pPr marL="342900" indent="-342900" algn="just">
              <a:lnSpc>
                <a:spcPct val="90000"/>
              </a:lnSpc>
              <a:spcBef>
                <a:spcPts val="0"/>
              </a:spcBef>
              <a:spcAft>
                <a:spcPts val="1000"/>
              </a:spcAft>
              <a:buClr>
                <a:srgbClr val="0673BA"/>
              </a:buClr>
              <a:buSzPct val="100000"/>
              <a:buFont typeface="Arial"/>
              <a:buChar char="•"/>
            </a:pPr>
            <a:r>
              <a:rPr lang="es-CO" sz="2200" b="1" dirty="0" err="1">
                <a:solidFill>
                  <a:schemeClr val="tx1"/>
                </a:solidFill>
                <a:latin typeface="Noto Sans"/>
                <a:ea typeface="Noto Sans"/>
                <a:cs typeface="Noto Sans"/>
                <a:sym typeface="Noto Sans"/>
              </a:rPr>
              <a:t>postural_hypotension</a:t>
            </a:r>
            <a:r>
              <a:rPr lang="es-CO" sz="2200" b="0" dirty="0">
                <a:solidFill>
                  <a:schemeClr val="tx1"/>
                </a:solidFill>
                <a:latin typeface="Noto Sans"/>
                <a:ea typeface="Noto Sans"/>
                <a:cs typeface="Noto Sans"/>
                <a:sym typeface="Noto Sans"/>
              </a:rPr>
              <a:t> (2.81), </a:t>
            </a:r>
            <a:r>
              <a:rPr lang="es-CO" sz="2200" b="1" dirty="0">
                <a:solidFill>
                  <a:schemeClr val="tx1"/>
                </a:solidFill>
                <a:latin typeface="Noto Sans"/>
                <a:ea typeface="Noto Sans"/>
                <a:cs typeface="Noto Sans"/>
                <a:sym typeface="Noto Sans"/>
              </a:rPr>
              <a:t>hypothermia</a:t>
            </a:r>
            <a:r>
              <a:rPr lang="es-CO" sz="2200" b="0" dirty="0">
                <a:solidFill>
                  <a:schemeClr val="tx1"/>
                </a:solidFill>
                <a:latin typeface="Noto Sans"/>
                <a:ea typeface="Noto Sans"/>
                <a:cs typeface="Noto Sans"/>
                <a:sym typeface="Noto Sans"/>
              </a:rPr>
              <a:t> (2.76), </a:t>
            </a:r>
            <a:r>
              <a:rPr lang="es-CO" sz="2200" b="1" dirty="0">
                <a:solidFill>
                  <a:schemeClr val="tx1"/>
                </a:solidFill>
                <a:latin typeface="Noto Sans"/>
                <a:ea typeface="Noto Sans"/>
                <a:cs typeface="Noto Sans"/>
                <a:sym typeface="Noto Sans"/>
              </a:rPr>
              <a:t>lethargy</a:t>
            </a:r>
            <a:r>
              <a:rPr lang="es-CO" sz="2200" b="0" dirty="0">
                <a:solidFill>
                  <a:schemeClr val="tx1"/>
                </a:solidFill>
                <a:latin typeface="Noto Sans"/>
                <a:ea typeface="Noto Sans"/>
                <a:cs typeface="Noto Sans"/>
                <a:sym typeface="Noto Sans"/>
              </a:rPr>
              <a:t> (1.92) y </a:t>
            </a:r>
            <a:r>
              <a:rPr lang="es-CO" sz="2200" b="1" dirty="0">
                <a:solidFill>
                  <a:schemeClr val="tx1"/>
                </a:solidFill>
                <a:latin typeface="Noto Sans"/>
                <a:ea typeface="Noto Sans"/>
                <a:cs typeface="Noto Sans"/>
                <a:sym typeface="Noto Sans"/>
              </a:rPr>
              <a:t>severe_bleeding</a:t>
            </a:r>
            <a:r>
              <a:rPr lang="es-CO" sz="2200" b="0" dirty="0">
                <a:solidFill>
                  <a:schemeClr val="tx1"/>
                </a:solidFill>
                <a:latin typeface="Noto Sans"/>
                <a:ea typeface="Noto Sans"/>
                <a:cs typeface="Noto Sans"/>
                <a:sym typeface="Noto Sans"/>
              </a:rPr>
              <a:t> (1.81) también tienen odds ratios mayores que 1 con intervalos que no incluyen el 1, por lo que también se asocian con un mayor fallecimiento.</a:t>
            </a:r>
          </a:p>
          <a:p>
            <a:pPr marL="342900" indent="-342900" algn="just">
              <a:lnSpc>
                <a:spcPct val="90000"/>
              </a:lnSpc>
              <a:spcBef>
                <a:spcPts val="0"/>
              </a:spcBef>
              <a:spcAft>
                <a:spcPts val="0"/>
              </a:spcAft>
              <a:buClr>
                <a:srgbClr val="0673BA"/>
              </a:buClr>
              <a:buSzPct val="100000"/>
              <a:buFont typeface="Arial"/>
              <a:buChar char="•"/>
            </a:pPr>
            <a:r>
              <a:rPr lang="es-CO" sz="2200" b="1" dirty="0" err="1">
                <a:solidFill>
                  <a:schemeClr val="tx1"/>
                </a:solidFill>
                <a:latin typeface="Noto Sans"/>
                <a:ea typeface="Noto Sans"/>
                <a:cs typeface="Noto Sans"/>
                <a:sym typeface="Noto Sans"/>
              </a:rPr>
              <a:t>rash</a:t>
            </a:r>
            <a:r>
              <a:rPr lang="es-CO" sz="2200" dirty="0">
                <a:solidFill>
                  <a:schemeClr val="tx1"/>
                </a:solidFill>
                <a:latin typeface="Noto Sans"/>
                <a:ea typeface="Noto Sans"/>
                <a:cs typeface="Noto Sans"/>
                <a:sym typeface="Noto Sans"/>
              </a:rPr>
              <a:t> (0.37), </a:t>
            </a:r>
            <a:r>
              <a:rPr lang="es-CO" sz="2200" b="1" dirty="0" err="1">
                <a:solidFill>
                  <a:schemeClr val="tx1"/>
                </a:solidFill>
                <a:latin typeface="Noto Sans"/>
                <a:ea typeface="Noto Sans"/>
                <a:cs typeface="Noto Sans"/>
                <a:sym typeface="Noto Sans"/>
              </a:rPr>
              <a:t>plasma_leakage</a:t>
            </a:r>
            <a:r>
              <a:rPr lang="es-CO" sz="2200" dirty="0">
                <a:solidFill>
                  <a:schemeClr val="tx1"/>
                </a:solidFill>
                <a:latin typeface="Noto Sans"/>
                <a:ea typeface="Noto Sans"/>
                <a:cs typeface="Noto Sans"/>
                <a:sym typeface="Noto Sans"/>
              </a:rPr>
              <a:t> (0.48) y </a:t>
            </a:r>
            <a:r>
              <a:rPr lang="es-CO" sz="2200" b="1" dirty="0" err="1">
                <a:solidFill>
                  <a:schemeClr val="tx1"/>
                </a:solidFill>
                <a:latin typeface="Noto Sans"/>
                <a:ea typeface="Noto Sans"/>
                <a:cs typeface="Noto Sans"/>
                <a:sym typeface="Noto Sans"/>
              </a:rPr>
              <a:t>arthralgia</a:t>
            </a:r>
            <a:r>
              <a:rPr lang="es-CO" sz="2200" dirty="0">
                <a:solidFill>
                  <a:schemeClr val="tx1"/>
                </a:solidFill>
                <a:latin typeface="Noto Sans"/>
                <a:ea typeface="Noto Sans"/>
                <a:cs typeface="Noto Sans"/>
                <a:sym typeface="Noto Sans"/>
              </a:rPr>
              <a:t> (0.59) son variables asociadas con un menor fallecimiento. Tienen intervalos de confianza completamente por debajo de 1. Esto no significa que protejan contra la muerte, sino que, como todos los pacientes tienen dengue severo, quienes las presentaron fallecieron con menor frecuencia que el resto del grupo.</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4. Enfoque centralizado</a:t>
            </a:r>
            <a:endParaRPr lang="es-CO" sz="3600" dirty="0"/>
          </a:p>
        </p:txBody>
      </p:sp>
      <p:sp>
        <p:nvSpPr>
          <p:cNvPr id="3" name="TextBox 3"/>
          <p:cNvSpPr txBox="1"/>
          <p:nvPr/>
        </p:nvSpPr>
        <p:spPr>
          <a:xfrm>
            <a:off x="548640" y="1737360"/>
            <a:ext cx="11091672" cy="4434840"/>
          </a:xfrm>
          <a:prstGeom prst="rect">
            <a:avLst/>
          </a:prstGeom>
          <a:noFill/>
          <a:ln>
            <a:noFill/>
          </a:ln>
        </p:spPr>
        <p:txBody>
          <a:bodyPr wrap="square" lIns="45720" tIns="45720" rIns="45720" bIns="45720" rtlCol="0" anchor="t">
            <a:noAutofit/>
          </a:bodyPr>
          <a:lstStyle/>
          <a:p>
            <a:pPr marL="342900" indent="-342900" algn="l">
              <a:lnSpc>
                <a:spcPct val="90000"/>
              </a:lnSpc>
              <a:spcBef>
                <a:spcPts val="0"/>
              </a:spcBef>
              <a:spcAft>
                <a:spcPts val="1000"/>
              </a:spcAft>
              <a:buClr>
                <a:srgbClr val="0673BA"/>
              </a:buClr>
              <a:buSzPct val="100000"/>
              <a:buFont typeface="Arial"/>
              <a:buChar char="•"/>
            </a:pPr>
            <a:r>
              <a:rPr lang="es-CO" sz="2200" b="1" dirty="0">
                <a:solidFill>
                  <a:schemeClr val="tx1"/>
                </a:solidFill>
                <a:latin typeface="Noto Sans"/>
                <a:ea typeface="Noto Sans"/>
                <a:cs typeface="Noto Sans"/>
                <a:sym typeface="Noto Sans"/>
              </a:rPr>
              <a:t>Resultados con  odds ratio menor que 1 no tiene significado por sí solo si su intervalo incluye el 1.</a:t>
            </a:r>
            <a:r>
              <a:rPr lang="es-CO" sz="2200" b="0" dirty="0">
                <a:solidFill>
                  <a:schemeClr val="tx1"/>
                </a:solidFill>
                <a:latin typeface="Noto Sans"/>
                <a:ea typeface="Noto Sans"/>
                <a:cs typeface="Noto Sans"/>
                <a:sym typeface="Noto Sans"/>
              </a:rPr>
              <a:t> </a:t>
            </a:r>
            <a:r>
              <a:rPr lang="es-CO" sz="2200" b="1" dirty="0">
                <a:solidFill>
                  <a:schemeClr val="tx1"/>
                </a:solidFill>
                <a:latin typeface="Noto Sans"/>
                <a:ea typeface="Noto Sans"/>
                <a:cs typeface="Noto Sans"/>
                <a:sym typeface="Noto Sans"/>
              </a:rPr>
              <a:t>vomiting</a:t>
            </a:r>
            <a:r>
              <a:rPr lang="es-CO" sz="2200" b="0" dirty="0">
                <a:solidFill>
                  <a:schemeClr val="tx1"/>
                </a:solidFill>
                <a:latin typeface="Noto Sans"/>
                <a:ea typeface="Noto Sans"/>
                <a:cs typeface="Noto Sans"/>
                <a:sym typeface="Noto Sans"/>
              </a:rPr>
              <a:t> (0.68) y </a:t>
            </a:r>
            <a:r>
              <a:rPr lang="es-CO" sz="2200" b="1" dirty="0">
                <a:solidFill>
                  <a:schemeClr val="tx1"/>
                </a:solidFill>
                <a:latin typeface="Noto Sans"/>
                <a:ea typeface="Noto Sans"/>
                <a:cs typeface="Noto Sans"/>
                <a:sym typeface="Noto Sans"/>
              </a:rPr>
              <a:t>platelet_drop</a:t>
            </a:r>
            <a:r>
              <a:rPr lang="es-CO" sz="2200" b="0" dirty="0">
                <a:solidFill>
                  <a:schemeClr val="tx1"/>
                </a:solidFill>
                <a:latin typeface="Noto Sans"/>
                <a:ea typeface="Noto Sans"/>
                <a:cs typeface="Noto Sans"/>
                <a:sym typeface="Noto Sans"/>
              </a:rPr>
              <a:t> (0.69) están a la izquierda de 1, pero sus intervalos cruzan 1 y sus p-valores son mayores que 0.05, por lo que no hay evidencia de asociación con el desenlace.</a:t>
            </a:r>
          </a:p>
          <a:p>
            <a:pPr marL="342900" indent="-342900" algn="l">
              <a:lnSpc>
                <a:spcPct val="90000"/>
              </a:lnSpc>
              <a:spcBef>
                <a:spcPts val="0"/>
              </a:spcBef>
              <a:spcAft>
                <a:spcPts val="0"/>
              </a:spcAft>
              <a:buClr>
                <a:srgbClr val="0673BA"/>
              </a:buClr>
              <a:buSzPct val="100000"/>
              <a:buFont typeface="Arial"/>
              <a:buChar char="•"/>
            </a:pPr>
            <a:r>
              <a:rPr lang="es-CO" sz="2200" b="1" dirty="0">
                <a:solidFill>
                  <a:schemeClr val="tx1"/>
                </a:solidFill>
                <a:latin typeface="Noto Sans"/>
                <a:ea typeface="Noto Sans"/>
                <a:cs typeface="Noto Sans"/>
                <a:sym typeface="Noto Sans"/>
              </a:rPr>
              <a:t>age tiene una asociación pequeña pero clara.</a:t>
            </a:r>
            <a:r>
              <a:rPr lang="es-CO" sz="2200" b="0" dirty="0">
                <a:solidFill>
                  <a:schemeClr val="tx1"/>
                </a:solidFill>
                <a:latin typeface="Noto Sans"/>
                <a:ea typeface="Noto Sans"/>
                <a:cs typeface="Noto Sans"/>
                <a:sym typeface="Noto Sans"/>
              </a:rPr>
              <a:t> Su odds ratio (1.023) se ve cercano a 1 en el gráfico porque se mide por cada año de edad, pero su intervalo no incluye el 1. Con varios años el efecto se acumula.</a:t>
            </a:r>
            <a:endParaRPr lang="es-CO" sz="2200" b="0" dirty="0">
              <a:solidFill>
                <a:schemeClr val="tx1"/>
              </a:solidFill>
              <a:highlight>
                <a:srgbClr val="FFFF00"/>
              </a:highlight>
              <a:latin typeface="Noto Sans"/>
              <a:ea typeface="Noto Sans"/>
              <a:cs typeface="Noto Sans"/>
              <a:sym typeface="Noto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4. Enfoque centralizado</a:t>
            </a:r>
            <a:endParaRPr lang="es-CO" sz="3600" dirty="0"/>
          </a:p>
        </p:txBody>
      </p:sp>
      <p:sp>
        <p:nvSpPr>
          <p:cNvPr id="3" name="TextBox 3"/>
          <p:cNvSpPr txBox="1"/>
          <p:nvPr/>
        </p:nvSpPr>
        <p:spPr>
          <a:xfrm>
            <a:off x="548640" y="1737360"/>
            <a:ext cx="11091672" cy="4434840"/>
          </a:xfrm>
          <a:prstGeom prst="rect">
            <a:avLst/>
          </a:prstGeom>
          <a:noFill/>
          <a:ln>
            <a:noFill/>
          </a:ln>
        </p:spPr>
        <p:txBody>
          <a:bodyPr wrap="square" lIns="45720" tIns="45720" rIns="45720" bIns="45720" rtlCol="0" anchor="t">
            <a:noAutofit/>
          </a:bodyPr>
          <a:lstStyle/>
          <a:p>
            <a:pPr marL="342900" indent="-342900" algn="just">
              <a:lnSpc>
                <a:spcPct val="90000"/>
              </a:lnSpc>
              <a:spcBef>
                <a:spcPts val="0"/>
              </a:spcBef>
              <a:spcAft>
                <a:spcPts val="1000"/>
              </a:spcAft>
              <a:buClr>
                <a:srgbClr val="0673BA"/>
              </a:buClr>
              <a:buSzPct val="100000"/>
              <a:buFont typeface="Arial"/>
              <a:buChar char="•"/>
            </a:pPr>
            <a:r>
              <a:rPr lang="es-CO" sz="2200" b="1" dirty="0">
                <a:solidFill>
                  <a:schemeClr val="tx1"/>
                </a:solidFill>
                <a:latin typeface="Noto Sans"/>
                <a:ea typeface="Noto Sans"/>
                <a:cs typeface="Noto Sans"/>
                <a:sym typeface="Noto Sans"/>
              </a:rPr>
              <a:t>sex no muestra asociación.</a:t>
            </a:r>
            <a:r>
              <a:rPr lang="es-CO" sz="2200" b="0" dirty="0">
                <a:solidFill>
                  <a:schemeClr val="tx1"/>
                </a:solidFill>
                <a:latin typeface="Noto Sans"/>
                <a:ea typeface="Noto Sans"/>
                <a:cs typeface="Noto Sans"/>
                <a:sym typeface="Noto Sans"/>
              </a:rPr>
              <a:t> Su odds ratio (1.14) es cercano a 1, su intervalo de confianza (0.73 a 1.78) incluye el 1 y su p-valor (0.554) es alto. Esto significa que los datos no muestran evidencia de una asociación, no que se haya descartado, ya que con solo 97 fallecidos es difícil detectar efectos moderados.</a:t>
            </a:r>
          </a:p>
          <a:p>
            <a:pPr marL="342900" indent="-342900" algn="just">
              <a:lnSpc>
                <a:spcPct val="90000"/>
              </a:lnSpc>
              <a:spcBef>
                <a:spcPts val="0"/>
              </a:spcBef>
              <a:spcAft>
                <a:spcPts val="0"/>
              </a:spcAft>
              <a:buClr>
                <a:srgbClr val="0673BA"/>
              </a:buClr>
              <a:buSzPct val="100000"/>
              <a:buFont typeface="Arial"/>
              <a:buChar char="•"/>
            </a:pPr>
            <a:r>
              <a:rPr lang="es-CO" sz="2200" b="1" dirty="0">
                <a:solidFill>
                  <a:schemeClr val="tx1"/>
                </a:solidFill>
                <a:latin typeface="Noto Sans"/>
                <a:ea typeface="Noto Sans"/>
                <a:cs typeface="Noto Sans"/>
                <a:sym typeface="Noto Sans"/>
              </a:rPr>
              <a:t>Los resultados presentados son asociaciones </a:t>
            </a:r>
            <a:r>
              <a:rPr lang="es-CO" sz="2200" b="1" dirty="0" err="1">
                <a:solidFill>
                  <a:schemeClr val="tx1"/>
                </a:solidFill>
                <a:latin typeface="Noto Sans"/>
                <a:ea typeface="Noto Sans"/>
                <a:cs typeface="Noto Sans"/>
                <a:sym typeface="Noto Sans"/>
              </a:rPr>
              <a:t>univariadas</a:t>
            </a:r>
            <a:r>
              <a:rPr lang="es-CO" sz="2200" b="1" dirty="0">
                <a:solidFill>
                  <a:schemeClr val="tx1"/>
                </a:solidFill>
                <a:latin typeface="Noto Sans"/>
                <a:ea typeface="Noto Sans"/>
                <a:cs typeface="Noto Sans"/>
                <a:sym typeface="Noto Sans"/>
              </a:rPr>
              <a:t>.</a:t>
            </a:r>
            <a:r>
              <a:rPr lang="es-CO" sz="2200" b="0" dirty="0">
                <a:solidFill>
                  <a:schemeClr val="tx1"/>
                </a:solidFill>
                <a:latin typeface="Noto Sans"/>
                <a:ea typeface="Noto Sans"/>
                <a:cs typeface="Noto Sans"/>
                <a:sym typeface="Noto Sans"/>
              </a:rPr>
              <a:t> Cada odds ratio se estima sin tener en cuenta las demás variables, por lo que parte de una asociación puede venir de variables relacionadas que suelen aparecer juntas (por ejemplo entre síntomas que pueden estar relacionados).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5. Enfoque federado</a:t>
            </a:r>
            <a:endParaRPr lang="es-CO" sz="3600" dirty="0"/>
          </a:p>
        </p:txBody>
      </p:sp>
      <p:sp>
        <p:nvSpPr>
          <p:cNvPr id="3" name="TextBox 3"/>
          <p:cNvSpPr txBox="1"/>
          <p:nvPr/>
        </p:nvSpPr>
        <p:spPr>
          <a:xfrm>
            <a:off x="548640" y="1634124"/>
            <a:ext cx="11091672" cy="91440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0"/>
              </a:spcAft>
              <a:buNone/>
            </a:pPr>
            <a:r>
              <a:rPr lang="es-CO" sz="2000" b="0" dirty="0">
                <a:solidFill>
                  <a:schemeClr val="tx1"/>
                </a:solidFill>
                <a:latin typeface="Noto Sans"/>
                <a:ea typeface="Noto Sans"/>
                <a:cs typeface="Noto Sans"/>
                <a:sym typeface="Noto Sans"/>
              </a:rPr>
              <a:t>El objetivo de esta sección es calcular los odds ratios dentro de cada institución y luego combinarlos sin compartir registros individuales.</a:t>
            </a:r>
          </a:p>
        </p:txBody>
      </p:sp>
      <p:sp>
        <p:nvSpPr>
          <p:cNvPr id="4" name="Server zone 3"/>
          <p:cNvSpPr/>
          <p:nvPr/>
        </p:nvSpPr>
        <p:spPr>
          <a:xfrm>
            <a:off x="1463040" y="2342038"/>
            <a:ext cx="6537960" cy="960120"/>
          </a:xfrm>
          <a:prstGeom prst="roundRect">
            <a:avLst>
              <a:gd name="adj" fmla="val 8000"/>
            </a:avLst>
          </a:prstGeom>
          <a:solidFill>
            <a:srgbClr val="E2F0D9"/>
          </a:solidFill>
          <a:ln w="19050">
            <a:solidFill>
              <a:srgbClr val="548235"/>
            </a:solidFill>
          </a:ln>
        </p:spPr>
        <p:txBody>
          <a:bodyPr wrap="square" lIns="91440" tIns="91440" rIns="91440" bIns="91440" rtlCol="0" anchor="t">
            <a:noAutofit/>
          </a:bodyPr>
          <a:lstStyle/>
          <a:p>
            <a:pPr marL="0" indent="0" algn="l">
              <a:lnSpc>
                <a:spcPct val="100000"/>
              </a:lnSpc>
              <a:spcBef>
                <a:spcPts val="0"/>
              </a:spcBef>
              <a:spcAft>
                <a:spcPts val="0"/>
              </a:spcAft>
              <a:buNone/>
            </a:pPr>
            <a:endParaRPr lang="es-CO" sz="2000" dirty="0"/>
          </a:p>
        </p:txBody>
      </p:sp>
      <p:pic>
        <p:nvPicPr>
          <p:cNvPr id="5" name="Icon 4" descr="Servido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600200" y="2570638"/>
            <a:ext cx="502920" cy="502920"/>
          </a:xfrm>
          <a:prstGeom prst="rect">
            <a:avLst/>
          </a:prstGeom>
        </p:spPr>
      </p:pic>
      <p:sp>
        <p:nvSpPr>
          <p:cNvPr id="6" name="Label 5"/>
          <p:cNvSpPr txBox="1"/>
          <p:nvPr/>
        </p:nvSpPr>
        <p:spPr>
          <a:xfrm>
            <a:off x="2148840" y="2570638"/>
            <a:ext cx="2286000" cy="502920"/>
          </a:xfrm>
          <a:prstGeom prst="rect">
            <a:avLst/>
          </a:prstGeom>
          <a:noFill/>
          <a:ln>
            <a:noFill/>
          </a:ln>
        </p:spPr>
        <p:txBody>
          <a:bodyPr wrap="square" lIns="27432" tIns="27432" rIns="27432" bIns="27432" rtlCol="0" anchor="ctr">
            <a:noAutofit/>
          </a:bodyPr>
          <a:lstStyle/>
          <a:p>
            <a:pPr marL="0" indent="0" algn="l">
              <a:lnSpc>
                <a:spcPct val="90000"/>
              </a:lnSpc>
              <a:spcBef>
                <a:spcPts val="0"/>
              </a:spcBef>
              <a:spcAft>
                <a:spcPts val="0"/>
              </a:spcAft>
              <a:buNone/>
            </a:pPr>
            <a:r>
              <a:rPr lang="es-CO" sz="2000" b="1" dirty="0">
                <a:solidFill>
                  <a:srgbClr val="548235"/>
                </a:solidFill>
                <a:latin typeface="Noto Sans"/>
                <a:ea typeface="Noto Sans"/>
                <a:cs typeface="Noto Sans"/>
                <a:sym typeface="Noto Sans"/>
              </a:rPr>
              <a:t>Servidor central</a:t>
            </a:r>
            <a:endParaRPr lang="es-CO" sz="2000" dirty="0"/>
          </a:p>
        </p:txBody>
      </p:sp>
      <p:sp>
        <p:nvSpPr>
          <p:cNvPr id="7" name="Step 6"/>
          <p:cNvSpPr/>
          <p:nvPr/>
        </p:nvSpPr>
        <p:spPr>
          <a:xfrm>
            <a:off x="4526280" y="2502058"/>
            <a:ext cx="3291840" cy="640080"/>
          </a:xfrm>
          <a:prstGeom prst="roundRect">
            <a:avLst>
              <a:gd name="adj" fmla="val 12000"/>
            </a:avLst>
          </a:prstGeom>
          <a:solidFill>
            <a:srgbClr val="0673BA"/>
          </a:solidFill>
          <a:ln>
            <a:noFill/>
          </a:ln>
        </p:spPr>
        <p:txBody>
          <a:bodyPr wrap="square" lIns="54864" tIns="54864" rIns="54864" bIns="54864" rtlCol="0" anchor="ctr">
            <a:noAutofit/>
          </a:bodyPr>
          <a:lstStyle/>
          <a:p>
            <a:pPr marL="0" indent="0" algn="ctr">
              <a:lnSpc>
                <a:spcPct val="90000"/>
              </a:lnSpc>
              <a:spcBef>
                <a:spcPts val="0"/>
              </a:spcBef>
              <a:spcAft>
                <a:spcPts val="0"/>
              </a:spcAft>
              <a:buNone/>
            </a:pPr>
            <a:r>
              <a:rPr lang="es-CO" sz="1800" b="0" dirty="0">
                <a:solidFill>
                  <a:srgbClr val="FFFFFF"/>
                </a:solidFill>
                <a:latin typeface="Noto Sans"/>
                <a:ea typeface="Noto Sans"/>
                <a:cs typeface="Noto Sans"/>
                <a:sym typeface="Noto Sans"/>
              </a:rPr>
              <a:t>Cálculos agregados</a:t>
            </a:r>
            <a:endParaRPr lang="es-CO" sz="2000" dirty="0"/>
          </a:p>
        </p:txBody>
      </p:sp>
      <p:cxnSp>
        <p:nvCxnSpPr>
          <p:cNvPr id="8" name="Arrow 7"/>
          <p:cNvCxnSpPr/>
          <p:nvPr/>
        </p:nvCxnSpPr>
        <p:spPr>
          <a:xfrm>
            <a:off x="7818120" y="2822098"/>
            <a:ext cx="411480" cy="0"/>
          </a:xfrm>
          <a:prstGeom prst="line">
            <a:avLst/>
          </a:prstGeom>
          <a:ln w="25400">
            <a:solidFill>
              <a:srgbClr val="595959"/>
            </a:solidFill>
            <a:tailEnd type="triangle" w="med" len="med"/>
          </a:ln>
        </p:spPr>
      </p:cxnSp>
      <p:sp>
        <p:nvSpPr>
          <p:cNvPr id="9" name="TextBox 8"/>
          <p:cNvSpPr txBox="1"/>
          <p:nvPr/>
        </p:nvSpPr>
        <p:spPr>
          <a:xfrm>
            <a:off x="8275320" y="2342038"/>
            <a:ext cx="3364992" cy="960120"/>
          </a:xfrm>
          <a:prstGeom prst="rect">
            <a:avLst/>
          </a:prstGeom>
          <a:noFill/>
          <a:ln>
            <a:noFill/>
          </a:ln>
        </p:spPr>
        <p:txBody>
          <a:bodyPr wrap="square" lIns="45720" tIns="45720" rIns="45720" bIns="45720" rtlCol="0" anchor="ctr">
            <a:noAutofit/>
          </a:bodyPr>
          <a:lstStyle/>
          <a:p>
            <a:pPr marL="0" indent="0" algn="l">
              <a:lnSpc>
                <a:spcPct val="90000"/>
              </a:lnSpc>
              <a:spcBef>
                <a:spcPts val="0"/>
              </a:spcBef>
              <a:spcAft>
                <a:spcPts val="0"/>
              </a:spcAft>
              <a:buNone/>
            </a:pPr>
            <a:r>
              <a:rPr lang="es-CO" sz="2000" b="0" dirty="0">
                <a:solidFill>
                  <a:srgbClr val="0E2841"/>
                </a:solidFill>
                <a:latin typeface="Noto Sans"/>
                <a:ea typeface="Noto Sans"/>
                <a:cs typeface="Noto Sans"/>
                <a:sym typeface="Noto Sans"/>
              </a:rPr>
              <a:t>Odds ratios comparables</a:t>
            </a:r>
            <a:endParaRPr lang="es-CO" sz="2000" dirty="0"/>
          </a:p>
        </p:txBody>
      </p:sp>
      <p:sp>
        <p:nvSpPr>
          <p:cNvPr id="10" name="Institution zone 9"/>
          <p:cNvSpPr/>
          <p:nvPr/>
        </p:nvSpPr>
        <p:spPr>
          <a:xfrm>
            <a:off x="548640" y="3940759"/>
            <a:ext cx="2011680" cy="2342033"/>
          </a:xfrm>
          <a:prstGeom prst="roundRect">
            <a:avLst>
              <a:gd name="adj" fmla="val 8000"/>
            </a:avLst>
          </a:prstGeom>
          <a:solidFill>
            <a:srgbClr val="FBE5D6"/>
          </a:solidFill>
          <a:ln w="19050">
            <a:solidFill>
              <a:srgbClr val="C55A11"/>
            </a:solidFill>
          </a:ln>
        </p:spPr>
        <p:txBody>
          <a:bodyPr wrap="square" lIns="91440" tIns="91440" rIns="91440" bIns="91440" rtlCol="0" anchor="t">
            <a:noAutofit/>
          </a:bodyPr>
          <a:lstStyle/>
          <a:p>
            <a:pPr marL="0" indent="0" algn="l">
              <a:lnSpc>
                <a:spcPct val="100000"/>
              </a:lnSpc>
              <a:spcBef>
                <a:spcPts val="0"/>
              </a:spcBef>
              <a:spcAft>
                <a:spcPts val="0"/>
              </a:spcAft>
              <a:buNone/>
            </a:pPr>
            <a:endParaRPr lang="es-CO" sz="2000" dirty="0"/>
          </a:p>
        </p:txBody>
      </p:sp>
      <p:pic>
        <p:nvPicPr>
          <p:cNvPr id="11" name="Icon 10" descr="Hospital"/>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5800" y="3986479"/>
            <a:ext cx="411480" cy="411480"/>
          </a:xfrm>
          <a:prstGeom prst="rect">
            <a:avLst/>
          </a:prstGeom>
        </p:spPr>
      </p:pic>
      <p:sp>
        <p:nvSpPr>
          <p:cNvPr id="12" name="Label 11"/>
          <p:cNvSpPr txBox="1"/>
          <p:nvPr/>
        </p:nvSpPr>
        <p:spPr>
          <a:xfrm>
            <a:off x="1170432" y="3986479"/>
            <a:ext cx="1188720" cy="411480"/>
          </a:xfrm>
          <a:prstGeom prst="rect">
            <a:avLst/>
          </a:prstGeom>
          <a:noFill/>
          <a:ln>
            <a:noFill/>
          </a:ln>
        </p:spPr>
        <p:txBody>
          <a:bodyPr wrap="square" lIns="27432" tIns="27432" rIns="27432" bIns="27432" rtlCol="0" anchor="ctr">
            <a:noAutofit/>
          </a:bodyPr>
          <a:lstStyle/>
          <a:p>
            <a:pPr marL="0" indent="0" algn="l">
              <a:lnSpc>
                <a:spcPct val="90000"/>
              </a:lnSpc>
              <a:spcBef>
                <a:spcPts val="0"/>
              </a:spcBef>
              <a:spcAft>
                <a:spcPts val="0"/>
              </a:spcAft>
              <a:buNone/>
            </a:pPr>
            <a:r>
              <a:rPr lang="es-CO" sz="2000" b="1" dirty="0">
                <a:solidFill>
                  <a:srgbClr val="C55A11"/>
                </a:solidFill>
                <a:latin typeface="Noto Sans"/>
                <a:ea typeface="Noto Sans"/>
                <a:cs typeface="Noto Sans"/>
                <a:sym typeface="Noto Sans"/>
              </a:rPr>
              <a:t>H1</a:t>
            </a:r>
            <a:endParaRPr lang="es-CO" sz="2000" dirty="0"/>
          </a:p>
        </p:txBody>
      </p:sp>
      <p:sp>
        <p:nvSpPr>
          <p:cNvPr id="13" name="Step 12"/>
          <p:cNvSpPr/>
          <p:nvPr/>
        </p:nvSpPr>
        <p:spPr>
          <a:xfrm>
            <a:off x="658368" y="4439253"/>
            <a:ext cx="1792224" cy="457200"/>
          </a:xfrm>
          <a:prstGeom prst="roundRect">
            <a:avLst>
              <a:gd name="adj" fmla="val 12000"/>
            </a:avLst>
          </a:prstGeom>
          <a:solidFill>
            <a:srgbClr val="0673BA"/>
          </a:solidFill>
          <a:ln>
            <a:noFill/>
          </a:ln>
        </p:spPr>
        <p:txBody>
          <a:bodyPr wrap="square" lIns="54864" tIns="54864" rIns="54864" bIns="54864" rtlCol="0" anchor="ctr">
            <a:noAutofit/>
          </a:bodyPr>
          <a:lstStyle/>
          <a:p>
            <a:pPr marL="0" indent="0" algn="ctr">
              <a:lnSpc>
                <a:spcPct val="90000"/>
              </a:lnSpc>
              <a:spcBef>
                <a:spcPts val="0"/>
              </a:spcBef>
              <a:spcAft>
                <a:spcPts val="0"/>
              </a:spcAft>
              <a:buNone/>
            </a:pPr>
            <a:r>
              <a:rPr lang="es-CO" sz="1800" b="0" dirty="0">
                <a:solidFill>
                  <a:srgbClr val="FFFFFF"/>
                </a:solidFill>
                <a:latin typeface="Noto Sans"/>
                <a:ea typeface="Noto Sans"/>
                <a:cs typeface="Noto Sans"/>
                <a:sym typeface="Noto Sans"/>
              </a:rPr>
              <a:t>Revisión</a:t>
            </a:r>
            <a:endParaRPr lang="es-CO" sz="2000" dirty="0"/>
          </a:p>
        </p:txBody>
      </p:sp>
      <p:cxnSp>
        <p:nvCxnSpPr>
          <p:cNvPr id="14" name="Arrow 13"/>
          <p:cNvCxnSpPr/>
          <p:nvPr/>
        </p:nvCxnSpPr>
        <p:spPr>
          <a:xfrm>
            <a:off x="1554480" y="4896453"/>
            <a:ext cx="0" cy="137160"/>
          </a:xfrm>
          <a:prstGeom prst="line">
            <a:avLst/>
          </a:prstGeom>
          <a:ln w="25400">
            <a:solidFill>
              <a:srgbClr val="595959"/>
            </a:solidFill>
            <a:headEnd type="triangle" w="med" len="med"/>
          </a:ln>
        </p:spPr>
      </p:cxnSp>
      <p:sp>
        <p:nvSpPr>
          <p:cNvPr id="15" name="Step 14"/>
          <p:cNvSpPr/>
          <p:nvPr/>
        </p:nvSpPr>
        <p:spPr>
          <a:xfrm>
            <a:off x="658368" y="5033613"/>
            <a:ext cx="1792224" cy="457200"/>
          </a:xfrm>
          <a:prstGeom prst="roundRect">
            <a:avLst>
              <a:gd name="adj" fmla="val 12000"/>
            </a:avLst>
          </a:prstGeom>
          <a:solidFill>
            <a:srgbClr val="0673BA"/>
          </a:solidFill>
          <a:ln>
            <a:noFill/>
          </a:ln>
        </p:spPr>
        <p:txBody>
          <a:bodyPr wrap="square" lIns="54864" tIns="54864" rIns="54864" bIns="54864" rtlCol="0" anchor="ctr">
            <a:noAutofit/>
          </a:bodyPr>
          <a:lstStyle/>
          <a:p>
            <a:pPr marL="0" indent="0" algn="ctr">
              <a:lnSpc>
                <a:spcPct val="90000"/>
              </a:lnSpc>
              <a:spcBef>
                <a:spcPts val="0"/>
              </a:spcBef>
              <a:spcAft>
                <a:spcPts val="0"/>
              </a:spcAft>
              <a:buNone/>
            </a:pPr>
            <a:r>
              <a:rPr lang="es-CO" sz="1800" dirty="0">
                <a:solidFill>
                  <a:srgbClr val="FFFFFF"/>
                </a:solidFill>
                <a:latin typeface="Noto Sans"/>
                <a:ea typeface="Noto Sans"/>
                <a:cs typeface="Noto Sans"/>
                <a:sym typeface="Noto Sans"/>
              </a:rPr>
              <a:t>OR </a:t>
            </a:r>
            <a:r>
              <a:rPr lang="es-CO" sz="1800" b="0" dirty="0">
                <a:solidFill>
                  <a:srgbClr val="FFFFFF"/>
                </a:solidFill>
                <a:latin typeface="Noto Sans"/>
                <a:ea typeface="Noto Sans"/>
                <a:cs typeface="Noto Sans"/>
                <a:sym typeface="Noto Sans"/>
              </a:rPr>
              <a:t>locales</a:t>
            </a:r>
            <a:endParaRPr lang="es-CO" sz="2000" dirty="0"/>
          </a:p>
        </p:txBody>
      </p:sp>
      <p:cxnSp>
        <p:nvCxnSpPr>
          <p:cNvPr id="16" name="Arrow 15"/>
          <p:cNvCxnSpPr/>
          <p:nvPr/>
        </p:nvCxnSpPr>
        <p:spPr>
          <a:xfrm>
            <a:off x="1554480" y="5495241"/>
            <a:ext cx="0" cy="118872"/>
          </a:xfrm>
          <a:prstGeom prst="line">
            <a:avLst/>
          </a:prstGeom>
          <a:ln w="25400">
            <a:solidFill>
              <a:srgbClr val="595959"/>
            </a:solidFill>
            <a:headEnd type="triangle" w="med" len="med"/>
          </a:ln>
        </p:spPr>
      </p:cxnSp>
      <p:sp>
        <p:nvSpPr>
          <p:cNvPr id="17" name="Data 16"/>
          <p:cNvSpPr/>
          <p:nvPr/>
        </p:nvSpPr>
        <p:spPr>
          <a:xfrm>
            <a:off x="822960" y="5614113"/>
            <a:ext cx="1463040" cy="521208"/>
          </a:xfrm>
          <a:prstGeom prst="can">
            <a:avLst/>
          </a:prstGeom>
          <a:solidFill>
            <a:srgbClr val="FFFFFF"/>
          </a:solidFill>
          <a:ln w="19050">
            <a:solidFill>
              <a:srgbClr val="C55A11"/>
            </a:solidFill>
          </a:ln>
        </p:spPr>
        <p:txBody>
          <a:bodyPr wrap="square" lIns="18288" tIns="18288" rIns="18288" bIns="18288" rtlCol="0" anchor="b">
            <a:noAutofit/>
          </a:bodyPr>
          <a:lstStyle/>
          <a:p>
            <a:pPr marL="0" indent="0" algn="ctr">
              <a:lnSpc>
                <a:spcPct val="100000"/>
              </a:lnSpc>
              <a:spcBef>
                <a:spcPts val="0"/>
              </a:spcBef>
              <a:spcAft>
                <a:spcPts val="0"/>
              </a:spcAft>
              <a:buNone/>
            </a:pPr>
            <a:r>
              <a:rPr lang="es-CO" sz="1800" b="0" dirty="0">
                <a:solidFill>
                  <a:srgbClr val="0E2841"/>
                </a:solidFill>
                <a:latin typeface="Noto Sans"/>
                <a:ea typeface="Noto Sans"/>
                <a:cs typeface="Noto Sans"/>
                <a:sym typeface="Noto Sans"/>
              </a:rPr>
              <a:t>Datos</a:t>
            </a:r>
            <a:endParaRPr lang="es-CO" sz="2000" dirty="0"/>
          </a:p>
        </p:txBody>
      </p:sp>
      <p:sp>
        <p:nvSpPr>
          <p:cNvPr id="18" name="Institution zone 18"/>
          <p:cNvSpPr/>
          <p:nvPr/>
        </p:nvSpPr>
        <p:spPr>
          <a:xfrm>
            <a:off x="2819095" y="3940759"/>
            <a:ext cx="2011680" cy="2342036"/>
          </a:xfrm>
          <a:prstGeom prst="roundRect">
            <a:avLst>
              <a:gd name="adj" fmla="val 8000"/>
            </a:avLst>
          </a:prstGeom>
          <a:solidFill>
            <a:srgbClr val="FBE5D6"/>
          </a:solidFill>
          <a:ln w="19050">
            <a:solidFill>
              <a:srgbClr val="C55A11"/>
            </a:solidFill>
          </a:ln>
        </p:spPr>
        <p:txBody>
          <a:bodyPr wrap="square" lIns="91440" tIns="91440" rIns="91440" bIns="91440" rtlCol="0" anchor="t">
            <a:noAutofit/>
          </a:bodyPr>
          <a:lstStyle/>
          <a:p>
            <a:pPr marL="0" indent="0" algn="l">
              <a:lnSpc>
                <a:spcPct val="100000"/>
              </a:lnSpc>
              <a:spcBef>
                <a:spcPts val="0"/>
              </a:spcBef>
              <a:spcAft>
                <a:spcPts val="0"/>
              </a:spcAft>
              <a:buNone/>
            </a:pPr>
            <a:endParaRPr lang="es-CO" sz="2000" dirty="0"/>
          </a:p>
        </p:txBody>
      </p:sp>
      <p:pic>
        <p:nvPicPr>
          <p:cNvPr id="19" name="Icon 19" descr="Hospital"/>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56255" y="3986479"/>
            <a:ext cx="411480" cy="411480"/>
          </a:xfrm>
          <a:prstGeom prst="rect">
            <a:avLst/>
          </a:prstGeom>
        </p:spPr>
      </p:pic>
      <p:sp>
        <p:nvSpPr>
          <p:cNvPr id="20" name="Label 20"/>
          <p:cNvSpPr txBox="1"/>
          <p:nvPr/>
        </p:nvSpPr>
        <p:spPr>
          <a:xfrm>
            <a:off x="3440887" y="3986479"/>
            <a:ext cx="1188720" cy="411480"/>
          </a:xfrm>
          <a:prstGeom prst="rect">
            <a:avLst/>
          </a:prstGeom>
          <a:noFill/>
          <a:ln>
            <a:noFill/>
          </a:ln>
        </p:spPr>
        <p:txBody>
          <a:bodyPr wrap="square" lIns="27432" tIns="27432" rIns="27432" bIns="27432" rtlCol="0" anchor="ctr">
            <a:noAutofit/>
          </a:bodyPr>
          <a:lstStyle/>
          <a:p>
            <a:pPr marL="0" indent="0" algn="l">
              <a:lnSpc>
                <a:spcPct val="90000"/>
              </a:lnSpc>
              <a:spcBef>
                <a:spcPts val="0"/>
              </a:spcBef>
              <a:spcAft>
                <a:spcPts val="0"/>
              </a:spcAft>
              <a:buNone/>
            </a:pPr>
            <a:r>
              <a:rPr lang="es-CO" sz="2000" b="1" dirty="0">
                <a:solidFill>
                  <a:srgbClr val="C55A11"/>
                </a:solidFill>
                <a:latin typeface="Noto Sans"/>
                <a:ea typeface="Noto Sans"/>
                <a:cs typeface="Noto Sans"/>
                <a:sym typeface="Noto Sans"/>
              </a:rPr>
              <a:t>H2</a:t>
            </a:r>
            <a:endParaRPr lang="es-CO" sz="2000" dirty="0"/>
          </a:p>
        </p:txBody>
      </p:sp>
      <p:sp>
        <p:nvSpPr>
          <p:cNvPr id="21" name="Step 21"/>
          <p:cNvSpPr/>
          <p:nvPr/>
        </p:nvSpPr>
        <p:spPr>
          <a:xfrm>
            <a:off x="2928823" y="4439251"/>
            <a:ext cx="1792224" cy="457201"/>
          </a:xfrm>
          <a:prstGeom prst="roundRect">
            <a:avLst>
              <a:gd name="adj" fmla="val 12000"/>
            </a:avLst>
          </a:prstGeom>
          <a:solidFill>
            <a:srgbClr val="0673BA"/>
          </a:solidFill>
          <a:ln>
            <a:noFill/>
          </a:ln>
        </p:spPr>
        <p:txBody>
          <a:bodyPr wrap="square" lIns="54864" tIns="54864" rIns="54864" bIns="54864" rtlCol="0" anchor="ctr">
            <a:noAutofit/>
          </a:bodyPr>
          <a:lstStyle/>
          <a:p>
            <a:pPr marL="0" indent="0" algn="ctr">
              <a:lnSpc>
                <a:spcPct val="90000"/>
              </a:lnSpc>
              <a:spcBef>
                <a:spcPts val="0"/>
              </a:spcBef>
              <a:spcAft>
                <a:spcPts val="0"/>
              </a:spcAft>
              <a:buNone/>
            </a:pPr>
            <a:r>
              <a:rPr lang="es-CO" sz="1800" b="0" dirty="0">
                <a:solidFill>
                  <a:srgbClr val="FFFFFF"/>
                </a:solidFill>
                <a:latin typeface="Noto Sans"/>
                <a:ea typeface="Noto Sans"/>
                <a:cs typeface="Noto Sans"/>
                <a:sym typeface="Noto Sans"/>
              </a:rPr>
              <a:t>Revisión</a:t>
            </a:r>
            <a:endParaRPr lang="es-CO" sz="2000" dirty="0"/>
          </a:p>
        </p:txBody>
      </p:sp>
      <p:cxnSp>
        <p:nvCxnSpPr>
          <p:cNvPr id="22" name="Arrow 22"/>
          <p:cNvCxnSpPr/>
          <p:nvPr/>
        </p:nvCxnSpPr>
        <p:spPr>
          <a:xfrm>
            <a:off x="3824935" y="4896453"/>
            <a:ext cx="0" cy="137160"/>
          </a:xfrm>
          <a:prstGeom prst="line">
            <a:avLst/>
          </a:prstGeom>
          <a:ln w="25400">
            <a:solidFill>
              <a:srgbClr val="595959"/>
            </a:solidFill>
            <a:headEnd type="triangle" w="med" len="med"/>
          </a:ln>
        </p:spPr>
      </p:cxnSp>
      <p:sp>
        <p:nvSpPr>
          <p:cNvPr id="23" name="Step 23"/>
          <p:cNvSpPr/>
          <p:nvPr/>
        </p:nvSpPr>
        <p:spPr>
          <a:xfrm>
            <a:off x="2928823" y="5033613"/>
            <a:ext cx="1792224" cy="457200"/>
          </a:xfrm>
          <a:prstGeom prst="roundRect">
            <a:avLst>
              <a:gd name="adj" fmla="val 12000"/>
            </a:avLst>
          </a:prstGeom>
          <a:solidFill>
            <a:srgbClr val="0673BA"/>
          </a:solidFill>
          <a:ln>
            <a:noFill/>
          </a:ln>
        </p:spPr>
        <p:txBody>
          <a:bodyPr wrap="square" lIns="54864" tIns="54864" rIns="54864" bIns="54864" rtlCol="0" anchor="ctr">
            <a:noAutofit/>
          </a:bodyPr>
          <a:lstStyle/>
          <a:p>
            <a:pPr algn="ctr">
              <a:lnSpc>
                <a:spcPct val="90000"/>
              </a:lnSpc>
            </a:pPr>
            <a:r>
              <a:rPr lang="es-CO" sz="1800" dirty="0">
                <a:solidFill>
                  <a:srgbClr val="FFFFFF"/>
                </a:solidFill>
                <a:latin typeface="Noto Sans"/>
                <a:ea typeface="Noto Sans"/>
                <a:cs typeface="Noto Sans"/>
                <a:sym typeface="Noto Sans"/>
              </a:rPr>
              <a:t>OR locales</a:t>
            </a:r>
            <a:endParaRPr lang="es-CO" sz="2000" dirty="0"/>
          </a:p>
        </p:txBody>
      </p:sp>
      <p:cxnSp>
        <p:nvCxnSpPr>
          <p:cNvPr id="24" name="Arrow 24"/>
          <p:cNvCxnSpPr/>
          <p:nvPr/>
        </p:nvCxnSpPr>
        <p:spPr>
          <a:xfrm>
            <a:off x="3824935" y="5495241"/>
            <a:ext cx="0" cy="118872"/>
          </a:xfrm>
          <a:prstGeom prst="line">
            <a:avLst/>
          </a:prstGeom>
          <a:ln w="25400">
            <a:solidFill>
              <a:srgbClr val="595959"/>
            </a:solidFill>
            <a:headEnd type="triangle" w="med" len="med"/>
          </a:ln>
        </p:spPr>
      </p:cxnSp>
      <p:sp>
        <p:nvSpPr>
          <p:cNvPr id="25" name="Data 25"/>
          <p:cNvSpPr/>
          <p:nvPr/>
        </p:nvSpPr>
        <p:spPr>
          <a:xfrm>
            <a:off x="3093415" y="5614113"/>
            <a:ext cx="1463040" cy="521208"/>
          </a:xfrm>
          <a:prstGeom prst="can">
            <a:avLst/>
          </a:prstGeom>
          <a:solidFill>
            <a:srgbClr val="FFFFFF"/>
          </a:solidFill>
          <a:ln w="19050">
            <a:solidFill>
              <a:srgbClr val="C55A11"/>
            </a:solidFill>
          </a:ln>
        </p:spPr>
        <p:txBody>
          <a:bodyPr wrap="square" lIns="18288" tIns="18288" rIns="18288" bIns="18288" rtlCol="0" anchor="b">
            <a:noAutofit/>
          </a:bodyPr>
          <a:lstStyle/>
          <a:p>
            <a:pPr marL="0" indent="0" algn="ctr">
              <a:lnSpc>
                <a:spcPct val="100000"/>
              </a:lnSpc>
              <a:spcBef>
                <a:spcPts val="0"/>
              </a:spcBef>
              <a:spcAft>
                <a:spcPts val="0"/>
              </a:spcAft>
              <a:buNone/>
            </a:pPr>
            <a:r>
              <a:rPr lang="es-CO" sz="1800" b="0" dirty="0">
                <a:solidFill>
                  <a:srgbClr val="0E2841"/>
                </a:solidFill>
                <a:latin typeface="Noto Sans"/>
                <a:ea typeface="Noto Sans"/>
                <a:cs typeface="Noto Sans"/>
                <a:sym typeface="Noto Sans"/>
              </a:rPr>
              <a:t>Datos</a:t>
            </a:r>
            <a:endParaRPr lang="es-CO" sz="2000" dirty="0"/>
          </a:p>
        </p:txBody>
      </p:sp>
      <p:sp>
        <p:nvSpPr>
          <p:cNvPr id="27" name="Institution zone 27"/>
          <p:cNvSpPr/>
          <p:nvPr/>
        </p:nvSpPr>
        <p:spPr>
          <a:xfrm>
            <a:off x="5089550" y="3940759"/>
            <a:ext cx="2011680" cy="2342038"/>
          </a:xfrm>
          <a:prstGeom prst="roundRect">
            <a:avLst>
              <a:gd name="adj" fmla="val 8000"/>
            </a:avLst>
          </a:prstGeom>
          <a:solidFill>
            <a:srgbClr val="FBE5D6"/>
          </a:solidFill>
          <a:ln w="19050">
            <a:solidFill>
              <a:srgbClr val="C55A11"/>
            </a:solidFill>
          </a:ln>
        </p:spPr>
        <p:txBody>
          <a:bodyPr wrap="square" lIns="91440" tIns="91440" rIns="91440" bIns="91440" rtlCol="0" anchor="t">
            <a:noAutofit/>
          </a:bodyPr>
          <a:lstStyle/>
          <a:p>
            <a:pPr marL="0" indent="0" algn="l">
              <a:lnSpc>
                <a:spcPct val="100000"/>
              </a:lnSpc>
              <a:spcBef>
                <a:spcPts val="0"/>
              </a:spcBef>
              <a:spcAft>
                <a:spcPts val="0"/>
              </a:spcAft>
              <a:buNone/>
            </a:pPr>
            <a:endParaRPr lang="es-CO" sz="2000" dirty="0"/>
          </a:p>
        </p:txBody>
      </p:sp>
      <p:pic>
        <p:nvPicPr>
          <p:cNvPr id="28" name="Icon 28" descr="Hospital"/>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26710" y="3986479"/>
            <a:ext cx="411480" cy="411480"/>
          </a:xfrm>
          <a:prstGeom prst="rect">
            <a:avLst/>
          </a:prstGeom>
        </p:spPr>
      </p:pic>
      <p:sp>
        <p:nvSpPr>
          <p:cNvPr id="29" name="Label 29"/>
          <p:cNvSpPr txBox="1"/>
          <p:nvPr/>
        </p:nvSpPr>
        <p:spPr>
          <a:xfrm>
            <a:off x="5711342" y="3986479"/>
            <a:ext cx="1188720" cy="411480"/>
          </a:xfrm>
          <a:prstGeom prst="rect">
            <a:avLst/>
          </a:prstGeom>
          <a:noFill/>
          <a:ln>
            <a:noFill/>
          </a:ln>
        </p:spPr>
        <p:txBody>
          <a:bodyPr wrap="square" lIns="27432" tIns="27432" rIns="27432" bIns="27432" rtlCol="0" anchor="ctr">
            <a:noAutofit/>
          </a:bodyPr>
          <a:lstStyle/>
          <a:p>
            <a:pPr marL="0" indent="0" algn="l">
              <a:lnSpc>
                <a:spcPct val="90000"/>
              </a:lnSpc>
              <a:spcBef>
                <a:spcPts val="0"/>
              </a:spcBef>
              <a:spcAft>
                <a:spcPts val="0"/>
              </a:spcAft>
              <a:buNone/>
            </a:pPr>
            <a:r>
              <a:rPr lang="es-CO" sz="2000" b="1" dirty="0">
                <a:solidFill>
                  <a:srgbClr val="C55A11"/>
                </a:solidFill>
                <a:latin typeface="Noto Sans"/>
                <a:ea typeface="Noto Sans"/>
                <a:cs typeface="Noto Sans"/>
                <a:sym typeface="Noto Sans"/>
              </a:rPr>
              <a:t>H3</a:t>
            </a:r>
            <a:endParaRPr lang="es-CO" sz="2000" dirty="0"/>
          </a:p>
        </p:txBody>
      </p:sp>
      <p:sp>
        <p:nvSpPr>
          <p:cNvPr id="30" name="Step 30"/>
          <p:cNvSpPr/>
          <p:nvPr/>
        </p:nvSpPr>
        <p:spPr>
          <a:xfrm>
            <a:off x="5199278" y="4439251"/>
            <a:ext cx="1792224" cy="457202"/>
          </a:xfrm>
          <a:prstGeom prst="roundRect">
            <a:avLst>
              <a:gd name="adj" fmla="val 12000"/>
            </a:avLst>
          </a:prstGeom>
          <a:solidFill>
            <a:srgbClr val="0673BA"/>
          </a:solidFill>
          <a:ln>
            <a:noFill/>
          </a:ln>
        </p:spPr>
        <p:txBody>
          <a:bodyPr wrap="square" lIns="54864" tIns="54864" rIns="54864" bIns="54864" rtlCol="0" anchor="ctr">
            <a:noAutofit/>
          </a:bodyPr>
          <a:lstStyle/>
          <a:p>
            <a:pPr marL="0" indent="0" algn="ctr">
              <a:lnSpc>
                <a:spcPct val="90000"/>
              </a:lnSpc>
              <a:spcBef>
                <a:spcPts val="0"/>
              </a:spcBef>
              <a:spcAft>
                <a:spcPts val="0"/>
              </a:spcAft>
              <a:buNone/>
            </a:pPr>
            <a:r>
              <a:rPr lang="es-CO" sz="1800" b="0" dirty="0">
                <a:solidFill>
                  <a:srgbClr val="FFFFFF"/>
                </a:solidFill>
                <a:latin typeface="Noto Sans"/>
                <a:ea typeface="Noto Sans"/>
                <a:cs typeface="Noto Sans"/>
                <a:sym typeface="Noto Sans"/>
              </a:rPr>
              <a:t>Revisión</a:t>
            </a:r>
            <a:endParaRPr lang="es-CO" sz="2000" dirty="0"/>
          </a:p>
        </p:txBody>
      </p:sp>
      <p:cxnSp>
        <p:nvCxnSpPr>
          <p:cNvPr id="31" name="Arrow 31"/>
          <p:cNvCxnSpPr/>
          <p:nvPr/>
        </p:nvCxnSpPr>
        <p:spPr>
          <a:xfrm>
            <a:off x="6095390" y="4896453"/>
            <a:ext cx="0" cy="137160"/>
          </a:xfrm>
          <a:prstGeom prst="line">
            <a:avLst/>
          </a:prstGeom>
          <a:ln w="25400">
            <a:solidFill>
              <a:srgbClr val="595959"/>
            </a:solidFill>
            <a:headEnd type="triangle" w="med" len="med"/>
          </a:ln>
        </p:spPr>
      </p:cxnSp>
      <p:sp>
        <p:nvSpPr>
          <p:cNvPr id="32" name="Step 32"/>
          <p:cNvSpPr/>
          <p:nvPr/>
        </p:nvSpPr>
        <p:spPr>
          <a:xfrm>
            <a:off x="5199278" y="5033613"/>
            <a:ext cx="1792224" cy="457200"/>
          </a:xfrm>
          <a:prstGeom prst="roundRect">
            <a:avLst>
              <a:gd name="adj" fmla="val 12000"/>
            </a:avLst>
          </a:prstGeom>
          <a:solidFill>
            <a:srgbClr val="0673BA"/>
          </a:solidFill>
          <a:ln>
            <a:noFill/>
          </a:ln>
        </p:spPr>
        <p:txBody>
          <a:bodyPr wrap="square" lIns="54864" tIns="54864" rIns="54864" bIns="54864" rtlCol="0" anchor="ctr">
            <a:noAutofit/>
          </a:bodyPr>
          <a:lstStyle/>
          <a:p>
            <a:pPr algn="ctr">
              <a:lnSpc>
                <a:spcPct val="90000"/>
              </a:lnSpc>
            </a:pPr>
            <a:r>
              <a:rPr lang="es-CO" sz="1800" dirty="0">
                <a:solidFill>
                  <a:srgbClr val="FFFFFF"/>
                </a:solidFill>
                <a:latin typeface="Noto Sans"/>
                <a:ea typeface="Noto Sans"/>
                <a:cs typeface="Noto Sans"/>
                <a:sym typeface="Noto Sans"/>
              </a:rPr>
              <a:t>OR locales</a:t>
            </a:r>
            <a:endParaRPr lang="es-CO" sz="2000" dirty="0"/>
          </a:p>
        </p:txBody>
      </p:sp>
      <p:cxnSp>
        <p:nvCxnSpPr>
          <p:cNvPr id="33" name="Arrow 33"/>
          <p:cNvCxnSpPr/>
          <p:nvPr/>
        </p:nvCxnSpPr>
        <p:spPr>
          <a:xfrm>
            <a:off x="6095390" y="5495241"/>
            <a:ext cx="0" cy="118872"/>
          </a:xfrm>
          <a:prstGeom prst="line">
            <a:avLst/>
          </a:prstGeom>
          <a:ln w="25400">
            <a:solidFill>
              <a:srgbClr val="595959"/>
            </a:solidFill>
            <a:headEnd type="triangle" w="med" len="med"/>
          </a:ln>
        </p:spPr>
      </p:cxnSp>
      <p:sp>
        <p:nvSpPr>
          <p:cNvPr id="34" name="Data 34"/>
          <p:cNvSpPr/>
          <p:nvPr/>
        </p:nvSpPr>
        <p:spPr>
          <a:xfrm>
            <a:off x="5363870" y="5614113"/>
            <a:ext cx="1463040" cy="521208"/>
          </a:xfrm>
          <a:prstGeom prst="can">
            <a:avLst/>
          </a:prstGeom>
          <a:solidFill>
            <a:srgbClr val="FFFFFF"/>
          </a:solidFill>
          <a:ln w="19050">
            <a:solidFill>
              <a:srgbClr val="C55A11"/>
            </a:solidFill>
          </a:ln>
        </p:spPr>
        <p:txBody>
          <a:bodyPr wrap="square" lIns="18288" tIns="18288" rIns="18288" bIns="18288" rtlCol="0" anchor="b">
            <a:noAutofit/>
          </a:bodyPr>
          <a:lstStyle/>
          <a:p>
            <a:pPr marL="0" indent="0" algn="ctr">
              <a:lnSpc>
                <a:spcPct val="100000"/>
              </a:lnSpc>
              <a:spcBef>
                <a:spcPts val="0"/>
              </a:spcBef>
              <a:spcAft>
                <a:spcPts val="0"/>
              </a:spcAft>
              <a:buNone/>
            </a:pPr>
            <a:r>
              <a:rPr lang="es-CO" sz="1800" b="0" dirty="0">
                <a:solidFill>
                  <a:srgbClr val="0E2841"/>
                </a:solidFill>
                <a:latin typeface="Noto Sans"/>
                <a:ea typeface="Noto Sans"/>
                <a:cs typeface="Noto Sans"/>
                <a:sym typeface="Noto Sans"/>
              </a:rPr>
              <a:t>Datos</a:t>
            </a:r>
            <a:endParaRPr lang="es-CO" sz="2000" dirty="0"/>
          </a:p>
        </p:txBody>
      </p:sp>
      <p:sp>
        <p:nvSpPr>
          <p:cNvPr id="36" name="Institution zone 36"/>
          <p:cNvSpPr/>
          <p:nvPr/>
        </p:nvSpPr>
        <p:spPr>
          <a:xfrm>
            <a:off x="7360006" y="3940759"/>
            <a:ext cx="2011680" cy="2342041"/>
          </a:xfrm>
          <a:prstGeom prst="roundRect">
            <a:avLst>
              <a:gd name="adj" fmla="val 8000"/>
            </a:avLst>
          </a:prstGeom>
          <a:solidFill>
            <a:srgbClr val="FBE5D6"/>
          </a:solidFill>
          <a:ln w="19050">
            <a:solidFill>
              <a:srgbClr val="C55A11"/>
            </a:solidFill>
          </a:ln>
        </p:spPr>
        <p:txBody>
          <a:bodyPr wrap="square" lIns="91440" tIns="91440" rIns="91440" bIns="91440" rtlCol="0" anchor="t">
            <a:noAutofit/>
          </a:bodyPr>
          <a:lstStyle/>
          <a:p>
            <a:pPr marL="0" indent="0" algn="l">
              <a:lnSpc>
                <a:spcPct val="100000"/>
              </a:lnSpc>
              <a:spcBef>
                <a:spcPts val="0"/>
              </a:spcBef>
              <a:spcAft>
                <a:spcPts val="0"/>
              </a:spcAft>
              <a:buNone/>
            </a:pPr>
            <a:endParaRPr lang="es-CO" sz="2000" dirty="0"/>
          </a:p>
        </p:txBody>
      </p:sp>
      <p:pic>
        <p:nvPicPr>
          <p:cNvPr id="37" name="Icon 37" descr="Hospital"/>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97166" y="3986479"/>
            <a:ext cx="411480" cy="411480"/>
          </a:xfrm>
          <a:prstGeom prst="rect">
            <a:avLst/>
          </a:prstGeom>
        </p:spPr>
      </p:pic>
      <p:sp>
        <p:nvSpPr>
          <p:cNvPr id="38" name="Label 38"/>
          <p:cNvSpPr txBox="1"/>
          <p:nvPr/>
        </p:nvSpPr>
        <p:spPr>
          <a:xfrm>
            <a:off x="7981798" y="3986479"/>
            <a:ext cx="1188720" cy="411480"/>
          </a:xfrm>
          <a:prstGeom prst="rect">
            <a:avLst/>
          </a:prstGeom>
          <a:noFill/>
          <a:ln>
            <a:noFill/>
          </a:ln>
        </p:spPr>
        <p:txBody>
          <a:bodyPr wrap="square" lIns="27432" tIns="27432" rIns="27432" bIns="27432" rtlCol="0" anchor="ctr">
            <a:noAutofit/>
          </a:bodyPr>
          <a:lstStyle/>
          <a:p>
            <a:pPr marL="0" indent="0" algn="l">
              <a:lnSpc>
                <a:spcPct val="90000"/>
              </a:lnSpc>
              <a:spcBef>
                <a:spcPts val="0"/>
              </a:spcBef>
              <a:spcAft>
                <a:spcPts val="0"/>
              </a:spcAft>
              <a:buNone/>
            </a:pPr>
            <a:r>
              <a:rPr lang="es-CO" sz="2000" b="1" dirty="0">
                <a:solidFill>
                  <a:srgbClr val="C55A11"/>
                </a:solidFill>
                <a:latin typeface="Noto Sans"/>
                <a:ea typeface="Noto Sans"/>
                <a:cs typeface="Noto Sans"/>
                <a:sym typeface="Noto Sans"/>
              </a:rPr>
              <a:t>H4</a:t>
            </a:r>
            <a:endParaRPr lang="es-CO" sz="2000" dirty="0"/>
          </a:p>
        </p:txBody>
      </p:sp>
      <p:sp>
        <p:nvSpPr>
          <p:cNvPr id="39" name="Step 39"/>
          <p:cNvSpPr/>
          <p:nvPr/>
        </p:nvSpPr>
        <p:spPr>
          <a:xfrm>
            <a:off x="7469734" y="4439251"/>
            <a:ext cx="1792224" cy="457202"/>
          </a:xfrm>
          <a:prstGeom prst="roundRect">
            <a:avLst>
              <a:gd name="adj" fmla="val 12000"/>
            </a:avLst>
          </a:prstGeom>
          <a:solidFill>
            <a:srgbClr val="0673BA"/>
          </a:solidFill>
          <a:ln>
            <a:noFill/>
          </a:ln>
        </p:spPr>
        <p:txBody>
          <a:bodyPr wrap="square" lIns="54864" tIns="54864" rIns="54864" bIns="54864" rtlCol="0" anchor="ctr">
            <a:noAutofit/>
          </a:bodyPr>
          <a:lstStyle/>
          <a:p>
            <a:pPr marL="0" indent="0" algn="ctr">
              <a:lnSpc>
                <a:spcPct val="90000"/>
              </a:lnSpc>
              <a:spcBef>
                <a:spcPts val="0"/>
              </a:spcBef>
              <a:spcAft>
                <a:spcPts val="0"/>
              </a:spcAft>
              <a:buNone/>
            </a:pPr>
            <a:r>
              <a:rPr lang="es-CO" sz="1800" b="0" dirty="0">
                <a:solidFill>
                  <a:srgbClr val="FFFFFF"/>
                </a:solidFill>
                <a:latin typeface="Noto Sans"/>
                <a:ea typeface="Noto Sans"/>
                <a:cs typeface="Noto Sans"/>
                <a:sym typeface="Noto Sans"/>
              </a:rPr>
              <a:t>Revisión</a:t>
            </a:r>
            <a:endParaRPr lang="es-CO" sz="2000" dirty="0"/>
          </a:p>
        </p:txBody>
      </p:sp>
      <p:cxnSp>
        <p:nvCxnSpPr>
          <p:cNvPr id="40" name="Arrow 40"/>
          <p:cNvCxnSpPr/>
          <p:nvPr/>
        </p:nvCxnSpPr>
        <p:spPr>
          <a:xfrm>
            <a:off x="8365846" y="4896453"/>
            <a:ext cx="0" cy="137160"/>
          </a:xfrm>
          <a:prstGeom prst="line">
            <a:avLst/>
          </a:prstGeom>
          <a:ln w="25400">
            <a:solidFill>
              <a:srgbClr val="595959"/>
            </a:solidFill>
            <a:headEnd type="triangle" w="med" len="med"/>
          </a:ln>
        </p:spPr>
      </p:cxnSp>
      <p:sp>
        <p:nvSpPr>
          <p:cNvPr id="41" name="Step 41"/>
          <p:cNvSpPr/>
          <p:nvPr/>
        </p:nvSpPr>
        <p:spPr>
          <a:xfrm>
            <a:off x="7469734" y="5033613"/>
            <a:ext cx="1792224" cy="457200"/>
          </a:xfrm>
          <a:prstGeom prst="roundRect">
            <a:avLst>
              <a:gd name="adj" fmla="val 12000"/>
            </a:avLst>
          </a:prstGeom>
          <a:solidFill>
            <a:srgbClr val="0673BA"/>
          </a:solidFill>
          <a:ln>
            <a:noFill/>
          </a:ln>
        </p:spPr>
        <p:txBody>
          <a:bodyPr wrap="square" lIns="54864" tIns="54864" rIns="54864" bIns="54864" rtlCol="0" anchor="ctr">
            <a:noAutofit/>
          </a:bodyPr>
          <a:lstStyle/>
          <a:p>
            <a:pPr algn="ctr">
              <a:lnSpc>
                <a:spcPct val="90000"/>
              </a:lnSpc>
            </a:pPr>
            <a:r>
              <a:rPr lang="es-CO" sz="1800" dirty="0">
                <a:solidFill>
                  <a:srgbClr val="FFFFFF"/>
                </a:solidFill>
                <a:latin typeface="Noto Sans"/>
                <a:ea typeface="Noto Sans"/>
                <a:cs typeface="Noto Sans"/>
                <a:sym typeface="Noto Sans"/>
              </a:rPr>
              <a:t>OR locales</a:t>
            </a:r>
            <a:endParaRPr lang="es-CO" sz="2000" dirty="0"/>
          </a:p>
        </p:txBody>
      </p:sp>
      <p:cxnSp>
        <p:nvCxnSpPr>
          <p:cNvPr id="42" name="Arrow 42"/>
          <p:cNvCxnSpPr/>
          <p:nvPr/>
        </p:nvCxnSpPr>
        <p:spPr>
          <a:xfrm>
            <a:off x="8365846" y="5495241"/>
            <a:ext cx="0" cy="118872"/>
          </a:xfrm>
          <a:prstGeom prst="line">
            <a:avLst/>
          </a:prstGeom>
          <a:ln w="25400">
            <a:solidFill>
              <a:srgbClr val="595959"/>
            </a:solidFill>
            <a:headEnd type="triangle" w="med" len="med"/>
          </a:ln>
        </p:spPr>
      </p:cxnSp>
      <p:sp>
        <p:nvSpPr>
          <p:cNvPr id="43" name="Data 43"/>
          <p:cNvSpPr/>
          <p:nvPr/>
        </p:nvSpPr>
        <p:spPr>
          <a:xfrm>
            <a:off x="7634326" y="5614113"/>
            <a:ext cx="1463040" cy="521208"/>
          </a:xfrm>
          <a:prstGeom prst="can">
            <a:avLst/>
          </a:prstGeom>
          <a:solidFill>
            <a:srgbClr val="FFFFFF"/>
          </a:solidFill>
          <a:ln w="19050">
            <a:solidFill>
              <a:srgbClr val="C55A11"/>
            </a:solidFill>
          </a:ln>
        </p:spPr>
        <p:txBody>
          <a:bodyPr wrap="square" lIns="18288" tIns="18288" rIns="18288" bIns="18288" rtlCol="0" anchor="b">
            <a:noAutofit/>
          </a:bodyPr>
          <a:lstStyle/>
          <a:p>
            <a:pPr marL="0" indent="0" algn="ctr">
              <a:lnSpc>
                <a:spcPct val="100000"/>
              </a:lnSpc>
              <a:spcBef>
                <a:spcPts val="0"/>
              </a:spcBef>
              <a:spcAft>
                <a:spcPts val="0"/>
              </a:spcAft>
              <a:buNone/>
            </a:pPr>
            <a:r>
              <a:rPr lang="es-CO" sz="1800" b="0" dirty="0">
                <a:solidFill>
                  <a:srgbClr val="0E2841"/>
                </a:solidFill>
                <a:latin typeface="Noto Sans"/>
                <a:ea typeface="Noto Sans"/>
                <a:cs typeface="Noto Sans"/>
                <a:sym typeface="Noto Sans"/>
              </a:rPr>
              <a:t>Datos</a:t>
            </a:r>
            <a:endParaRPr lang="es-CO" sz="2000" dirty="0"/>
          </a:p>
        </p:txBody>
      </p:sp>
      <p:sp>
        <p:nvSpPr>
          <p:cNvPr id="45" name="Institution zone 45"/>
          <p:cNvSpPr/>
          <p:nvPr/>
        </p:nvSpPr>
        <p:spPr>
          <a:xfrm>
            <a:off x="9630461" y="3940759"/>
            <a:ext cx="2011680" cy="2342043"/>
          </a:xfrm>
          <a:prstGeom prst="roundRect">
            <a:avLst>
              <a:gd name="adj" fmla="val 8000"/>
            </a:avLst>
          </a:prstGeom>
          <a:solidFill>
            <a:srgbClr val="FBE5D6"/>
          </a:solidFill>
          <a:ln w="19050">
            <a:solidFill>
              <a:srgbClr val="C55A11"/>
            </a:solidFill>
          </a:ln>
        </p:spPr>
        <p:txBody>
          <a:bodyPr wrap="square" lIns="91440" tIns="91440" rIns="91440" bIns="91440" rtlCol="0" anchor="t">
            <a:noAutofit/>
          </a:bodyPr>
          <a:lstStyle/>
          <a:p>
            <a:pPr marL="0" indent="0" algn="l">
              <a:lnSpc>
                <a:spcPct val="100000"/>
              </a:lnSpc>
              <a:spcBef>
                <a:spcPts val="0"/>
              </a:spcBef>
              <a:spcAft>
                <a:spcPts val="0"/>
              </a:spcAft>
              <a:buNone/>
            </a:pPr>
            <a:endParaRPr lang="es-CO" sz="2000" dirty="0"/>
          </a:p>
        </p:txBody>
      </p:sp>
      <p:pic>
        <p:nvPicPr>
          <p:cNvPr id="46" name="Icon 46" descr="Hospital"/>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767621" y="3986479"/>
            <a:ext cx="411480" cy="411480"/>
          </a:xfrm>
          <a:prstGeom prst="rect">
            <a:avLst/>
          </a:prstGeom>
        </p:spPr>
      </p:pic>
      <p:sp>
        <p:nvSpPr>
          <p:cNvPr id="47" name="Label 47"/>
          <p:cNvSpPr txBox="1"/>
          <p:nvPr/>
        </p:nvSpPr>
        <p:spPr>
          <a:xfrm>
            <a:off x="10252253" y="3986479"/>
            <a:ext cx="1188720" cy="411480"/>
          </a:xfrm>
          <a:prstGeom prst="rect">
            <a:avLst/>
          </a:prstGeom>
          <a:noFill/>
          <a:ln>
            <a:noFill/>
          </a:ln>
        </p:spPr>
        <p:txBody>
          <a:bodyPr wrap="square" lIns="27432" tIns="27432" rIns="27432" bIns="27432" rtlCol="0" anchor="ctr">
            <a:noAutofit/>
          </a:bodyPr>
          <a:lstStyle/>
          <a:p>
            <a:pPr marL="0" indent="0" algn="l">
              <a:lnSpc>
                <a:spcPct val="90000"/>
              </a:lnSpc>
              <a:spcBef>
                <a:spcPts val="0"/>
              </a:spcBef>
              <a:spcAft>
                <a:spcPts val="0"/>
              </a:spcAft>
              <a:buNone/>
            </a:pPr>
            <a:r>
              <a:rPr lang="es-CO" sz="2000" b="1" dirty="0">
                <a:solidFill>
                  <a:srgbClr val="C55A11"/>
                </a:solidFill>
                <a:latin typeface="Noto Sans"/>
                <a:ea typeface="Noto Sans"/>
                <a:cs typeface="Noto Sans"/>
                <a:sym typeface="Noto Sans"/>
              </a:rPr>
              <a:t>H5</a:t>
            </a:r>
            <a:endParaRPr lang="es-CO" sz="2000" dirty="0"/>
          </a:p>
        </p:txBody>
      </p:sp>
      <p:sp>
        <p:nvSpPr>
          <p:cNvPr id="48" name="Step 48"/>
          <p:cNvSpPr/>
          <p:nvPr/>
        </p:nvSpPr>
        <p:spPr>
          <a:xfrm>
            <a:off x="9740189" y="4439251"/>
            <a:ext cx="1792224" cy="457202"/>
          </a:xfrm>
          <a:prstGeom prst="roundRect">
            <a:avLst>
              <a:gd name="adj" fmla="val 12000"/>
            </a:avLst>
          </a:prstGeom>
          <a:solidFill>
            <a:srgbClr val="0673BA"/>
          </a:solidFill>
          <a:ln>
            <a:noFill/>
          </a:ln>
        </p:spPr>
        <p:txBody>
          <a:bodyPr wrap="square" lIns="54864" tIns="54864" rIns="54864" bIns="54864" rtlCol="0" anchor="ctr">
            <a:noAutofit/>
          </a:bodyPr>
          <a:lstStyle/>
          <a:p>
            <a:pPr marL="0" indent="0" algn="ctr">
              <a:lnSpc>
                <a:spcPct val="90000"/>
              </a:lnSpc>
              <a:spcBef>
                <a:spcPts val="0"/>
              </a:spcBef>
              <a:spcAft>
                <a:spcPts val="0"/>
              </a:spcAft>
              <a:buNone/>
            </a:pPr>
            <a:r>
              <a:rPr lang="es-CO" sz="1800" b="0" dirty="0">
                <a:solidFill>
                  <a:srgbClr val="FFFFFF"/>
                </a:solidFill>
                <a:latin typeface="Noto Sans"/>
                <a:ea typeface="Noto Sans"/>
                <a:cs typeface="Noto Sans"/>
                <a:sym typeface="Noto Sans"/>
              </a:rPr>
              <a:t>Revisión</a:t>
            </a:r>
            <a:endParaRPr lang="es-CO" sz="2000" dirty="0"/>
          </a:p>
        </p:txBody>
      </p:sp>
      <p:cxnSp>
        <p:nvCxnSpPr>
          <p:cNvPr id="49" name="Arrow 49"/>
          <p:cNvCxnSpPr/>
          <p:nvPr/>
        </p:nvCxnSpPr>
        <p:spPr>
          <a:xfrm>
            <a:off x="10636301" y="4896453"/>
            <a:ext cx="0" cy="137160"/>
          </a:xfrm>
          <a:prstGeom prst="line">
            <a:avLst/>
          </a:prstGeom>
          <a:ln w="25400">
            <a:solidFill>
              <a:srgbClr val="595959"/>
            </a:solidFill>
            <a:headEnd type="triangle" w="med" len="med"/>
          </a:ln>
        </p:spPr>
      </p:cxnSp>
      <p:sp>
        <p:nvSpPr>
          <p:cNvPr id="50" name="Step 50"/>
          <p:cNvSpPr/>
          <p:nvPr/>
        </p:nvSpPr>
        <p:spPr>
          <a:xfrm>
            <a:off x="9740189" y="5033613"/>
            <a:ext cx="1792224" cy="457200"/>
          </a:xfrm>
          <a:prstGeom prst="roundRect">
            <a:avLst>
              <a:gd name="adj" fmla="val 12000"/>
            </a:avLst>
          </a:prstGeom>
          <a:solidFill>
            <a:srgbClr val="0673BA"/>
          </a:solidFill>
          <a:ln>
            <a:noFill/>
          </a:ln>
        </p:spPr>
        <p:txBody>
          <a:bodyPr wrap="square" lIns="54864" tIns="54864" rIns="54864" bIns="54864" rtlCol="0" anchor="ctr">
            <a:noAutofit/>
          </a:bodyPr>
          <a:lstStyle/>
          <a:p>
            <a:pPr algn="ctr">
              <a:lnSpc>
                <a:spcPct val="90000"/>
              </a:lnSpc>
            </a:pPr>
            <a:r>
              <a:rPr lang="es-CO" sz="1800" dirty="0">
                <a:solidFill>
                  <a:srgbClr val="FFFFFF"/>
                </a:solidFill>
                <a:latin typeface="Noto Sans"/>
                <a:ea typeface="Noto Sans"/>
                <a:cs typeface="Noto Sans"/>
                <a:sym typeface="Noto Sans"/>
              </a:rPr>
              <a:t>OR locales</a:t>
            </a:r>
            <a:endParaRPr lang="es-CO" sz="2000" dirty="0"/>
          </a:p>
        </p:txBody>
      </p:sp>
      <p:cxnSp>
        <p:nvCxnSpPr>
          <p:cNvPr id="51" name="Arrow 51"/>
          <p:cNvCxnSpPr/>
          <p:nvPr/>
        </p:nvCxnSpPr>
        <p:spPr>
          <a:xfrm>
            <a:off x="10636301" y="5495241"/>
            <a:ext cx="0" cy="118872"/>
          </a:xfrm>
          <a:prstGeom prst="line">
            <a:avLst/>
          </a:prstGeom>
          <a:ln w="25400">
            <a:solidFill>
              <a:srgbClr val="595959"/>
            </a:solidFill>
            <a:headEnd type="triangle" w="med" len="med"/>
          </a:ln>
        </p:spPr>
      </p:cxnSp>
      <p:sp>
        <p:nvSpPr>
          <p:cNvPr id="52" name="Data 52"/>
          <p:cNvSpPr/>
          <p:nvPr/>
        </p:nvSpPr>
        <p:spPr>
          <a:xfrm>
            <a:off x="9904781" y="5614113"/>
            <a:ext cx="1463040" cy="521208"/>
          </a:xfrm>
          <a:prstGeom prst="can">
            <a:avLst/>
          </a:prstGeom>
          <a:solidFill>
            <a:srgbClr val="FFFFFF"/>
          </a:solidFill>
          <a:ln w="19050">
            <a:solidFill>
              <a:srgbClr val="C55A11"/>
            </a:solidFill>
          </a:ln>
        </p:spPr>
        <p:txBody>
          <a:bodyPr wrap="square" lIns="18288" tIns="18288" rIns="18288" bIns="18288" rtlCol="0" anchor="b">
            <a:noAutofit/>
          </a:bodyPr>
          <a:lstStyle/>
          <a:p>
            <a:pPr marL="0" indent="0" algn="ctr">
              <a:lnSpc>
                <a:spcPct val="100000"/>
              </a:lnSpc>
              <a:spcBef>
                <a:spcPts val="0"/>
              </a:spcBef>
              <a:spcAft>
                <a:spcPts val="0"/>
              </a:spcAft>
              <a:buNone/>
            </a:pPr>
            <a:r>
              <a:rPr lang="es-CO" sz="1800" b="0">
                <a:solidFill>
                  <a:srgbClr val="0E2841"/>
                </a:solidFill>
                <a:latin typeface="Noto Sans"/>
                <a:ea typeface="Noto Sans"/>
                <a:cs typeface="Noto Sans"/>
                <a:sym typeface="Noto Sans"/>
              </a:rPr>
              <a:t>Datos</a:t>
            </a:r>
            <a:endParaRPr lang="es-CO" sz="2000" dirty="0"/>
          </a:p>
        </p:txBody>
      </p:sp>
      <p:sp>
        <p:nvSpPr>
          <p:cNvPr id="56" name="Label 56"/>
          <p:cNvSpPr txBox="1"/>
          <p:nvPr/>
        </p:nvSpPr>
        <p:spPr>
          <a:xfrm>
            <a:off x="6327057" y="3402442"/>
            <a:ext cx="4572000" cy="411480"/>
          </a:xfrm>
          <a:prstGeom prst="rect">
            <a:avLst/>
          </a:prstGeom>
          <a:noFill/>
          <a:ln>
            <a:noFill/>
          </a:ln>
        </p:spPr>
        <p:txBody>
          <a:bodyPr wrap="square" lIns="27432" tIns="27432" rIns="27432" bIns="27432" rtlCol="0" anchor="ctr">
            <a:noAutofit/>
          </a:bodyPr>
          <a:lstStyle/>
          <a:p>
            <a:pPr marL="0" indent="0" algn="l">
              <a:lnSpc>
                <a:spcPct val="90000"/>
              </a:lnSpc>
              <a:spcBef>
                <a:spcPts val="0"/>
              </a:spcBef>
              <a:spcAft>
                <a:spcPts val="0"/>
              </a:spcAft>
              <a:buNone/>
            </a:pPr>
            <a:r>
              <a:rPr lang="es-CO" sz="2000" b="0" dirty="0">
                <a:solidFill>
                  <a:srgbClr val="595959"/>
                </a:solidFill>
                <a:latin typeface="Noto Sans"/>
                <a:ea typeface="Noto Sans"/>
                <a:cs typeface="Noto Sans"/>
                <a:sym typeface="Noto Sans"/>
              </a:rPr>
              <a:t>Solo resultados de los modelos</a:t>
            </a:r>
            <a:endParaRPr lang="es-CO" sz="2000" dirty="0"/>
          </a:p>
        </p:txBody>
      </p:sp>
      <p:cxnSp>
        <p:nvCxnSpPr>
          <p:cNvPr id="58" name="Conector: angular 57">
            <a:extLst>
              <a:ext uri="{FF2B5EF4-FFF2-40B4-BE49-F238E27FC236}">
                <a16:creationId xmlns:a16="http://schemas.microsoft.com/office/drawing/2014/main" id="{D5662A85-FBEF-AD2C-D430-4B84497F0104}"/>
              </a:ext>
            </a:extLst>
          </p:cNvPr>
          <p:cNvCxnSpPr>
            <a:stCxn id="10" idx="0"/>
            <a:endCxn id="7" idx="2"/>
          </p:cNvCxnSpPr>
          <p:nvPr/>
        </p:nvCxnSpPr>
        <p:spPr>
          <a:xfrm rot="5400000" flipH="1" flipV="1">
            <a:off x="3464030" y="1232589"/>
            <a:ext cx="798621" cy="4617720"/>
          </a:xfrm>
          <a:prstGeom prst="bentConnector3">
            <a:avLst>
              <a:gd name="adj1" fmla="val 22299"/>
            </a:avLst>
          </a:prstGeom>
          <a:ln w="25400">
            <a:solidFill>
              <a:srgbClr val="595959"/>
            </a:solidFill>
            <a:headEnd type="none" w="med" len="med"/>
            <a:tailEnd type="triangle" w="med" len="med"/>
          </a:ln>
        </p:spPr>
      </p:cxnSp>
      <p:cxnSp>
        <p:nvCxnSpPr>
          <p:cNvPr id="59" name="Conector: angular 58">
            <a:extLst>
              <a:ext uri="{FF2B5EF4-FFF2-40B4-BE49-F238E27FC236}">
                <a16:creationId xmlns:a16="http://schemas.microsoft.com/office/drawing/2014/main" id="{BBFE7F16-B52B-8A91-158B-5D74DCBEB8F4}"/>
              </a:ext>
            </a:extLst>
          </p:cNvPr>
          <p:cNvCxnSpPr>
            <a:cxnSpLocks/>
            <a:stCxn id="18" idx="0"/>
            <a:endCxn id="7" idx="2"/>
          </p:cNvCxnSpPr>
          <p:nvPr/>
        </p:nvCxnSpPr>
        <p:spPr>
          <a:xfrm rot="5400000" flipH="1" flipV="1">
            <a:off x="4599257" y="2367817"/>
            <a:ext cx="798621" cy="2347265"/>
          </a:xfrm>
          <a:prstGeom prst="bentConnector3">
            <a:avLst>
              <a:gd name="adj1" fmla="val 22299"/>
            </a:avLst>
          </a:prstGeom>
          <a:ln w="25400">
            <a:solidFill>
              <a:srgbClr val="595959"/>
            </a:solidFill>
            <a:headEnd type="none" w="med" len="med"/>
            <a:tailEnd type="triangle" w="med" len="med"/>
          </a:ln>
        </p:spPr>
      </p:cxnSp>
      <p:cxnSp>
        <p:nvCxnSpPr>
          <p:cNvPr id="60" name="Conector: angular 59">
            <a:extLst>
              <a:ext uri="{FF2B5EF4-FFF2-40B4-BE49-F238E27FC236}">
                <a16:creationId xmlns:a16="http://schemas.microsoft.com/office/drawing/2014/main" id="{EA910AA4-05D4-CD9E-2337-650C92160130}"/>
              </a:ext>
            </a:extLst>
          </p:cNvPr>
          <p:cNvCxnSpPr>
            <a:cxnSpLocks/>
            <a:stCxn id="27" idx="0"/>
            <a:endCxn id="7" idx="2"/>
          </p:cNvCxnSpPr>
          <p:nvPr/>
        </p:nvCxnSpPr>
        <p:spPr>
          <a:xfrm rot="5400000" flipH="1" flipV="1">
            <a:off x="5734485" y="3503044"/>
            <a:ext cx="798621" cy="76810"/>
          </a:xfrm>
          <a:prstGeom prst="bentConnector3">
            <a:avLst>
              <a:gd name="adj1" fmla="val 22299"/>
            </a:avLst>
          </a:prstGeom>
          <a:ln w="25400">
            <a:solidFill>
              <a:srgbClr val="595959"/>
            </a:solidFill>
            <a:headEnd type="none" w="med" len="med"/>
            <a:tailEnd type="triangle" w="med" len="med"/>
          </a:ln>
        </p:spPr>
      </p:cxnSp>
      <p:cxnSp>
        <p:nvCxnSpPr>
          <p:cNvPr id="61" name="Conector: angular 60">
            <a:extLst>
              <a:ext uri="{FF2B5EF4-FFF2-40B4-BE49-F238E27FC236}">
                <a16:creationId xmlns:a16="http://schemas.microsoft.com/office/drawing/2014/main" id="{E14CCA6B-2254-7DCC-5405-73BFFCB8FF6C}"/>
              </a:ext>
            </a:extLst>
          </p:cNvPr>
          <p:cNvCxnSpPr>
            <a:cxnSpLocks/>
            <a:stCxn id="36" idx="0"/>
            <a:endCxn id="7" idx="2"/>
          </p:cNvCxnSpPr>
          <p:nvPr/>
        </p:nvCxnSpPr>
        <p:spPr>
          <a:xfrm rot="16200000" flipV="1">
            <a:off x="6869713" y="2444626"/>
            <a:ext cx="798621" cy="2193646"/>
          </a:xfrm>
          <a:prstGeom prst="bentConnector3">
            <a:avLst>
              <a:gd name="adj1" fmla="val 22299"/>
            </a:avLst>
          </a:prstGeom>
          <a:ln w="25400">
            <a:solidFill>
              <a:srgbClr val="595959"/>
            </a:solidFill>
            <a:headEnd type="none" w="med" len="med"/>
            <a:tailEnd type="triangle" w="med" len="med"/>
          </a:ln>
        </p:spPr>
      </p:cxnSp>
      <p:cxnSp>
        <p:nvCxnSpPr>
          <p:cNvPr id="62" name="Conector: angular 61">
            <a:extLst>
              <a:ext uri="{FF2B5EF4-FFF2-40B4-BE49-F238E27FC236}">
                <a16:creationId xmlns:a16="http://schemas.microsoft.com/office/drawing/2014/main" id="{35D33E3D-7E64-AB37-D575-1C773737B475}"/>
              </a:ext>
            </a:extLst>
          </p:cNvPr>
          <p:cNvCxnSpPr>
            <a:cxnSpLocks/>
            <a:stCxn id="45" idx="0"/>
            <a:endCxn id="7" idx="2"/>
          </p:cNvCxnSpPr>
          <p:nvPr/>
        </p:nvCxnSpPr>
        <p:spPr>
          <a:xfrm rot="16200000" flipV="1">
            <a:off x="8004941" y="1309398"/>
            <a:ext cx="798621" cy="4464101"/>
          </a:xfrm>
          <a:prstGeom prst="bentConnector3">
            <a:avLst>
              <a:gd name="adj1" fmla="val 22299"/>
            </a:avLst>
          </a:prstGeom>
          <a:ln w="25400">
            <a:solidFill>
              <a:srgbClr val="595959"/>
            </a:solidFill>
            <a:headEnd type="none" w="med" len="med"/>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8"/>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7"/>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9"/>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6"/>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58"/>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59"/>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60"/>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61"/>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P spid="7" grpId="0" animBg="1"/>
      <p:bldP spid="9" grpId="0"/>
      <p:bldP spid="13" grpId="0" animBg="1"/>
      <p:bldP spid="15" grpId="0" animBg="1"/>
      <p:bldP spid="21" grpId="0" animBg="1"/>
      <p:bldP spid="23" grpId="0" animBg="1"/>
      <p:bldP spid="30" grpId="0" animBg="1"/>
      <p:bldP spid="32" grpId="0" animBg="1"/>
      <p:bldP spid="39" grpId="0" animBg="1"/>
      <p:bldP spid="41" grpId="0" animBg="1"/>
      <p:bldP spid="48" grpId="0" animBg="1"/>
      <p:bldP spid="50" grpId="0" animBg="1"/>
      <p:bldP spid="5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5. Enfoque federado</a:t>
            </a:r>
            <a:endParaRPr lang="es-CO" sz="3600" dirty="0"/>
          </a:p>
        </p:txBody>
      </p:sp>
      <p:sp>
        <p:nvSpPr>
          <p:cNvPr id="3" name="TextBox 3"/>
          <p:cNvSpPr txBox="1"/>
          <p:nvPr/>
        </p:nvSpPr>
        <p:spPr>
          <a:xfrm>
            <a:off x="548640" y="1737360"/>
            <a:ext cx="11091672" cy="443484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2400"/>
              </a:spcAft>
              <a:buNone/>
            </a:pPr>
            <a:r>
              <a:rPr lang="es-CO" sz="2200" b="1" dirty="0">
                <a:solidFill>
                  <a:schemeClr val="tx1"/>
                </a:solidFill>
                <a:latin typeface="Noto Sans"/>
                <a:ea typeface="Noto Sans"/>
                <a:cs typeface="Noto Sans"/>
                <a:sym typeface="Noto Sans"/>
              </a:rPr>
              <a:t>5.1. División de los datos por institución.</a:t>
            </a:r>
          </a:p>
          <a:p>
            <a:pPr marL="0" indent="0" algn="just">
              <a:lnSpc>
                <a:spcPct val="90000"/>
              </a:lnSpc>
              <a:spcBef>
                <a:spcPts val="0"/>
              </a:spcBef>
              <a:spcAft>
                <a:spcPts val="2400"/>
              </a:spcAft>
              <a:buNone/>
            </a:pPr>
            <a:r>
              <a:rPr lang="es-CO" sz="2200" b="0" dirty="0">
                <a:solidFill>
                  <a:schemeClr val="tx1"/>
                </a:solidFill>
                <a:latin typeface="Noto Sans"/>
                <a:ea typeface="Noto Sans"/>
                <a:cs typeface="Noto Sans"/>
                <a:sym typeface="Noto Sans"/>
              </a:rPr>
              <a:t>Se separa la base de datos en un subconjunto por institución. Cada subconjunto simula los datos que un hospital tiene localmente.</a:t>
            </a:r>
          </a:p>
          <a:p>
            <a:pPr marL="0" indent="0" algn="just">
              <a:lnSpc>
                <a:spcPct val="90000"/>
              </a:lnSpc>
              <a:spcBef>
                <a:spcPts val="0"/>
              </a:spcBef>
              <a:spcAft>
                <a:spcPts val="0"/>
              </a:spcAft>
              <a:buNone/>
            </a:pPr>
            <a:r>
              <a:rPr lang="es-CO" sz="2200" b="0" dirty="0">
                <a:solidFill>
                  <a:schemeClr val="tx1"/>
                </a:solidFill>
                <a:latin typeface="Noto Sans"/>
                <a:ea typeface="Noto Sans"/>
                <a:cs typeface="Noto Sans"/>
                <a:sym typeface="Noto Sans"/>
              </a:rPr>
              <a:t>Son los únicos datos que ese hospital puede usar para ajustar sus propios modelos, y nunca salen del hospital. Lo que cada hospital comparte después no son estos datos, sino los resultados de sus modelos.</a:t>
            </a:r>
          </a:p>
        </p:txBody>
      </p:sp>
      <p:pic>
        <p:nvPicPr>
          <p:cNvPr id="5" name="Imagen 4">
            <a:extLst>
              <a:ext uri="{FF2B5EF4-FFF2-40B4-BE49-F238E27FC236}">
                <a16:creationId xmlns:a16="http://schemas.microsoft.com/office/drawing/2014/main" id="{651811DC-2985-FE80-C9EA-1F49A74A6AC7}"/>
              </a:ext>
            </a:extLst>
          </p:cNvPr>
          <p:cNvPicPr>
            <a:picLocks noChangeAspect="1"/>
          </p:cNvPicPr>
          <p:nvPr/>
        </p:nvPicPr>
        <p:blipFill>
          <a:blip r:embed="rId2"/>
          <a:stretch>
            <a:fillRect/>
          </a:stretch>
        </p:blipFill>
        <p:spPr>
          <a:xfrm>
            <a:off x="548640" y="4395019"/>
            <a:ext cx="10733876" cy="644839"/>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5. Enfoque federado</a:t>
            </a:r>
            <a:endParaRPr lang="es-CO" sz="3600" dirty="0"/>
          </a:p>
        </p:txBody>
      </p:sp>
      <p:sp>
        <p:nvSpPr>
          <p:cNvPr id="3" name="TextBox 3"/>
          <p:cNvSpPr txBox="1"/>
          <p:nvPr/>
        </p:nvSpPr>
        <p:spPr>
          <a:xfrm>
            <a:off x="548640" y="1737360"/>
            <a:ext cx="11091672" cy="2347943"/>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2400"/>
              </a:spcAft>
              <a:buNone/>
            </a:pPr>
            <a:r>
              <a:rPr lang="es-CO" sz="2200" b="1" dirty="0">
                <a:solidFill>
                  <a:schemeClr val="tx1"/>
                </a:solidFill>
                <a:latin typeface="Noto Sans"/>
                <a:ea typeface="Noto Sans"/>
                <a:cs typeface="Noto Sans"/>
                <a:sym typeface="Noto Sans"/>
              </a:rPr>
              <a:t>5.2. Resultados por institución.</a:t>
            </a:r>
          </a:p>
          <a:p>
            <a:pPr marL="0" indent="0" algn="just">
              <a:lnSpc>
                <a:spcPct val="90000"/>
              </a:lnSpc>
              <a:spcBef>
                <a:spcPts val="0"/>
              </a:spcBef>
              <a:spcAft>
                <a:spcPts val="2400"/>
              </a:spcAft>
              <a:buNone/>
            </a:pPr>
            <a:r>
              <a:rPr lang="es-CO" sz="2000" b="0" dirty="0">
                <a:solidFill>
                  <a:schemeClr val="tx1"/>
                </a:solidFill>
                <a:latin typeface="Noto Sans"/>
                <a:ea typeface="Noto Sans"/>
                <a:cs typeface="Noto Sans"/>
                <a:sym typeface="Noto Sans"/>
              </a:rPr>
              <a:t>Cada institución aplica la misma función del enfoque centralizado (</a:t>
            </a:r>
            <a:r>
              <a:rPr lang="es-CO" sz="2000" b="1" dirty="0">
                <a:solidFill>
                  <a:schemeClr val="tx1"/>
                </a:solidFill>
                <a:latin typeface="Noto Sans"/>
                <a:ea typeface="Noto Sans"/>
                <a:cs typeface="Noto Sans"/>
                <a:sym typeface="Noto Sans"/>
              </a:rPr>
              <a:t>compute_univariate_odds_ratios</a:t>
            </a:r>
            <a:r>
              <a:rPr lang="es-CO" sz="2000" b="0" dirty="0">
                <a:solidFill>
                  <a:schemeClr val="tx1"/>
                </a:solidFill>
                <a:latin typeface="Noto Sans"/>
                <a:ea typeface="Noto Sans"/>
                <a:cs typeface="Noto Sans"/>
                <a:sym typeface="Noto Sans"/>
              </a:rPr>
              <a:t>), pero solo sobre sus propios datos.</a:t>
            </a:r>
          </a:p>
          <a:p>
            <a:pPr marL="0" indent="0" algn="just">
              <a:lnSpc>
                <a:spcPct val="90000"/>
              </a:lnSpc>
              <a:spcBef>
                <a:spcPts val="0"/>
              </a:spcBef>
              <a:spcAft>
                <a:spcPts val="0"/>
              </a:spcAft>
              <a:buNone/>
            </a:pPr>
            <a:r>
              <a:rPr lang="es-CO" sz="2000" b="0" dirty="0">
                <a:solidFill>
                  <a:schemeClr val="tx1"/>
                </a:solidFill>
                <a:latin typeface="Noto Sans"/>
                <a:ea typeface="Noto Sans"/>
                <a:cs typeface="Noto Sans"/>
                <a:sym typeface="Noto Sans"/>
              </a:rPr>
              <a:t>La tabla resultante, con una fila por variable, es lo que cada institución comparte con el servidor central, resultados de los modelos y nunca registros individuales.</a:t>
            </a:r>
          </a:p>
        </p:txBody>
      </p:sp>
      <p:pic>
        <p:nvPicPr>
          <p:cNvPr id="9" name="Imagen 8">
            <a:extLst>
              <a:ext uri="{FF2B5EF4-FFF2-40B4-BE49-F238E27FC236}">
                <a16:creationId xmlns:a16="http://schemas.microsoft.com/office/drawing/2014/main" id="{392890BF-6A65-AF7A-E788-A79C841A6260}"/>
              </a:ext>
            </a:extLst>
          </p:cNvPr>
          <p:cNvPicPr>
            <a:picLocks noChangeAspect="1"/>
          </p:cNvPicPr>
          <p:nvPr/>
        </p:nvPicPr>
        <p:blipFill>
          <a:blip r:embed="rId2"/>
          <a:stretch>
            <a:fillRect/>
          </a:stretch>
        </p:blipFill>
        <p:spPr>
          <a:xfrm>
            <a:off x="548640" y="3982066"/>
            <a:ext cx="8331031" cy="2227007"/>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5. Enfoque federado</a:t>
            </a:r>
            <a:endParaRPr lang="es-CO" sz="3600" dirty="0"/>
          </a:p>
        </p:txBody>
      </p:sp>
      <p:sp>
        <p:nvSpPr>
          <p:cNvPr id="3" name="TextBox 3"/>
          <p:cNvSpPr txBox="1"/>
          <p:nvPr/>
        </p:nvSpPr>
        <p:spPr>
          <a:xfrm>
            <a:off x="548640" y="3256440"/>
            <a:ext cx="11091672" cy="1861247"/>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2400"/>
              </a:spcAft>
              <a:buNone/>
            </a:pPr>
            <a:r>
              <a:rPr lang="es-CO" sz="2200" b="0" dirty="0">
                <a:solidFill>
                  <a:schemeClr val="tx1"/>
                </a:solidFill>
                <a:latin typeface="Noto Sans"/>
                <a:ea typeface="Noto Sans"/>
                <a:cs typeface="Noto Sans"/>
                <a:sym typeface="Noto Sans"/>
              </a:rPr>
              <a:t>Al ejecutar el código aparecen varias advertencias </a:t>
            </a:r>
            <a:r>
              <a:rPr lang="es-CO" sz="2200" b="1" dirty="0">
                <a:solidFill>
                  <a:schemeClr val="tx1"/>
                </a:solidFill>
                <a:latin typeface="Noto Sans"/>
                <a:ea typeface="Noto Sans"/>
                <a:cs typeface="Noto Sans"/>
                <a:sym typeface="Noto Sans"/>
              </a:rPr>
              <a:t>RuntimeWarning: overflow encountered in exp</a:t>
            </a:r>
            <a:r>
              <a:rPr lang="es-CO" sz="2200" b="0" dirty="0">
                <a:solidFill>
                  <a:schemeClr val="tx1"/>
                </a:solidFill>
                <a:latin typeface="Noto Sans"/>
                <a:ea typeface="Noto Sans"/>
                <a:cs typeface="Noto Sans"/>
                <a:sym typeface="Noto Sans"/>
              </a:rPr>
              <a:t>. </a:t>
            </a:r>
          </a:p>
          <a:p>
            <a:pPr marL="0" indent="0" algn="just">
              <a:lnSpc>
                <a:spcPct val="90000"/>
              </a:lnSpc>
              <a:spcBef>
                <a:spcPts val="0"/>
              </a:spcBef>
              <a:spcAft>
                <a:spcPts val="2400"/>
              </a:spcAft>
              <a:buNone/>
            </a:pPr>
            <a:r>
              <a:rPr lang="es-CO" sz="2200" b="0" dirty="0">
                <a:solidFill>
                  <a:schemeClr val="tx1"/>
                </a:solidFill>
                <a:latin typeface="Noto Sans"/>
                <a:ea typeface="Noto Sans"/>
                <a:cs typeface="Noto Sans"/>
                <a:sym typeface="Noto Sans"/>
              </a:rPr>
              <a:t>Cada una viene del modelo de una variable en una institución, cuyo </a:t>
            </a:r>
            <a:r>
              <a:rPr lang="es-CO" sz="2200" b="1" dirty="0">
                <a:solidFill>
                  <a:schemeClr val="tx1"/>
                </a:solidFill>
                <a:latin typeface="Noto Sans"/>
                <a:ea typeface="Noto Sans"/>
                <a:cs typeface="Noto Sans"/>
                <a:sym typeface="Noto Sans"/>
              </a:rPr>
              <a:t>intervalo de confianza no se pudo calcular</a:t>
            </a:r>
            <a:r>
              <a:rPr lang="es-CO" sz="2200" b="0" dirty="0">
                <a:solidFill>
                  <a:schemeClr val="tx1"/>
                </a:solidFill>
                <a:latin typeface="Noto Sans"/>
                <a:ea typeface="Noto Sans"/>
                <a:cs typeface="Noto Sans"/>
                <a:sym typeface="Noto Sans"/>
              </a:rPr>
              <a:t>.</a:t>
            </a:r>
          </a:p>
        </p:txBody>
      </p:sp>
      <p:pic>
        <p:nvPicPr>
          <p:cNvPr id="7" name="Imagen 6">
            <a:extLst>
              <a:ext uri="{FF2B5EF4-FFF2-40B4-BE49-F238E27FC236}">
                <a16:creationId xmlns:a16="http://schemas.microsoft.com/office/drawing/2014/main" id="{E31117BD-35CA-4042-1EBD-DF9E2E4AE8A1}"/>
              </a:ext>
            </a:extLst>
          </p:cNvPr>
          <p:cNvPicPr>
            <a:picLocks noChangeAspect="1"/>
          </p:cNvPicPr>
          <p:nvPr/>
        </p:nvPicPr>
        <p:blipFill>
          <a:blip r:embed="rId2"/>
          <a:stretch>
            <a:fillRect/>
          </a:stretch>
        </p:blipFill>
        <p:spPr>
          <a:xfrm>
            <a:off x="548640" y="1953716"/>
            <a:ext cx="10483154" cy="91003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5. Enfoque federado</a:t>
            </a:r>
            <a:endParaRPr lang="es-CO" sz="3600" dirty="0"/>
          </a:p>
        </p:txBody>
      </p:sp>
      <p:sp>
        <p:nvSpPr>
          <p:cNvPr id="3" name="TextBox 3"/>
          <p:cNvSpPr txBox="1"/>
          <p:nvPr/>
        </p:nvSpPr>
        <p:spPr>
          <a:xfrm>
            <a:off x="548640" y="1737360"/>
            <a:ext cx="11091672" cy="443484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2400"/>
              </a:spcAft>
              <a:buNone/>
            </a:pPr>
            <a:r>
              <a:rPr lang="es-CO" sz="2200" b="1" dirty="0">
                <a:solidFill>
                  <a:schemeClr val="tx1"/>
                </a:solidFill>
                <a:latin typeface="Noto Sans"/>
                <a:ea typeface="Noto Sans"/>
                <a:cs typeface="Noto Sans"/>
                <a:sym typeface="Noto Sans"/>
              </a:rPr>
              <a:t>5.3. Resultados inestables por institución.</a:t>
            </a:r>
          </a:p>
          <a:p>
            <a:pPr algn="just">
              <a:lnSpc>
                <a:spcPct val="90000"/>
              </a:lnSpc>
              <a:spcAft>
                <a:spcPts val="2400"/>
              </a:spcAft>
            </a:pPr>
            <a:r>
              <a:rPr lang="es-CO" sz="2200" dirty="0">
                <a:solidFill>
                  <a:schemeClr val="tx1"/>
                </a:solidFill>
                <a:latin typeface="Noto Sans"/>
                <a:ea typeface="Noto Sans"/>
                <a:cs typeface="Noto Sans"/>
                <a:sym typeface="Noto Sans"/>
              </a:rPr>
              <a:t>Esto sucede cuando un grupo no tiene fallecidos o no tiene sobrevivientes, y el modelo no puede estimar la asociación, por lo que el coeficiente crece sin límite y su error estándar se vuelve enorme.</a:t>
            </a:r>
          </a:p>
          <a:p>
            <a:pPr marL="0" indent="0" algn="just">
              <a:lnSpc>
                <a:spcPct val="90000"/>
              </a:lnSpc>
              <a:spcBef>
                <a:spcPts val="0"/>
              </a:spcBef>
              <a:spcAft>
                <a:spcPts val="2400"/>
              </a:spcAft>
              <a:buNone/>
            </a:pPr>
            <a:r>
              <a:rPr lang="es-CO" sz="2200" b="0" dirty="0">
                <a:solidFill>
                  <a:schemeClr val="tx1"/>
                </a:solidFill>
                <a:latin typeface="Noto Sans"/>
                <a:ea typeface="Noto Sans"/>
                <a:cs typeface="Noto Sans"/>
                <a:sym typeface="Noto Sans"/>
              </a:rPr>
              <a:t>Es el mismo problema de </a:t>
            </a:r>
            <a:r>
              <a:rPr lang="es-CO" sz="2200" b="1" dirty="0">
                <a:solidFill>
                  <a:schemeClr val="tx1"/>
                </a:solidFill>
                <a:latin typeface="Noto Sans"/>
                <a:ea typeface="Noto Sans"/>
                <a:cs typeface="Noto Sans"/>
                <a:sym typeface="Noto Sans"/>
              </a:rPr>
              <a:t>petechiae</a:t>
            </a:r>
            <a:r>
              <a:rPr lang="es-CO" sz="2200" b="0" dirty="0">
                <a:solidFill>
                  <a:schemeClr val="tx1"/>
                </a:solidFill>
                <a:latin typeface="Noto Sans"/>
                <a:ea typeface="Noto Sans"/>
                <a:cs typeface="Noto Sans"/>
                <a:sym typeface="Noto Sans"/>
              </a:rPr>
              <a:t> en la sección 2.5, pero ahora ocurre solo dentro de una institución, porque cada una tiene muy pocos fallecidos (entre 17 y 25).</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0D825-6AA4-6BFA-E4F2-BDBB3D87CEE9}"/>
            </a:ext>
          </a:extLst>
        </p:cNvPr>
        <p:cNvGrpSpPr/>
        <p:nvPr/>
      </p:nvGrpSpPr>
      <p:grpSpPr>
        <a:xfrm>
          <a:off x="0" y="0"/>
          <a:ext cx="0" cy="0"/>
          <a:chOff x="0" y="0"/>
          <a:chExt cx="0" cy="0"/>
        </a:xfrm>
      </p:grpSpPr>
      <p:sp>
        <p:nvSpPr>
          <p:cNvPr id="2" name="Title 2">
            <a:extLst>
              <a:ext uri="{FF2B5EF4-FFF2-40B4-BE49-F238E27FC236}">
                <a16:creationId xmlns:a16="http://schemas.microsoft.com/office/drawing/2014/main" id="{56F6DE9F-981C-7B14-CE8A-5976F6D2072A}"/>
              </a:ext>
            </a:extLst>
          </p:cNvPr>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5. Enfoque federado</a:t>
            </a:r>
            <a:endParaRPr lang="es-CO" sz="3600" dirty="0"/>
          </a:p>
        </p:txBody>
      </p:sp>
      <p:sp>
        <p:nvSpPr>
          <p:cNvPr id="3" name="TextBox 3">
            <a:extLst>
              <a:ext uri="{FF2B5EF4-FFF2-40B4-BE49-F238E27FC236}">
                <a16:creationId xmlns:a16="http://schemas.microsoft.com/office/drawing/2014/main" id="{7E360455-3FB5-7D7B-B7BC-1C0963CADD58}"/>
              </a:ext>
            </a:extLst>
          </p:cNvPr>
          <p:cNvSpPr txBox="1"/>
          <p:nvPr/>
        </p:nvSpPr>
        <p:spPr>
          <a:xfrm>
            <a:off x="548640" y="1737360"/>
            <a:ext cx="11091672" cy="443484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2400"/>
              </a:spcAft>
              <a:buNone/>
            </a:pPr>
            <a:r>
              <a:rPr lang="es-CO" sz="2200" b="1" dirty="0">
                <a:solidFill>
                  <a:schemeClr val="tx1"/>
                </a:solidFill>
                <a:latin typeface="Noto Sans"/>
                <a:ea typeface="Noto Sans"/>
                <a:cs typeface="Noto Sans"/>
                <a:sym typeface="Noto Sans"/>
              </a:rPr>
              <a:t>5.3. Resultados inestables por institución.</a:t>
            </a:r>
          </a:p>
          <a:p>
            <a:pPr algn="just">
              <a:lnSpc>
                <a:spcPct val="90000"/>
              </a:lnSpc>
              <a:spcAft>
                <a:spcPts val="2400"/>
              </a:spcAft>
            </a:pPr>
            <a:r>
              <a:rPr lang="es-CO" sz="2200" dirty="0">
                <a:solidFill>
                  <a:schemeClr val="tx1"/>
                </a:solidFill>
                <a:latin typeface="Noto Sans"/>
                <a:ea typeface="Noto Sans"/>
                <a:cs typeface="Noto Sans"/>
                <a:sym typeface="Noto Sans"/>
              </a:rPr>
              <a:t>En este caso la solución se basa en identificar las variables con este problema en cada institución.</a:t>
            </a:r>
            <a:endParaRPr lang="es-CO" sz="2200" b="0" dirty="0">
              <a:solidFill>
                <a:schemeClr val="tx1"/>
              </a:solidFill>
              <a:latin typeface="Noto Sans"/>
              <a:ea typeface="Noto Sans"/>
              <a:cs typeface="Noto Sans"/>
              <a:sym typeface="Noto Sans"/>
            </a:endParaRPr>
          </a:p>
        </p:txBody>
      </p:sp>
      <p:pic>
        <p:nvPicPr>
          <p:cNvPr id="7" name="Imagen 6">
            <a:extLst>
              <a:ext uri="{FF2B5EF4-FFF2-40B4-BE49-F238E27FC236}">
                <a16:creationId xmlns:a16="http://schemas.microsoft.com/office/drawing/2014/main" id="{4A276EE4-6219-9276-9559-2E061AD65B33}"/>
              </a:ext>
            </a:extLst>
          </p:cNvPr>
          <p:cNvPicPr>
            <a:picLocks noChangeAspect="1"/>
          </p:cNvPicPr>
          <p:nvPr/>
        </p:nvPicPr>
        <p:blipFill>
          <a:blip r:embed="rId2"/>
          <a:stretch>
            <a:fillRect/>
          </a:stretch>
        </p:blipFill>
        <p:spPr>
          <a:xfrm>
            <a:off x="548640" y="3110373"/>
            <a:ext cx="8181754" cy="2936465"/>
          </a:xfrm>
          <a:prstGeom prst="rect">
            <a:avLst/>
          </a:prstGeom>
        </p:spPr>
      </p:pic>
    </p:spTree>
    <p:extLst>
      <p:ext uri="{BB962C8B-B14F-4D97-AF65-F5344CB8AC3E}">
        <p14:creationId xmlns:p14="http://schemas.microsoft.com/office/powerpoint/2010/main" val="26336418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5. Enfoque federado</a:t>
            </a:r>
            <a:endParaRPr lang="es-CO" sz="3600" dirty="0"/>
          </a:p>
        </p:txBody>
      </p:sp>
      <p:sp>
        <p:nvSpPr>
          <p:cNvPr id="3" name="TextBox 3"/>
          <p:cNvSpPr txBox="1"/>
          <p:nvPr/>
        </p:nvSpPr>
        <p:spPr>
          <a:xfrm>
            <a:off x="548640" y="1737360"/>
            <a:ext cx="11091672" cy="54864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0"/>
              </a:spcAft>
              <a:buNone/>
            </a:pPr>
            <a:r>
              <a:rPr lang="es-CO" sz="2200" b="0" dirty="0">
                <a:solidFill>
                  <a:schemeClr val="tx1"/>
                </a:solidFill>
                <a:latin typeface="Noto Sans"/>
                <a:ea typeface="Noto Sans"/>
                <a:cs typeface="Noto Sans"/>
                <a:sym typeface="Noto Sans"/>
              </a:rPr>
              <a:t>El número de sobrevivientes y fallecidos en cada grupo de estas variables muestra por qué.</a:t>
            </a:r>
          </a:p>
        </p:txBody>
      </p:sp>
      <p:pic>
        <p:nvPicPr>
          <p:cNvPr id="7" name="Imagen 6">
            <a:extLst>
              <a:ext uri="{FF2B5EF4-FFF2-40B4-BE49-F238E27FC236}">
                <a16:creationId xmlns:a16="http://schemas.microsoft.com/office/drawing/2014/main" id="{A4A32282-B40E-F16A-3734-FD19CF3E9BE5}"/>
              </a:ext>
            </a:extLst>
          </p:cNvPr>
          <p:cNvPicPr>
            <a:picLocks noChangeAspect="1"/>
          </p:cNvPicPr>
          <p:nvPr/>
        </p:nvPicPr>
        <p:blipFill>
          <a:blip r:embed="rId2"/>
          <a:stretch>
            <a:fillRect/>
          </a:stretch>
        </p:blipFill>
        <p:spPr>
          <a:xfrm>
            <a:off x="560451" y="2634431"/>
            <a:ext cx="6813743" cy="3518284"/>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5. Enfoque federado</a:t>
            </a:r>
            <a:endParaRPr lang="es-CO" sz="3600" dirty="0"/>
          </a:p>
        </p:txBody>
      </p:sp>
      <p:sp>
        <p:nvSpPr>
          <p:cNvPr id="3" name="TextBox 3"/>
          <p:cNvSpPr txBox="1"/>
          <p:nvPr/>
        </p:nvSpPr>
        <p:spPr>
          <a:xfrm>
            <a:off x="548640" y="1737360"/>
            <a:ext cx="11091672" cy="443484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1000"/>
              </a:spcAft>
              <a:buNone/>
            </a:pPr>
            <a:r>
              <a:rPr lang="es-CO" sz="2200" b="0" dirty="0">
                <a:solidFill>
                  <a:schemeClr val="tx1"/>
                </a:solidFill>
                <a:latin typeface="Noto Sans"/>
                <a:ea typeface="Noto Sans"/>
                <a:cs typeface="Noto Sans"/>
                <a:sym typeface="Noto Sans"/>
              </a:rPr>
              <a:t>Todos los casos tienen un conteo de 0:</a:t>
            </a:r>
          </a:p>
          <a:p>
            <a:pPr marL="342900" indent="-342900" algn="l">
              <a:lnSpc>
                <a:spcPct val="90000"/>
              </a:lnSpc>
              <a:spcBef>
                <a:spcPts val="0"/>
              </a:spcBef>
              <a:spcAft>
                <a:spcPts val="1000"/>
              </a:spcAft>
              <a:buClr>
                <a:srgbClr val="0673BA"/>
              </a:buClr>
              <a:buSzPct val="100000"/>
              <a:buFont typeface="Arial"/>
              <a:buChar char="•"/>
            </a:pPr>
            <a:r>
              <a:rPr lang="es-CO" sz="2200" b="0" dirty="0">
                <a:solidFill>
                  <a:schemeClr val="tx1"/>
                </a:solidFill>
                <a:latin typeface="Noto Sans"/>
                <a:ea typeface="Noto Sans"/>
                <a:cs typeface="Noto Sans"/>
                <a:sym typeface="Noto Sans"/>
              </a:rPr>
              <a:t>En H1 ningún paciente con </a:t>
            </a:r>
            <a:r>
              <a:rPr lang="es-CO" sz="2200" b="1" dirty="0">
                <a:solidFill>
                  <a:schemeClr val="tx1"/>
                </a:solidFill>
                <a:latin typeface="Noto Sans"/>
                <a:ea typeface="Noto Sans"/>
                <a:cs typeface="Noto Sans"/>
                <a:sym typeface="Noto Sans"/>
              </a:rPr>
              <a:t>hypothermia</a:t>
            </a:r>
            <a:r>
              <a:rPr lang="es-CO" sz="2200" b="0" dirty="0">
                <a:solidFill>
                  <a:schemeClr val="tx1"/>
                </a:solidFill>
                <a:latin typeface="Noto Sans"/>
                <a:ea typeface="Noto Sans"/>
                <a:cs typeface="Noto Sans"/>
                <a:sym typeface="Noto Sans"/>
              </a:rPr>
              <a:t> falleció. Lo mismo ocurre en H5 con </a:t>
            </a:r>
            <a:r>
              <a:rPr lang="es-CO" sz="2200" b="1" dirty="0">
                <a:solidFill>
                  <a:schemeClr val="tx1"/>
                </a:solidFill>
                <a:latin typeface="Noto Sans"/>
                <a:ea typeface="Noto Sans"/>
                <a:cs typeface="Noto Sans"/>
                <a:sym typeface="Noto Sans"/>
              </a:rPr>
              <a:t>hypothermia</a:t>
            </a:r>
            <a:r>
              <a:rPr lang="es-CO" sz="2200" b="0" dirty="0">
                <a:solidFill>
                  <a:schemeClr val="tx1"/>
                </a:solidFill>
                <a:latin typeface="Noto Sans"/>
                <a:ea typeface="Noto Sans"/>
                <a:cs typeface="Noto Sans"/>
                <a:sym typeface="Noto Sans"/>
              </a:rPr>
              <a:t>, </a:t>
            </a:r>
            <a:r>
              <a:rPr lang="es-CO" sz="2200" b="1" dirty="0">
                <a:solidFill>
                  <a:schemeClr val="tx1"/>
                </a:solidFill>
                <a:latin typeface="Noto Sans"/>
                <a:ea typeface="Noto Sans"/>
                <a:cs typeface="Noto Sans"/>
                <a:sym typeface="Noto Sans"/>
              </a:rPr>
              <a:t>fluid_accumulation</a:t>
            </a:r>
            <a:r>
              <a:rPr lang="es-CO" sz="2200" b="0" dirty="0">
                <a:solidFill>
                  <a:schemeClr val="tx1"/>
                </a:solidFill>
                <a:latin typeface="Noto Sans"/>
                <a:ea typeface="Noto Sans"/>
                <a:cs typeface="Noto Sans"/>
                <a:sym typeface="Noto Sans"/>
              </a:rPr>
              <a:t> y </a:t>
            </a:r>
            <a:r>
              <a:rPr lang="es-CO" sz="2200" b="1" dirty="0">
                <a:solidFill>
                  <a:schemeClr val="tx1"/>
                </a:solidFill>
                <a:latin typeface="Noto Sans"/>
                <a:ea typeface="Noto Sans"/>
                <a:cs typeface="Noto Sans"/>
                <a:sym typeface="Noto Sans"/>
              </a:rPr>
              <a:t>hematocrit_increase</a:t>
            </a:r>
            <a:r>
              <a:rPr lang="es-CO" sz="2200" b="0" dirty="0">
                <a:solidFill>
                  <a:schemeClr val="tx1"/>
                </a:solidFill>
                <a:latin typeface="Noto Sans"/>
                <a:ea typeface="Noto Sans"/>
                <a:cs typeface="Noto Sans"/>
                <a:sym typeface="Noto Sans"/>
              </a:rPr>
              <a:t>.</a:t>
            </a:r>
          </a:p>
          <a:p>
            <a:pPr marL="342900" indent="-342900" algn="l">
              <a:lnSpc>
                <a:spcPct val="90000"/>
              </a:lnSpc>
              <a:spcBef>
                <a:spcPts val="0"/>
              </a:spcBef>
              <a:spcAft>
                <a:spcPts val="1000"/>
              </a:spcAft>
              <a:buClr>
                <a:srgbClr val="0673BA"/>
              </a:buClr>
              <a:buSzPct val="100000"/>
              <a:buFont typeface="Arial"/>
              <a:buChar char="•"/>
            </a:pPr>
            <a:r>
              <a:rPr lang="es-CO" sz="2200" b="0" dirty="0">
                <a:solidFill>
                  <a:schemeClr val="tx1"/>
                </a:solidFill>
                <a:latin typeface="Noto Sans"/>
                <a:ea typeface="Noto Sans"/>
                <a:cs typeface="Noto Sans"/>
                <a:sym typeface="Noto Sans"/>
              </a:rPr>
              <a:t>En H3 los únicos 2 pacientes sin </a:t>
            </a:r>
            <a:r>
              <a:rPr lang="es-CO" sz="2200" b="1" dirty="0">
                <a:solidFill>
                  <a:schemeClr val="tx1"/>
                </a:solidFill>
                <a:latin typeface="Noto Sans"/>
                <a:ea typeface="Noto Sans"/>
                <a:cs typeface="Noto Sans"/>
                <a:sym typeface="Noto Sans"/>
              </a:rPr>
              <a:t>myalgia</a:t>
            </a:r>
            <a:r>
              <a:rPr lang="es-CO" sz="2200" b="0" dirty="0">
                <a:solidFill>
                  <a:schemeClr val="tx1"/>
                </a:solidFill>
                <a:latin typeface="Noto Sans"/>
                <a:ea typeface="Noto Sans"/>
                <a:cs typeface="Noto Sans"/>
                <a:sym typeface="Noto Sans"/>
              </a:rPr>
              <a:t> fallecieron, por lo que ningún paciente sin ella sobrevivió.</a:t>
            </a:r>
          </a:p>
          <a:p>
            <a:pPr marL="342900" indent="-342900" algn="l">
              <a:lnSpc>
                <a:spcPct val="90000"/>
              </a:lnSpc>
              <a:spcBef>
                <a:spcPts val="0"/>
              </a:spcBef>
              <a:spcAft>
                <a:spcPts val="1000"/>
              </a:spcAft>
              <a:buClr>
                <a:srgbClr val="0673BA"/>
              </a:buClr>
              <a:buSzPct val="100000"/>
              <a:buFont typeface="Arial"/>
              <a:buChar char="•"/>
            </a:pPr>
            <a:r>
              <a:rPr lang="es-CO" sz="2200" b="0" dirty="0">
                <a:solidFill>
                  <a:schemeClr val="tx1"/>
                </a:solidFill>
                <a:latin typeface="Noto Sans"/>
                <a:ea typeface="Noto Sans"/>
                <a:cs typeface="Noto Sans"/>
                <a:sym typeface="Noto Sans"/>
              </a:rPr>
              <a:t>En H4 el único paciente con </a:t>
            </a:r>
            <a:r>
              <a:rPr lang="es-CO" sz="2200" b="1" dirty="0">
                <a:solidFill>
                  <a:schemeClr val="tx1"/>
                </a:solidFill>
                <a:latin typeface="Noto Sans"/>
                <a:ea typeface="Noto Sans"/>
                <a:cs typeface="Noto Sans"/>
                <a:sym typeface="Noto Sans"/>
              </a:rPr>
              <a:t>hepatomegaly</a:t>
            </a:r>
            <a:r>
              <a:rPr lang="es-CO" sz="2200" b="0" dirty="0">
                <a:solidFill>
                  <a:schemeClr val="tx1"/>
                </a:solidFill>
                <a:latin typeface="Noto Sans"/>
                <a:ea typeface="Noto Sans"/>
                <a:cs typeface="Noto Sans"/>
                <a:sym typeface="Noto Sans"/>
              </a:rPr>
              <a:t> falleció, por lo que ningún paciente con ella sobrevivió.</a:t>
            </a:r>
          </a:p>
          <a:p>
            <a:pPr marL="342900" indent="-342900" algn="l">
              <a:lnSpc>
                <a:spcPct val="90000"/>
              </a:lnSpc>
              <a:spcBef>
                <a:spcPts val="0"/>
              </a:spcBef>
              <a:spcAft>
                <a:spcPts val="0"/>
              </a:spcAft>
              <a:buClr>
                <a:srgbClr val="0673BA"/>
              </a:buClr>
              <a:buSzPct val="100000"/>
              <a:buFont typeface="Arial"/>
              <a:buChar char="•"/>
            </a:pPr>
            <a:r>
              <a:rPr lang="es-CO" sz="2200" b="0" dirty="0">
                <a:solidFill>
                  <a:schemeClr val="tx1"/>
                </a:solidFill>
                <a:latin typeface="Noto Sans"/>
                <a:ea typeface="Noto Sans"/>
                <a:cs typeface="Noto Sans"/>
                <a:sym typeface="Noto Sans"/>
              </a:rPr>
              <a:t>En H5 </a:t>
            </a:r>
            <a:r>
              <a:rPr lang="es-CO" sz="2200" b="1" dirty="0">
                <a:solidFill>
                  <a:schemeClr val="tx1"/>
                </a:solidFill>
                <a:latin typeface="Noto Sans"/>
                <a:ea typeface="Noto Sans"/>
                <a:cs typeface="Noto Sans"/>
                <a:sym typeface="Noto Sans"/>
              </a:rPr>
              <a:t>shock</a:t>
            </a:r>
            <a:r>
              <a:rPr lang="es-CO" sz="2200" b="0" dirty="0">
                <a:solidFill>
                  <a:schemeClr val="tx1"/>
                </a:solidFill>
                <a:latin typeface="Noto Sans"/>
                <a:ea typeface="Noto Sans"/>
                <a:cs typeface="Noto Sans"/>
                <a:sym typeface="Noto Sans"/>
              </a:rPr>
              <a:t> muestra el patrón opuesto, ya que los 17 fallecidos tuvieron shock y ninguno de los pacientes sin shock falleció. H5 es en realidad la institución donde la asociación es más fuerte, pero su modelo no la puede estimar.</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5. Enfoque federado</a:t>
            </a:r>
            <a:endParaRPr lang="es-CO" sz="3600" dirty="0"/>
          </a:p>
        </p:txBody>
      </p:sp>
      <p:sp>
        <p:nvSpPr>
          <p:cNvPr id="3" name="TextBox 3"/>
          <p:cNvSpPr txBox="1"/>
          <p:nvPr/>
        </p:nvSpPr>
        <p:spPr>
          <a:xfrm>
            <a:off x="548640" y="1737360"/>
            <a:ext cx="11091672" cy="237744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2400"/>
              </a:spcAft>
              <a:buNone/>
            </a:pPr>
            <a:r>
              <a:rPr lang="es-CO" sz="2200" b="0" dirty="0">
                <a:solidFill>
                  <a:schemeClr val="tx1"/>
                </a:solidFill>
                <a:latin typeface="Noto Sans"/>
                <a:ea typeface="Noto Sans"/>
                <a:cs typeface="Noto Sans"/>
                <a:sym typeface="Noto Sans"/>
              </a:rPr>
              <a:t>A diferencia de la sección 2.5, donde estas variables se eliminaron de toda la base de datos, aquí solo se eliminan los resultados afectados, y solo en la institución donde ocurre el problema.</a:t>
            </a:r>
          </a:p>
          <a:p>
            <a:pPr marL="0" indent="0" algn="just">
              <a:lnSpc>
                <a:spcPct val="90000"/>
              </a:lnSpc>
              <a:spcBef>
                <a:spcPts val="0"/>
              </a:spcBef>
              <a:spcAft>
                <a:spcPts val="0"/>
              </a:spcAft>
              <a:buNone/>
            </a:pPr>
            <a:r>
              <a:rPr lang="es-CO" sz="2200" b="0" dirty="0">
                <a:solidFill>
                  <a:schemeClr val="tx1"/>
                </a:solidFill>
                <a:latin typeface="Noto Sans"/>
                <a:ea typeface="Noto Sans"/>
                <a:cs typeface="Noto Sans"/>
                <a:sym typeface="Noto Sans"/>
              </a:rPr>
              <a:t>Cada institución conserva el resto de sus resultados, y cada variable se combina con las instituciones donde sí se pudo estimar.</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5. Enfoque federado</a:t>
            </a:r>
            <a:endParaRPr lang="es-CO" sz="3600" dirty="0"/>
          </a:p>
        </p:txBody>
      </p:sp>
      <p:sp>
        <p:nvSpPr>
          <p:cNvPr id="3" name="TextBox 3"/>
          <p:cNvSpPr txBox="1"/>
          <p:nvPr/>
        </p:nvSpPr>
        <p:spPr>
          <a:xfrm>
            <a:off x="548640" y="1737360"/>
            <a:ext cx="11091672" cy="443484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2400"/>
              </a:spcAft>
              <a:buNone/>
            </a:pPr>
            <a:r>
              <a:rPr lang="es-CO" sz="2200" b="1" dirty="0">
                <a:solidFill>
                  <a:schemeClr val="tx1"/>
                </a:solidFill>
                <a:latin typeface="Noto Sans"/>
                <a:ea typeface="Noto Sans"/>
                <a:cs typeface="Noto Sans"/>
                <a:sym typeface="Noto Sans"/>
              </a:rPr>
              <a:t>5.4. Cálculos agregados.</a:t>
            </a:r>
          </a:p>
          <a:p>
            <a:pPr marL="0" indent="0" algn="just">
              <a:lnSpc>
                <a:spcPct val="90000"/>
              </a:lnSpc>
              <a:spcBef>
                <a:spcPts val="0"/>
              </a:spcBef>
              <a:spcAft>
                <a:spcPts val="2400"/>
              </a:spcAft>
              <a:buNone/>
            </a:pPr>
            <a:r>
              <a:rPr lang="es-CO" sz="2200" b="0" dirty="0">
                <a:solidFill>
                  <a:schemeClr val="tx1"/>
                </a:solidFill>
                <a:latin typeface="Noto Sans"/>
                <a:ea typeface="Noto Sans"/>
                <a:cs typeface="Noto Sans"/>
                <a:sym typeface="Noto Sans"/>
              </a:rPr>
              <a:t>El servidor central recibe los resultados de cada institución y los combina en un solo odds ratio por variable.</a:t>
            </a:r>
          </a:p>
          <a:p>
            <a:pPr algn="just">
              <a:lnSpc>
                <a:spcPct val="90000"/>
              </a:lnSpc>
              <a:spcAft>
                <a:spcPts val="2400"/>
              </a:spcAft>
            </a:pPr>
            <a:r>
              <a:rPr lang="es-CO" sz="2200" dirty="0">
                <a:solidFill>
                  <a:schemeClr val="tx1"/>
                </a:solidFill>
                <a:latin typeface="Noto Sans"/>
                <a:ea typeface="Noto Sans"/>
                <a:cs typeface="Noto Sans"/>
                <a:sym typeface="Noto Sans"/>
              </a:rPr>
              <a:t>En este caso </a:t>
            </a:r>
            <a:r>
              <a:rPr lang="es-CO" sz="2200" b="1" dirty="0">
                <a:solidFill>
                  <a:schemeClr val="tx1"/>
                </a:solidFill>
                <a:latin typeface="Noto Sans"/>
                <a:ea typeface="Noto Sans"/>
                <a:cs typeface="Noto Sans"/>
                <a:sym typeface="Noto Sans"/>
              </a:rPr>
              <a:t>no es adecuado usar un promedio ponderado por el número de registros por la precisión</a:t>
            </a:r>
            <a:r>
              <a:rPr lang="es-CO" sz="2200" dirty="0">
                <a:solidFill>
                  <a:schemeClr val="tx1"/>
                </a:solidFill>
                <a:latin typeface="Noto Sans"/>
                <a:ea typeface="Noto Sans"/>
                <a:cs typeface="Noto Sans"/>
                <a:sym typeface="Noto Sans"/>
              </a:rPr>
              <a:t>, porque el resultado de cada institución depende principalmente de su número de fallecidos, no de su número de pacientes.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5. Enfoque federado</a:t>
            </a:r>
            <a:endParaRPr lang="es-CO" sz="3600" dirty="0"/>
          </a:p>
        </p:txBody>
      </p:sp>
      <p:sp>
        <p:nvSpPr>
          <p:cNvPr id="3" name="TextBox 3"/>
          <p:cNvSpPr txBox="1"/>
          <p:nvPr/>
        </p:nvSpPr>
        <p:spPr>
          <a:xfrm>
            <a:off x="548640" y="1737360"/>
            <a:ext cx="11091672" cy="118872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0"/>
              </a:spcAft>
              <a:buNone/>
            </a:pPr>
            <a:r>
              <a:rPr lang="es-CO" sz="2200" b="0" dirty="0">
                <a:solidFill>
                  <a:schemeClr val="tx1"/>
                </a:solidFill>
                <a:latin typeface="Noto Sans"/>
                <a:ea typeface="Noto Sans"/>
                <a:cs typeface="Noto Sans"/>
                <a:sym typeface="Noto Sans"/>
              </a:rPr>
              <a:t>Un odds ratio compara qué tanto fallecen los pacientes con y sin la variable, por lo que su información viene de los fallecidos. Una institución con muchos pacientes pero pocos fallecidos da un resultado menos preciso de lo que sugiere su tamaño.</a:t>
            </a:r>
          </a:p>
        </p:txBody>
      </p:sp>
      <p:graphicFrame>
        <p:nvGraphicFramePr>
          <p:cNvPr id="4" name="Table"/>
          <p:cNvGraphicFramePr>
            <a:graphicFrameLocks noGrp="1"/>
          </p:cNvGraphicFramePr>
          <p:nvPr/>
        </p:nvGraphicFramePr>
        <p:xfrm>
          <a:off x="548640" y="3108960"/>
          <a:ext cx="5120640" cy="2304288"/>
        </p:xfrm>
        <a:graphic>
          <a:graphicData uri="http://schemas.openxmlformats.org/drawingml/2006/table">
            <a:tbl>
              <a:tblPr firstRow="1" bandRow="1"/>
              <a:tblGrid>
                <a:gridCol w="18288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384048">
                <a:tc>
                  <a:txBody>
                    <a:bodyPr/>
                    <a:lstStyle/>
                    <a:p>
                      <a:pPr marL="0" indent="0" algn="l">
                        <a:lnSpc>
                          <a:spcPct val="90000"/>
                        </a:lnSpc>
                        <a:spcBef>
                          <a:spcPts val="0"/>
                        </a:spcBef>
                        <a:spcAft>
                          <a:spcPts val="0"/>
                        </a:spcAft>
                        <a:buNone/>
                      </a:pPr>
                      <a:r>
                        <a:rPr lang="es-CO" sz="2000" b="1" dirty="0">
                          <a:solidFill>
                            <a:srgbClr val="FFFFFF"/>
                          </a:solidFill>
                          <a:latin typeface="Noto Sans"/>
                          <a:ea typeface="Noto Sans"/>
                          <a:cs typeface="Noto Sans"/>
                          <a:sym typeface="Noto Sans"/>
                        </a:rPr>
                        <a:t>Institución</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673BA"/>
                    </a:solidFill>
                  </a:tcPr>
                </a:tc>
                <a:tc>
                  <a:txBody>
                    <a:bodyPr/>
                    <a:lstStyle/>
                    <a:p>
                      <a:pPr marL="0" indent="0" algn="l">
                        <a:lnSpc>
                          <a:spcPct val="90000"/>
                        </a:lnSpc>
                        <a:spcBef>
                          <a:spcPts val="0"/>
                        </a:spcBef>
                        <a:spcAft>
                          <a:spcPts val="0"/>
                        </a:spcAft>
                        <a:buNone/>
                      </a:pPr>
                      <a:r>
                        <a:rPr lang="es-CO" sz="2000" b="1" dirty="0">
                          <a:solidFill>
                            <a:srgbClr val="FFFFFF"/>
                          </a:solidFill>
                          <a:latin typeface="Noto Sans"/>
                          <a:ea typeface="Noto Sans"/>
                          <a:cs typeface="Noto Sans"/>
                          <a:sym typeface="Noto Sans"/>
                        </a:rPr>
                        <a:t>Registros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673BA"/>
                    </a:solidFill>
                  </a:tcPr>
                </a:tc>
                <a:tc>
                  <a:txBody>
                    <a:bodyPr/>
                    <a:lstStyle/>
                    <a:p>
                      <a:pPr marL="0" indent="0" algn="l">
                        <a:lnSpc>
                          <a:spcPct val="90000"/>
                        </a:lnSpc>
                        <a:spcBef>
                          <a:spcPts val="0"/>
                        </a:spcBef>
                        <a:spcAft>
                          <a:spcPts val="0"/>
                        </a:spcAft>
                        <a:buNone/>
                      </a:pPr>
                      <a:r>
                        <a:rPr lang="es-CO" sz="2000" b="1" dirty="0">
                          <a:solidFill>
                            <a:srgbClr val="FFFFFF"/>
                          </a:solidFill>
                          <a:latin typeface="Noto Sans"/>
                          <a:ea typeface="Noto Sans"/>
                          <a:cs typeface="Noto Sans"/>
                          <a:sym typeface="Noto Sans"/>
                        </a:rPr>
                        <a:t>Fallecidos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673BA"/>
                    </a:solidFill>
                  </a:tcPr>
                </a:tc>
                <a:extLst>
                  <a:ext uri="{0D108BD9-81ED-4DB2-BD59-A6C34878D82A}">
                    <a16:rowId xmlns:a16="http://schemas.microsoft.com/office/drawing/2014/main" val="10000"/>
                  </a:ext>
                </a:extLst>
              </a:tr>
              <a:tr h="384048">
                <a:tc>
                  <a:txBody>
                    <a:bodyPr/>
                    <a:lstStyle/>
                    <a:p>
                      <a:pPr marL="0" indent="0" algn="l">
                        <a:lnSpc>
                          <a:spcPct val="90000"/>
                        </a:lnSpc>
                        <a:spcBef>
                          <a:spcPts val="0"/>
                        </a:spcBef>
                        <a:spcAft>
                          <a:spcPts val="0"/>
                        </a:spcAft>
                        <a:buNone/>
                      </a:pPr>
                      <a:r>
                        <a:rPr lang="es-CO" sz="2000" b="0" dirty="0">
                          <a:solidFill>
                            <a:schemeClr val="tx1"/>
                          </a:solidFill>
                          <a:latin typeface="Noto Sans"/>
                          <a:ea typeface="Noto Sans"/>
                          <a:cs typeface="Noto Sans"/>
                          <a:sym typeface="Noto Sans"/>
                        </a:rPr>
                        <a:t>H1</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tc>
                  <a:txBody>
                    <a:bodyPr/>
                    <a:lstStyle/>
                    <a:p>
                      <a:pPr marL="0" indent="0" algn="l">
                        <a:lnSpc>
                          <a:spcPct val="90000"/>
                        </a:lnSpc>
                        <a:spcBef>
                          <a:spcPts val="0"/>
                        </a:spcBef>
                        <a:spcAft>
                          <a:spcPts val="0"/>
                        </a:spcAft>
                        <a:buNone/>
                      </a:pPr>
                      <a:r>
                        <a:rPr lang="es-CO" sz="2000" b="0" dirty="0">
                          <a:solidFill>
                            <a:schemeClr val="tx1"/>
                          </a:solidFill>
                          <a:latin typeface="Noto Sans"/>
                          <a:ea typeface="Noto Sans"/>
                          <a:cs typeface="Noto Sans"/>
                          <a:sym typeface="Noto Sans"/>
                        </a:rPr>
                        <a:t>110</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tc>
                  <a:txBody>
                    <a:bodyPr/>
                    <a:lstStyle/>
                    <a:p>
                      <a:pPr marL="0" indent="0" algn="l">
                        <a:lnSpc>
                          <a:spcPct val="90000"/>
                        </a:lnSpc>
                        <a:spcBef>
                          <a:spcPts val="0"/>
                        </a:spcBef>
                        <a:spcAft>
                          <a:spcPts val="0"/>
                        </a:spcAft>
                        <a:buNone/>
                      </a:pPr>
                      <a:r>
                        <a:rPr lang="es-CO" sz="2000" b="0" dirty="0">
                          <a:solidFill>
                            <a:schemeClr val="tx1"/>
                          </a:solidFill>
                          <a:latin typeface="Noto Sans"/>
                          <a:ea typeface="Noto Sans"/>
                          <a:cs typeface="Noto Sans"/>
                          <a:sym typeface="Noto Sans"/>
                        </a:rPr>
                        <a:t>21</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extLst>
                  <a:ext uri="{0D108BD9-81ED-4DB2-BD59-A6C34878D82A}">
                    <a16:rowId xmlns:a16="http://schemas.microsoft.com/office/drawing/2014/main" val="10001"/>
                  </a:ext>
                </a:extLst>
              </a:tr>
              <a:tr h="384048">
                <a:tc>
                  <a:txBody>
                    <a:bodyPr/>
                    <a:lstStyle/>
                    <a:p>
                      <a:pPr marL="0" indent="0" algn="l">
                        <a:lnSpc>
                          <a:spcPct val="90000"/>
                        </a:lnSpc>
                        <a:spcBef>
                          <a:spcPts val="0"/>
                        </a:spcBef>
                        <a:spcAft>
                          <a:spcPts val="0"/>
                        </a:spcAft>
                        <a:buNone/>
                      </a:pPr>
                      <a:r>
                        <a:rPr lang="es-CO" sz="2000" b="0" dirty="0">
                          <a:solidFill>
                            <a:schemeClr val="tx1"/>
                          </a:solidFill>
                          <a:latin typeface="Noto Sans"/>
                          <a:ea typeface="Noto Sans"/>
                          <a:cs typeface="Noto Sans"/>
                          <a:sym typeface="Noto Sans"/>
                        </a:rPr>
                        <a:t>H2</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tc>
                  <a:txBody>
                    <a:bodyPr/>
                    <a:lstStyle/>
                    <a:p>
                      <a:pPr marL="0" indent="0" algn="l">
                        <a:lnSpc>
                          <a:spcPct val="90000"/>
                        </a:lnSpc>
                        <a:spcBef>
                          <a:spcPts val="0"/>
                        </a:spcBef>
                        <a:spcAft>
                          <a:spcPts val="0"/>
                        </a:spcAft>
                        <a:buNone/>
                      </a:pPr>
                      <a:r>
                        <a:rPr lang="es-CO" sz="2000" b="0" dirty="0">
                          <a:solidFill>
                            <a:schemeClr val="tx1"/>
                          </a:solidFill>
                          <a:latin typeface="Noto Sans"/>
                          <a:ea typeface="Noto Sans"/>
                          <a:cs typeface="Noto Sans"/>
                          <a:sym typeface="Noto Sans"/>
                        </a:rPr>
                        <a:t>261</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tc>
                  <a:txBody>
                    <a:bodyPr/>
                    <a:lstStyle/>
                    <a:p>
                      <a:pPr marL="0" indent="0" algn="l">
                        <a:lnSpc>
                          <a:spcPct val="90000"/>
                        </a:lnSpc>
                        <a:spcBef>
                          <a:spcPts val="0"/>
                        </a:spcBef>
                        <a:spcAft>
                          <a:spcPts val="0"/>
                        </a:spcAft>
                        <a:buNone/>
                      </a:pPr>
                      <a:r>
                        <a:rPr lang="es-CO" sz="2000" b="0" dirty="0">
                          <a:solidFill>
                            <a:schemeClr val="tx1"/>
                          </a:solidFill>
                          <a:latin typeface="Noto Sans"/>
                          <a:ea typeface="Noto Sans"/>
                          <a:cs typeface="Noto Sans"/>
                          <a:sym typeface="Noto Sans"/>
                        </a:rPr>
                        <a:t>25</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extLst>
                  <a:ext uri="{0D108BD9-81ED-4DB2-BD59-A6C34878D82A}">
                    <a16:rowId xmlns:a16="http://schemas.microsoft.com/office/drawing/2014/main" val="10002"/>
                  </a:ext>
                </a:extLst>
              </a:tr>
              <a:tr h="384048">
                <a:tc>
                  <a:txBody>
                    <a:bodyPr/>
                    <a:lstStyle/>
                    <a:p>
                      <a:pPr marL="0" indent="0" algn="l">
                        <a:lnSpc>
                          <a:spcPct val="90000"/>
                        </a:lnSpc>
                        <a:spcBef>
                          <a:spcPts val="0"/>
                        </a:spcBef>
                        <a:spcAft>
                          <a:spcPts val="0"/>
                        </a:spcAft>
                        <a:buNone/>
                      </a:pPr>
                      <a:r>
                        <a:rPr lang="es-CO" sz="2000" b="0" dirty="0">
                          <a:solidFill>
                            <a:schemeClr val="tx1"/>
                          </a:solidFill>
                          <a:latin typeface="Noto Sans"/>
                          <a:ea typeface="Noto Sans"/>
                          <a:cs typeface="Noto Sans"/>
                          <a:sym typeface="Noto Sans"/>
                        </a:rPr>
                        <a:t>H3</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tc>
                  <a:txBody>
                    <a:bodyPr/>
                    <a:lstStyle/>
                    <a:p>
                      <a:pPr marL="0" indent="0" algn="l">
                        <a:lnSpc>
                          <a:spcPct val="90000"/>
                        </a:lnSpc>
                        <a:spcBef>
                          <a:spcPts val="0"/>
                        </a:spcBef>
                        <a:spcAft>
                          <a:spcPts val="0"/>
                        </a:spcAft>
                        <a:buNone/>
                      </a:pPr>
                      <a:r>
                        <a:rPr lang="es-CO" sz="2000" b="0" dirty="0">
                          <a:solidFill>
                            <a:schemeClr val="tx1"/>
                          </a:solidFill>
                          <a:latin typeface="Noto Sans"/>
                          <a:ea typeface="Noto Sans"/>
                          <a:cs typeface="Noto Sans"/>
                          <a:sym typeface="Noto Sans"/>
                        </a:rPr>
                        <a:t>104</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tc>
                  <a:txBody>
                    <a:bodyPr/>
                    <a:lstStyle/>
                    <a:p>
                      <a:pPr marL="0" indent="0" algn="l">
                        <a:lnSpc>
                          <a:spcPct val="90000"/>
                        </a:lnSpc>
                        <a:spcBef>
                          <a:spcPts val="0"/>
                        </a:spcBef>
                        <a:spcAft>
                          <a:spcPts val="0"/>
                        </a:spcAft>
                        <a:buNone/>
                      </a:pPr>
                      <a:r>
                        <a:rPr lang="es-CO" sz="2000" b="0" dirty="0">
                          <a:solidFill>
                            <a:schemeClr val="tx1"/>
                          </a:solidFill>
                          <a:latin typeface="Noto Sans"/>
                          <a:ea typeface="Noto Sans"/>
                          <a:cs typeface="Noto Sans"/>
                          <a:sym typeface="Noto Sans"/>
                        </a:rPr>
                        <a:t>17</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extLst>
                  <a:ext uri="{0D108BD9-81ED-4DB2-BD59-A6C34878D82A}">
                    <a16:rowId xmlns:a16="http://schemas.microsoft.com/office/drawing/2014/main" val="10003"/>
                  </a:ext>
                </a:extLst>
              </a:tr>
              <a:tr h="384048">
                <a:tc>
                  <a:txBody>
                    <a:bodyPr/>
                    <a:lstStyle/>
                    <a:p>
                      <a:pPr marL="0" indent="0" algn="l">
                        <a:lnSpc>
                          <a:spcPct val="90000"/>
                        </a:lnSpc>
                        <a:spcBef>
                          <a:spcPts val="0"/>
                        </a:spcBef>
                        <a:spcAft>
                          <a:spcPts val="0"/>
                        </a:spcAft>
                        <a:buNone/>
                      </a:pPr>
                      <a:r>
                        <a:rPr lang="es-CO" sz="2000" b="0" dirty="0">
                          <a:solidFill>
                            <a:schemeClr val="tx1"/>
                          </a:solidFill>
                          <a:latin typeface="Noto Sans"/>
                          <a:ea typeface="Noto Sans"/>
                          <a:cs typeface="Noto Sans"/>
                          <a:sym typeface="Noto Sans"/>
                        </a:rPr>
                        <a:t>H4</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tc>
                  <a:txBody>
                    <a:bodyPr/>
                    <a:lstStyle/>
                    <a:p>
                      <a:pPr marL="0" indent="0" algn="l">
                        <a:lnSpc>
                          <a:spcPct val="90000"/>
                        </a:lnSpc>
                        <a:spcBef>
                          <a:spcPts val="0"/>
                        </a:spcBef>
                        <a:spcAft>
                          <a:spcPts val="0"/>
                        </a:spcAft>
                        <a:buNone/>
                      </a:pPr>
                      <a:r>
                        <a:rPr lang="es-CO" sz="2000" b="0" dirty="0">
                          <a:solidFill>
                            <a:schemeClr val="tx1"/>
                          </a:solidFill>
                          <a:latin typeface="Noto Sans"/>
                          <a:ea typeface="Noto Sans"/>
                          <a:cs typeface="Noto Sans"/>
                          <a:sym typeface="Noto Sans"/>
                        </a:rPr>
                        <a:t>46</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tc>
                  <a:txBody>
                    <a:bodyPr/>
                    <a:lstStyle/>
                    <a:p>
                      <a:pPr marL="0" indent="0" algn="l">
                        <a:lnSpc>
                          <a:spcPct val="90000"/>
                        </a:lnSpc>
                        <a:spcBef>
                          <a:spcPts val="0"/>
                        </a:spcBef>
                        <a:spcAft>
                          <a:spcPts val="0"/>
                        </a:spcAft>
                        <a:buNone/>
                      </a:pPr>
                      <a:r>
                        <a:rPr lang="es-CO" sz="2000" b="0" dirty="0">
                          <a:solidFill>
                            <a:schemeClr val="tx1"/>
                          </a:solidFill>
                          <a:latin typeface="Noto Sans"/>
                          <a:ea typeface="Noto Sans"/>
                          <a:cs typeface="Noto Sans"/>
                          <a:sym typeface="Noto Sans"/>
                        </a:rPr>
                        <a:t>17</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extLst>
                  <a:ext uri="{0D108BD9-81ED-4DB2-BD59-A6C34878D82A}">
                    <a16:rowId xmlns:a16="http://schemas.microsoft.com/office/drawing/2014/main" val="10004"/>
                  </a:ext>
                </a:extLst>
              </a:tr>
              <a:tr h="384048">
                <a:tc>
                  <a:txBody>
                    <a:bodyPr/>
                    <a:lstStyle/>
                    <a:p>
                      <a:pPr marL="0" indent="0" algn="l">
                        <a:lnSpc>
                          <a:spcPct val="90000"/>
                        </a:lnSpc>
                        <a:spcBef>
                          <a:spcPts val="0"/>
                        </a:spcBef>
                        <a:spcAft>
                          <a:spcPts val="0"/>
                        </a:spcAft>
                        <a:buNone/>
                      </a:pPr>
                      <a:r>
                        <a:rPr lang="es-CO" sz="2000" b="0" dirty="0">
                          <a:solidFill>
                            <a:schemeClr val="tx1"/>
                          </a:solidFill>
                          <a:latin typeface="Noto Sans"/>
                          <a:ea typeface="Noto Sans"/>
                          <a:cs typeface="Noto Sans"/>
                          <a:sym typeface="Noto Sans"/>
                        </a:rPr>
                        <a:t>H5</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tc>
                  <a:txBody>
                    <a:bodyPr/>
                    <a:lstStyle/>
                    <a:p>
                      <a:pPr marL="0" indent="0" algn="l">
                        <a:lnSpc>
                          <a:spcPct val="90000"/>
                        </a:lnSpc>
                        <a:spcBef>
                          <a:spcPts val="0"/>
                        </a:spcBef>
                        <a:spcAft>
                          <a:spcPts val="0"/>
                        </a:spcAft>
                        <a:buNone/>
                      </a:pPr>
                      <a:r>
                        <a:rPr lang="es-CO" sz="2000" b="0" dirty="0">
                          <a:solidFill>
                            <a:schemeClr val="tx1"/>
                          </a:solidFill>
                          <a:latin typeface="Noto Sans"/>
                          <a:ea typeface="Noto Sans"/>
                          <a:cs typeface="Noto Sans"/>
                          <a:sym typeface="Noto Sans"/>
                        </a:rPr>
                        <a:t>50</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tc>
                  <a:txBody>
                    <a:bodyPr/>
                    <a:lstStyle/>
                    <a:p>
                      <a:pPr marL="0" indent="0" algn="l">
                        <a:lnSpc>
                          <a:spcPct val="90000"/>
                        </a:lnSpc>
                        <a:spcBef>
                          <a:spcPts val="0"/>
                        </a:spcBef>
                        <a:spcAft>
                          <a:spcPts val="0"/>
                        </a:spcAft>
                        <a:buNone/>
                      </a:pPr>
                      <a:r>
                        <a:rPr lang="es-CO" sz="2000" b="0" dirty="0">
                          <a:solidFill>
                            <a:schemeClr val="tx1"/>
                          </a:solidFill>
                          <a:latin typeface="Noto Sans"/>
                          <a:ea typeface="Noto Sans"/>
                          <a:cs typeface="Noto Sans"/>
                          <a:sym typeface="Noto Sans"/>
                        </a:rPr>
                        <a:t>17</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extLst>
                  <a:ext uri="{0D108BD9-81ED-4DB2-BD59-A6C34878D82A}">
                    <a16:rowId xmlns:a16="http://schemas.microsoft.com/office/drawing/2014/main" val="10005"/>
                  </a:ext>
                </a:extLst>
              </a:tr>
            </a:tbl>
          </a:graphicData>
        </a:graphic>
      </p:graphicFrame>
      <p:sp>
        <p:nvSpPr>
          <p:cNvPr id="5" name="TextBox 5"/>
          <p:cNvSpPr txBox="1"/>
          <p:nvPr/>
        </p:nvSpPr>
        <p:spPr>
          <a:xfrm>
            <a:off x="6035040" y="3108960"/>
            <a:ext cx="5605272" cy="2304288"/>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2400"/>
              </a:spcAft>
              <a:buNone/>
            </a:pPr>
            <a:r>
              <a:rPr lang="es-CO" sz="2200" b="0" dirty="0">
                <a:solidFill>
                  <a:schemeClr val="tx1"/>
                </a:solidFill>
                <a:latin typeface="Noto Sans"/>
                <a:ea typeface="Noto Sans"/>
                <a:cs typeface="Noto Sans"/>
                <a:sym typeface="Noto Sans"/>
              </a:rPr>
              <a:t>Al ponderar por registros, H2 contaría cerca de 6 veces más que H4, aunque solo registró 25 fallecidos frente a 17.</a:t>
            </a:r>
          </a:p>
          <a:p>
            <a:pPr marL="0" indent="0" algn="just">
              <a:lnSpc>
                <a:spcPct val="90000"/>
              </a:lnSpc>
              <a:spcBef>
                <a:spcPts val="0"/>
              </a:spcBef>
              <a:spcAft>
                <a:spcPts val="0"/>
              </a:spcAft>
              <a:buNone/>
            </a:pPr>
            <a:r>
              <a:rPr lang="es-CO" sz="2200" b="0" dirty="0">
                <a:solidFill>
                  <a:schemeClr val="tx1"/>
                </a:solidFill>
                <a:latin typeface="Noto Sans"/>
                <a:ea typeface="Noto Sans"/>
                <a:cs typeface="Noto Sans"/>
                <a:sym typeface="Noto Sans"/>
              </a:rPr>
              <a:t>Un mejor peso es el error estándar (</a:t>
            </a:r>
            <a:r>
              <a:rPr lang="es-CO" sz="2200" b="1" dirty="0">
                <a:solidFill>
                  <a:schemeClr val="tx1"/>
                </a:solidFill>
                <a:latin typeface="Noto Sans"/>
                <a:ea typeface="Noto Sans"/>
                <a:cs typeface="Noto Sans"/>
                <a:sym typeface="Noto Sans"/>
              </a:rPr>
              <a:t>SE</a:t>
            </a:r>
            <a:r>
              <a:rPr lang="es-CO" sz="2200" b="1" baseline="-25000" dirty="0">
                <a:solidFill>
                  <a:schemeClr val="tx1"/>
                </a:solidFill>
                <a:latin typeface="Noto Sans"/>
                <a:ea typeface="Noto Sans"/>
                <a:cs typeface="Noto Sans"/>
                <a:sym typeface="Noto Sans"/>
              </a:rPr>
              <a:t>i</a:t>
            </a:r>
            <a:r>
              <a:rPr lang="es-CO" sz="2200" b="0" dirty="0">
                <a:solidFill>
                  <a:schemeClr val="tx1"/>
                </a:solidFill>
                <a:latin typeface="Noto Sans"/>
                <a:ea typeface="Noto Sans"/>
                <a:cs typeface="Noto Sans"/>
                <a:sym typeface="Noto Sans"/>
              </a:rPr>
              <a:t>) que cada institución ya comparte, y que mide qué tan preciso es su resultado.</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1EBD6-C7C9-BF16-ACEA-6AD28BB38607}"/>
            </a:ext>
          </a:extLst>
        </p:cNvPr>
        <p:cNvGrpSpPr/>
        <p:nvPr/>
      </p:nvGrpSpPr>
      <p:grpSpPr>
        <a:xfrm>
          <a:off x="0" y="0"/>
          <a:ext cx="0" cy="0"/>
          <a:chOff x="0" y="0"/>
          <a:chExt cx="0" cy="0"/>
        </a:xfrm>
      </p:grpSpPr>
      <p:sp>
        <p:nvSpPr>
          <p:cNvPr id="2" name="Title 2">
            <a:extLst>
              <a:ext uri="{FF2B5EF4-FFF2-40B4-BE49-F238E27FC236}">
                <a16:creationId xmlns:a16="http://schemas.microsoft.com/office/drawing/2014/main" id="{ADE9D072-16D7-35B3-6820-F937C26FFD98}"/>
              </a:ext>
            </a:extLst>
          </p:cNvPr>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5. Enfoque federado</a:t>
            </a:r>
            <a:endParaRPr lang="es-CO" sz="3600" dirty="0"/>
          </a:p>
        </p:txBody>
      </p:sp>
      <p:sp>
        <p:nvSpPr>
          <p:cNvPr id="3" name="TextBox 3">
            <a:extLst>
              <a:ext uri="{FF2B5EF4-FFF2-40B4-BE49-F238E27FC236}">
                <a16:creationId xmlns:a16="http://schemas.microsoft.com/office/drawing/2014/main" id="{83DCEF2E-139A-61CD-6AB2-730280F49F23}"/>
              </a:ext>
            </a:extLst>
          </p:cNvPr>
          <p:cNvSpPr txBox="1"/>
          <p:nvPr/>
        </p:nvSpPr>
        <p:spPr>
          <a:xfrm>
            <a:off x="548640" y="1737360"/>
            <a:ext cx="11091672" cy="4434840"/>
          </a:xfrm>
          <a:prstGeom prst="rect">
            <a:avLst/>
          </a:prstGeom>
          <a:noFill/>
          <a:ln>
            <a:noFill/>
          </a:ln>
        </p:spPr>
        <p:txBody>
          <a:bodyPr wrap="square" lIns="45720" tIns="45720" rIns="45720" bIns="45720" rtlCol="0" anchor="t">
            <a:noAutofit/>
          </a:bodyPr>
          <a:lstStyle/>
          <a:p>
            <a:pPr algn="just">
              <a:lnSpc>
                <a:spcPct val="90000"/>
              </a:lnSpc>
              <a:spcAft>
                <a:spcPts val="2400"/>
              </a:spcAft>
            </a:pPr>
            <a:r>
              <a:rPr lang="es-CO" sz="2200" dirty="0">
                <a:solidFill>
                  <a:schemeClr val="tx1"/>
                </a:solidFill>
                <a:latin typeface="Noto Sans"/>
                <a:ea typeface="Noto Sans"/>
                <a:cs typeface="Noto Sans"/>
                <a:sym typeface="Noto Sans"/>
              </a:rPr>
              <a:t>También se debe </a:t>
            </a:r>
            <a:r>
              <a:rPr lang="es-CO" sz="2200" b="1" dirty="0">
                <a:solidFill>
                  <a:schemeClr val="tx1"/>
                </a:solidFill>
                <a:latin typeface="Noto Sans"/>
                <a:ea typeface="Noto Sans"/>
                <a:cs typeface="Noto Sans"/>
                <a:sym typeface="Noto Sans"/>
              </a:rPr>
              <a:t>escoger adecuadamente que datos combinar</a:t>
            </a:r>
            <a:r>
              <a:rPr lang="es-CO" sz="2200" dirty="0">
                <a:solidFill>
                  <a:schemeClr val="tx1"/>
                </a:solidFill>
                <a:latin typeface="Noto Sans"/>
                <a:ea typeface="Noto Sans"/>
                <a:cs typeface="Noto Sans"/>
                <a:sym typeface="Noto Sans"/>
              </a:rPr>
              <a:t>. Los </a:t>
            </a:r>
            <a:r>
              <a:rPr lang="es-CO" sz="2200" dirty="0" err="1">
                <a:solidFill>
                  <a:schemeClr val="tx1"/>
                </a:solidFill>
                <a:latin typeface="Noto Sans"/>
                <a:ea typeface="Noto Sans"/>
                <a:cs typeface="Noto Sans"/>
                <a:sym typeface="Noto Sans"/>
              </a:rPr>
              <a:t>odds</a:t>
            </a:r>
            <a:r>
              <a:rPr lang="es-CO" sz="2200" dirty="0">
                <a:solidFill>
                  <a:schemeClr val="tx1"/>
                </a:solidFill>
                <a:latin typeface="Noto Sans"/>
                <a:ea typeface="Noto Sans"/>
                <a:cs typeface="Noto Sans"/>
                <a:sym typeface="Noto Sans"/>
              </a:rPr>
              <a:t> ratio no son simétricos alrededor de 1. </a:t>
            </a:r>
          </a:p>
          <a:p>
            <a:pPr algn="just">
              <a:lnSpc>
                <a:spcPct val="90000"/>
              </a:lnSpc>
              <a:spcAft>
                <a:spcPts val="2400"/>
              </a:spcAft>
            </a:pPr>
            <a:r>
              <a:rPr lang="es-CO" sz="2200" dirty="0">
                <a:solidFill>
                  <a:schemeClr val="tx1"/>
                </a:solidFill>
                <a:latin typeface="Noto Sans"/>
                <a:ea typeface="Noto Sans"/>
                <a:cs typeface="Noto Sans"/>
                <a:sym typeface="Noto Sans"/>
              </a:rPr>
              <a:t>Por ejemplo, 0.5 y 2 son efectos iguales y opuestos, pero su promedio es 1.25. los coeficientes asociados a esos valores son −0.69 y 0.69. Estos valores promedian 0, lo que corresponde a un odds ratio de 1.</a:t>
            </a:r>
          </a:p>
          <a:p>
            <a:pPr algn="just">
              <a:lnSpc>
                <a:spcPct val="90000"/>
              </a:lnSpc>
              <a:spcAft>
                <a:spcPts val="2400"/>
              </a:spcAft>
            </a:pPr>
            <a:r>
              <a:rPr lang="es-CO" sz="2200" dirty="0">
                <a:solidFill>
                  <a:schemeClr val="tx1"/>
                </a:solidFill>
                <a:latin typeface="Noto Sans"/>
                <a:ea typeface="Noto Sans"/>
                <a:cs typeface="Noto Sans"/>
                <a:sym typeface="Noto Sans"/>
              </a:rPr>
              <a:t>De acuerdo con lo anterior, lo recomendable es combinar los coeficientes.</a:t>
            </a:r>
          </a:p>
        </p:txBody>
      </p:sp>
    </p:spTree>
    <p:extLst>
      <p:ext uri="{BB962C8B-B14F-4D97-AF65-F5344CB8AC3E}">
        <p14:creationId xmlns:p14="http://schemas.microsoft.com/office/powerpoint/2010/main" val="24528126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5. Enfoque federado</a:t>
            </a:r>
            <a:endParaRPr lang="es-CO" sz="3600" dirty="0"/>
          </a:p>
        </p:txBody>
      </p:sp>
      <p:sp>
        <p:nvSpPr>
          <p:cNvPr id="3" name="TextBox 3"/>
          <p:cNvSpPr txBox="1"/>
          <p:nvPr/>
        </p:nvSpPr>
        <p:spPr>
          <a:xfrm>
            <a:off x="548640" y="1737360"/>
            <a:ext cx="11091672" cy="82296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0"/>
              </a:spcAft>
              <a:buNone/>
            </a:pPr>
            <a:r>
              <a:rPr lang="es-CO" sz="2200" b="0" dirty="0">
                <a:solidFill>
                  <a:schemeClr val="tx1"/>
                </a:solidFill>
                <a:latin typeface="Noto Sans"/>
                <a:ea typeface="Noto Sans"/>
                <a:cs typeface="Noto Sans"/>
                <a:sym typeface="Noto Sans"/>
              </a:rPr>
              <a:t>Cada combinación se basará en el coeficiente (</a:t>
            </a:r>
            <a:r>
              <a:rPr lang="es-CO" sz="2200" b="1" dirty="0">
                <a:solidFill>
                  <a:schemeClr val="tx1"/>
                </a:solidFill>
                <a:latin typeface="Noto Sans"/>
                <a:ea typeface="Noto Sans"/>
                <a:cs typeface="Noto Sans"/>
                <a:sym typeface="Noto Sans"/>
              </a:rPr>
              <a:t>β</a:t>
            </a:r>
            <a:r>
              <a:rPr lang="es-CO" sz="2200" b="1" baseline="-25000" dirty="0">
                <a:solidFill>
                  <a:schemeClr val="tx1"/>
                </a:solidFill>
                <a:latin typeface="Noto Sans"/>
                <a:ea typeface="Noto Sans"/>
                <a:cs typeface="Noto Sans"/>
                <a:sym typeface="Noto Sans"/>
              </a:rPr>
              <a:t>i</a:t>
            </a:r>
            <a:r>
              <a:rPr lang="es-CO" sz="2200" b="0" dirty="0">
                <a:solidFill>
                  <a:schemeClr val="tx1"/>
                </a:solidFill>
                <a:latin typeface="Noto Sans"/>
                <a:ea typeface="Noto Sans"/>
                <a:cs typeface="Noto Sans"/>
                <a:sym typeface="Noto Sans"/>
              </a:rPr>
              <a:t>) y el error estándar (</a:t>
            </a:r>
            <a:r>
              <a:rPr lang="es-CO" sz="2200" b="1" dirty="0">
                <a:solidFill>
                  <a:schemeClr val="tx1"/>
                </a:solidFill>
                <a:latin typeface="Noto Sans"/>
                <a:ea typeface="Noto Sans"/>
                <a:cs typeface="Noto Sans"/>
                <a:sym typeface="Noto Sans"/>
              </a:rPr>
              <a:t>SE</a:t>
            </a:r>
            <a:r>
              <a:rPr lang="es-CO" sz="2200" b="1" baseline="-25000" dirty="0">
                <a:solidFill>
                  <a:schemeClr val="tx1"/>
                </a:solidFill>
                <a:latin typeface="Noto Sans"/>
                <a:ea typeface="Noto Sans"/>
                <a:cs typeface="Noto Sans"/>
                <a:sym typeface="Noto Sans"/>
              </a:rPr>
              <a:t>i</a:t>
            </a:r>
            <a:r>
              <a:rPr lang="es-CO" sz="2200" b="0" dirty="0">
                <a:solidFill>
                  <a:schemeClr val="tx1"/>
                </a:solidFill>
                <a:latin typeface="Noto Sans"/>
                <a:ea typeface="Noto Sans"/>
                <a:cs typeface="Noto Sans"/>
                <a:sym typeface="Noto Sans"/>
              </a:rPr>
              <a:t>) de cada institución, en tres pasos.</a:t>
            </a:r>
          </a:p>
        </p:txBody>
      </p:sp>
      <p:sp>
        <p:nvSpPr>
          <p:cNvPr id="4" name="TextBox 4"/>
          <p:cNvSpPr txBox="1"/>
          <p:nvPr/>
        </p:nvSpPr>
        <p:spPr>
          <a:xfrm>
            <a:off x="548640" y="2514600"/>
            <a:ext cx="11091672" cy="77724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0"/>
              </a:spcAft>
              <a:buNone/>
            </a:pPr>
            <a:r>
              <a:rPr lang="es-CO" sz="2200" b="1" dirty="0">
                <a:solidFill>
                  <a:schemeClr val="tx1"/>
                </a:solidFill>
                <a:latin typeface="Noto Sans"/>
                <a:ea typeface="Noto Sans"/>
                <a:cs typeface="Noto Sans"/>
                <a:sym typeface="Noto Sans"/>
              </a:rPr>
              <a:t>1)</a:t>
            </a:r>
            <a:r>
              <a:rPr lang="es-CO" sz="2200" b="0" dirty="0">
                <a:solidFill>
                  <a:schemeClr val="tx1"/>
                </a:solidFill>
                <a:latin typeface="Noto Sans"/>
                <a:ea typeface="Noto Sans"/>
                <a:cs typeface="Noto Sans"/>
                <a:sym typeface="Noto Sans"/>
              </a:rPr>
              <a:t> Cada institución recibe un peso igual a uno sobre su error estándar al cuadrado, de modo que las estimaciones más precisas cuentan más.</a:t>
            </a:r>
          </a:p>
        </p:txBody>
      </p:sp>
      <mc:AlternateContent xmlns:mc="http://schemas.openxmlformats.org/markup-compatibility/2006" xmlns:a14="http://schemas.microsoft.com/office/drawing/2010/main">
        <mc:Choice Requires="a14">
          <p:sp>
            <p:nvSpPr>
              <p:cNvPr id="5" name="Equation 5"/>
              <p:cNvSpPr txBox="1"/>
              <p:nvPr/>
            </p:nvSpPr>
            <p:spPr>
              <a:xfrm>
                <a:off x="548640" y="3291840"/>
                <a:ext cx="11091672" cy="822960"/>
              </a:xfrm>
              <a:prstGeom prst="rect">
                <a:avLst/>
              </a:prstGeom>
              <a:noFill/>
            </p:spPr>
            <p:txBody>
              <a:bodyPr wrap="square" anchor="ctr">
                <a:noAutofit/>
              </a:bodyPr>
              <a:lstStyle/>
              <a:p>
                <a:pPr algn="ctr"/>
                <a14:m>
                  <m:oMathPara xmlns:m="http://schemas.openxmlformats.org/officeDocument/2006/math">
                    <m:oMath>
                      <m:sSub>
                        <m:sSubPr>
                          <m:ctrlPr>
                            <a:rPr lang="es-CO" sz="2400" i="1">
                              <a:latin typeface="Cambria Math"/>
                            </a:rPr>
                          </m:ctrlPr>
                        </m:sSubPr>
                        <m:e>
                          <m:r>
                            <a:rPr lang="es-CO" sz="2400" i="1">
                              <a:latin typeface="Cambria Math"/>
                            </a:rPr>
                            <m:t>𝑤</m:t>
                          </m:r>
                        </m:e>
                        <m:sub>
                          <m:r>
                            <a:rPr lang="es-CO" sz="2400" i="1">
                              <a:latin typeface="Cambria Math"/>
                            </a:rPr>
                            <m:t>𝑖</m:t>
                          </m:r>
                        </m:sub>
                      </m:sSub>
                      <m:r>
                        <a:rPr lang="es-CO" sz="2400" i="0">
                          <a:latin typeface="Cambria Math"/>
                        </a:rPr>
                        <m:t>=</m:t>
                      </m:r>
                      <m:f>
                        <m:fPr>
                          <m:ctrlPr>
                            <a:rPr lang="es-CO" sz="2400" i="0">
                              <a:latin typeface="Cambria Math"/>
                            </a:rPr>
                          </m:ctrlPr>
                        </m:fPr>
                        <m:num>
                          <m:r>
                            <a:rPr lang="es-CO" sz="2400" i="0">
                              <a:latin typeface="Cambria Math"/>
                            </a:rPr>
                            <m:t>1</m:t>
                          </m:r>
                        </m:num>
                        <m:den>
                          <m:sSubSup>
                            <m:sSubSupPr>
                              <m:ctrlPr>
                                <a:rPr lang="es-CO" sz="2400" i="0">
                                  <a:latin typeface="Cambria Math"/>
                                </a:rPr>
                              </m:ctrlPr>
                            </m:sSubSupPr>
                            <m:e>
                              <m:r>
                                <m:rPr>
                                  <m:sty m:val="p"/>
                                </m:rPr>
                                <a:rPr lang="es-CO" sz="2400" i="0">
                                  <a:latin typeface="Cambria Math"/>
                                </a:rPr>
                                <m:t>SE</m:t>
                              </m:r>
                            </m:e>
                            <m:sub>
                              <m:r>
                                <a:rPr lang="es-CO" sz="2400" i="1">
                                  <a:latin typeface="Cambria Math"/>
                                </a:rPr>
                                <m:t>𝑖</m:t>
                              </m:r>
                            </m:sub>
                            <m:sup>
                              <m:r>
                                <a:rPr lang="es-CO" sz="2400" i="0">
                                  <a:latin typeface="Cambria Math"/>
                                </a:rPr>
                                <m:t>2</m:t>
                              </m:r>
                            </m:sup>
                          </m:sSubSup>
                        </m:den>
                      </m:f>
                    </m:oMath>
                  </m:oMathPara>
                </a14:m>
                <a:endParaRPr/>
              </a:p>
            </p:txBody>
          </p:sp>
        </mc:Choice>
        <mc:Fallback xmlns="">
          <p:sp>
            <p:nvSpPr>
              <p:cNvPr id="5" name="Equation 5"/>
              <p:cNvSpPr txBox="1"/>
              <p:nvPr/>
            </p:nvSpPr>
            <p:spPr>
              <a:xfrm>
                <a:off x="548640" y="3291840"/>
                <a:ext cx="11091672" cy="822960"/>
              </a:xfrm>
              <a:prstGeom prst="rect">
                <a:avLst/>
              </a:prstGeom>
              <a:noFill/>
            </p:spPr>
            <p:txBody>
              <a:bodyPr wrap="square" anchor="ctr">
                <a:noAutofit/>
              </a:bodyPr>
              <a:lstStyle/>
              <a:p>
                <a:pPr algn="ctr"/>
                <a:r>
                  <a:rPr lang="es-CO" sz="2400" b="0" dirty="0">
                    <a:solidFill>
                      <a:schemeClr val="tx1"/>
                    </a:solidFill>
                    <a:latin typeface="Noto Sans"/>
                    <a:ea typeface="Noto Sans"/>
                    <a:cs typeface="Noto Sans"/>
                    <a:sym typeface="Noto Sans"/>
                  </a:rPr>
                  <a:t>wᵢ = 1 / SEᵢ²</a:t>
                </a:r>
              </a:p>
            </p:txBody>
          </p:sp>
        </mc:Fallback>
      </mc:AlternateContent>
      <p:sp>
        <p:nvSpPr>
          <p:cNvPr id="6" name="TextBox 6"/>
          <p:cNvSpPr txBox="1"/>
          <p:nvPr/>
        </p:nvSpPr>
        <p:spPr>
          <a:xfrm>
            <a:off x="548640" y="4160520"/>
            <a:ext cx="11091672" cy="77724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0"/>
              </a:spcAft>
              <a:buNone/>
            </a:pPr>
            <a:r>
              <a:rPr lang="es-CO" sz="2200" b="1" dirty="0">
                <a:solidFill>
                  <a:schemeClr val="tx1"/>
                </a:solidFill>
                <a:latin typeface="Noto Sans"/>
                <a:ea typeface="Noto Sans"/>
                <a:cs typeface="Noto Sans"/>
                <a:sym typeface="Noto Sans"/>
              </a:rPr>
              <a:t>2)</a:t>
            </a:r>
            <a:r>
              <a:rPr lang="es-CO" sz="2200" b="0" dirty="0">
                <a:solidFill>
                  <a:schemeClr val="tx1"/>
                </a:solidFill>
                <a:latin typeface="Noto Sans"/>
                <a:ea typeface="Noto Sans"/>
                <a:cs typeface="Noto Sans"/>
                <a:sym typeface="Noto Sans"/>
              </a:rPr>
              <a:t> El coeficiente combinado es el promedio ponderado de los coeficientes, y su error estándar se obtiene de la suma de los pesos.</a:t>
            </a:r>
          </a:p>
        </p:txBody>
      </p:sp>
      <mc:AlternateContent xmlns:mc="http://schemas.openxmlformats.org/markup-compatibility/2006" xmlns:a14="http://schemas.microsoft.com/office/drawing/2010/main">
        <mc:Choice Requires="a14">
          <p:sp>
            <p:nvSpPr>
              <p:cNvPr id="7" name="Equation 7"/>
              <p:cNvSpPr txBox="1"/>
              <p:nvPr/>
            </p:nvSpPr>
            <p:spPr>
              <a:xfrm>
                <a:off x="548640" y="4937760"/>
                <a:ext cx="11091672" cy="1280160"/>
              </a:xfrm>
              <a:prstGeom prst="rect">
                <a:avLst/>
              </a:prstGeom>
              <a:noFill/>
            </p:spPr>
            <p:txBody>
              <a:bodyPr wrap="square" anchor="ctr">
                <a:noAutofit/>
              </a:bodyPr>
              <a:lstStyle/>
              <a:p>
                <a:pPr algn="ctr"/>
                <a14:m>
                  <m:oMathPara xmlns:m="http://schemas.openxmlformats.org/officeDocument/2006/math">
                    <m:oMath>
                      <m:acc>
                        <m:accPr>
                          <m:chr m:val="̂"/>
                          <m:ctrlPr>
                            <a:rPr lang="es-CO" sz="2400" i="1">
                              <a:latin typeface="Cambria Math"/>
                            </a:rPr>
                          </m:ctrlPr>
                        </m:accPr>
                        <m:e>
                          <m:r>
                            <a:rPr lang="es-CO" sz="2400" i="1">
                              <a:latin typeface="Cambria Math"/>
                            </a:rPr>
                            <m:t>𝛽</m:t>
                          </m:r>
                        </m:e>
                      </m:acc>
                      <m:r>
                        <a:rPr lang="es-CO" sz="2400" i="0">
                          <a:latin typeface="Cambria Math"/>
                        </a:rPr>
                        <m:t>=</m:t>
                      </m:r>
                      <m:f>
                        <m:fPr>
                          <m:ctrlPr>
                            <a:rPr lang="es-CO" sz="2400" i="1">
                              <a:latin typeface="Cambria Math" panose="02040503050406030204" pitchFamily="18" charset="0"/>
                            </a:rPr>
                          </m:ctrlPr>
                        </m:fPr>
                        <m:num>
                          <m:nary>
                            <m:naryPr>
                              <m:chr m:val="∑"/>
                              <m:ctrlPr>
                                <a:rPr lang="es-CO" sz="2400" i="1">
                                  <a:latin typeface="Cambria Math"/>
                                </a:rPr>
                              </m:ctrlPr>
                            </m:naryPr>
                            <m:sub>
                              <m:r>
                                <a:rPr lang="es-CO" sz="2400" i="1">
                                  <a:latin typeface="Cambria Math"/>
                                </a:rPr>
                                <m:t>𝑖</m:t>
                              </m:r>
                              <m:r>
                                <a:rPr lang="es-CO" sz="2400" i="0">
                                  <a:latin typeface="Cambria Math"/>
                                </a:rPr>
                                <m:t>=1</m:t>
                              </m:r>
                            </m:sub>
                            <m:sup>
                              <m:r>
                                <a:rPr lang="es-CO" sz="2400" i="1">
                                  <a:latin typeface="Cambria Math"/>
                                </a:rPr>
                                <m:t>𝑘</m:t>
                              </m:r>
                            </m:sup>
                            <m:e>
                              <m:sSub>
                                <m:sSubPr>
                                  <m:ctrlPr>
                                    <a:rPr lang="es-CO" sz="2400" i="1">
                                      <a:latin typeface="Cambria Math"/>
                                    </a:rPr>
                                  </m:ctrlPr>
                                </m:sSubPr>
                                <m:e>
                                  <m:r>
                                    <a:rPr lang="es-CO" sz="2400" i="1">
                                      <a:latin typeface="Cambria Math"/>
                                    </a:rPr>
                                    <m:t>𝑤</m:t>
                                  </m:r>
                                </m:e>
                                <m:sub>
                                  <m:r>
                                    <a:rPr lang="es-CO" sz="2400" i="1">
                                      <a:latin typeface="Cambria Math"/>
                                    </a:rPr>
                                    <m:t>𝑖</m:t>
                                  </m:r>
                                </m:sub>
                              </m:sSub>
                              <m:sSub>
                                <m:sSubPr>
                                  <m:ctrlPr>
                                    <a:rPr lang="es-CO" sz="2400" i="1">
                                      <a:latin typeface="Cambria Math"/>
                                    </a:rPr>
                                  </m:ctrlPr>
                                </m:sSubPr>
                                <m:e>
                                  <m:r>
                                    <a:rPr lang="es-CO" sz="2400" i="1">
                                      <a:latin typeface="Cambria Math"/>
                                    </a:rPr>
                                    <m:t>𝛽</m:t>
                                  </m:r>
                                </m:e>
                                <m:sub>
                                  <m:r>
                                    <a:rPr lang="es-CO" sz="2400" i="1">
                                      <a:latin typeface="Cambria Math"/>
                                    </a:rPr>
                                    <m:t>𝑖</m:t>
                                  </m:r>
                                </m:sub>
                              </m:sSub>
                            </m:e>
                          </m:nary>
                        </m:num>
                        <m:den>
                          <m:nary>
                            <m:naryPr>
                              <m:chr m:val="∑"/>
                              <m:ctrlPr>
                                <a:rPr lang="es-CO" sz="2400" i="1">
                                  <a:latin typeface="Cambria Math"/>
                                </a:rPr>
                              </m:ctrlPr>
                            </m:naryPr>
                            <m:sub>
                              <m:r>
                                <a:rPr lang="es-CO" sz="2400" i="1">
                                  <a:latin typeface="Cambria Math"/>
                                </a:rPr>
                                <m:t>𝑖</m:t>
                              </m:r>
                              <m:r>
                                <a:rPr lang="es-CO" sz="2400" i="0">
                                  <a:latin typeface="Cambria Math"/>
                                </a:rPr>
                                <m:t>=1</m:t>
                              </m:r>
                            </m:sub>
                            <m:sup>
                              <m:r>
                                <a:rPr lang="es-CO" sz="2400" i="1">
                                  <a:latin typeface="Cambria Math"/>
                                </a:rPr>
                                <m:t>𝑘</m:t>
                              </m:r>
                            </m:sup>
                            <m:e>
                              <m:sSub>
                                <m:sSubPr>
                                  <m:ctrlPr>
                                    <a:rPr lang="es-CO" sz="2400" i="1">
                                      <a:latin typeface="Cambria Math"/>
                                    </a:rPr>
                                  </m:ctrlPr>
                                </m:sSubPr>
                                <m:e>
                                  <m:r>
                                    <a:rPr lang="es-CO" sz="2400" i="1">
                                      <a:latin typeface="Cambria Math"/>
                                    </a:rPr>
                                    <m:t>𝑤</m:t>
                                  </m:r>
                                </m:e>
                                <m:sub>
                                  <m:r>
                                    <a:rPr lang="es-CO" sz="2400" i="1">
                                      <a:latin typeface="Cambria Math"/>
                                    </a:rPr>
                                    <m:t>𝑖</m:t>
                                  </m:r>
                                </m:sub>
                              </m:sSub>
                            </m:e>
                          </m:nary>
                        </m:den>
                      </m:f>
                      <m:r>
                        <a:rPr lang="es-CO" sz="2400" i="0">
                          <a:latin typeface="Cambria Math"/>
                        </a:rPr>
                        <m:t>   </m:t>
                      </m:r>
                      <m:r>
                        <m:rPr>
                          <m:sty m:val="p"/>
                        </m:rPr>
                        <a:rPr lang="es-CO" sz="2400" i="0">
                          <a:latin typeface="Cambria Math"/>
                        </a:rPr>
                        <m:t>SE</m:t>
                      </m:r>
                      <m:d>
                        <m:dPr>
                          <m:ctrlPr>
                            <a:rPr lang="es-CO" sz="2400" i="1">
                              <a:latin typeface="Cambria Math" panose="02040503050406030204" pitchFamily="18" charset="0"/>
                            </a:rPr>
                          </m:ctrlPr>
                        </m:dPr>
                        <m:e>
                          <m:acc>
                            <m:accPr>
                              <m:chr m:val="̂"/>
                              <m:ctrlPr>
                                <a:rPr lang="es-CO" sz="2400" i="1">
                                  <a:latin typeface="Cambria Math"/>
                                </a:rPr>
                              </m:ctrlPr>
                            </m:accPr>
                            <m:e>
                              <m:r>
                                <a:rPr lang="es-CO" sz="2400" i="1">
                                  <a:latin typeface="Cambria Math"/>
                                </a:rPr>
                                <m:t>𝛽</m:t>
                              </m:r>
                            </m:e>
                          </m:acc>
                        </m:e>
                      </m:d>
                      <m:r>
                        <a:rPr lang="es-CO" sz="2400" i="0">
                          <a:latin typeface="Cambria Math"/>
                        </a:rPr>
                        <m:t>=</m:t>
                      </m:r>
                      <m:rad>
                        <m:radPr>
                          <m:degHide m:val="on"/>
                          <m:ctrlPr>
                            <a:rPr lang="es-CO" sz="2400" i="1">
                              <a:latin typeface="Cambria Math" panose="02040503050406030204" pitchFamily="18" charset="0"/>
                            </a:rPr>
                          </m:ctrlPr>
                        </m:radPr>
                        <m:deg/>
                        <m:e>
                          <m:f>
                            <m:fPr>
                              <m:ctrlPr>
                                <a:rPr lang="es-CO" sz="2400" i="0">
                                  <a:latin typeface="Cambria Math"/>
                                </a:rPr>
                              </m:ctrlPr>
                            </m:fPr>
                            <m:num>
                              <m:r>
                                <a:rPr lang="es-CO" sz="2400" i="0">
                                  <a:latin typeface="Cambria Math"/>
                                </a:rPr>
                                <m:t>1</m:t>
                              </m:r>
                            </m:num>
                            <m:den>
                              <m:nary>
                                <m:naryPr>
                                  <m:chr m:val="∑"/>
                                  <m:ctrlPr>
                                    <a:rPr lang="es-CO" sz="2400" i="1">
                                      <a:latin typeface="Cambria Math"/>
                                    </a:rPr>
                                  </m:ctrlPr>
                                </m:naryPr>
                                <m:sub>
                                  <m:r>
                                    <a:rPr lang="es-CO" sz="2400" i="1">
                                      <a:latin typeface="Cambria Math"/>
                                    </a:rPr>
                                    <m:t>𝑖</m:t>
                                  </m:r>
                                  <m:r>
                                    <a:rPr lang="es-CO" sz="2400" i="0">
                                      <a:latin typeface="Cambria Math"/>
                                    </a:rPr>
                                    <m:t>=1</m:t>
                                  </m:r>
                                </m:sub>
                                <m:sup>
                                  <m:r>
                                    <a:rPr lang="es-CO" sz="2400" i="1">
                                      <a:latin typeface="Cambria Math"/>
                                    </a:rPr>
                                    <m:t>𝑘</m:t>
                                  </m:r>
                                </m:sup>
                                <m:e>
                                  <m:sSub>
                                    <m:sSubPr>
                                      <m:ctrlPr>
                                        <a:rPr lang="es-CO" sz="2400" i="1">
                                          <a:latin typeface="Cambria Math"/>
                                        </a:rPr>
                                      </m:ctrlPr>
                                    </m:sSubPr>
                                    <m:e>
                                      <m:r>
                                        <a:rPr lang="es-CO" sz="2400" i="1">
                                          <a:latin typeface="Cambria Math"/>
                                        </a:rPr>
                                        <m:t>𝑤</m:t>
                                      </m:r>
                                    </m:e>
                                    <m:sub>
                                      <m:r>
                                        <a:rPr lang="es-CO" sz="2400" i="1">
                                          <a:latin typeface="Cambria Math"/>
                                        </a:rPr>
                                        <m:t>𝑖</m:t>
                                      </m:r>
                                    </m:sub>
                                  </m:sSub>
                                </m:e>
                              </m:nary>
                            </m:den>
                          </m:f>
                        </m:e>
                      </m:rad>
                    </m:oMath>
                  </m:oMathPara>
                </a14:m>
                <a:endParaRPr/>
              </a:p>
            </p:txBody>
          </p:sp>
        </mc:Choice>
        <mc:Fallback xmlns="">
          <p:sp>
            <p:nvSpPr>
              <p:cNvPr id="7" name="Equation 7"/>
              <p:cNvSpPr txBox="1"/>
              <p:nvPr/>
            </p:nvSpPr>
            <p:spPr>
              <a:xfrm>
                <a:off x="548640" y="4937760"/>
                <a:ext cx="11091672" cy="1280160"/>
              </a:xfrm>
              <a:prstGeom prst="rect">
                <a:avLst/>
              </a:prstGeom>
              <a:noFill/>
            </p:spPr>
            <p:txBody>
              <a:bodyPr wrap="square" anchor="ctr">
                <a:noAutofit/>
              </a:bodyPr>
              <a:lstStyle/>
              <a:p>
                <a:pPr algn="ctr"/>
                <a:r>
                  <a:rPr lang="es-CO" sz="2400" b="0" dirty="0">
                    <a:solidFill>
                      <a:schemeClr val="tx1"/>
                    </a:solidFill>
                    <a:latin typeface="Noto Sans"/>
                    <a:ea typeface="Noto Sans"/>
                    <a:cs typeface="Noto Sans"/>
                    <a:sym typeface="Noto Sans"/>
                  </a:rPr>
                  <a:t>β̂ = Σ wᵢβᵢ / Σ wᵢ      SE(β̂) = √(1 / Σ wᵢ)</a:t>
                </a:r>
              </a:p>
            </p:txBody>
          </p:sp>
        </mc:Fallback>
      </mc:AlternateContent>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5. Enfoque federado</a:t>
            </a:r>
            <a:endParaRPr lang="es-CO" sz="3600" dirty="0"/>
          </a:p>
        </p:txBody>
      </p:sp>
      <p:sp>
        <p:nvSpPr>
          <p:cNvPr id="3" name="TextBox 3"/>
          <p:cNvSpPr txBox="1"/>
          <p:nvPr/>
        </p:nvSpPr>
        <p:spPr>
          <a:xfrm>
            <a:off x="548640" y="1737360"/>
            <a:ext cx="11091672" cy="77724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0"/>
              </a:spcAft>
              <a:buNone/>
            </a:pPr>
            <a:r>
              <a:rPr lang="es-CO" sz="2200" b="1" dirty="0">
                <a:solidFill>
                  <a:schemeClr val="tx1"/>
                </a:solidFill>
                <a:latin typeface="Noto Sans"/>
                <a:ea typeface="Noto Sans"/>
                <a:cs typeface="Noto Sans"/>
                <a:sym typeface="Noto Sans"/>
              </a:rPr>
              <a:t>3)</a:t>
            </a:r>
            <a:r>
              <a:rPr lang="es-CO" sz="2200" b="0" dirty="0">
                <a:solidFill>
                  <a:schemeClr val="tx1"/>
                </a:solidFill>
                <a:latin typeface="Noto Sans"/>
                <a:ea typeface="Noto Sans"/>
                <a:cs typeface="Noto Sans"/>
                <a:sym typeface="Noto Sans"/>
              </a:rPr>
              <a:t> El odds ratio, el intervalo de confianza del 95% y el p-valor combinados se obtienen de estos dos valores, igual que en un solo modelo.</a:t>
            </a:r>
          </a:p>
        </p:txBody>
      </p:sp>
      <mc:AlternateContent xmlns:mc="http://schemas.openxmlformats.org/markup-compatibility/2006" xmlns:a14="http://schemas.microsoft.com/office/drawing/2010/main">
        <mc:Choice Requires="a14">
          <p:sp>
            <p:nvSpPr>
              <p:cNvPr id="4" name="Equation 4"/>
              <p:cNvSpPr txBox="1"/>
              <p:nvPr/>
            </p:nvSpPr>
            <p:spPr>
              <a:xfrm>
                <a:off x="548640" y="2560320"/>
                <a:ext cx="11091672" cy="868680"/>
              </a:xfrm>
              <a:prstGeom prst="rect">
                <a:avLst/>
              </a:prstGeom>
              <a:noFill/>
            </p:spPr>
            <p:txBody>
              <a:bodyPr wrap="square" anchor="ctr">
                <a:noAutofit/>
              </a:bodyPr>
              <a:lstStyle/>
              <a:p>
                <a:pPr algn="ctr"/>
                <a14:m>
                  <m:oMathPara xmlns:m="http://schemas.openxmlformats.org/officeDocument/2006/math">
                    <m:oMath>
                      <m:r>
                        <m:rPr>
                          <m:sty m:val="p"/>
                        </m:rPr>
                        <a:rPr lang="es-CO" sz="2400" i="0">
                          <a:latin typeface="Cambria Math"/>
                        </a:rPr>
                        <m:t>OR</m:t>
                      </m:r>
                      <m:r>
                        <a:rPr lang="es-CO" sz="2400" i="0">
                          <a:latin typeface="Cambria Math"/>
                        </a:rPr>
                        <m:t>=</m:t>
                      </m:r>
                      <m:sSup>
                        <m:sSupPr>
                          <m:ctrlPr>
                            <a:rPr lang="es-CO" sz="2400" i="1">
                              <a:latin typeface="Cambria Math"/>
                            </a:rPr>
                          </m:ctrlPr>
                        </m:sSupPr>
                        <m:e>
                          <m:r>
                            <a:rPr lang="es-CO" sz="2400" i="1">
                              <a:latin typeface="Cambria Math"/>
                            </a:rPr>
                            <m:t>𝑒</m:t>
                          </m:r>
                        </m:e>
                        <m:sup>
                          <m:acc>
                            <m:accPr>
                              <m:chr m:val="̂"/>
                              <m:ctrlPr>
                                <a:rPr lang="es-CO" sz="2400" i="1">
                                  <a:latin typeface="Cambria Math"/>
                                </a:rPr>
                              </m:ctrlPr>
                            </m:accPr>
                            <m:e>
                              <m:r>
                                <a:rPr lang="es-CO" sz="2400" i="1">
                                  <a:latin typeface="Cambria Math"/>
                                </a:rPr>
                                <m:t>𝛽</m:t>
                              </m:r>
                            </m:e>
                          </m:acc>
                        </m:sup>
                      </m:sSup>
                      <m:r>
                        <a:rPr lang="es-CO" sz="2400" i="0">
                          <a:latin typeface="Cambria Math"/>
                        </a:rPr>
                        <m:t>   </m:t>
                      </m:r>
                      <m:sSub>
                        <m:sSubPr>
                          <m:ctrlPr>
                            <a:rPr lang="es-CO" sz="2400" i="0">
                              <a:latin typeface="Cambria Math"/>
                            </a:rPr>
                          </m:ctrlPr>
                        </m:sSubPr>
                        <m:e>
                          <m:r>
                            <m:rPr>
                              <m:sty m:val="p"/>
                            </m:rPr>
                            <a:rPr lang="es-CO" sz="2400" i="0">
                              <a:latin typeface="Cambria Math"/>
                            </a:rPr>
                            <m:t>IC</m:t>
                          </m:r>
                        </m:e>
                        <m:sub>
                          <m:r>
                            <a:rPr lang="es-CO" sz="2400" i="0">
                              <a:latin typeface="Cambria Math"/>
                            </a:rPr>
                            <m:t>95%</m:t>
                          </m:r>
                        </m:sub>
                      </m:sSub>
                      <m:r>
                        <a:rPr lang="es-CO" sz="2400" i="0">
                          <a:latin typeface="Cambria Math"/>
                        </a:rPr>
                        <m:t>=</m:t>
                      </m:r>
                      <m:sSup>
                        <m:sSupPr>
                          <m:ctrlPr>
                            <a:rPr lang="es-CO" sz="2400" i="1">
                              <a:latin typeface="Cambria Math"/>
                            </a:rPr>
                          </m:ctrlPr>
                        </m:sSupPr>
                        <m:e>
                          <m:r>
                            <a:rPr lang="es-CO" sz="2400" i="1">
                              <a:latin typeface="Cambria Math"/>
                            </a:rPr>
                            <m:t>𝑒</m:t>
                          </m:r>
                        </m:e>
                        <m:sup>
                          <m:acc>
                            <m:accPr>
                              <m:chr m:val="̂"/>
                              <m:ctrlPr>
                                <a:rPr lang="es-CO" sz="2400" i="1">
                                  <a:latin typeface="Cambria Math"/>
                                </a:rPr>
                              </m:ctrlPr>
                            </m:accPr>
                            <m:e>
                              <m:r>
                                <a:rPr lang="es-CO" sz="2400" i="1">
                                  <a:latin typeface="Cambria Math"/>
                                </a:rPr>
                                <m:t>𝛽</m:t>
                              </m:r>
                            </m:e>
                          </m:acc>
                          <m:r>
                            <a:rPr lang="es-CO" sz="2400" i="0">
                              <a:latin typeface="Cambria Math"/>
                            </a:rPr>
                            <m:t>±1.96·</m:t>
                          </m:r>
                          <m:r>
                            <m:rPr>
                              <m:sty m:val="p"/>
                            </m:rPr>
                            <a:rPr lang="es-CO" sz="2400" i="0">
                              <a:latin typeface="Cambria Math"/>
                            </a:rPr>
                            <m:t>SE</m:t>
                          </m:r>
                          <m:d>
                            <m:dPr>
                              <m:ctrlPr>
                                <a:rPr lang="es-CO" sz="2400" i="1">
                                  <a:latin typeface="Cambria Math" panose="02040503050406030204" pitchFamily="18" charset="0"/>
                                </a:rPr>
                              </m:ctrlPr>
                            </m:dPr>
                            <m:e>
                              <m:acc>
                                <m:accPr>
                                  <m:chr m:val="̂"/>
                                  <m:ctrlPr>
                                    <a:rPr lang="es-CO" sz="2400" i="1">
                                      <a:latin typeface="Cambria Math"/>
                                    </a:rPr>
                                  </m:ctrlPr>
                                </m:accPr>
                                <m:e>
                                  <m:r>
                                    <a:rPr lang="es-CO" sz="2400" i="1">
                                      <a:latin typeface="Cambria Math"/>
                                    </a:rPr>
                                    <m:t>𝛽</m:t>
                                  </m:r>
                                </m:e>
                              </m:acc>
                            </m:e>
                          </m:d>
                        </m:sup>
                      </m:sSup>
                      <m:r>
                        <a:rPr lang="es-CO" sz="2400" i="0">
                          <a:latin typeface="Cambria Math"/>
                        </a:rPr>
                        <m:t>   </m:t>
                      </m:r>
                      <m:r>
                        <a:rPr lang="es-CO" sz="2400" i="1">
                          <a:latin typeface="Cambria Math"/>
                        </a:rPr>
                        <m:t>𝑧</m:t>
                      </m:r>
                      <m:r>
                        <a:rPr lang="es-CO" sz="2400" i="0">
                          <a:latin typeface="Cambria Math"/>
                        </a:rPr>
                        <m:t>=</m:t>
                      </m:r>
                      <m:f>
                        <m:fPr>
                          <m:ctrlPr>
                            <a:rPr lang="es-CO" sz="2400" i="1">
                              <a:latin typeface="Cambria Math" panose="02040503050406030204" pitchFamily="18" charset="0"/>
                            </a:rPr>
                          </m:ctrlPr>
                        </m:fPr>
                        <m:num>
                          <m:acc>
                            <m:accPr>
                              <m:chr m:val="̂"/>
                              <m:ctrlPr>
                                <a:rPr lang="es-CO" sz="2400" i="1">
                                  <a:latin typeface="Cambria Math"/>
                                </a:rPr>
                              </m:ctrlPr>
                            </m:accPr>
                            <m:e>
                              <m:r>
                                <a:rPr lang="es-CO" sz="2400" i="1">
                                  <a:latin typeface="Cambria Math"/>
                                </a:rPr>
                                <m:t>𝛽</m:t>
                              </m:r>
                            </m:e>
                          </m:acc>
                        </m:num>
                        <m:den>
                          <m:r>
                            <m:rPr>
                              <m:sty m:val="p"/>
                            </m:rPr>
                            <a:rPr lang="es-CO" sz="2400" i="0">
                              <a:latin typeface="Cambria Math"/>
                            </a:rPr>
                            <m:t>SE</m:t>
                          </m:r>
                          <m:d>
                            <m:dPr>
                              <m:ctrlPr>
                                <a:rPr lang="es-CO" sz="2400" i="1">
                                  <a:latin typeface="Cambria Math" panose="02040503050406030204" pitchFamily="18" charset="0"/>
                                </a:rPr>
                              </m:ctrlPr>
                            </m:dPr>
                            <m:e>
                              <m:acc>
                                <m:accPr>
                                  <m:chr m:val="̂"/>
                                  <m:ctrlPr>
                                    <a:rPr lang="es-CO" sz="2400" i="1">
                                      <a:latin typeface="Cambria Math"/>
                                    </a:rPr>
                                  </m:ctrlPr>
                                </m:accPr>
                                <m:e>
                                  <m:r>
                                    <a:rPr lang="es-CO" sz="2400" i="1">
                                      <a:latin typeface="Cambria Math"/>
                                    </a:rPr>
                                    <m:t>𝛽</m:t>
                                  </m:r>
                                </m:e>
                              </m:acc>
                            </m:e>
                          </m:d>
                        </m:den>
                      </m:f>
                    </m:oMath>
                  </m:oMathPara>
                </a14:m>
                <a:endParaRPr/>
              </a:p>
            </p:txBody>
          </p:sp>
        </mc:Choice>
        <mc:Fallback xmlns="">
          <p:sp>
            <p:nvSpPr>
              <p:cNvPr id="4" name="Equation 4"/>
              <p:cNvSpPr txBox="1"/>
              <p:nvPr/>
            </p:nvSpPr>
            <p:spPr>
              <a:xfrm>
                <a:off x="548640" y="2560320"/>
                <a:ext cx="11091672" cy="868680"/>
              </a:xfrm>
              <a:prstGeom prst="rect">
                <a:avLst/>
              </a:prstGeom>
              <a:noFill/>
            </p:spPr>
            <p:txBody>
              <a:bodyPr wrap="square" anchor="ctr">
                <a:noAutofit/>
              </a:bodyPr>
              <a:lstStyle/>
              <a:p>
                <a:pPr algn="ctr"/>
                <a:r>
                  <a:rPr lang="es-CO" sz="2400" b="0" dirty="0">
                    <a:solidFill>
                      <a:schemeClr val="tx1"/>
                    </a:solidFill>
                    <a:latin typeface="Noto Sans"/>
                    <a:ea typeface="Noto Sans"/>
                    <a:cs typeface="Noto Sans"/>
                    <a:sym typeface="Noto Sans"/>
                  </a:rPr>
                  <a:t>OR = e^β̂      IC95% = e^(β̂ ± 1.96 · SE(β̂))      z = β̂ / SE(β̂)</a:t>
                </a:r>
              </a:p>
            </p:txBody>
          </p:sp>
        </mc:Fallback>
      </mc:AlternateContent>
      <p:sp>
        <p:nvSpPr>
          <p:cNvPr id="5" name="TextBox 5"/>
          <p:cNvSpPr txBox="1"/>
          <p:nvPr/>
        </p:nvSpPr>
        <p:spPr>
          <a:xfrm>
            <a:off x="548640" y="3611880"/>
            <a:ext cx="11091672" cy="256032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2400"/>
              </a:spcAft>
              <a:buNone/>
            </a:pPr>
            <a:r>
              <a:rPr lang="es-CO" sz="2200" b="0" dirty="0">
                <a:solidFill>
                  <a:schemeClr val="tx1"/>
                </a:solidFill>
                <a:latin typeface="Noto Sans"/>
                <a:ea typeface="Noto Sans"/>
                <a:cs typeface="Noto Sans"/>
                <a:sym typeface="Noto Sans"/>
              </a:rPr>
              <a:t>El p-valor se obtiene de </a:t>
            </a:r>
            <a:r>
              <a:rPr lang="es-CO" sz="2200" b="1" dirty="0">
                <a:solidFill>
                  <a:schemeClr val="tx1"/>
                </a:solidFill>
                <a:latin typeface="Noto Sans"/>
                <a:ea typeface="Noto Sans"/>
                <a:cs typeface="Noto Sans"/>
                <a:sym typeface="Noto Sans"/>
              </a:rPr>
              <a:t>z</a:t>
            </a:r>
            <a:r>
              <a:rPr lang="es-CO" sz="2200" b="0" dirty="0">
                <a:solidFill>
                  <a:schemeClr val="tx1"/>
                </a:solidFill>
                <a:latin typeface="Noto Sans"/>
                <a:ea typeface="Noto Sans"/>
                <a:cs typeface="Noto Sans"/>
                <a:sym typeface="Noto Sans"/>
              </a:rPr>
              <a:t> con la distribución normal estándar.</a:t>
            </a:r>
          </a:p>
          <a:p>
            <a:pPr marL="0" indent="0" algn="just">
              <a:lnSpc>
                <a:spcPct val="90000"/>
              </a:lnSpc>
              <a:spcBef>
                <a:spcPts val="0"/>
              </a:spcBef>
              <a:spcAft>
                <a:spcPts val="0"/>
              </a:spcAft>
              <a:buNone/>
            </a:pPr>
            <a:r>
              <a:rPr lang="es-CO" sz="2200" b="1" dirty="0">
                <a:solidFill>
                  <a:schemeClr val="tx1"/>
                </a:solidFill>
                <a:latin typeface="Noto Sans"/>
                <a:ea typeface="Noto Sans"/>
                <a:cs typeface="Noto Sans"/>
                <a:sym typeface="Noto Sans"/>
              </a:rPr>
              <a:t>Notas: </a:t>
            </a:r>
          </a:p>
          <a:p>
            <a:pPr marL="342900" indent="-342900" algn="just">
              <a:lnSpc>
                <a:spcPct val="90000"/>
              </a:lnSpc>
              <a:spcAft>
                <a:spcPts val="1000"/>
              </a:spcAft>
              <a:buClr>
                <a:srgbClr val="0673BA"/>
              </a:buClr>
              <a:buSzPct val="100000"/>
              <a:buFont typeface="Arial"/>
              <a:buChar char="•"/>
            </a:pPr>
            <a:r>
              <a:rPr lang="es-CO" sz="2200" dirty="0">
                <a:solidFill>
                  <a:schemeClr val="tx1"/>
                </a:solidFill>
                <a:latin typeface="Noto Sans"/>
                <a:ea typeface="Noto Sans"/>
                <a:cs typeface="Noto Sans"/>
                <a:sym typeface="Noto Sans"/>
              </a:rPr>
              <a:t>Sigue siendo un promedio ponderado, como en el notebook 02, pero de los coeficientes y ponderado por la precisión de cada institución. </a:t>
            </a:r>
          </a:p>
          <a:p>
            <a:pPr marL="342900" indent="-342900" algn="just">
              <a:lnSpc>
                <a:spcPct val="90000"/>
              </a:lnSpc>
              <a:spcAft>
                <a:spcPts val="1000"/>
              </a:spcAft>
              <a:buClr>
                <a:srgbClr val="0673BA"/>
              </a:buClr>
              <a:buSzPct val="100000"/>
              <a:buFont typeface="Arial"/>
              <a:buChar char="•"/>
            </a:pPr>
            <a:r>
              <a:rPr lang="es-CO" sz="2200" dirty="0">
                <a:solidFill>
                  <a:schemeClr val="tx1"/>
                </a:solidFill>
                <a:latin typeface="Noto Sans"/>
                <a:ea typeface="Noto Sans"/>
                <a:cs typeface="Noto Sans"/>
                <a:sym typeface="Noto Sans"/>
              </a:rPr>
              <a:t>El resultado es una aproximación y no necesariamente coincide con el odds ratio centralizado.</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5. Enfoque federado</a:t>
            </a:r>
            <a:endParaRPr lang="es-CO" sz="3600" dirty="0"/>
          </a:p>
        </p:txBody>
      </p:sp>
      <p:sp>
        <p:nvSpPr>
          <p:cNvPr id="3" name="TextBox 3"/>
          <p:cNvSpPr txBox="1"/>
          <p:nvPr/>
        </p:nvSpPr>
        <p:spPr>
          <a:xfrm>
            <a:off x="548640" y="1737360"/>
            <a:ext cx="11091672" cy="54864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0"/>
              </a:spcAft>
              <a:buNone/>
            </a:pPr>
            <a:r>
              <a:rPr lang="es-CO" sz="2200" b="0" dirty="0">
                <a:solidFill>
                  <a:schemeClr val="tx1"/>
                </a:solidFill>
                <a:latin typeface="Noto Sans"/>
                <a:ea typeface="Noto Sans"/>
                <a:cs typeface="Noto Sans"/>
                <a:sym typeface="Noto Sans"/>
              </a:rPr>
              <a:t>El resultado es una tabla con el odds ratio federado de cada variable.</a:t>
            </a:r>
          </a:p>
        </p:txBody>
      </p:sp>
      <p:pic>
        <p:nvPicPr>
          <p:cNvPr id="7" name="Imagen 6">
            <a:extLst>
              <a:ext uri="{FF2B5EF4-FFF2-40B4-BE49-F238E27FC236}">
                <a16:creationId xmlns:a16="http://schemas.microsoft.com/office/drawing/2014/main" id="{141A8047-D9E8-EAD5-F9BF-CCCE2F2A4A0A}"/>
              </a:ext>
            </a:extLst>
          </p:cNvPr>
          <p:cNvPicPr>
            <a:picLocks noChangeAspect="1"/>
          </p:cNvPicPr>
          <p:nvPr/>
        </p:nvPicPr>
        <p:blipFill>
          <a:blip r:embed="rId2"/>
          <a:stretch>
            <a:fillRect/>
          </a:stretch>
        </p:blipFill>
        <p:spPr>
          <a:xfrm>
            <a:off x="4036986" y="2286000"/>
            <a:ext cx="4118027" cy="3972072"/>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6. Comparación</a:t>
            </a:r>
            <a:endParaRPr lang="es-CO" sz="3600" dirty="0"/>
          </a:p>
        </p:txBody>
      </p:sp>
      <p:sp>
        <p:nvSpPr>
          <p:cNvPr id="3" name="TextBox 3"/>
          <p:cNvSpPr txBox="1"/>
          <p:nvPr/>
        </p:nvSpPr>
        <p:spPr>
          <a:xfrm>
            <a:off x="548640" y="1737360"/>
            <a:ext cx="11091672" cy="443484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2400"/>
              </a:spcAft>
              <a:buNone/>
            </a:pPr>
            <a:r>
              <a:rPr lang="es-CO" sz="2200" b="0" dirty="0">
                <a:solidFill>
                  <a:schemeClr val="tx1"/>
                </a:solidFill>
                <a:latin typeface="Noto Sans"/>
                <a:ea typeface="Noto Sans"/>
                <a:cs typeface="Noto Sans"/>
                <a:sym typeface="Noto Sans"/>
              </a:rPr>
              <a:t>El objetivo de esta sección es comparar los odds ratios obtenidos con los enfoques centralizado y federado, variable por variable.</a:t>
            </a:r>
          </a:p>
          <a:p>
            <a:pPr marL="0" indent="0" algn="just">
              <a:lnSpc>
                <a:spcPct val="90000"/>
              </a:lnSpc>
              <a:spcBef>
                <a:spcPts val="0"/>
              </a:spcBef>
              <a:spcAft>
                <a:spcPts val="2400"/>
              </a:spcAft>
              <a:buNone/>
            </a:pPr>
            <a:r>
              <a:rPr lang="es-CO" sz="2200" b="1" dirty="0">
                <a:solidFill>
                  <a:schemeClr val="tx1"/>
                </a:solidFill>
                <a:latin typeface="Noto Sans"/>
                <a:ea typeface="Noto Sans"/>
                <a:cs typeface="Noto Sans"/>
                <a:sym typeface="Noto Sans"/>
              </a:rPr>
              <a:t>6.1. Tabla de comparación.</a:t>
            </a:r>
          </a:p>
          <a:p>
            <a:pPr marL="0" indent="0" algn="just">
              <a:lnSpc>
                <a:spcPct val="90000"/>
              </a:lnSpc>
              <a:spcBef>
                <a:spcPts val="0"/>
              </a:spcBef>
              <a:spcAft>
                <a:spcPts val="2400"/>
              </a:spcAft>
              <a:buNone/>
            </a:pPr>
            <a:r>
              <a:rPr lang="es-CO" sz="2200" b="0" dirty="0">
                <a:solidFill>
                  <a:schemeClr val="tx1"/>
                </a:solidFill>
                <a:latin typeface="Noto Sans"/>
                <a:ea typeface="Noto Sans"/>
                <a:cs typeface="Noto Sans"/>
                <a:sym typeface="Noto Sans"/>
              </a:rPr>
              <a:t>Para cada variable se presentan los odds ratio, el intervalo de confianza del 95% y el p-valor, con los resultados centralizados junto a los federados.</a:t>
            </a:r>
          </a:p>
          <a:p>
            <a:pPr marL="0" indent="0" algn="just">
              <a:lnSpc>
                <a:spcPct val="90000"/>
              </a:lnSpc>
              <a:spcBef>
                <a:spcPts val="0"/>
              </a:spcBef>
              <a:spcAft>
                <a:spcPts val="0"/>
              </a:spcAft>
              <a:buNone/>
            </a:pPr>
            <a:r>
              <a:rPr lang="es-CO" sz="2200" b="1" dirty="0">
                <a:solidFill>
                  <a:schemeClr val="tx1"/>
                </a:solidFill>
                <a:latin typeface="Noto Sans"/>
                <a:ea typeface="Noto Sans"/>
                <a:cs typeface="Noto Sans"/>
                <a:sym typeface="Noto Sans"/>
              </a:rPr>
              <a:t>Sites</a:t>
            </a:r>
            <a:r>
              <a:rPr lang="es-CO" sz="2200" b="0" dirty="0">
                <a:solidFill>
                  <a:schemeClr val="tx1"/>
                </a:solidFill>
                <a:latin typeface="Noto Sans"/>
                <a:ea typeface="Noto Sans"/>
                <a:cs typeface="Noto Sans"/>
                <a:sym typeface="Noto Sans"/>
              </a:rPr>
              <a:t> es el número de instituciones combinadas para cada variable, que es menor a 5 cuando un resultado se eliminó en la sección 5.3.</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6. Comparación</a:t>
            </a:r>
            <a:endParaRPr lang="es-CO" sz="3600" dirty="0"/>
          </a:p>
        </p:txBody>
      </p:sp>
      <p:sp>
        <p:nvSpPr>
          <p:cNvPr id="3" name="TextBox 3"/>
          <p:cNvSpPr txBox="1"/>
          <p:nvPr/>
        </p:nvSpPr>
        <p:spPr>
          <a:xfrm>
            <a:off x="548640" y="1737360"/>
            <a:ext cx="11091672" cy="82296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0"/>
              </a:spcAft>
              <a:buNone/>
            </a:pPr>
            <a:r>
              <a:rPr lang="es-CO" sz="2200" b="1" dirty="0">
                <a:solidFill>
                  <a:schemeClr val="tx1"/>
                </a:solidFill>
                <a:latin typeface="Noto Sans"/>
                <a:ea typeface="Noto Sans"/>
                <a:cs typeface="Noto Sans"/>
                <a:sym typeface="Noto Sans"/>
              </a:rPr>
              <a:t>Nota:</a:t>
            </a:r>
            <a:r>
              <a:rPr lang="es-CO" sz="2200" b="0" dirty="0">
                <a:solidFill>
                  <a:schemeClr val="tx1"/>
                </a:solidFill>
                <a:latin typeface="Noto Sans"/>
                <a:ea typeface="Noto Sans"/>
                <a:cs typeface="Noto Sans"/>
                <a:sym typeface="Noto Sans"/>
              </a:rPr>
              <a:t> Un asterisco (*) marca los p-valores menores que 0.05, es decir, asociaciones estadísticamente significativas.</a:t>
            </a:r>
          </a:p>
        </p:txBody>
      </p:sp>
      <p:pic>
        <p:nvPicPr>
          <p:cNvPr id="5" name="Imagen 4">
            <a:extLst>
              <a:ext uri="{FF2B5EF4-FFF2-40B4-BE49-F238E27FC236}">
                <a16:creationId xmlns:a16="http://schemas.microsoft.com/office/drawing/2014/main" id="{A4E35643-B5E1-262F-5E7B-ECF6712FCC84}"/>
              </a:ext>
            </a:extLst>
          </p:cNvPr>
          <p:cNvPicPr>
            <a:picLocks noChangeAspect="1"/>
          </p:cNvPicPr>
          <p:nvPr/>
        </p:nvPicPr>
        <p:blipFill>
          <a:blip r:embed="rId2"/>
          <a:stretch>
            <a:fillRect/>
          </a:stretch>
        </p:blipFill>
        <p:spPr>
          <a:xfrm>
            <a:off x="3096269" y="2624328"/>
            <a:ext cx="5999461" cy="3540498"/>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6. Comparación</a:t>
            </a:r>
            <a:endParaRPr lang="es-CO" sz="3600" dirty="0"/>
          </a:p>
        </p:txBody>
      </p:sp>
      <p:sp>
        <p:nvSpPr>
          <p:cNvPr id="3" name="TextBox 3"/>
          <p:cNvSpPr txBox="1"/>
          <p:nvPr/>
        </p:nvSpPr>
        <p:spPr>
          <a:xfrm>
            <a:off x="548639" y="1737360"/>
            <a:ext cx="11091671" cy="443484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2400"/>
              </a:spcAft>
              <a:buNone/>
            </a:pPr>
            <a:r>
              <a:rPr lang="es-CO" sz="2200" b="1" dirty="0">
                <a:solidFill>
                  <a:schemeClr val="tx1"/>
                </a:solidFill>
                <a:latin typeface="Noto Sans"/>
                <a:ea typeface="Noto Sans"/>
                <a:cs typeface="Noto Sans"/>
                <a:sym typeface="Noto Sans"/>
              </a:rPr>
              <a:t>6.2. Forest </a:t>
            </a:r>
            <a:r>
              <a:rPr lang="es-CO" sz="2200" b="1" dirty="0" err="1">
                <a:solidFill>
                  <a:schemeClr val="tx1"/>
                </a:solidFill>
                <a:latin typeface="Noto Sans"/>
                <a:ea typeface="Noto Sans"/>
                <a:cs typeface="Noto Sans"/>
                <a:sym typeface="Noto Sans"/>
              </a:rPr>
              <a:t>plot</a:t>
            </a:r>
            <a:r>
              <a:rPr lang="es-CO" sz="2200" b="1" dirty="0">
                <a:solidFill>
                  <a:schemeClr val="tx1"/>
                </a:solidFill>
                <a:latin typeface="Noto Sans"/>
                <a:ea typeface="Noto Sans"/>
                <a:cs typeface="Noto Sans"/>
                <a:sym typeface="Noto Sans"/>
              </a:rPr>
              <a:t>. </a:t>
            </a:r>
          </a:p>
          <a:p>
            <a:pPr marL="0" indent="0" algn="just">
              <a:lnSpc>
                <a:spcPct val="90000"/>
              </a:lnSpc>
              <a:spcBef>
                <a:spcPts val="0"/>
              </a:spcBef>
              <a:spcAft>
                <a:spcPts val="2400"/>
              </a:spcAft>
              <a:buNone/>
            </a:pPr>
            <a:r>
              <a:rPr lang="es-CO" sz="2200" b="0" dirty="0">
                <a:solidFill>
                  <a:schemeClr val="tx1"/>
                </a:solidFill>
                <a:latin typeface="Noto Sans"/>
                <a:ea typeface="Noto Sans"/>
                <a:cs typeface="Noto Sans"/>
                <a:sym typeface="Noto Sans"/>
              </a:rPr>
              <a:t>Para cada variable, el resultado centralizado está justo encima del federado, de modo que sus odds ratios e intervalos se pueden comparar directamente.</a:t>
            </a:r>
          </a:p>
        </p:txBody>
      </p:sp>
      <p:pic>
        <p:nvPicPr>
          <p:cNvPr id="5" name="Imagen 4">
            <a:extLst>
              <a:ext uri="{FF2B5EF4-FFF2-40B4-BE49-F238E27FC236}">
                <a16:creationId xmlns:a16="http://schemas.microsoft.com/office/drawing/2014/main" id="{5145BC56-0501-8419-6CAB-31A129FA4A75}"/>
              </a:ext>
            </a:extLst>
          </p:cNvPr>
          <p:cNvPicPr>
            <a:picLocks noChangeAspect="1"/>
          </p:cNvPicPr>
          <p:nvPr/>
        </p:nvPicPr>
        <p:blipFill>
          <a:blip r:embed="rId2"/>
          <a:srcRect t="49052"/>
          <a:stretch>
            <a:fillRect/>
          </a:stretch>
        </p:blipFill>
        <p:spPr>
          <a:xfrm>
            <a:off x="6360440" y="3118765"/>
            <a:ext cx="3358745" cy="3054157"/>
          </a:xfrm>
          <a:prstGeom prst="rect">
            <a:avLst/>
          </a:prstGeom>
        </p:spPr>
      </p:pic>
      <p:pic>
        <p:nvPicPr>
          <p:cNvPr id="7" name="Imagen 6">
            <a:extLst>
              <a:ext uri="{FF2B5EF4-FFF2-40B4-BE49-F238E27FC236}">
                <a16:creationId xmlns:a16="http://schemas.microsoft.com/office/drawing/2014/main" id="{BC63E19D-2532-3C8A-94EE-1BEB5D2DDCD5}"/>
              </a:ext>
            </a:extLst>
          </p:cNvPr>
          <p:cNvPicPr>
            <a:picLocks noChangeAspect="1"/>
          </p:cNvPicPr>
          <p:nvPr/>
        </p:nvPicPr>
        <p:blipFill>
          <a:blip r:embed="rId2"/>
          <a:srcRect b="50387"/>
          <a:stretch>
            <a:fillRect/>
          </a:stretch>
        </p:blipFill>
        <p:spPr>
          <a:xfrm>
            <a:off x="2288948" y="3118766"/>
            <a:ext cx="3492419" cy="309253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6. Comparación</a:t>
            </a:r>
            <a:endParaRPr lang="es-CO" sz="3600" dirty="0"/>
          </a:p>
        </p:txBody>
      </p:sp>
      <p:sp>
        <p:nvSpPr>
          <p:cNvPr id="3" name="TextBox 3"/>
          <p:cNvSpPr txBox="1"/>
          <p:nvPr/>
        </p:nvSpPr>
        <p:spPr>
          <a:xfrm>
            <a:off x="548640" y="1737360"/>
            <a:ext cx="11091672" cy="443484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1000"/>
              </a:spcAft>
              <a:buNone/>
            </a:pPr>
            <a:r>
              <a:rPr lang="es-CO" sz="2200" b="1" dirty="0">
                <a:solidFill>
                  <a:schemeClr val="tx1"/>
                </a:solidFill>
                <a:latin typeface="Noto Sans"/>
                <a:ea typeface="Noto Sans"/>
                <a:cs typeface="Noto Sans"/>
                <a:sym typeface="Noto Sans"/>
              </a:rPr>
              <a:t>6.3. Interpretación de los resultados.</a:t>
            </a:r>
          </a:p>
          <a:p>
            <a:pPr marL="342900" indent="-342900" algn="l">
              <a:lnSpc>
                <a:spcPct val="90000"/>
              </a:lnSpc>
              <a:spcBef>
                <a:spcPts val="0"/>
              </a:spcBef>
              <a:spcAft>
                <a:spcPts val="1000"/>
              </a:spcAft>
              <a:buClr>
                <a:srgbClr val="0673BA"/>
              </a:buClr>
              <a:buSzPct val="100000"/>
              <a:buFont typeface="Arial"/>
              <a:buChar char="•"/>
            </a:pPr>
            <a:r>
              <a:rPr lang="es-CO" sz="2200" b="1" dirty="0">
                <a:solidFill>
                  <a:schemeClr val="tx1"/>
                </a:solidFill>
                <a:latin typeface="Noto Sans"/>
                <a:ea typeface="Noto Sans"/>
                <a:cs typeface="Noto Sans"/>
                <a:sym typeface="Noto Sans"/>
              </a:rPr>
              <a:t>Ambos enfoques coinciden en general.</a:t>
            </a:r>
            <a:r>
              <a:rPr lang="es-CO" sz="2200" b="0" dirty="0">
                <a:solidFill>
                  <a:schemeClr val="tx1"/>
                </a:solidFill>
                <a:latin typeface="Noto Sans"/>
                <a:ea typeface="Noto Sans"/>
                <a:cs typeface="Noto Sans"/>
                <a:sym typeface="Noto Sans"/>
              </a:rPr>
              <a:t> 17 de las 22 variables mantienen la misma interpretación, 6 significativas en ambos y 11 en ninguno. Solo 5 cambian, ya que 3 pierden significancia en el federado (</a:t>
            </a:r>
            <a:r>
              <a:rPr lang="es-CO" sz="2200" b="1" dirty="0">
                <a:solidFill>
                  <a:schemeClr val="tx1"/>
                </a:solidFill>
                <a:latin typeface="Noto Sans"/>
                <a:ea typeface="Noto Sans"/>
                <a:cs typeface="Noto Sans"/>
                <a:sym typeface="Noto Sans"/>
              </a:rPr>
              <a:t>plasma_leakage</a:t>
            </a:r>
            <a:r>
              <a:rPr lang="es-CO" sz="2200" b="0" dirty="0">
                <a:solidFill>
                  <a:schemeClr val="tx1"/>
                </a:solidFill>
                <a:latin typeface="Noto Sans"/>
                <a:ea typeface="Noto Sans"/>
                <a:cs typeface="Noto Sans"/>
                <a:sym typeface="Noto Sans"/>
              </a:rPr>
              <a:t>, </a:t>
            </a:r>
            <a:r>
              <a:rPr lang="es-CO" sz="2200" b="1" dirty="0">
                <a:solidFill>
                  <a:schemeClr val="tx1"/>
                </a:solidFill>
                <a:latin typeface="Noto Sans"/>
                <a:ea typeface="Noto Sans"/>
                <a:cs typeface="Noto Sans"/>
                <a:sym typeface="Noto Sans"/>
              </a:rPr>
              <a:t>severe_bleeding</a:t>
            </a:r>
            <a:r>
              <a:rPr lang="es-CO" sz="2200" b="0" dirty="0">
                <a:solidFill>
                  <a:schemeClr val="tx1"/>
                </a:solidFill>
                <a:latin typeface="Noto Sans"/>
                <a:ea typeface="Noto Sans"/>
                <a:cs typeface="Noto Sans"/>
                <a:sym typeface="Noto Sans"/>
              </a:rPr>
              <a:t>, </a:t>
            </a:r>
            <a:r>
              <a:rPr lang="es-CO" sz="2200" b="1" dirty="0">
                <a:solidFill>
                  <a:schemeClr val="tx1"/>
                </a:solidFill>
                <a:latin typeface="Noto Sans"/>
                <a:ea typeface="Noto Sans"/>
                <a:cs typeface="Noto Sans"/>
                <a:sym typeface="Noto Sans"/>
              </a:rPr>
              <a:t>arthralgia</a:t>
            </a:r>
            <a:r>
              <a:rPr lang="es-CO" sz="2200" b="0" dirty="0">
                <a:solidFill>
                  <a:schemeClr val="tx1"/>
                </a:solidFill>
                <a:latin typeface="Noto Sans"/>
                <a:ea typeface="Noto Sans"/>
                <a:cs typeface="Noto Sans"/>
                <a:sym typeface="Noto Sans"/>
              </a:rPr>
              <a:t>) y 2 la ganan (</a:t>
            </a:r>
            <a:r>
              <a:rPr lang="es-CO" sz="2200" b="1" dirty="0">
                <a:solidFill>
                  <a:schemeClr val="tx1"/>
                </a:solidFill>
                <a:latin typeface="Noto Sans"/>
                <a:ea typeface="Noto Sans"/>
                <a:cs typeface="Noto Sans"/>
                <a:sym typeface="Noto Sans"/>
              </a:rPr>
              <a:t>vomiting</a:t>
            </a:r>
            <a:r>
              <a:rPr lang="es-CO" sz="2200" b="0" dirty="0">
                <a:solidFill>
                  <a:schemeClr val="tx1"/>
                </a:solidFill>
                <a:latin typeface="Noto Sans"/>
                <a:ea typeface="Noto Sans"/>
                <a:cs typeface="Noto Sans"/>
                <a:sym typeface="Noto Sans"/>
              </a:rPr>
              <a:t>, </a:t>
            </a:r>
            <a:r>
              <a:rPr lang="es-CO" sz="2200" b="1" dirty="0">
                <a:solidFill>
                  <a:schemeClr val="tx1"/>
                </a:solidFill>
                <a:latin typeface="Noto Sans"/>
                <a:ea typeface="Noto Sans"/>
                <a:cs typeface="Noto Sans"/>
                <a:sym typeface="Noto Sans"/>
              </a:rPr>
              <a:t>organ_damage</a:t>
            </a:r>
            <a:r>
              <a:rPr lang="es-CO" sz="2200" b="0" dirty="0">
                <a:solidFill>
                  <a:schemeClr val="tx1"/>
                </a:solidFill>
                <a:latin typeface="Noto Sans"/>
                <a:ea typeface="Noto Sans"/>
                <a:cs typeface="Noto Sans"/>
                <a:sym typeface="Noto Sans"/>
              </a:rPr>
              <a:t>).</a:t>
            </a:r>
          </a:p>
          <a:p>
            <a:pPr marL="342900" indent="-342900" algn="l">
              <a:lnSpc>
                <a:spcPct val="90000"/>
              </a:lnSpc>
              <a:spcBef>
                <a:spcPts val="0"/>
              </a:spcBef>
              <a:spcAft>
                <a:spcPts val="0"/>
              </a:spcAft>
              <a:buClr>
                <a:srgbClr val="0673BA"/>
              </a:buClr>
              <a:buSzPct val="100000"/>
              <a:buFont typeface="Arial"/>
              <a:buChar char="•"/>
            </a:pPr>
            <a:r>
              <a:rPr lang="es-CO" sz="2200" b="1" dirty="0">
                <a:solidFill>
                  <a:schemeClr val="tx1"/>
                </a:solidFill>
                <a:latin typeface="Noto Sans"/>
                <a:ea typeface="Noto Sans"/>
                <a:cs typeface="Noto Sans"/>
                <a:sym typeface="Noto Sans"/>
              </a:rPr>
              <a:t>Las variables más asociadas con el fallecimiento son las mismas.</a:t>
            </a:r>
            <a:r>
              <a:rPr lang="es-CO" sz="2200" b="0" dirty="0">
                <a:solidFill>
                  <a:schemeClr val="tx1"/>
                </a:solidFill>
                <a:latin typeface="Noto Sans"/>
                <a:ea typeface="Noto Sans"/>
                <a:cs typeface="Noto Sans"/>
                <a:sym typeface="Noto Sans"/>
              </a:rPr>
              <a:t> </a:t>
            </a:r>
            <a:r>
              <a:rPr lang="es-CO" sz="2200" b="1" dirty="0">
                <a:solidFill>
                  <a:schemeClr val="tx1"/>
                </a:solidFill>
                <a:latin typeface="Noto Sans"/>
                <a:ea typeface="Noto Sans"/>
                <a:cs typeface="Noto Sans"/>
                <a:sym typeface="Noto Sans"/>
              </a:rPr>
              <a:t>shock</a:t>
            </a:r>
            <a:r>
              <a:rPr lang="es-CO" sz="2200" b="0" dirty="0">
                <a:solidFill>
                  <a:schemeClr val="tx1"/>
                </a:solidFill>
                <a:latin typeface="Noto Sans"/>
                <a:ea typeface="Noto Sans"/>
                <a:cs typeface="Noto Sans"/>
                <a:sym typeface="Noto Sans"/>
              </a:rPr>
              <a:t>, </a:t>
            </a:r>
            <a:r>
              <a:rPr lang="es-CO" sz="2200" b="1" dirty="0">
                <a:solidFill>
                  <a:schemeClr val="tx1"/>
                </a:solidFill>
                <a:latin typeface="Noto Sans"/>
                <a:ea typeface="Noto Sans"/>
                <a:cs typeface="Noto Sans"/>
                <a:sym typeface="Noto Sans"/>
              </a:rPr>
              <a:t>postural_hypotension</a:t>
            </a:r>
            <a:r>
              <a:rPr lang="es-CO" sz="2200" b="0" dirty="0">
                <a:solidFill>
                  <a:schemeClr val="tx1"/>
                </a:solidFill>
                <a:latin typeface="Noto Sans"/>
                <a:ea typeface="Noto Sans"/>
                <a:cs typeface="Noto Sans"/>
                <a:sym typeface="Noto Sans"/>
              </a:rPr>
              <a:t>, </a:t>
            </a:r>
            <a:r>
              <a:rPr lang="es-CO" sz="2200" b="1" dirty="0">
                <a:solidFill>
                  <a:schemeClr val="tx1"/>
                </a:solidFill>
                <a:latin typeface="Noto Sans"/>
                <a:ea typeface="Noto Sans"/>
                <a:cs typeface="Noto Sans"/>
                <a:sym typeface="Noto Sans"/>
              </a:rPr>
              <a:t>hypothermia</a:t>
            </a:r>
            <a:r>
              <a:rPr lang="es-CO" sz="2200" b="0" dirty="0">
                <a:solidFill>
                  <a:schemeClr val="tx1"/>
                </a:solidFill>
                <a:latin typeface="Noto Sans"/>
                <a:ea typeface="Noto Sans"/>
                <a:cs typeface="Noto Sans"/>
                <a:sym typeface="Noto Sans"/>
              </a:rPr>
              <a:t> y </a:t>
            </a:r>
            <a:r>
              <a:rPr lang="es-CO" sz="2200" b="1" dirty="0">
                <a:solidFill>
                  <a:schemeClr val="tx1"/>
                </a:solidFill>
                <a:latin typeface="Noto Sans"/>
                <a:ea typeface="Noto Sans"/>
                <a:cs typeface="Noto Sans"/>
                <a:sym typeface="Noto Sans"/>
              </a:rPr>
              <a:t>lethargy</a:t>
            </a:r>
            <a:r>
              <a:rPr lang="es-CO" sz="2200" b="0" dirty="0">
                <a:solidFill>
                  <a:schemeClr val="tx1"/>
                </a:solidFill>
                <a:latin typeface="Noto Sans"/>
                <a:ea typeface="Noto Sans"/>
                <a:cs typeface="Noto Sans"/>
                <a:sym typeface="Noto Sans"/>
              </a:rPr>
              <a:t> mantienen odds ratios mayores que 1, con intervalos que no incluyen el 1, en ambos enfoques.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6. Comparación</a:t>
            </a:r>
            <a:endParaRPr lang="es-CO" sz="3600" dirty="0"/>
          </a:p>
        </p:txBody>
      </p:sp>
      <p:sp>
        <p:nvSpPr>
          <p:cNvPr id="3" name="TextBox 3"/>
          <p:cNvSpPr txBox="1"/>
          <p:nvPr/>
        </p:nvSpPr>
        <p:spPr>
          <a:xfrm>
            <a:off x="548640" y="1737360"/>
            <a:ext cx="11091672" cy="4434840"/>
          </a:xfrm>
          <a:prstGeom prst="rect">
            <a:avLst/>
          </a:prstGeom>
          <a:noFill/>
          <a:ln>
            <a:noFill/>
          </a:ln>
        </p:spPr>
        <p:txBody>
          <a:bodyPr wrap="square" lIns="45720" tIns="45720" rIns="45720" bIns="45720" rtlCol="0" anchor="t">
            <a:noAutofit/>
          </a:bodyPr>
          <a:lstStyle/>
          <a:p>
            <a:pPr marL="342900" indent="-342900" algn="l">
              <a:lnSpc>
                <a:spcPct val="90000"/>
              </a:lnSpc>
              <a:spcBef>
                <a:spcPts val="0"/>
              </a:spcBef>
              <a:spcAft>
                <a:spcPts val="1000"/>
              </a:spcAft>
              <a:buClr>
                <a:srgbClr val="0673BA"/>
              </a:buClr>
              <a:buSzPct val="100000"/>
              <a:buFont typeface="Arial"/>
              <a:buChar char="•"/>
            </a:pPr>
            <a:r>
              <a:rPr lang="es-CO" sz="2200" b="1" dirty="0">
                <a:solidFill>
                  <a:schemeClr val="tx1"/>
                </a:solidFill>
                <a:latin typeface="Noto Sans"/>
                <a:ea typeface="Noto Sans"/>
                <a:cs typeface="Noto Sans"/>
                <a:sym typeface="Noto Sans"/>
              </a:rPr>
              <a:t>Las mayores diferencias de magnitud aparecen donde se combinaron menos instituciones.</a:t>
            </a:r>
            <a:r>
              <a:rPr lang="es-CO" sz="2200" b="0" dirty="0">
                <a:solidFill>
                  <a:schemeClr val="tx1"/>
                </a:solidFill>
                <a:latin typeface="Noto Sans"/>
                <a:ea typeface="Noto Sans"/>
                <a:cs typeface="Noto Sans"/>
                <a:sym typeface="Noto Sans"/>
              </a:rPr>
              <a:t> </a:t>
            </a:r>
            <a:r>
              <a:rPr lang="es-CO" sz="2200" b="1" dirty="0">
                <a:solidFill>
                  <a:schemeClr val="tx1"/>
                </a:solidFill>
                <a:latin typeface="Noto Sans"/>
                <a:ea typeface="Noto Sans"/>
                <a:cs typeface="Noto Sans"/>
                <a:sym typeface="Noto Sans"/>
              </a:rPr>
              <a:t>shock</a:t>
            </a:r>
            <a:r>
              <a:rPr lang="es-CO" sz="2200" b="0" dirty="0">
                <a:solidFill>
                  <a:schemeClr val="tx1"/>
                </a:solidFill>
                <a:latin typeface="Noto Sans"/>
                <a:ea typeface="Noto Sans"/>
                <a:cs typeface="Noto Sans"/>
                <a:sym typeface="Noto Sans"/>
              </a:rPr>
              <a:t> (4 instituciones) baja de 9.13 a 7.26 y </a:t>
            </a:r>
            <a:r>
              <a:rPr lang="es-CO" sz="2200" b="1" dirty="0">
                <a:solidFill>
                  <a:schemeClr val="tx1"/>
                </a:solidFill>
                <a:latin typeface="Noto Sans"/>
                <a:ea typeface="Noto Sans"/>
                <a:cs typeface="Noto Sans"/>
                <a:sym typeface="Noto Sans"/>
              </a:rPr>
              <a:t>hypothermia</a:t>
            </a:r>
            <a:r>
              <a:rPr lang="es-CO" sz="2200" b="0" dirty="0">
                <a:solidFill>
                  <a:schemeClr val="tx1"/>
                </a:solidFill>
                <a:latin typeface="Noto Sans"/>
                <a:ea typeface="Noto Sans"/>
                <a:cs typeface="Noto Sans"/>
                <a:sym typeface="Noto Sans"/>
              </a:rPr>
              <a:t> (3) sube de 2.76 a 4.15, con un intervalo mucho más amplio. Ambos siguen por encima de 1. </a:t>
            </a:r>
            <a:r>
              <a:rPr lang="es-CO" sz="2200" b="1" dirty="0">
                <a:solidFill>
                  <a:schemeClr val="tx1"/>
                </a:solidFill>
                <a:latin typeface="Noto Sans"/>
                <a:ea typeface="Noto Sans"/>
                <a:cs typeface="Noto Sans"/>
                <a:sym typeface="Noto Sans"/>
              </a:rPr>
              <a:t>myalgia</a:t>
            </a:r>
            <a:r>
              <a:rPr lang="es-CO" sz="2200" b="0" dirty="0">
                <a:solidFill>
                  <a:schemeClr val="tx1"/>
                </a:solidFill>
                <a:latin typeface="Noto Sans"/>
                <a:ea typeface="Noto Sans"/>
                <a:cs typeface="Noto Sans"/>
                <a:sym typeface="Noto Sans"/>
              </a:rPr>
              <a:t> (4) pasa de 0.75 a 1.56, aunque su intervalo incluye el 1 en ambos enfoques.</a:t>
            </a:r>
          </a:p>
          <a:p>
            <a:pPr marL="342900" indent="-342900" algn="l">
              <a:lnSpc>
                <a:spcPct val="90000"/>
              </a:lnSpc>
              <a:spcBef>
                <a:spcPts val="0"/>
              </a:spcBef>
              <a:spcAft>
                <a:spcPts val="0"/>
              </a:spcAft>
              <a:buClr>
                <a:srgbClr val="0673BA"/>
              </a:buClr>
              <a:buSzPct val="100000"/>
              <a:buFont typeface="Arial"/>
              <a:buChar char="•"/>
            </a:pPr>
            <a:r>
              <a:rPr lang="es-CO" sz="2200" b="1" dirty="0">
                <a:solidFill>
                  <a:schemeClr val="tx1"/>
                </a:solidFill>
                <a:latin typeface="Noto Sans"/>
                <a:ea typeface="Noto Sans"/>
                <a:cs typeface="Noto Sans"/>
                <a:sym typeface="Noto Sans"/>
              </a:rPr>
              <a:t>Algunas asociaciones más débiles pierden significancia.</a:t>
            </a:r>
            <a:r>
              <a:rPr lang="es-CO" sz="2200" b="0" dirty="0">
                <a:solidFill>
                  <a:schemeClr val="tx1"/>
                </a:solidFill>
                <a:latin typeface="Noto Sans"/>
                <a:ea typeface="Noto Sans"/>
                <a:cs typeface="Noto Sans"/>
                <a:sym typeface="Noto Sans"/>
              </a:rPr>
              <a:t> </a:t>
            </a:r>
            <a:r>
              <a:rPr lang="es-CO" sz="2200" b="1" dirty="0">
                <a:solidFill>
                  <a:schemeClr val="tx1"/>
                </a:solidFill>
                <a:latin typeface="Noto Sans"/>
                <a:ea typeface="Noto Sans"/>
                <a:cs typeface="Noto Sans"/>
                <a:sym typeface="Noto Sans"/>
              </a:rPr>
              <a:t>plasma_leakage</a:t>
            </a:r>
            <a:r>
              <a:rPr lang="es-CO" sz="2200" b="0" dirty="0">
                <a:solidFill>
                  <a:schemeClr val="tx1"/>
                </a:solidFill>
                <a:latin typeface="Noto Sans"/>
                <a:ea typeface="Noto Sans"/>
                <a:cs typeface="Noto Sans"/>
                <a:sym typeface="Noto Sans"/>
              </a:rPr>
              <a:t>, </a:t>
            </a:r>
            <a:r>
              <a:rPr lang="es-CO" sz="2200" b="1" dirty="0">
                <a:solidFill>
                  <a:schemeClr val="tx1"/>
                </a:solidFill>
                <a:latin typeface="Noto Sans"/>
                <a:ea typeface="Noto Sans"/>
                <a:cs typeface="Noto Sans"/>
                <a:sym typeface="Noto Sans"/>
              </a:rPr>
              <a:t>severe_bleeding</a:t>
            </a:r>
            <a:r>
              <a:rPr lang="es-CO" sz="2200" b="0" dirty="0">
                <a:solidFill>
                  <a:schemeClr val="tx1"/>
                </a:solidFill>
                <a:latin typeface="Noto Sans"/>
                <a:ea typeface="Noto Sans"/>
                <a:cs typeface="Noto Sans"/>
                <a:sym typeface="Noto Sans"/>
              </a:rPr>
              <a:t> y </a:t>
            </a:r>
            <a:r>
              <a:rPr lang="es-CO" sz="2200" b="1" dirty="0">
                <a:solidFill>
                  <a:schemeClr val="tx1"/>
                </a:solidFill>
                <a:latin typeface="Noto Sans"/>
                <a:ea typeface="Noto Sans"/>
                <a:cs typeface="Noto Sans"/>
                <a:sym typeface="Noto Sans"/>
              </a:rPr>
              <a:t>arthralgia</a:t>
            </a:r>
            <a:r>
              <a:rPr lang="es-CO" sz="2200" b="0" dirty="0">
                <a:solidFill>
                  <a:schemeClr val="tx1"/>
                </a:solidFill>
                <a:latin typeface="Noto Sans"/>
                <a:ea typeface="Noto Sans"/>
                <a:cs typeface="Noto Sans"/>
                <a:sym typeface="Noto Sans"/>
              </a:rPr>
              <a:t> eran significativas en el centralizado, pero sus intervalos federados incluyen el 1. Esto no demuestra que la asociación no exista, solo que los resultados federados no dan suficiente evidencia.</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6. Comparación</a:t>
            </a:r>
            <a:endParaRPr lang="es-CO" sz="3600" dirty="0"/>
          </a:p>
        </p:txBody>
      </p:sp>
      <p:sp>
        <p:nvSpPr>
          <p:cNvPr id="3" name="TextBox 3"/>
          <p:cNvSpPr txBox="1"/>
          <p:nvPr/>
        </p:nvSpPr>
        <p:spPr>
          <a:xfrm>
            <a:off x="548640" y="1737360"/>
            <a:ext cx="11091672" cy="4434840"/>
          </a:xfrm>
          <a:prstGeom prst="rect">
            <a:avLst/>
          </a:prstGeom>
          <a:noFill/>
          <a:ln>
            <a:noFill/>
          </a:ln>
        </p:spPr>
        <p:txBody>
          <a:bodyPr wrap="square" lIns="45720" tIns="45720" rIns="45720" bIns="45720" rtlCol="0" anchor="t">
            <a:noAutofit/>
          </a:bodyPr>
          <a:lstStyle/>
          <a:p>
            <a:pPr marL="342900" indent="-342900" algn="l">
              <a:lnSpc>
                <a:spcPct val="90000"/>
              </a:lnSpc>
              <a:spcBef>
                <a:spcPts val="0"/>
              </a:spcBef>
              <a:spcAft>
                <a:spcPts val="1000"/>
              </a:spcAft>
              <a:buClr>
                <a:srgbClr val="0673BA"/>
              </a:buClr>
              <a:buSzPct val="100000"/>
              <a:buFont typeface="Arial"/>
              <a:buChar char="•"/>
            </a:pPr>
            <a:r>
              <a:rPr lang="es-CO" sz="2200" b="1" dirty="0">
                <a:solidFill>
                  <a:schemeClr val="tx1"/>
                </a:solidFill>
                <a:latin typeface="Noto Sans"/>
                <a:ea typeface="Noto Sans"/>
                <a:cs typeface="Noto Sans"/>
                <a:sym typeface="Noto Sans"/>
              </a:rPr>
              <a:t>vomiting y organ_damage muestran el cambio opuesto.</a:t>
            </a:r>
            <a:r>
              <a:rPr lang="es-CO" sz="2200" b="0" dirty="0">
                <a:solidFill>
                  <a:schemeClr val="tx1"/>
                </a:solidFill>
                <a:latin typeface="Noto Sans"/>
                <a:ea typeface="Noto Sans"/>
                <a:cs typeface="Noto Sans"/>
                <a:sym typeface="Noto Sans"/>
              </a:rPr>
              <a:t> Sus intervalos incluían el 1 en el centralizado, pero no en el federado (</a:t>
            </a:r>
            <a:r>
              <a:rPr lang="es-CO" sz="2200" b="1" dirty="0">
                <a:solidFill>
                  <a:schemeClr val="tx1"/>
                </a:solidFill>
                <a:latin typeface="Noto Sans"/>
                <a:ea typeface="Noto Sans"/>
                <a:cs typeface="Noto Sans"/>
                <a:sym typeface="Noto Sans"/>
              </a:rPr>
              <a:t>vomiting</a:t>
            </a:r>
            <a:r>
              <a:rPr lang="es-CO" sz="2200" b="0" dirty="0">
                <a:solidFill>
                  <a:schemeClr val="tx1"/>
                </a:solidFill>
                <a:latin typeface="Noto Sans"/>
                <a:ea typeface="Noto Sans"/>
                <a:cs typeface="Noto Sans"/>
                <a:sym typeface="Noto Sans"/>
              </a:rPr>
              <a:t> 0.57, de 0.35 a 0.95; </a:t>
            </a:r>
            <a:r>
              <a:rPr lang="es-CO" sz="2200" b="1" dirty="0">
                <a:solidFill>
                  <a:schemeClr val="tx1"/>
                </a:solidFill>
                <a:latin typeface="Noto Sans"/>
                <a:ea typeface="Noto Sans"/>
                <a:cs typeface="Noto Sans"/>
                <a:sym typeface="Noto Sans"/>
              </a:rPr>
              <a:t>organ_damage</a:t>
            </a:r>
            <a:r>
              <a:rPr lang="es-CO" sz="2200" b="0" dirty="0">
                <a:solidFill>
                  <a:schemeClr val="tx1"/>
                </a:solidFill>
                <a:latin typeface="Noto Sans"/>
                <a:ea typeface="Noto Sans"/>
                <a:cs typeface="Noto Sans"/>
                <a:sym typeface="Noto Sans"/>
              </a:rPr>
              <a:t> 1.61, de 1.01 a 2.59).</a:t>
            </a:r>
          </a:p>
          <a:p>
            <a:pPr marL="342900" indent="-342900" algn="l">
              <a:lnSpc>
                <a:spcPct val="90000"/>
              </a:lnSpc>
              <a:spcBef>
                <a:spcPts val="0"/>
              </a:spcBef>
              <a:spcAft>
                <a:spcPts val="2400"/>
              </a:spcAft>
              <a:buClr>
                <a:srgbClr val="0673BA"/>
              </a:buClr>
              <a:buSzPct val="100000"/>
              <a:buFont typeface="Arial"/>
              <a:buChar char="•"/>
            </a:pPr>
            <a:r>
              <a:rPr lang="es-CO" sz="2200" b="1" dirty="0">
                <a:solidFill>
                  <a:schemeClr val="tx1"/>
                </a:solidFill>
                <a:latin typeface="Noto Sans"/>
                <a:ea typeface="Noto Sans"/>
                <a:cs typeface="Noto Sans"/>
                <a:sym typeface="Noto Sans"/>
              </a:rPr>
              <a:t>age y sex son prácticamente idénticos.</a:t>
            </a:r>
            <a:r>
              <a:rPr lang="es-CO" sz="2200" b="0" dirty="0">
                <a:solidFill>
                  <a:schemeClr val="tx1"/>
                </a:solidFill>
                <a:latin typeface="Noto Sans"/>
                <a:ea typeface="Noto Sans"/>
                <a:cs typeface="Noto Sans"/>
                <a:sym typeface="Noto Sans"/>
              </a:rPr>
              <a:t> </a:t>
            </a:r>
            <a:r>
              <a:rPr lang="es-CO" sz="2200" b="1" dirty="0">
                <a:solidFill>
                  <a:schemeClr val="tx1"/>
                </a:solidFill>
                <a:latin typeface="Noto Sans"/>
                <a:ea typeface="Noto Sans"/>
                <a:cs typeface="Noto Sans"/>
                <a:sym typeface="Noto Sans"/>
              </a:rPr>
              <a:t>age</a:t>
            </a:r>
            <a:r>
              <a:rPr lang="es-CO" sz="2200" b="0" dirty="0">
                <a:solidFill>
                  <a:schemeClr val="tx1"/>
                </a:solidFill>
                <a:latin typeface="Noto Sans"/>
                <a:ea typeface="Noto Sans"/>
                <a:cs typeface="Noto Sans"/>
                <a:sym typeface="Noto Sans"/>
              </a:rPr>
              <a:t> tiene un odds ratio de 1.023 en el centralizado y 1.022 en el federado, y </a:t>
            </a:r>
            <a:r>
              <a:rPr lang="es-CO" sz="2200" b="1" dirty="0">
                <a:solidFill>
                  <a:schemeClr val="tx1"/>
                </a:solidFill>
                <a:latin typeface="Noto Sans"/>
                <a:ea typeface="Noto Sans"/>
                <a:cs typeface="Noto Sans"/>
                <a:sym typeface="Noto Sans"/>
              </a:rPr>
              <a:t>sex</a:t>
            </a:r>
            <a:r>
              <a:rPr lang="es-CO" sz="2200" b="0" dirty="0">
                <a:solidFill>
                  <a:schemeClr val="tx1"/>
                </a:solidFill>
                <a:latin typeface="Noto Sans"/>
                <a:ea typeface="Noto Sans"/>
                <a:cs typeface="Noto Sans"/>
                <a:sym typeface="Noto Sans"/>
              </a:rPr>
              <a:t> 1.14 en ambos, por lo que sigue sin mostrar asociación.</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7. Conclusiones</a:t>
            </a:r>
            <a:endParaRPr lang="es-CO" sz="3600" dirty="0"/>
          </a:p>
        </p:txBody>
      </p:sp>
      <p:sp>
        <p:nvSpPr>
          <p:cNvPr id="3" name="TextBox 3"/>
          <p:cNvSpPr txBox="1"/>
          <p:nvPr/>
        </p:nvSpPr>
        <p:spPr>
          <a:xfrm>
            <a:off x="548640" y="1737360"/>
            <a:ext cx="11091672" cy="4434840"/>
          </a:xfrm>
          <a:prstGeom prst="rect">
            <a:avLst/>
          </a:prstGeom>
          <a:noFill/>
          <a:ln>
            <a:noFill/>
          </a:ln>
        </p:spPr>
        <p:txBody>
          <a:bodyPr wrap="square" lIns="45720" tIns="45720" rIns="45720" bIns="45720" rtlCol="0" anchor="t">
            <a:noAutofit/>
          </a:bodyPr>
          <a:lstStyle/>
          <a:p>
            <a:pPr marL="342900" indent="-342900" algn="just">
              <a:lnSpc>
                <a:spcPct val="90000"/>
              </a:lnSpc>
              <a:spcBef>
                <a:spcPts val="0"/>
              </a:spcBef>
              <a:spcAft>
                <a:spcPts val="1000"/>
              </a:spcAft>
              <a:buClr>
                <a:srgbClr val="0673BA"/>
              </a:buClr>
              <a:buSzPct val="100000"/>
              <a:buFont typeface="Arial"/>
              <a:buChar char="•"/>
            </a:pPr>
            <a:r>
              <a:rPr lang="es-CO" sz="2200" b="1" dirty="0">
                <a:solidFill>
                  <a:schemeClr val="tx1"/>
                </a:solidFill>
                <a:latin typeface="Noto Sans"/>
                <a:ea typeface="Noto Sans"/>
                <a:cs typeface="Noto Sans"/>
                <a:sym typeface="Noto Sans"/>
              </a:rPr>
              <a:t>El enfoque federado reproduce los hallazgos principales del centralizado sin compartir ningún registro individual.</a:t>
            </a:r>
            <a:r>
              <a:rPr lang="es-CO" sz="2200" b="0" dirty="0">
                <a:solidFill>
                  <a:schemeClr val="tx1"/>
                </a:solidFill>
                <a:latin typeface="Noto Sans"/>
                <a:ea typeface="Noto Sans"/>
                <a:cs typeface="Noto Sans"/>
                <a:sym typeface="Noto Sans"/>
              </a:rPr>
              <a:t> Las variables más asociadas con el fallecimiento son las mismas y la mayoría mantiene la misma interpretación. </a:t>
            </a:r>
          </a:p>
          <a:p>
            <a:pPr marL="342900" indent="-342900" algn="just">
              <a:lnSpc>
                <a:spcPct val="90000"/>
              </a:lnSpc>
              <a:spcBef>
                <a:spcPts val="0"/>
              </a:spcBef>
              <a:spcAft>
                <a:spcPts val="1000"/>
              </a:spcAft>
              <a:buClr>
                <a:srgbClr val="0673BA"/>
              </a:buClr>
              <a:buSzPct val="100000"/>
              <a:buFont typeface="Arial"/>
              <a:buChar char="•"/>
            </a:pPr>
            <a:r>
              <a:rPr lang="es-CO" sz="2200" b="1" dirty="0">
                <a:solidFill>
                  <a:schemeClr val="tx1"/>
                </a:solidFill>
                <a:latin typeface="Noto Sans"/>
                <a:ea typeface="Noto Sans"/>
                <a:cs typeface="Noto Sans"/>
                <a:sym typeface="Noto Sans"/>
              </a:rPr>
              <a:t>Las diferencias en variables se pueden atribuir a diferencias entre instituciones (valores de las variables y en la mortalidad). shock</a:t>
            </a:r>
            <a:r>
              <a:rPr lang="es-CO" sz="2200" dirty="0">
                <a:solidFill>
                  <a:schemeClr val="tx1"/>
                </a:solidFill>
                <a:latin typeface="Noto Sans"/>
                <a:ea typeface="Noto Sans"/>
                <a:cs typeface="Noto Sans"/>
                <a:sym typeface="Noto Sans"/>
              </a:rPr>
              <a:t>, </a:t>
            </a:r>
            <a:r>
              <a:rPr lang="es-CO" sz="2200" b="1" dirty="0" err="1">
                <a:solidFill>
                  <a:schemeClr val="tx1"/>
                </a:solidFill>
                <a:latin typeface="Noto Sans"/>
                <a:ea typeface="Noto Sans"/>
                <a:cs typeface="Noto Sans"/>
                <a:sym typeface="Noto Sans"/>
              </a:rPr>
              <a:t>hypothermia</a:t>
            </a:r>
            <a:r>
              <a:rPr lang="es-CO" sz="2200" dirty="0">
                <a:solidFill>
                  <a:schemeClr val="tx1"/>
                </a:solidFill>
                <a:latin typeface="Noto Sans"/>
                <a:ea typeface="Noto Sans"/>
                <a:cs typeface="Noto Sans"/>
                <a:sym typeface="Noto Sans"/>
              </a:rPr>
              <a:t>, </a:t>
            </a:r>
            <a:r>
              <a:rPr lang="es-CO" sz="2200" b="1" dirty="0" err="1">
                <a:solidFill>
                  <a:schemeClr val="tx1"/>
                </a:solidFill>
                <a:latin typeface="Noto Sans"/>
                <a:ea typeface="Noto Sans"/>
                <a:cs typeface="Noto Sans"/>
                <a:sym typeface="Noto Sans"/>
              </a:rPr>
              <a:t>myalgia</a:t>
            </a:r>
            <a:r>
              <a:rPr lang="es-CO" sz="2200" dirty="0">
                <a:solidFill>
                  <a:schemeClr val="tx1"/>
                </a:solidFill>
                <a:latin typeface="Noto Sans"/>
                <a:ea typeface="Noto Sans"/>
                <a:cs typeface="Noto Sans"/>
                <a:sym typeface="Noto Sans"/>
              </a:rPr>
              <a:t>, </a:t>
            </a:r>
            <a:r>
              <a:rPr lang="es-CO" sz="2200" b="1" dirty="0" err="1">
                <a:solidFill>
                  <a:schemeClr val="tx1"/>
                </a:solidFill>
                <a:latin typeface="Noto Sans"/>
                <a:ea typeface="Noto Sans"/>
                <a:cs typeface="Noto Sans"/>
                <a:sym typeface="Noto Sans"/>
              </a:rPr>
              <a:t>hepatomegaly</a:t>
            </a:r>
            <a:r>
              <a:rPr lang="es-CO" sz="2200" dirty="0">
                <a:solidFill>
                  <a:schemeClr val="tx1"/>
                </a:solidFill>
                <a:latin typeface="Noto Sans"/>
                <a:ea typeface="Noto Sans"/>
                <a:cs typeface="Noto Sans"/>
                <a:sym typeface="Noto Sans"/>
              </a:rPr>
              <a:t>, </a:t>
            </a:r>
            <a:r>
              <a:rPr lang="es-CO" sz="2200" b="1" dirty="0" err="1">
                <a:solidFill>
                  <a:schemeClr val="tx1"/>
                </a:solidFill>
                <a:latin typeface="Noto Sans"/>
                <a:ea typeface="Noto Sans"/>
                <a:cs typeface="Noto Sans"/>
                <a:sym typeface="Noto Sans"/>
              </a:rPr>
              <a:t>fluid_accumulation</a:t>
            </a:r>
            <a:r>
              <a:rPr lang="es-CO" sz="2200" dirty="0">
                <a:solidFill>
                  <a:schemeClr val="tx1"/>
                </a:solidFill>
                <a:latin typeface="Noto Sans"/>
                <a:ea typeface="Noto Sans"/>
                <a:cs typeface="Noto Sans"/>
                <a:sym typeface="Noto Sans"/>
              </a:rPr>
              <a:t> y </a:t>
            </a:r>
            <a:r>
              <a:rPr lang="es-CO" sz="2200" b="1" dirty="0" err="1">
                <a:solidFill>
                  <a:schemeClr val="tx1"/>
                </a:solidFill>
                <a:latin typeface="Noto Sans"/>
                <a:ea typeface="Noto Sans"/>
                <a:cs typeface="Noto Sans"/>
                <a:sym typeface="Noto Sans"/>
              </a:rPr>
              <a:t>hematocrit_increase</a:t>
            </a:r>
            <a:r>
              <a:rPr lang="es-CO" sz="2200" dirty="0">
                <a:solidFill>
                  <a:schemeClr val="tx1"/>
                </a:solidFill>
                <a:latin typeface="Noto Sans"/>
                <a:ea typeface="Noto Sans"/>
                <a:cs typeface="Noto Sans"/>
                <a:sym typeface="Noto Sans"/>
              </a:rPr>
              <a:t> se combinaron con 3 o 4 instituciones. En </a:t>
            </a:r>
            <a:r>
              <a:rPr lang="es-CO" sz="2200" b="1" dirty="0">
                <a:solidFill>
                  <a:schemeClr val="tx1"/>
                </a:solidFill>
                <a:latin typeface="Noto Sans"/>
                <a:ea typeface="Noto Sans"/>
                <a:cs typeface="Noto Sans"/>
                <a:sym typeface="Noto Sans"/>
              </a:rPr>
              <a:t>shock</a:t>
            </a:r>
            <a:r>
              <a:rPr lang="es-CO" sz="2200" dirty="0">
                <a:solidFill>
                  <a:schemeClr val="tx1"/>
                </a:solidFill>
                <a:latin typeface="Noto Sans"/>
                <a:ea typeface="Noto Sans"/>
                <a:cs typeface="Noto Sans"/>
                <a:sym typeface="Noto Sans"/>
              </a:rPr>
              <a:t>, la institución excluida era la de la asociación más fuerte, lo que contribuye a su menor </a:t>
            </a:r>
            <a:r>
              <a:rPr lang="es-CO" sz="2200" dirty="0" err="1">
                <a:solidFill>
                  <a:schemeClr val="tx1"/>
                </a:solidFill>
                <a:latin typeface="Noto Sans"/>
                <a:ea typeface="Noto Sans"/>
                <a:cs typeface="Noto Sans"/>
                <a:sym typeface="Noto Sans"/>
              </a:rPr>
              <a:t>odds</a:t>
            </a:r>
            <a:r>
              <a:rPr lang="es-CO" sz="2200" dirty="0">
                <a:solidFill>
                  <a:schemeClr val="tx1"/>
                </a:solidFill>
                <a:latin typeface="Noto Sans"/>
                <a:ea typeface="Noto Sans"/>
                <a:cs typeface="Noto Sans"/>
                <a:sym typeface="Noto Sans"/>
              </a:rPr>
              <a:t> ratio federado.</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Conceptos</a:t>
            </a:r>
            <a:endParaRPr lang="es-CO" sz="3600" dirty="0"/>
          </a:p>
        </p:txBody>
      </p:sp>
      <p:sp>
        <p:nvSpPr>
          <p:cNvPr id="3" name="TextBox 3"/>
          <p:cNvSpPr txBox="1"/>
          <p:nvPr/>
        </p:nvSpPr>
        <p:spPr>
          <a:xfrm>
            <a:off x="548640" y="1737360"/>
            <a:ext cx="11091672" cy="329184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2400"/>
              </a:spcAft>
              <a:buNone/>
            </a:pPr>
            <a:r>
              <a:rPr lang="es-CO" sz="2200" b="0" dirty="0">
                <a:solidFill>
                  <a:schemeClr val="tx1"/>
                </a:solidFill>
                <a:latin typeface="Noto Sans"/>
                <a:ea typeface="Noto Sans"/>
                <a:cs typeface="Noto Sans"/>
                <a:sym typeface="Noto Sans"/>
              </a:rPr>
              <a:t>Los </a:t>
            </a:r>
            <a:r>
              <a:rPr lang="es-CO" sz="2200" b="1" dirty="0">
                <a:solidFill>
                  <a:schemeClr val="tx1"/>
                </a:solidFill>
                <a:latin typeface="Noto Sans"/>
                <a:ea typeface="Noto Sans"/>
                <a:cs typeface="Noto Sans"/>
                <a:sym typeface="Noto Sans"/>
              </a:rPr>
              <a:t>odds ratios</a:t>
            </a:r>
            <a:r>
              <a:rPr lang="es-CO" sz="2200" b="0" dirty="0">
                <a:solidFill>
                  <a:schemeClr val="tx1"/>
                </a:solidFill>
                <a:latin typeface="Noto Sans"/>
                <a:ea typeface="Noto Sans"/>
                <a:cs typeface="Noto Sans"/>
                <a:sym typeface="Noto Sans"/>
              </a:rPr>
              <a:t> son una medida estadística que evalúa qué tan fuerte es la asociación entre una variable y un desenlace específico.</a:t>
            </a:r>
          </a:p>
          <a:p>
            <a:pPr marL="0" indent="0" algn="just">
              <a:lnSpc>
                <a:spcPct val="90000"/>
              </a:lnSpc>
              <a:spcBef>
                <a:spcPts val="0"/>
              </a:spcBef>
              <a:spcAft>
                <a:spcPts val="2400"/>
              </a:spcAft>
              <a:buNone/>
            </a:pPr>
            <a:r>
              <a:rPr lang="es-CO" sz="2200" b="0" dirty="0">
                <a:solidFill>
                  <a:schemeClr val="tx1"/>
                </a:solidFill>
                <a:latin typeface="Noto Sans"/>
                <a:ea typeface="Noto Sans"/>
                <a:cs typeface="Noto Sans"/>
                <a:sym typeface="Noto Sans"/>
              </a:rPr>
              <a:t>En este taller se evalúa la asociación de las variables de la base de datos de dengue con el fallecimiento de los pacientes.</a:t>
            </a:r>
          </a:p>
          <a:p>
            <a:pPr marL="0" indent="0" algn="just">
              <a:lnSpc>
                <a:spcPct val="90000"/>
              </a:lnSpc>
              <a:spcBef>
                <a:spcPts val="0"/>
              </a:spcBef>
              <a:spcAft>
                <a:spcPts val="2400"/>
              </a:spcAft>
              <a:buNone/>
            </a:pPr>
            <a:r>
              <a:rPr lang="es-CO" sz="2200" b="1" dirty="0">
                <a:solidFill>
                  <a:schemeClr val="tx1"/>
                </a:solidFill>
                <a:latin typeface="Noto Sans"/>
                <a:ea typeface="Noto Sans"/>
                <a:cs typeface="Noto Sans"/>
                <a:sym typeface="Noto Sans"/>
              </a:rPr>
              <a:t>Odds: </a:t>
            </a:r>
            <a:r>
              <a:rPr lang="es-CO" sz="2200" b="0" dirty="0">
                <a:solidFill>
                  <a:schemeClr val="tx1"/>
                </a:solidFill>
                <a:latin typeface="Noto Sans"/>
                <a:ea typeface="Noto Sans"/>
                <a:cs typeface="Noto Sans"/>
                <a:sym typeface="Noto Sans"/>
              </a:rPr>
              <a:t>Probabilidad de que el desenlace ocurra dividida por la probabilidad de que no ocurra, </a:t>
            </a:r>
            <a:r>
              <a:rPr lang="es-CO" sz="2200" b="1" dirty="0">
                <a:solidFill>
                  <a:schemeClr val="tx1"/>
                </a:solidFill>
                <a:latin typeface="Noto Sans"/>
                <a:ea typeface="Noto Sans"/>
                <a:cs typeface="Noto Sans"/>
                <a:sym typeface="Noto Sans"/>
              </a:rPr>
              <a:t>p / (1 − p)</a:t>
            </a:r>
            <a:r>
              <a:rPr lang="es-CO" sz="2200" b="0" dirty="0">
                <a:solidFill>
                  <a:schemeClr val="tx1"/>
                </a:solidFill>
                <a:latin typeface="Noto Sans"/>
                <a:ea typeface="Noto Sans"/>
                <a:cs typeface="Noto Sans"/>
                <a:sym typeface="Noto Sans"/>
              </a:rPr>
              <a:t>.</a:t>
            </a:r>
          </a:p>
          <a:p>
            <a:pPr marL="0" indent="0" algn="just">
              <a:lnSpc>
                <a:spcPct val="90000"/>
              </a:lnSpc>
              <a:spcBef>
                <a:spcPts val="0"/>
              </a:spcBef>
              <a:spcAft>
                <a:spcPts val="0"/>
              </a:spcAft>
              <a:buNone/>
            </a:pPr>
            <a:r>
              <a:rPr lang="es-CO" sz="2200" b="0" dirty="0">
                <a:solidFill>
                  <a:schemeClr val="tx1"/>
                </a:solidFill>
                <a:latin typeface="Noto Sans"/>
                <a:ea typeface="Noto Sans"/>
                <a:cs typeface="Noto Sans"/>
                <a:sym typeface="Noto Sans"/>
              </a:rPr>
              <a:t>Por ejemplo:</a:t>
            </a:r>
          </a:p>
        </p:txBody>
      </p:sp>
      <mc:AlternateContent xmlns:mc="http://schemas.openxmlformats.org/markup-compatibility/2006" xmlns:a14="http://schemas.microsoft.com/office/drawing/2010/main">
        <mc:Choice Requires="a14">
          <p:sp>
            <p:nvSpPr>
              <p:cNvPr id="4" name="Equation 4"/>
              <p:cNvSpPr txBox="1"/>
              <p:nvPr/>
            </p:nvSpPr>
            <p:spPr>
              <a:xfrm>
                <a:off x="548640" y="4892040"/>
                <a:ext cx="11091672" cy="960120"/>
              </a:xfrm>
              <a:prstGeom prst="rect">
                <a:avLst/>
              </a:prstGeom>
              <a:noFill/>
            </p:spPr>
            <p:txBody>
              <a:bodyPr wrap="square" anchor="ctr">
                <a:noAutofit/>
              </a:bodyPr>
              <a:lstStyle/>
              <a:p>
                <a:pPr algn="ctr"/>
                <a14:m>
                  <m:oMathPara xmlns:m="http://schemas.openxmlformats.org/officeDocument/2006/math">
                    <m:oMath>
                      <m:r>
                        <m:rPr>
                          <m:nor/>
                        </m:rPr>
                        <a:rPr lang="es-CO" sz="2200" i="0">
                          <a:solidFill>
                            <a:schemeClr val="tx1"/>
                          </a:solidFill>
                          <a:latin typeface="Noto Sans"/>
                          <a:ea typeface="Noto Sans"/>
                          <a:cs typeface="Noto Sans"/>
                          <a:sym typeface="Noto Sans"/>
                        </a:rPr>
                        <m:t>Odds de fallecer con shock = </m:t>
                      </m:r>
                      <m:f>
                        <m:fPr>
                          <m:ctrlPr>
                            <a:rPr lang="es-ES" sz="2200" b="0" i="0" smtClean="0">
                              <a:solidFill>
                                <a:schemeClr val="tx1"/>
                              </a:solidFill>
                              <a:latin typeface="Noto Sans"/>
                              <a:ea typeface="Noto Sans"/>
                              <a:cs typeface="Noto Sans"/>
                              <a:sym typeface="Noto Sans"/>
                            </a:rPr>
                          </m:ctrlPr>
                        </m:fPr>
                        <m:num>
                          <m:r>
                            <m:rPr>
                              <m:nor/>
                            </m:rPr>
                            <a:rPr lang="es-ES" sz="2200" b="0" i="0" smtClean="0">
                              <a:solidFill>
                                <a:schemeClr val="tx1"/>
                              </a:solidFill>
                              <a:latin typeface="Noto Sans"/>
                              <a:ea typeface="Noto Sans"/>
                              <a:cs typeface="Noto Sans"/>
                              <a:sym typeface="Noto Sans"/>
                            </a:rPr>
                            <m:t>P</m:t>
                          </m:r>
                          <m:r>
                            <m:rPr>
                              <m:nor/>
                            </m:rPr>
                            <a:rPr lang="es-CO" sz="2200" i="0">
                              <a:solidFill>
                                <a:schemeClr val="tx1"/>
                              </a:solidFill>
                              <a:latin typeface="Noto Sans"/>
                              <a:ea typeface="Noto Sans"/>
                              <a:cs typeface="Noto Sans"/>
                              <a:sym typeface="Noto Sans"/>
                            </a:rPr>
                            <m:t>robabilidad de fallecer con shock</m:t>
                          </m:r>
                        </m:num>
                        <m:den>
                          <m:r>
                            <m:rPr>
                              <m:nor/>
                            </m:rPr>
                            <a:rPr lang="es-ES" sz="2200" b="0" i="0" smtClean="0">
                              <a:solidFill>
                                <a:schemeClr val="tx1"/>
                              </a:solidFill>
                              <a:latin typeface="Noto Sans"/>
                              <a:ea typeface="Noto Sans"/>
                              <a:cs typeface="Noto Sans"/>
                              <a:sym typeface="Noto Sans"/>
                            </a:rPr>
                            <m:t>P</m:t>
                          </m:r>
                          <m:r>
                            <m:rPr>
                              <m:nor/>
                            </m:rPr>
                            <a:rPr lang="es-CO" sz="2200" i="0">
                              <a:solidFill>
                                <a:schemeClr val="tx1"/>
                              </a:solidFill>
                              <a:latin typeface="Noto Sans"/>
                              <a:ea typeface="Noto Sans"/>
                              <a:cs typeface="Noto Sans"/>
                              <a:sym typeface="Noto Sans"/>
                            </a:rPr>
                            <m:t>robabilidad de no fallecer con shock</m:t>
                          </m:r>
                        </m:den>
                      </m:f>
                    </m:oMath>
                  </m:oMathPara>
                </a14:m>
                <a:endParaRPr sz="2200" dirty="0">
                  <a:solidFill>
                    <a:schemeClr val="tx1"/>
                  </a:solidFill>
                  <a:latin typeface="Noto Sans"/>
                  <a:ea typeface="Noto Sans"/>
                  <a:cs typeface="Noto Sans"/>
                </a:endParaRPr>
              </a:p>
            </p:txBody>
          </p:sp>
        </mc:Choice>
        <mc:Fallback xmlns="">
          <p:sp>
            <p:nvSpPr>
              <p:cNvPr id="4" name="Equation 4"/>
              <p:cNvSpPr txBox="1">
                <a:spLocks noRot="1" noChangeAspect="1" noMove="1" noResize="1" noEditPoints="1" noAdjustHandles="1" noChangeArrowheads="1" noChangeShapeType="1" noTextEdit="1"/>
              </p:cNvSpPr>
              <p:nvPr/>
            </p:nvSpPr>
            <p:spPr>
              <a:xfrm>
                <a:off x="548640" y="4892040"/>
                <a:ext cx="11091672" cy="960120"/>
              </a:xfrm>
              <a:prstGeom prst="rect">
                <a:avLst/>
              </a:prstGeom>
              <a:blipFill>
                <a:blip r:embed="rId2"/>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414656956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95703-BD3A-12DF-8A43-07DF65FBFB63}"/>
            </a:ext>
          </a:extLst>
        </p:cNvPr>
        <p:cNvGrpSpPr/>
        <p:nvPr/>
      </p:nvGrpSpPr>
      <p:grpSpPr>
        <a:xfrm>
          <a:off x="0" y="0"/>
          <a:ext cx="0" cy="0"/>
          <a:chOff x="0" y="0"/>
          <a:chExt cx="0" cy="0"/>
        </a:xfrm>
      </p:grpSpPr>
      <p:sp>
        <p:nvSpPr>
          <p:cNvPr id="2" name="Title 2">
            <a:extLst>
              <a:ext uri="{FF2B5EF4-FFF2-40B4-BE49-F238E27FC236}">
                <a16:creationId xmlns:a16="http://schemas.microsoft.com/office/drawing/2014/main" id="{AAC470E3-6CBA-6863-14E9-028139211B63}"/>
              </a:ext>
            </a:extLst>
          </p:cNvPr>
          <p:cNvSpPr>
            <a:spLocks noGrp="1"/>
          </p:cNvSpPr>
          <p:nvPr>
            <p:ph type="title"/>
          </p:nvPr>
        </p:nvSpPr>
        <p:spPr>
          <a:xfrm>
            <a:off x="548640" y="987552"/>
            <a:ext cx="11091672" cy="685800"/>
          </a:xfrm>
        </p:spPr>
        <p:txBody>
          <a:bodyPr anchor="ctr">
            <a:noAutofit/>
          </a:bodyPr>
          <a:lstStyle/>
          <a:p>
            <a:r>
              <a:rPr lang="es-CO" sz="3600" b="0" dirty="0">
                <a:solidFill>
                  <a:srgbClr val="0E2841"/>
                </a:solidFill>
              </a:rPr>
              <a:t>Conceptos</a:t>
            </a:r>
            <a:endParaRPr lang="es-CO" sz="3600" dirty="0"/>
          </a:p>
        </p:txBody>
      </p:sp>
      <p:sp>
        <p:nvSpPr>
          <p:cNvPr id="3" name="TextBox 3">
            <a:extLst>
              <a:ext uri="{FF2B5EF4-FFF2-40B4-BE49-F238E27FC236}">
                <a16:creationId xmlns:a16="http://schemas.microsoft.com/office/drawing/2014/main" id="{E13A7B1B-98FB-668F-9B09-C9A89DF1273E}"/>
              </a:ext>
            </a:extLst>
          </p:cNvPr>
          <p:cNvSpPr txBox="1"/>
          <p:nvPr/>
        </p:nvSpPr>
        <p:spPr>
          <a:xfrm>
            <a:off x="548640" y="1737360"/>
            <a:ext cx="11091672" cy="141732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2400"/>
              </a:spcAft>
              <a:buNone/>
            </a:pPr>
            <a:r>
              <a:rPr lang="es-CO" sz="2200" b="1" dirty="0">
                <a:solidFill>
                  <a:schemeClr val="tx1"/>
                </a:solidFill>
                <a:latin typeface="Noto Sans"/>
                <a:ea typeface="Noto Sans"/>
                <a:cs typeface="Noto Sans"/>
                <a:sym typeface="Noto Sans"/>
              </a:rPr>
              <a:t>Odds ratio: </a:t>
            </a:r>
            <a:r>
              <a:rPr lang="es-CO" sz="2200" b="0" dirty="0">
                <a:solidFill>
                  <a:schemeClr val="tx1"/>
                </a:solidFill>
                <a:latin typeface="Noto Sans"/>
                <a:ea typeface="Noto Sans"/>
                <a:cs typeface="Noto Sans"/>
                <a:sym typeface="Noto Sans"/>
              </a:rPr>
              <a:t>Cociente entre los odds de dos grupos, </a:t>
            </a:r>
            <a:r>
              <a:rPr lang="es-CO" sz="2200" dirty="0">
                <a:solidFill>
                  <a:schemeClr val="tx1"/>
                </a:solidFill>
                <a:latin typeface="Noto Sans"/>
                <a:ea typeface="Noto Sans"/>
                <a:cs typeface="Noto Sans"/>
                <a:sym typeface="Noto Sans"/>
              </a:rPr>
              <a:t>generalmente el grupo</a:t>
            </a:r>
            <a:r>
              <a:rPr lang="es-CO" sz="2200" b="0" dirty="0">
                <a:solidFill>
                  <a:schemeClr val="tx1"/>
                </a:solidFill>
                <a:latin typeface="Noto Sans"/>
                <a:ea typeface="Noto Sans"/>
                <a:cs typeface="Noto Sans"/>
                <a:sym typeface="Noto Sans"/>
              </a:rPr>
              <a:t> con una característica y el grupo sin esa característica.</a:t>
            </a:r>
          </a:p>
          <a:p>
            <a:pPr marL="0" indent="0" algn="just">
              <a:lnSpc>
                <a:spcPct val="90000"/>
              </a:lnSpc>
              <a:spcBef>
                <a:spcPts val="0"/>
              </a:spcBef>
              <a:spcAft>
                <a:spcPts val="0"/>
              </a:spcAft>
              <a:buNone/>
            </a:pPr>
            <a:r>
              <a:rPr lang="es-CO" sz="2200" b="0" dirty="0">
                <a:solidFill>
                  <a:schemeClr val="tx1"/>
                </a:solidFill>
                <a:latin typeface="Noto Sans"/>
                <a:ea typeface="Noto Sans"/>
                <a:cs typeface="Noto Sans"/>
                <a:sym typeface="Noto Sans"/>
              </a:rPr>
              <a:t>En la base de datos de dengue, al comparar los pacientes con y sin shock obtenemos lo siguiente:</a:t>
            </a:r>
          </a:p>
        </p:txBody>
      </p:sp>
      <p:graphicFrame>
        <p:nvGraphicFramePr>
          <p:cNvPr id="4" name="Table">
            <a:extLst>
              <a:ext uri="{FF2B5EF4-FFF2-40B4-BE49-F238E27FC236}">
                <a16:creationId xmlns:a16="http://schemas.microsoft.com/office/drawing/2014/main" id="{E65EF9EC-742A-5E95-BA04-795DF47E483A}"/>
              </a:ext>
            </a:extLst>
          </p:cNvPr>
          <p:cNvGraphicFramePr>
            <a:graphicFrameLocks noGrp="1"/>
          </p:cNvGraphicFramePr>
          <p:nvPr/>
        </p:nvGraphicFramePr>
        <p:xfrm>
          <a:off x="1615440" y="3429000"/>
          <a:ext cx="8961120" cy="1152144"/>
        </p:xfrm>
        <a:graphic>
          <a:graphicData uri="http://schemas.openxmlformats.org/drawingml/2006/table">
            <a:tbl>
              <a:tblPr firstRow="1" bandRow="1"/>
              <a:tblGrid>
                <a:gridCol w="16459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3291840">
                  <a:extLst>
                    <a:ext uri="{9D8B030D-6E8A-4147-A177-3AD203B41FA5}">
                      <a16:colId xmlns:a16="http://schemas.microsoft.com/office/drawing/2014/main" val="20003"/>
                    </a:ext>
                  </a:extLst>
                </a:gridCol>
              </a:tblGrid>
              <a:tr h="384048">
                <a:tc>
                  <a:txBody>
                    <a:bodyPr/>
                    <a:lstStyle/>
                    <a:p>
                      <a:pPr marL="0" indent="0" algn="l">
                        <a:lnSpc>
                          <a:spcPct val="90000"/>
                        </a:lnSpc>
                        <a:spcBef>
                          <a:spcPts val="0"/>
                        </a:spcBef>
                        <a:spcAft>
                          <a:spcPts val="0"/>
                        </a:spcAft>
                        <a:buNone/>
                      </a:pPr>
                      <a:r>
                        <a:rPr lang="es-CO" sz="2000" b="1" dirty="0">
                          <a:solidFill>
                            <a:srgbClr val="FFFFFF"/>
                          </a:solidFill>
                          <a:latin typeface="Noto Sans"/>
                          <a:ea typeface="Noto Sans"/>
                          <a:cs typeface="Noto Sans"/>
                          <a:sym typeface="Noto Sans"/>
                        </a:rPr>
                        <a:t>Shock</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673BA"/>
                    </a:solidFill>
                  </a:tcPr>
                </a:tc>
                <a:tc>
                  <a:txBody>
                    <a:bodyPr/>
                    <a:lstStyle/>
                    <a:p>
                      <a:pPr marL="0" indent="0" algn="l">
                        <a:lnSpc>
                          <a:spcPct val="90000"/>
                        </a:lnSpc>
                        <a:spcBef>
                          <a:spcPts val="0"/>
                        </a:spcBef>
                        <a:spcAft>
                          <a:spcPts val="0"/>
                        </a:spcAft>
                        <a:buNone/>
                      </a:pPr>
                      <a:r>
                        <a:rPr lang="es-CO" sz="2000" b="1" dirty="0">
                          <a:solidFill>
                            <a:srgbClr val="FFFFFF"/>
                          </a:solidFill>
                          <a:latin typeface="Noto Sans"/>
                          <a:ea typeface="Noto Sans"/>
                          <a:cs typeface="Noto Sans"/>
                          <a:sym typeface="Noto Sans"/>
                        </a:rPr>
                        <a:t>Fallecidos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673BA"/>
                    </a:solidFill>
                  </a:tcPr>
                </a:tc>
                <a:tc>
                  <a:txBody>
                    <a:bodyPr/>
                    <a:lstStyle/>
                    <a:p>
                      <a:pPr marL="0" indent="0" algn="l">
                        <a:lnSpc>
                          <a:spcPct val="90000"/>
                        </a:lnSpc>
                        <a:spcBef>
                          <a:spcPts val="0"/>
                        </a:spcBef>
                        <a:spcAft>
                          <a:spcPts val="0"/>
                        </a:spcAft>
                        <a:buNone/>
                      </a:pPr>
                      <a:r>
                        <a:rPr lang="es-CO" sz="2000" b="1" dirty="0">
                          <a:solidFill>
                            <a:srgbClr val="FFFFFF"/>
                          </a:solidFill>
                          <a:latin typeface="Noto Sans"/>
                          <a:ea typeface="Noto Sans"/>
                          <a:cs typeface="Noto Sans"/>
                          <a:sym typeface="Noto Sans"/>
                        </a:rPr>
                        <a:t>Vivos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673BA"/>
                    </a:solidFill>
                  </a:tcPr>
                </a:tc>
                <a:tc>
                  <a:txBody>
                    <a:bodyPr/>
                    <a:lstStyle/>
                    <a:p>
                      <a:pPr marL="0" indent="0" algn="l">
                        <a:lnSpc>
                          <a:spcPct val="90000"/>
                        </a:lnSpc>
                        <a:spcBef>
                          <a:spcPts val="0"/>
                        </a:spcBef>
                        <a:spcAft>
                          <a:spcPts val="0"/>
                        </a:spcAft>
                        <a:buNone/>
                      </a:pPr>
                      <a:r>
                        <a:rPr lang="es-CO" sz="2000" b="1" dirty="0">
                          <a:solidFill>
                            <a:srgbClr val="FFFFFF"/>
                          </a:solidFill>
                          <a:latin typeface="Noto Sans"/>
                          <a:ea typeface="Noto Sans"/>
                          <a:cs typeface="Noto Sans"/>
                          <a:sym typeface="Noto Sans"/>
                        </a:rPr>
                        <a:t>Odds (fallecidos / vivos)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673BA"/>
                    </a:solidFill>
                  </a:tcPr>
                </a:tc>
                <a:extLst>
                  <a:ext uri="{0D108BD9-81ED-4DB2-BD59-A6C34878D82A}">
                    <a16:rowId xmlns:a16="http://schemas.microsoft.com/office/drawing/2014/main" val="10000"/>
                  </a:ext>
                </a:extLst>
              </a:tr>
              <a:tr h="384048">
                <a:tc>
                  <a:txBody>
                    <a:bodyPr/>
                    <a:lstStyle/>
                    <a:p>
                      <a:pPr marL="0" indent="0" algn="l">
                        <a:lnSpc>
                          <a:spcPct val="90000"/>
                        </a:lnSpc>
                        <a:spcBef>
                          <a:spcPts val="0"/>
                        </a:spcBef>
                        <a:spcAft>
                          <a:spcPts val="0"/>
                        </a:spcAft>
                        <a:buNone/>
                      </a:pPr>
                      <a:r>
                        <a:rPr lang="es-CO" sz="2000" b="0" dirty="0">
                          <a:solidFill>
                            <a:schemeClr val="tx1"/>
                          </a:solidFill>
                          <a:latin typeface="Noto Sans"/>
                          <a:ea typeface="Noto Sans"/>
                          <a:cs typeface="Noto Sans"/>
                          <a:sym typeface="Noto Sans"/>
                        </a:rPr>
                        <a:t>Sí</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tc>
                  <a:txBody>
                    <a:bodyPr/>
                    <a:lstStyle/>
                    <a:p>
                      <a:pPr marL="0" indent="0" algn="l">
                        <a:lnSpc>
                          <a:spcPct val="90000"/>
                        </a:lnSpc>
                        <a:spcBef>
                          <a:spcPts val="0"/>
                        </a:spcBef>
                        <a:spcAft>
                          <a:spcPts val="0"/>
                        </a:spcAft>
                        <a:buNone/>
                      </a:pPr>
                      <a:r>
                        <a:rPr lang="es-CO" sz="2000" b="0" dirty="0">
                          <a:solidFill>
                            <a:schemeClr val="tx1"/>
                          </a:solidFill>
                          <a:latin typeface="Noto Sans"/>
                          <a:ea typeface="Noto Sans"/>
                          <a:cs typeface="Noto Sans"/>
                          <a:sym typeface="Noto Sans"/>
                        </a:rPr>
                        <a:t>78</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tc>
                  <a:txBody>
                    <a:bodyPr/>
                    <a:lstStyle/>
                    <a:p>
                      <a:pPr marL="0" indent="0" algn="l">
                        <a:lnSpc>
                          <a:spcPct val="90000"/>
                        </a:lnSpc>
                        <a:spcBef>
                          <a:spcPts val="0"/>
                        </a:spcBef>
                        <a:spcAft>
                          <a:spcPts val="0"/>
                        </a:spcAft>
                        <a:buNone/>
                      </a:pPr>
                      <a:r>
                        <a:rPr lang="es-CO" sz="2000" b="0" dirty="0">
                          <a:solidFill>
                            <a:schemeClr val="tx1"/>
                          </a:solidFill>
                          <a:latin typeface="Noto Sans"/>
                          <a:ea typeface="Noto Sans"/>
                          <a:cs typeface="Noto Sans"/>
                          <a:sym typeface="Noto Sans"/>
                        </a:rPr>
                        <a:t>150</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tc>
                  <a:txBody>
                    <a:bodyPr/>
                    <a:lstStyle/>
                    <a:p>
                      <a:pPr marL="0" indent="0" algn="l">
                        <a:lnSpc>
                          <a:spcPct val="90000"/>
                        </a:lnSpc>
                        <a:spcBef>
                          <a:spcPts val="0"/>
                        </a:spcBef>
                        <a:spcAft>
                          <a:spcPts val="0"/>
                        </a:spcAft>
                        <a:buNone/>
                      </a:pPr>
                      <a:r>
                        <a:rPr lang="es-CO" sz="2000" b="0" dirty="0">
                          <a:solidFill>
                            <a:schemeClr val="tx1"/>
                          </a:solidFill>
                          <a:latin typeface="Noto Sans"/>
                          <a:ea typeface="Noto Sans"/>
                          <a:cs typeface="Noto Sans"/>
                          <a:sym typeface="Noto Sans"/>
                        </a:rPr>
                        <a:t>0.52</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extLst>
                  <a:ext uri="{0D108BD9-81ED-4DB2-BD59-A6C34878D82A}">
                    <a16:rowId xmlns:a16="http://schemas.microsoft.com/office/drawing/2014/main" val="10001"/>
                  </a:ext>
                </a:extLst>
              </a:tr>
              <a:tr h="384048">
                <a:tc>
                  <a:txBody>
                    <a:bodyPr/>
                    <a:lstStyle/>
                    <a:p>
                      <a:pPr marL="0" indent="0" algn="l">
                        <a:lnSpc>
                          <a:spcPct val="90000"/>
                        </a:lnSpc>
                        <a:spcBef>
                          <a:spcPts val="0"/>
                        </a:spcBef>
                        <a:spcAft>
                          <a:spcPts val="0"/>
                        </a:spcAft>
                        <a:buNone/>
                      </a:pPr>
                      <a:r>
                        <a:rPr lang="es-CO" sz="2000" b="0" dirty="0">
                          <a:solidFill>
                            <a:schemeClr val="tx1"/>
                          </a:solidFill>
                          <a:latin typeface="Noto Sans"/>
                          <a:ea typeface="Noto Sans"/>
                          <a:cs typeface="Noto Sans"/>
                          <a:sym typeface="Noto Sans"/>
                        </a:rPr>
                        <a:t>No</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tc>
                  <a:txBody>
                    <a:bodyPr/>
                    <a:lstStyle/>
                    <a:p>
                      <a:pPr marL="0" indent="0" algn="l">
                        <a:lnSpc>
                          <a:spcPct val="90000"/>
                        </a:lnSpc>
                        <a:spcBef>
                          <a:spcPts val="0"/>
                        </a:spcBef>
                        <a:spcAft>
                          <a:spcPts val="0"/>
                        </a:spcAft>
                        <a:buNone/>
                      </a:pPr>
                      <a:r>
                        <a:rPr lang="es-CO" sz="2000" b="0" dirty="0">
                          <a:solidFill>
                            <a:schemeClr val="tx1"/>
                          </a:solidFill>
                          <a:latin typeface="Noto Sans"/>
                          <a:ea typeface="Noto Sans"/>
                          <a:cs typeface="Noto Sans"/>
                          <a:sym typeface="Noto Sans"/>
                        </a:rPr>
                        <a:t>20</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tc>
                  <a:txBody>
                    <a:bodyPr/>
                    <a:lstStyle/>
                    <a:p>
                      <a:pPr marL="0" indent="0" algn="l">
                        <a:lnSpc>
                          <a:spcPct val="90000"/>
                        </a:lnSpc>
                        <a:spcBef>
                          <a:spcPts val="0"/>
                        </a:spcBef>
                        <a:spcAft>
                          <a:spcPts val="0"/>
                        </a:spcAft>
                        <a:buNone/>
                      </a:pPr>
                      <a:r>
                        <a:rPr lang="es-CO" sz="2000" b="0" dirty="0">
                          <a:solidFill>
                            <a:schemeClr val="tx1"/>
                          </a:solidFill>
                          <a:latin typeface="Noto Sans"/>
                          <a:ea typeface="Noto Sans"/>
                          <a:cs typeface="Noto Sans"/>
                          <a:sym typeface="Noto Sans"/>
                        </a:rPr>
                        <a:t>10,036</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tc>
                  <a:txBody>
                    <a:bodyPr/>
                    <a:lstStyle/>
                    <a:p>
                      <a:pPr marL="0" indent="0" algn="l">
                        <a:lnSpc>
                          <a:spcPct val="90000"/>
                        </a:lnSpc>
                        <a:spcBef>
                          <a:spcPts val="0"/>
                        </a:spcBef>
                        <a:spcAft>
                          <a:spcPts val="0"/>
                        </a:spcAft>
                        <a:buNone/>
                      </a:pPr>
                      <a:r>
                        <a:rPr lang="es-CO" sz="2000" b="0" dirty="0">
                          <a:solidFill>
                            <a:schemeClr val="tx1"/>
                          </a:solidFill>
                          <a:latin typeface="Noto Sans"/>
                          <a:ea typeface="Noto Sans"/>
                          <a:cs typeface="Noto Sans"/>
                          <a:sym typeface="Noto Sans"/>
                        </a:rPr>
                        <a:t>0.00199</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extLst>
                  <a:ext uri="{0D108BD9-81ED-4DB2-BD59-A6C34878D82A}">
                    <a16:rowId xmlns:a16="http://schemas.microsoft.com/office/drawing/2014/main" val="10002"/>
                  </a:ext>
                </a:extLst>
              </a:tr>
            </a:tbl>
          </a:graphicData>
        </a:graphic>
      </p:graphicFrame>
      <p:sp>
        <p:nvSpPr>
          <p:cNvPr id="5" name="TextBox 5">
            <a:extLst>
              <a:ext uri="{FF2B5EF4-FFF2-40B4-BE49-F238E27FC236}">
                <a16:creationId xmlns:a16="http://schemas.microsoft.com/office/drawing/2014/main" id="{8E8B4791-D392-9C9C-F64F-D56845061EA0}"/>
              </a:ext>
            </a:extLst>
          </p:cNvPr>
          <p:cNvSpPr txBox="1"/>
          <p:nvPr/>
        </p:nvSpPr>
        <p:spPr>
          <a:xfrm>
            <a:off x="548640" y="4690412"/>
            <a:ext cx="11091672" cy="1481788"/>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2400"/>
              </a:spcAft>
              <a:buNone/>
            </a:pPr>
            <a:r>
              <a:rPr lang="es-CO" sz="2200" b="1" dirty="0">
                <a:solidFill>
                  <a:schemeClr val="tx1"/>
                </a:solidFill>
                <a:latin typeface="Noto Sans"/>
                <a:ea typeface="Noto Sans"/>
                <a:cs typeface="Noto Sans"/>
                <a:sym typeface="Noto Sans"/>
              </a:rPr>
              <a:t>Odds ratio = 0.52 / 0.00199 ≈ 261</a:t>
            </a:r>
            <a:r>
              <a:rPr lang="es-CO" sz="2200" b="0" dirty="0">
                <a:solidFill>
                  <a:schemeClr val="tx1"/>
                </a:solidFill>
                <a:latin typeface="Noto Sans"/>
                <a:ea typeface="Noto Sans"/>
                <a:cs typeface="Noto Sans"/>
                <a:sym typeface="Noto Sans"/>
              </a:rPr>
              <a:t>, es decir, los odds de fallecer de un paciente con shock son cerca de 261 veces los de un paciente sin shock.</a:t>
            </a:r>
          </a:p>
          <a:p>
            <a:pPr marL="0" indent="0" algn="just">
              <a:lnSpc>
                <a:spcPct val="90000"/>
              </a:lnSpc>
              <a:spcBef>
                <a:spcPts val="0"/>
              </a:spcBef>
              <a:spcAft>
                <a:spcPts val="0"/>
              </a:spcAft>
              <a:buNone/>
            </a:pPr>
            <a:r>
              <a:rPr lang="es-CO" sz="2200" b="1" dirty="0">
                <a:solidFill>
                  <a:schemeClr val="tx1"/>
                </a:solidFill>
                <a:latin typeface="Noto Sans"/>
                <a:ea typeface="Noto Sans"/>
                <a:cs typeface="Noto Sans"/>
                <a:sym typeface="Noto Sans"/>
              </a:rPr>
              <a:t>Nota: </a:t>
            </a:r>
            <a:r>
              <a:rPr lang="es-CO" sz="2200" b="0" dirty="0">
                <a:solidFill>
                  <a:schemeClr val="tx1"/>
                </a:solidFill>
                <a:latin typeface="Noto Sans"/>
                <a:ea typeface="Noto Sans"/>
                <a:cs typeface="Noto Sans"/>
                <a:sym typeface="Noto Sans"/>
              </a:rPr>
              <a:t>El odds ratio no indica cuántas veces más probable es fallecer, ya que la probabilidad es 34.2% con shock y 0.2% sin shock, cerca de 172 veces.</a:t>
            </a:r>
          </a:p>
        </p:txBody>
      </p:sp>
    </p:spTree>
    <p:extLst>
      <p:ext uri="{BB962C8B-B14F-4D97-AF65-F5344CB8AC3E}">
        <p14:creationId xmlns:p14="http://schemas.microsoft.com/office/powerpoint/2010/main" val="396067026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r>
              <a:rPr lang="es-CO" sz="3600" b="0" dirty="0">
                <a:solidFill>
                  <a:srgbClr val="0E2841"/>
                </a:solidFill>
              </a:rPr>
              <a:t>Conceptos</a:t>
            </a:r>
            <a:endParaRPr lang="es-CO" sz="3600" dirty="0"/>
          </a:p>
        </p:txBody>
      </p:sp>
      <p:sp>
        <p:nvSpPr>
          <p:cNvPr id="3" name="TextBox 3"/>
          <p:cNvSpPr txBox="1"/>
          <p:nvPr/>
        </p:nvSpPr>
        <p:spPr>
          <a:xfrm>
            <a:off x="548640" y="1737359"/>
            <a:ext cx="11091672" cy="3946394"/>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2400"/>
              </a:spcAft>
              <a:buNone/>
            </a:pPr>
            <a:r>
              <a:rPr lang="es-CO" sz="2200" b="0" dirty="0">
                <a:solidFill>
                  <a:schemeClr val="tx1"/>
                </a:solidFill>
                <a:latin typeface="Noto Sans"/>
                <a:ea typeface="Noto Sans"/>
                <a:cs typeface="Noto Sans"/>
                <a:sym typeface="Noto Sans"/>
              </a:rPr>
              <a:t>Un </a:t>
            </a:r>
            <a:r>
              <a:rPr lang="es-CO" sz="2200" b="1" dirty="0">
                <a:solidFill>
                  <a:schemeClr val="tx1"/>
                </a:solidFill>
                <a:latin typeface="Noto Sans"/>
                <a:ea typeface="Noto Sans"/>
                <a:cs typeface="Noto Sans"/>
                <a:sym typeface="Noto Sans"/>
              </a:rPr>
              <a:t>odds ratio</a:t>
            </a:r>
            <a:r>
              <a:rPr lang="es-CO" sz="2200" b="0" dirty="0">
                <a:solidFill>
                  <a:schemeClr val="tx1"/>
                </a:solidFill>
                <a:latin typeface="Noto Sans"/>
                <a:ea typeface="Noto Sans"/>
                <a:cs typeface="Noto Sans"/>
                <a:sym typeface="Noto Sans"/>
              </a:rPr>
              <a:t> igual a 1 indica que no hay asociación, porque los odds de ambos grupos son iguales.</a:t>
            </a:r>
          </a:p>
          <a:p>
            <a:pPr marL="0" indent="0" algn="just">
              <a:lnSpc>
                <a:spcPct val="90000"/>
              </a:lnSpc>
              <a:spcBef>
                <a:spcPts val="0"/>
              </a:spcBef>
              <a:spcAft>
                <a:spcPts val="2400"/>
              </a:spcAft>
              <a:buNone/>
            </a:pPr>
            <a:r>
              <a:rPr lang="es-CO" sz="2200" b="0" dirty="0">
                <a:solidFill>
                  <a:schemeClr val="tx1"/>
                </a:solidFill>
                <a:latin typeface="Noto Sans"/>
                <a:ea typeface="Noto Sans"/>
                <a:cs typeface="Noto Sans"/>
                <a:sym typeface="Noto Sans"/>
              </a:rPr>
              <a:t>Un valor mayor que 1 indica que los odds del desenlace son mayores en el grupo con la característica que en el grupo sin ella.</a:t>
            </a:r>
          </a:p>
          <a:p>
            <a:pPr marL="0" indent="0" algn="just">
              <a:lnSpc>
                <a:spcPct val="90000"/>
              </a:lnSpc>
              <a:spcBef>
                <a:spcPts val="0"/>
              </a:spcBef>
              <a:spcAft>
                <a:spcPts val="0"/>
              </a:spcAft>
              <a:buNone/>
            </a:pPr>
            <a:r>
              <a:rPr lang="es-CO" sz="2200" b="0" dirty="0">
                <a:solidFill>
                  <a:schemeClr val="tx1"/>
                </a:solidFill>
                <a:latin typeface="Noto Sans"/>
                <a:ea typeface="Noto Sans"/>
                <a:cs typeface="Noto Sans"/>
                <a:sym typeface="Noto Sans"/>
              </a:rPr>
              <a:t>Un valor menor que 1 indica que los odds del desenlace son menores en el grupo con la característica que en el grupo sin ella.</a:t>
            </a:r>
          </a:p>
        </p:txBody>
      </p:sp>
    </p:spTree>
    <p:extLst>
      <p:ext uri="{BB962C8B-B14F-4D97-AF65-F5344CB8AC3E}">
        <p14:creationId xmlns:p14="http://schemas.microsoft.com/office/powerpoint/2010/main" val="140493068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AFF33-77A8-8D6D-5CBC-D3F8137DB8F3}"/>
            </a:ext>
          </a:extLst>
        </p:cNvPr>
        <p:cNvGrpSpPr/>
        <p:nvPr/>
      </p:nvGrpSpPr>
      <p:grpSpPr>
        <a:xfrm>
          <a:off x="0" y="0"/>
          <a:ext cx="0" cy="0"/>
          <a:chOff x="0" y="0"/>
          <a:chExt cx="0" cy="0"/>
        </a:xfrm>
      </p:grpSpPr>
      <p:sp>
        <p:nvSpPr>
          <p:cNvPr id="2" name="Title 2">
            <a:extLst>
              <a:ext uri="{FF2B5EF4-FFF2-40B4-BE49-F238E27FC236}">
                <a16:creationId xmlns:a16="http://schemas.microsoft.com/office/drawing/2014/main" id="{2850C56C-ABD0-31B0-6E13-7336DC9355A8}"/>
              </a:ext>
            </a:extLst>
          </p:cNvPr>
          <p:cNvSpPr>
            <a:spLocks noGrp="1"/>
          </p:cNvSpPr>
          <p:nvPr>
            <p:ph type="title"/>
          </p:nvPr>
        </p:nvSpPr>
        <p:spPr>
          <a:xfrm>
            <a:off x="548640" y="987552"/>
            <a:ext cx="11091672" cy="685800"/>
          </a:xfrm>
        </p:spPr>
        <p:txBody>
          <a:bodyPr anchor="ctr">
            <a:noAutofit/>
          </a:bodyPr>
          <a:lstStyle/>
          <a:p>
            <a:r>
              <a:rPr lang="es-CO" sz="3600" b="0" dirty="0">
                <a:solidFill>
                  <a:srgbClr val="0E2841"/>
                </a:solidFill>
              </a:rPr>
              <a:t>Conceptos</a:t>
            </a:r>
            <a:endParaRPr lang="es-CO" sz="3600" dirty="0"/>
          </a:p>
        </p:txBody>
      </p:sp>
      <p:sp>
        <p:nvSpPr>
          <p:cNvPr id="3" name="TextBox 3">
            <a:extLst>
              <a:ext uri="{FF2B5EF4-FFF2-40B4-BE49-F238E27FC236}">
                <a16:creationId xmlns:a16="http://schemas.microsoft.com/office/drawing/2014/main" id="{91BB939E-40D8-6833-ED83-901935E1C924}"/>
              </a:ext>
            </a:extLst>
          </p:cNvPr>
          <p:cNvSpPr txBox="1"/>
          <p:nvPr/>
        </p:nvSpPr>
        <p:spPr>
          <a:xfrm>
            <a:off x="548640" y="1737359"/>
            <a:ext cx="11091672" cy="1367653"/>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2400"/>
              </a:spcAft>
              <a:buNone/>
            </a:pPr>
            <a:r>
              <a:rPr lang="es-CO" sz="2200" b="0" dirty="0">
                <a:solidFill>
                  <a:schemeClr val="tx1"/>
                </a:solidFill>
                <a:latin typeface="Noto Sans"/>
                <a:ea typeface="Noto Sans"/>
                <a:cs typeface="Noto Sans"/>
                <a:sym typeface="Noto Sans"/>
              </a:rPr>
              <a:t>Los </a:t>
            </a:r>
            <a:r>
              <a:rPr lang="es-CO" sz="2200" b="1" dirty="0">
                <a:solidFill>
                  <a:schemeClr val="tx1"/>
                </a:solidFill>
                <a:latin typeface="Noto Sans"/>
                <a:ea typeface="Noto Sans"/>
                <a:cs typeface="Noto Sans"/>
                <a:sym typeface="Noto Sans"/>
              </a:rPr>
              <a:t>odds ratios</a:t>
            </a:r>
            <a:r>
              <a:rPr lang="es-CO" sz="2200" b="0" dirty="0">
                <a:solidFill>
                  <a:schemeClr val="tx1"/>
                </a:solidFill>
                <a:latin typeface="Noto Sans"/>
                <a:ea typeface="Noto Sans"/>
                <a:cs typeface="Noto Sans"/>
                <a:sym typeface="Noto Sans"/>
              </a:rPr>
              <a:t> suelen obtenerse ajustando un modelo de regresión logística.</a:t>
            </a:r>
          </a:p>
          <a:p>
            <a:pPr marL="0" indent="0" algn="just">
              <a:lnSpc>
                <a:spcPct val="90000"/>
              </a:lnSpc>
              <a:spcBef>
                <a:spcPts val="0"/>
              </a:spcBef>
              <a:spcAft>
                <a:spcPts val="0"/>
              </a:spcAft>
              <a:buNone/>
            </a:pPr>
            <a:r>
              <a:rPr lang="es-CO" sz="2200" b="0" dirty="0">
                <a:solidFill>
                  <a:schemeClr val="tx1"/>
                </a:solidFill>
                <a:latin typeface="Noto Sans"/>
                <a:ea typeface="Noto Sans"/>
                <a:cs typeface="Noto Sans"/>
                <a:sym typeface="Noto Sans"/>
              </a:rPr>
              <a:t>Este modelo relaciona la probabilidad (</a:t>
            </a:r>
            <a:r>
              <a:rPr lang="es-CO" sz="2200" b="1" dirty="0">
                <a:solidFill>
                  <a:schemeClr val="tx1"/>
                </a:solidFill>
                <a:latin typeface="Noto Sans"/>
                <a:ea typeface="Noto Sans"/>
                <a:cs typeface="Noto Sans"/>
                <a:sym typeface="Noto Sans"/>
              </a:rPr>
              <a:t>p</a:t>
            </a:r>
            <a:r>
              <a:rPr lang="es-CO" sz="2200" b="0" dirty="0">
                <a:solidFill>
                  <a:schemeClr val="tx1"/>
                </a:solidFill>
                <a:latin typeface="Noto Sans"/>
                <a:ea typeface="Noto Sans"/>
                <a:cs typeface="Noto Sans"/>
                <a:sym typeface="Noto Sans"/>
              </a:rPr>
              <a:t>) del desenlace con una o más variables (</a:t>
            </a:r>
            <a:r>
              <a:rPr lang="es-CO" sz="2200" b="1" dirty="0">
                <a:solidFill>
                  <a:schemeClr val="tx1"/>
                </a:solidFill>
                <a:latin typeface="Noto Sans"/>
                <a:ea typeface="Noto Sans"/>
                <a:cs typeface="Noto Sans"/>
                <a:sym typeface="Noto Sans"/>
              </a:rPr>
              <a:t>x</a:t>
            </a:r>
            <a:r>
              <a:rPr lang="es-CO" sz="2200" b="0" dirty="0">
                <a:solidFill>
                  <a:schemeClr val="tx1"/>
                </a:solidFill>
                <a:latin typeface="Noto Sans"/>
                <a:ea typeface="Noto Sans"/>
                <a:cs typeface="Noto Sans"/>
                <a:sym typeface="Noto Sans"/>
              </a:rPr>
              <a:t>), asignando a cada una un coeficiente (</a:t>
            </a:r>
            <a:r>
              <a:rPr lang="es-CO" sz="2200" b="1" dirty="0">
                <a:solidFill>
                  <a:schemeClr val="tx1"/>
                </a:solidFill>
                <a:latin typeface="Noto Sans"/>
                <a:ea typeface="Noto Sans"/>
                <a:cs typeface="Noto Sans"/>
                <a:sym typeface="Noto Sans"/>
              </a:rPr>
              <a:t>β</a:t>
            </a:r>
            <a:r>
              <a:rPr lang="es-CO" sz="2200" b="0" dirty="0">
                <a:solidFill>
                  <a:schemeClr val="tx1"/>
                </a:solidFill>
                <a:latin typeface="Noto Sans"/>
                <a:ea typeface="Noto Sans"/>
                <a:cs typeface="Noto Sans"/>
                <a:sym typeface="Noto Sans"/>
              </a:rPr>
              <a:t>), mediante la siguiente ecuación:</a:t>
            </a:r>
          </a:p>
        </p:txBody>
      </p:sp>
      <mc:AlternateContent xmlns:mc="http://schemas.openxmlformats.org/markup-compatibility/2006" xmlns:a14="http://schemas.microsoft.com/office/drawing/2010/main">
        <mc:Choice Requires="a14">
          <p:sp>
            <p:nvSpPr>
              <p:cNvPr id="4" name="Equation 4">
                <a:extLst>
                  <a:ext uri="{FF2B5EF4-FFF2-40B4-BE49-F238E27FC236}">
                    <a16:creationId xmlns:a16="http://schemas.microsoft.com/office/drawing/2014/main" id="{928C8D03-A494-95B0-9FDD-DDDCF371A0C7}"/>
                  </a:ext>
                </a:extLst>
              </p:cNvPr>
              <p:cNvSpPr txBox="1"/>
              <p:nvPr/>
            </p:nvSpPr>
            <p:spPr>
              <a:xfrm>
                <a:off x="548640" y="2880360"/>
                <a:ext cx="11091672" cy="914400"/>
              </a:xfrm>
              <a:prstGeom prst="rect">
                <a:avLst/>
              </a:prstGeom>
              <a:noFill/>
            </p:spPr>
            <p:txBody>
              <a:bodyPr wrap="square" anchor="ctr">
                <a:noAutofit/>
              </a:bodyPr>
              <a:lstStyle/>
              <a:p>
                <a:pPr algn="ctr"/>
                <a14:m>
                  <m:oMathPara xmlns:m="http://schemas.openxmlformats.org/officeDocument/2006/math">
                    <m:oMath>
                      <m:r>
                        <m:rPr>
                          <m:sty m:val="p"/>
                        </m:rPr>
                        <a:rPr lang="es-CO" sz="2400" i="0">
                          <a:latin typeface="Cambria Math"/>
                        </a:rPr>
                        <m:t>ln</m:t>
                      </m:r>
                      <m:d>
                        <m:dPr>
                          <m:ctrlPr>
                            <a:rPr lang="es-CO" sz="2400" i="1">
                              <a:latin typeface="Cambria Math" panose="02040503050406030204" pitchFamily="18" charset="0"/>
                            </a:rPr>
                          </m:ctrlPr>
                        </m:dPr>
                        <m:e>
                          <m:f>
                            <m:fPr>
                              <m:ctrlPr>
                                <a:rPr lang="es-CO" sz="2400" i="1">
                                  <a:latin typeface="Cambria Math"/>
                                </a:rPr>
                              </m:ctrlPr>
                            </m:fPr>
                            <m:num>
                              <m:r>
                                <a:rPr lang="es-CO" sz="2400" i="1">
                                  <a:latin typeface="Cambria Math"/>
                                </a:rPr>
                                <m:t>𝑝</m:t>
                              </m:r>
                            </m:num>
                            <m:den>
                              <m:r>
                                <a:rPr lang="es-CO" sz="2400" i="0">
                                  <a:latin typeface="Cambria Math"/>
                                </a:rPr>
                                <m:t>1−</m:t>
                              </m:r>
                              <m:r>
                                <a:rPr lang="es-CO" sz="2400" i="1">
                                  <a:latin typeface="Cambria Math"/>
                                </a:rPr>
                                <m:t>𝑝</m:t>
                              </m:r>
                            </m:den>
                          </m:f>
                        </m:e>
                      </m:d>
                      <m:r>
                        <a:rPr lang="es-CO" sz="2400" i="0">
                          <a:latin typeface="Cambria Math"/>
                        </a:rPr>
                        <m:t>=</m:t>
                      </m:r>
                      <m:sSub>
                        <m:sSubPr>
                          <m:ctrlPr>
                            <a:rPr lang="es-CO" sz="2400" i="1">
                              <a:latin typeface="Cambria Math"/>
                            </a:rPr>
                          </m:ctrlPr>
                        </m:sSubPr>
                        <m:e>
                          <m:r>
                            <a:rPr lang="es-CO" sz="2400" i="1">
                              <a:latin typeface="Cambria Math"/>
                            </a:rPr>
                            <m:t>𝛽</m:t>
                          </m:r>
                        </m:e>
                        <m:sub>
                          <m:r>
                            <a:rPr lang="es-CO" sz="2400" i="0">
                              <a:latin typeface="Cambria Math"/>
                            </a:rPr>
                            <m:t>0</m:t>
                          </m:r>
                        </m:sub>
                      </m:sSub>
                      <m:r>
                        <a:rPr lang="es-CO" sz="2400" i="0">
                          <a:latin typeface="Cambria Math"/>
                        </a:rPr>
                        <m:t>+</m:t>
                      </m:r>
                      <m:sSub>
                        <m:sSubPr>
                          <m:ctrlPr>
                            <a:rPr lang="es-CO" sz="2400" i="1">
                              <a:latin typeface="Cambria Math"/>
                            </a:rPr>
                          </m:ctrlPr>
                        </m:sSubPr>
                        <m:e>
                          <m:r>
                            <a:rPr lang="es-CO" sz="2400" i="1">
                              <a:latin typeface="Cambria Math"/>
                            </a:rPr>
                            <m:t>𝛽</m:t>
                          </m:r>
                        </m:e>
                        <m:sub>
                          <m:r>
                            <a:rPr lang="es-CO" sz="2400" i="0">
                              <a:latin typeface="Cambria Math"/>
                            </a:rPr>
                            <m:t>1</m:t>
                          </m:r>
                        </m:sub>
                      </m:sSub>
                      <m:sSub>
                        <m:sSubPr>
                          <m:ctrlPr>
                            <a:rPr lang="es-CO" sz="2400" i="1">
                              <a:latin typeface="Cambria Math"/>
                            </a:rPr>
                          </m:ctrlPr>
                        </m:sSubPr>
                        <m:e>
                          <m:r>
                            <a:rPr lang="es-CO" sz="2400" i="1">
                              <a:latin typeface="Cambria Math"/>
                            </a:rPr>
                            <m:t>𝑥</m:t>
                          </m:r>
                        </m:e>
                        <m:sub>
                          <m:r>
                            <a:rPr lang="es-CO" sz="2400" i="0">
                              <a:latin typeface="Cambria Math"/>
                            </a:rPr>
                            <m:t>1</m:t>
                          </m:r>
                        </m:sub>
                      </m:sSub>
                      <m:r>
                        <a:rPr lang="es-CO" sz="2400" i="0">
                          <a:latin typeface="Cambria Math"/>
                        </a:rPr>
                        <m:t>+</m:t>
                      </m:r>
                      <m:sSub>
                        <m:sSubPr>
                          <m:ctrlPr>
                            <a:rPr lang="es-CO" sz="2400" i="1">
                              <a:latin typeface="Cambria Math"/>
                            </a:rPr>
                          </m:ctrlPr>
                        </m:sSubPr>
                        <m:e>
                          <m:r>
                            <a:rPr lang="es-CO" sz="2400" i="1">
                              <a:latin typeface="Cambria Math"/>
                            </a:rPr>
                            <m:t>𝛽</m:t>
                          </m:r>
                        </m:e>
                        <m:sub>
                          <m:r>
                            <a:rPr lang="es-CO" sz="2400" i="0">
                              <a:latin typeface="Cambria Math"/>
                            </a:rPr>
                            <m:t>2</m:t>
                          </m:r>
                        </m:sub>
                      </m:sSub>
                      <m:sSub>
                        <m:sSubPr>
                          <m:ctrlPr>
                            <a:rPr lang="es-CO" sz="2400" i="1">
                              <a:latin typeface="Cambria Math"/>
                            </a:rPr>
                          </m:ctrlPr>
                        </m:sSubPr>
                        <m:e>
                          <m:r>
                            <a:rPr lang="es-CO" sz="2400" i="1">
                              <a:latin typeface="Cambria Math"/>
                            </a:rPr>
                            <m:t>𝑥</m:t>
                          </m:r>
                        </m:e>
                        <m:sub>
                          <m:r>
                            <a:rPr lang="es-CO" sz="2400" i="0">
                              <a:latin typeface="Cambria Math"/>
                            </a:rPr>
                            <m:t>2</m:t>
                          </m:r>
                        </m:sub>
                      </m:sSub>
                      <m:r>
                        <a:rPr lang="es-CO" sz="2400" i="0">
                          <a:latin typeface="Cambria Math"/>
                        </a:rPr>
                        <m:t>+…+</m:t>
                      </m:r>
                      <m:sSub>
                        <m:sSubPr>
                          <m:ctrlPr>
                            <a:rPr lang="es-CO" sz="2400" i="1">
                              <a:latin typeface="Cambria Math"/>
                            </a:rPr>
                          </m:ctrlPr>
                        </m:sSubPr>
                        <m:e>
                          <m:r>
                            <a:rPr lang="es-CO" sz="2400" i="1">
                              <a:latin typeface="Cambria Math"/>
                            </a:rPr>
                            <m:t>𝛽</m:t>
                          </m:r>
                        </m:e>
                        <m:sub>
                          <m:r>
                            <a:rPr lang="es-CO" sz="2400" i="1">
                              <a:latin typeface="Cambria Math"/>
                            </a:rPr>
                            <m:t>𝑘</m:t>
                          </m:r>
                        </m:sub>
                      </m:sSub>
                      <m:sSub>
                        <m:sSubPr>
                          <m:ctrlPr>
                            <a:rPr lang="es-CO" sz="2400" i="1">
                              <a:latin typeface="Cambria Math"/>
                            </a:rPr>
                          </m:ctrlPr>
                        </m:sSubPr>
                        <m:e>
                          <m:r>
                            <a:rPr lang="es-CO" sz="2400" i="1">
                              <a:latin typeface="Cambria Math"/>
                            </a:rPr>
                            <m:t>𝑥</m:t>
                          </m:r>
                        </m:e>
                        <m:sub>
                          <m:r>
                            <a:rPr lang="es-CO" sz="2400" i="1">
                              <a:latin typeface="Cambria Math"/>
                            </a:rPr>
                            <m:t>𝑘</m:t>
                          </m:r>
                        </m:sub>
                      </m:sSub>
                    </m:oMath>
                  </m:oMathPara>
                </a14:m>
                <a:endParaRPr dirty="0"/>
              </a:p>
            </p:txBody>
          </p:sp>
        </mc:Choice>
        <mc:Fallback xmlns="">
          <p:sp>
            <p:nvSpPr>
              <p:cNvPr id="4" name="Equation 4">
                <a:extLst>
                  <a:ext uri="{FF2B5EF4-FFF2-40B4-BE49-F238E27FC236}">
                    <a16:creationId xmlns:a16="http://schemas.microsoft.com/office/drawing/2014/main" id="{928C8D03-A494-95B0-9FDD-DDDCF371A0C7}"/>
                  </a:ext>
                </a:extLst>
              </p:cNvPr>
              <p:cNvSpPr txBox="1">
                <a:spLocks noRot="1" noChangeAspect="1" noMove="1" noResize="1" noEditPoints="1" noAdjustHandles="1" noChangeArrowheads="1" noChangeShapeType="1" noTextEdit="1"/>
              </p:cNvSpPr>
              <p:nvPr/>
            </p:nvSpPr>
            <p:spPr>
              <a:xfrm>
                <a:off x="548640" y="2880360"/>
                <a:ext cx="11091672" cy="914400"/>
              </a:xfrm>
              <a:prstGeom prst="rect">
                <a:avLst/>
              </a:prstGeom>
              <a:blipFill>
                <a:blip r:embed="rId2"/>
                <a:stretch>
                  <a:fillRect/>
                </a:stretch>
              </a:blipFill>
            </p:spPr>
            <p:txBody>
              <a:bodyPr/>
              <a:lstStyle/>
              <a:p>
                <a:r>
                  <a:rPr lang="es-ES">
                    <a:noFill/>
                  </a:rPr>
                  <a:t> </a:t>
                </a:r>
              </a:p>
            </p:txBody>
          </p:sp>
        </mc:Fallback>
      </mc:AlternateContent>
      <p:sp>
        <p:nvSpPr>
          <p:cNvPr id="5" name="TextBox 5">
            <a:extLst>
              <a:ext uri="{FF2B5EF4-FFF2-40B4-BE49-F238E27FC236}">
                <a16:creationId xmlns:a16="http://schemas.microsoft.com/office/drawing/2014/main" id="{8EDF4A68-58CB-7F09-FEA0-60508E648DFB}"/>
              </a:ext>
            </a:extLst>
          </p:cNvPr>
          <p:cNvSpPr txBox="1"/>
          <p:nvPr/>
        </p:nvSpPr>
        <p:spPr>
          <a:xfrm>
            <a:off x="548640" y="3767328"/>
            <a:ext cx="11091672" cy="242316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2400"/>
              </a:spcAft>
              <a:buNone/>
            </a:pPr>
            <a:r>
              <a:rPr lang="es-CO" sz="2200" b="0" dirty="0">
                <a:solidFill>
                  <a:schemeClr val="tx1"/>
                </a:solidFill>
                <a:latin typeface="Noto Sans"/>
                <a:ea typeface="Noto Sans"/>
                <a:cs typeface="Noto Sans"/>
                <a:sym typeface="Noto Sans"/>
              </a:rPr>
              <a:t>El lado izquierdo es el logaritmo de los odds, del que se despeja </a:t>
            </a:r>
            <a:r>
              <a:rPr lang="es-CO" sz="2200" b="1" dirty="0">
                <a:solidFill>
                  <a:schemeClr val="tx1"/>
                </a:solidFill>
                <a:latin typeface="Noto Sans"/>
                <a:ea typeface="Noto Sans"/>
                <a:cs typeface="Noto Sans"/>
                <a:sym typeface="Noto Sans"/>
              </a:rPr>
              <a:t>p</a:t>
            </a:r>
            <a:r>
              <a:rPr lang="es-CO" sz="2200" b="0" dirty="0">
                <a:solidFill>
                  <a:schemeClr val="tx1"/>
                </a:solidFill>
                <a:latin typeface="Noto Sans"/>
                <a:ea typeface="Noto Sans"/>
                <a:cs typeface="Noto Sans"/>
                <a:sym typeface="Noto Sans"/>
              </a:rPr>
              <a:t>.</a:t>
            </a:r>
          </a:p>
          <a:p>
            <a:pPr marL="0" indent="0" algn="just">
              <a:lnSpc>
                <a:spcPct val="90000"/>
              </a:lnSpc>
              <a:spcBef>
                <a:spcPts val="0"/>
              </a:spcBef>
              <a:spcAft>
                <a:spcPts val="2400"/>
              </a:spcAft>
              <a:buNone/>
            </a:pPr>
            <a:r>
              <a:rPr lang="es-CO" sz="2200" b="0" dirty="0">
                <a:solidFill>
                  <a:schemeClr val="tx1"/>
                </a:solidFill>
                <a:latin typeface="Noto Sans"/>
                <a:ea typeface="Noto Sans"/>
                <a:cs typeface="Noto Sans"/>
                <a:sym typeface="Noto Sans"/>
              </a:rPr>
              <a:t>El </a:t>
            </a:r>
            <a:r>
              <a:rPr lang="es-CO" sz="2200" b="1" dirty="0">
                <a:solidFill>
                  <a:schemeClr val="tx1"/>
                </a:solidFill>
                <a:latin typeface="Noto Sans"/>
                <a:ea typeface="Noto Sans"/>
                <a:cs typeface="Noto Sans"/>
                <a:sym typeface="Noto Sans"/>
              </a:rPr>
              <a:t>odds ratio</a:t>
            </a:r>
            <a:r>
              <a:rPr lang="es-CO" sz="2200" b="0" dirty="0">
                <a:solidFill>
                  <a:schemeClr val="tx1"/>
                </a:solidFill>
                <a:latin typeface="Noto Sans"/>
                <a:ea typeface="Noto Sans"/>
                <a:cs typeface="Noto Sans"/>
                <a:sym typeface="Noto Sans"/>
              </a:rPr>
              <a:t> de cada variable es el exponencial de su coeficiente. Por ejemplo, el modelo con el shock como variable estima un coeficiente de 5.56, y </a:t>
            </a:r>
            <a:r>
              <a:rPr lang="es-CO" sz="2200" b="1" dirty="0">
                <a:solidFill>
                  <a:schemeClr val="tx1"/>
                </a:solidFill>
                <a:latin typeface="Noto Sans"/>
                <a:ea typeface="Noto Sans"/>
                <a:cs typeface="Noto Sans"/>
                <a:sym typeface="Noto Sans"/>
              </a:rPr>
              <a:t>exp(5.56) ≈ 261</a:t>
            </a:r>
            <a:r>
              <a:rPr lang="es-CO" sz="2200" b="0" dirty="0">
                <a:solidFill>
                  <a:schemeClr val="tx1"/>
                </a:solidFill>
                <a:latin typeface="Noto Sans"/>
                <a:ea typeface="Noto Sans"/>
                <a:cs typeface="Noto Sans"/>
                <a:sym typeface="Noto Sans"/>
              </a:rPr>
              <a:t>, el mismo odds ratio de la tabla anterior.</a:t>
            </a:r>
          </a:p>
          <a:p>
            <a:pPr marL="0" indent="0" algn="just">
              <a:lnSpc>
                <a:spcPct val="90000"/>
              </a:lnSpc>
              <a:spcBef>
                <a:spcPts val="0"/>
              </a:spcBef>
              <a:spcAft>
                <a:spcPts val="0"/>
              </a:spcAft>
              <a:buNone/>
            </a:pPr>
            <a:r>
              <a:rPr lang="es-CO" sz="2200" b="0" dirty="0">
                <a:solidFill>
                  <a:schemeClr val="tx1"/>
                </a:solidFill>
                <a:latin typeface="Noto Sans"/>
                <a:ea typeface="Noto Sans"/>
                <a:cs typeface="Noto Sans"/>
                <a:sym typeface="Noto Sans"/>
              </a:rPr>
              <a:t>El modelo permite trabajar con variables continuas como la edad, y calcular el intervalo de confianza y el p-valor de cada odds ratio.</a:t>
            </a:r>
          </a:p>
        </p:txBody>
      </p:sp>
    </p:spTree>
    <p:extLst>
      <p:ext uri="{BB962C8B-B14F-4D97-AF65-F5344CB8AC3E}">
        <p14:creationId xmlns:p14="http://schemas.microsoft.com/office/powerpoint/2010/main" val="112976627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Conceptos</a:t>
            </a:r>
            <a:endParaRPr lang="es-CO" sz="3600" dirty="0"/>
          </a:p>
        </p:txBody>
      </p:sp>
      <p:sp>
        <p:nvSpPr>
          <p:cNvPr id="3" name="TextBox 3"/>
          <p:cNvSpPr txBox="1"/>
          <p:nvPr/>
        </p:nvSpPr>
        <p:spPr>
          <a:xfrm>
            <a:off x="548640" y="1737360"/>
            <a:ext cx="11091672" cy="45720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0"/>
              </a:spcAft>
              <a:buNone/>
            </a:pPr>
            <a:r>
              <a:rPr lang="es-CO" sz="2200" b="0" dirty="0">
                <a:solidFill>
                  <a:schemeClr val="tx1"/>
                </a:solidFill>
                <a:latin typeface="Noto Sans"/>
                <a:ea typeface="Noto Sans"/>
                <a:cs typeface="Noto Sans"/>
                <a:sym typeface="Noto Sans"/>
              </a:rPr>
              <a:t>Con el shock como única variable (</a:t>
            </a:r>
            <a:r>
              <a:rPr lang="es-CO" sz="2200" b="1" dirty="0">
                <a:solidFill>
                  <a:schemeClr val="tx1"/>
                </a:solidFill>
                <a:latin typeface="Noto Sans"/>
                <a:ea typeface="Noto Sans"/>
                <a:cs typeface="Noto Sans"/>
                <a:sym typeface="Noto Sans"/>
              </a:rPr>
              <a:t>x</a:t>
            </a:r>
            <a:r>
              <a:rPr lang="es-CO" sz="2200" b="0" dirty="0">
                <a:solidFill>
                  <a:schemeClr val="tx1"/>
                </a:solidFill>
                <a:latin typeface="Noto Sans"/>
                <a:ea typeface="Noto Sans"/>
                <a:cs typeface="Noto Sans"/>
                <a:sym typeface="Noto Sans"/>
              </a:rPr>
              <a:t> = 1 con shock, </a:t>
            </a:r>
            <a:r>
              <a:rPr lang="es-CO" sz="2200" b="1" dirty="0">
                <a:solidFill>
                  <a:schemeClr val="tx1"/>
                </a:solidFill>
                <a:latin typeface="Noto Sans"/>
                <a:ea typeface="Noto Sans"/>
                <a:cs typeface="Noto Sans"/>
                <a:sym typeface="Noto Sans"/>
              </a:rPr>
              <a:t>x</a:t>
            </a:r>
            <a:r>
              <a:rPr lang="es-CO" sz="2200" b="0" dirty="0">
                <a:solidFill>
                  <a:schemeClr val="tx1"/>
                </a:solidFill>
                <a:latin typeface="Noto Sans"/>
                <a:ea typeface="Noto Sans"/>
                <a:cs typeface="Noto Sans"/>
                <a:sym typeface="Noto Sans"/>
              </a:rPr>
              <a:t> = 0 sin shock), el modelo es:</a:t>
            </a:r>
          </a:p>
        </p:txBody>
      </p:sp>
      <mc:AlternateContent xmlns:mc="http://schemas.openxmlformats.org/markup-compatibility/2006" xmlns:a14="http://schemas.microsoft.com/office/drawing/2010/main">
        <mc:Choice Requires="a14">
          <p:sp>
            <p:nvSpPr>
              <p:cNvPr id="4" name="Equation 4"/>
              <p:cNvSpPr txBox="1"/>
              <p:nvPr/>
            </p:nvSpPr>
            <p:spPr>
              <a:xfrm>
                <a:off x="548640" y="2377440"/>
                <a:ext cx="11091672" cy="548640"/>
              </a:xfrm>
              <a:prstGeom prst="rect">
                <a:avLst/>
              </a:prstGeom>
              <a:noFill/>
            </p:spPr>
            <p:txBody>
              <a:bodyPr wrap="square" anchor="ctr">
                <a:noAutofit/>
              </a:bodyPr>
              <a:lstStyle/>
              <a:p>
                <a:pPr algn="ctr"/>
                <a14:m>
                  <m:oMathPara xmlns:m="http://schemas.openxmlformats.org/officeDocument/2006/math">
                    <m:oMath>
                      <m:r>
                        <m:rPr>
                          <m:sty m:val="p"/>
                        </m:rPr>
                        <a:rPr lang="es-CO" sz="2400" i="0">
                          <a:latin typeface="Cambria Math"/>
                        </a:rPr>
                        <m:t>ln</m:t>
                      </m:r>
                      <m:d>
                        <m:dPr>
                          <m:ctrlPr>
                            <a:rPr lang="es-CO" sz="2400" i="0">
                              <a:solidFill>
                                <a:schemeClr val="tx1"/>
                              </a:solidFill>
                              <a:latin typeface="Noto Sans"/>
                              <a:ea typeface="Noto Sans"/>
                              <a:cs typeface="Noto Sans"/>
                              <a:sym typeface="Noto Sans"/>
                            </a:rPr>
                          </m:ctrlPr>
                        </m:dPr>
                        <m:e>
                          <m:r>
                            <m:rPr>
                              <m:nor/>
                            </m:rPr>
                            <a:rPr lang="es-CO" sz="2400" i="0">
                              <a:solidFill>
                                <a:schemeClr val="tx1"/>
                              </a:solidFill>
                              <a:latin typeface="Noto Sans"/>
                              <a:ea typeface="Noto Sans"/>
                              <a:cs typeface="Noto Sans"/>
                              <a:sym typeface="Noto Sans"/>
                            </a:rPr>
                            <m:t>odds</m:t>
                          </m:r>
                        </m:e>
                      </m:d>
                      <m:r>
                        <a:rPr lang="es-CO" sz="2400" i="0">
                          <a:latin typeface="Cambria Math"/>
                        </a:rPr>
                        <m:t>=</m:t>
                      </m:r>
                      <m:sSub>
                        <m:sSubPr>
                          <m:ctrlPr>
                            <a:rPr lang="es-CO" sz="2400" i="1">
                              <a:latin typeface="Cambria Math"/>
                            </a:rPr>
                          </m:ctrlPr>
                        </m:sSubPr>
                        <m:e>
                          <m:r>
                            <a:rPr lang="es-CO" sz="2400" i="1">
                              <a:latin typeface="Cambria Math"/>
                            </a:rPr>
                            <m:t>𝛽</m:t>
                          </m:r>
                        </m:e>
                        <m:sub>
                          <m:r>
                            <a:rPr lang="es-CO" sz="2400" i="0">
                              <a:latin typeface="Cambria Math"/>
                            </a:rPr>
                            <m:t>0</m:t>
                          </m:r>
                        </m:sub>
                      </m:sSub>
                      <m:r>
                        <a:rPr lang="es-CO" sz="2400" i="0">
                          <a:latin typeface="Cambria Math"/>
                        </a:rPr>
                        <m:t>+</m:t>
                      </m:r>
                      <m:sSub>
                        <m:sSubPr>
                          <m:ctrlPr>
                            <a:rPr lang="es-CO" sz="2400" i="1">
                              <a:latin typeface="Cambria Math"/>
                            </a:rPr>
                          </m:ctrlPr>
                        </m:sSubPr>
                        <m:e>
                          <m:r>
                            <a:rPr lang="es-CO" sz="2400" i="1">
                              <a:latin typeface="Cambria Math"/>
                            </a:rPr>
                            <m:t>𝛽</m:t>
                          </m:r>
                        </m:e>
                        <m:sub>
                          <m:r>
                            <a:rPr lang="es-CO" sz="2400" i="0">
                              <a:latin typeface="Cambria Math"/>
                            </a:rPr>
                            <m:t>1</m:t>
                          </m:r>
                        </m:sub>
                      </m:sSub>
                      <m:r>
                        <a:rPr lang="es-CO" sz="2400" i="1">
                          <a:latin typeface="Cambria Math"/>
                        </a:rPr>
                        <m:t>𝑥</m:t>
                      </m:r>
                    </m:oMath>
                  </m:oMathPara>
                </a14:m>
                <a:endParaRPr/>
              </a:p>
            </p:txBody>
          </p:sp>
        </mc:Choice>
        <mc:Fallback xmlns="">
          <p:sp>
            <p:nvSpPr>
              <p:cNvPr id="4" name="Equation 4"/>
              <p:cNvSpPr txBox="1"/>
              <p:nvPr/>
            </p:nvSpPr>
            <p:spPr>
              <a:xfrm>
                <a:off x="548640" y="2377440"/>
                <a:ext cx="11091672" cy="548640"/>
              </a:xfrm>
              <a:prstGeom prst="rect">
                <a:avLst/>
              </a:prstGeom>
              <a:noFill/>
            </p:spPr>
            <p:txBody>
              <a:bodyPr wrap="square" anchor="ctr">
                <a:noAutofit/>
              </a:bodyPr>
              <a:lstStyle/>
              <a:p>
                <a:pPr algn="ctr"/>
                <a:r>
                  <a:rPr lang="es-CO" sz="2400" b="0" dirty="0">
                    <a:solidFill>
                      <a:schemeClr val="tx1"/>
                    </a:solidFill>
                    <a:latin typeface="Noto Sans"/>
                    <a:ea typeface="Noto Sans"/>
                    <a:cs typeface="Noto Sans"/>
                    <a:sym typeface="Noto Sans"/>
                  </a:rPr>
                  <a:t>ln(odds) = β₀ + β₁x</a:t>
                </a:r>
              </a:p>
            </p:txBody>
          </p:sp>
        </mc:Fallback>
      </mc:AlternateContent>
      <p:sp>
        <p:nvSpPr>
          <p:cNvPr id="5" name="TextBox 5"/>
          <p:cNvSpPr txBox="1"/>
          <p:nvPr/>
        </p:nvSpPr>
        <p:spPr>
          <a:xfrm>
            <a:off x="548640" y="3200400"/>
            <a:ext cx="11091672" cy="45720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0"/>
              </a:spcAft>
              <a:buNone/>
            </a:pPr>
            <a:r>
              <a:rPr lang="es-CO" sz="2200" b="0" dirty="0">
                <a:solidFill>
                  <a:schemeClr val="tx1"/>
                </a:solidFill>
                <a:latin typeface="Noto Sans"/>
                <a:ea typeface="Noto Sans"/>
                <a:cs typeface="Noto Sans"/>
                <a:sym typeface="Noto Sans"/>
              </a:rPr>
              <a:t>Al reemplazar cada valor de </a:t>
            </a:r>
            <a:r>
              <a:rPr lang="es-CO" sz="2200" b="1" dirty="0">
                <a:solidFill>
                  <a:schemeClr val="tx1"/>
                </a:solidFill>
                <a:latin typeface="Noto Sans"/>
                <a:ea typeface="Noto Sans"/>
                <a:cs typeface="Noto Sans"/>
                <a:sym typeface="Noto Sans"/>
              </a:rPr>
              <a:t>x</a:t>
            </a:r>
            <a:r>
              <a:rPr lang="es-CO" sz="2200" b="0" dirty="0">
                <a:solidFill>
                  <a:schemeClr val="tx1"/>
                </a:solidFill>
                <a:latin typeface="Noto Sans"/>
                <a:ea typeface="Noto Sans"/>
                <a:cs typeface="Noto Sans"/>
                <a:sym typeface="Noto Sans"/>
              </a:rPr>
              <a:t>:</a:t>
            </a:r>
          </a:p>
        </p:txBody>
      </p:sp>
      <mc:AlternateContent xmlns:mc="http://schemas.openxmlformats.org/markup-compatibility/2006" xmlns:a14="http://schemas.microsoft.com/office/drawing/2010/main">
        <mc:Choice Requires="a14">
          <p:sp>
            <p:nvSpPr>
              <p:cNvPr id="6" name="Equation 6"/>
              <p:cNvSpPr txBox="1"/>
              <p:nvPr/>
            </p:nvSpPr>
            <p:spPr>
              <a:xfrm>
                <a:off x="548640" y="3840480"/>
                <a:ext cx="11091672" cy="548640"/>
              </a:xfrm>
              <a:prstGeom prst="rect">
                <a:avLst/>
              </a:prstGeom>
              <a:noFill/>
            </p:spPr>
            <p:txBody>
              <a:bodyPr wrap="square" anchor="ctr">
                <a:noAutofit/>
              </a:bodyPr>
              <a:lstStyle/>
              <a:p>
                <a:pPr algn="ctr"/>
                <a14:m>
                  <m:oMathPara xmlns:m="http://schemas.openxmlformats.org/officeDocument/2006/math">
                    <m:oMath>
                      <m:r>
                        <m:rPr>
                          <m:nor/>
                        </m:rPr>
                        <a:rPr lang="es-CO" sz="2400" i="0">
                          <a:solidFill>
                            <a:schemeClr val="tx1"/>
                          </a:solidFill>
                          <a:latin typeface="Noto Sans"/>
                          <a:ea typeface="Noto Sans"/>
                          <a:cs typeface="Noto Sans"/>
                          <a:sym typeface="Noto Sans"/>
                        </a:rPr>
                        <m:t>Sin shock (</m:t>
                      </m:r>
                      <m:r>
                        <a:rPr lang="es-CO" sz="2400" i="1">
                          <a:latin typeface="Cambria Math"/>
                        </a:rPr>
                        <m:t>𝑥</m:t>
                      </m:r>
                      <m:r>
                        <a:rPr lang="es-CO" sz="2400" i="0">
                          <a:latin typeface="Cambria Math"/>
                        </a:rPr>
                        <m:t>=0</m:t>
                      </m:r>
                      <m:r>
                        <m:rPr>
                          <m:nor/>
                        </m:rPr>
                        <a:rPr lang="es-CO" sz="2400" i="0">
                          <a:solidFill>
                            <a:schemeClr val="tx1"/>
                          </a:solidFill>
                          <a:latin typeface="Noto Sans"/>
                          <a:ea typeface="Noto Sans"/>
                          <a:cs typeface="Noto Sans"/>
                          <a:sym typeface="Noto Sans"/>
                        </a:rPr>
                        <m:t>):   </m:t>
                      </m:r>
                      <m:r>
                        <m:rPr>
                          <m:sty m:val="p"/>
                        </m:rPr>
                        <a:rPr lang="es-CO" sz="2400" i="0">
                          <a:latin typeface="Cambria Math"/>
                        </a:rPr>
                        <m:t>ln</m:t>
                      </m:r>
                      <m:d>
                        <m:dPr>
                          <m:ctrlPr>
                            <a:rPr lang="es-CO" sz="2400" i="0">
                              <a:solidFill>
                                <a:schemeClr val="tx1"/>
                              </a:solidFill>
                              <a:latin typeface="Noto Sans"/>
                              <a:ea typeface="Noto Sans"/>
                              <a:cs typeface="Noto Sans"/>
                              <a:sym typeface="Noto Sans"/>
                            </a:rPr>
                          </m:ctrlPr>
                        </m:dPr>
                        <m:e>
                          <m:r>
                            <m:rPr>
                              <m:nor/>
                            </m:rPr>
                            <a:rPr lang="es-CO" sz="2400" i="0">
                              <a:solidFill>
                                <a:schemeClr val="tx1"/>
                              </a:solidFill>
                              <a:latin typeface="Noto Sans"/>
                              <a:ea typeface="Noto Sans"/>
                              <a:cs typeface="Noto Sans"/>
                              <a:sym typeface="Noto Sans"/>
                            </a:rPr>
                            <m:t>odds sin shock</m:t>
                          </m:r>
                        </m:e>
                      </m:d>
                      <m:r>
                        <a:rPr lang="es-CO" sz="2400" i="0">
                          <a:latin typeface="Cambria Math"/>
                        </a:rPr>
                        <m:t>=</m:t>
                      </m:r>
                      <m:sSub>
                        <m:sSubPr>
                          <m:ctrlPr>
                            <a:rPr lang="es-CO" sz="2400" i="1">
                              <a:latin typeface="Cambria Math"/>
                            </a:rPr>
                          </m:ctrlPr>
                        </m:sSubPr>
                        <m:e>
                          <m:r>
                            <a:rPr lang="es-CO" sz="2400" i="1">
                              <a:latin typeface="Cambria Math"/>
                            </a:rPr>
                            <m:t>𝛽</m:t>
                          </m:r>
                        </m:e>
                        <m:sub>
                          <m:r>
                            <a:rPr lang="es-CO" sz="2400" i="0">
                              <a:latin typeface="Cambria Math"/>
                            </a:rPr>
                            <m:t>0</m:t>
                          </m:r>
                        </m:sub>
                      </m:sSub>
                    </m:oMath>
                  </m:oMathPara>
                </a14:m>
                <a:endParaRPr/>
              </a:p>
            </p:txBody>
          </p:sp>
        </mc:Choice>
        <mc:Fallback xmlns="">
          <p:sp>
            <p:nvSpPr>
              <p:cNvPr id="6" name="Equation 6"/>
              <p:cNvSpPr txBox="1"/>
              <p:nvPr/>
            </p:nvSpPr>
            <p:spPr>
              <a:xfrm>
                <a:off x="548640" y="3840480"/>
                <a:ext cx="11091672" cy="548640"/>
              </a:xfrm>
              <a:prstGeom prst="rect">
                <a:avLst/>
              </a:prstGeom>
              <a:noFill/>
            </p:spPr>
            <p:txBody>
              <a:bodyPr wrap="square" anchor="ctr">
                <a:noAutofit/>
              </a:bodyPr>
              <a:lstStyle/>
              <a:p>
                <a:pPr algn="ctr"/>
                <a:r>
                  <a:rPr lang="es-CO" sz="2400" b="0" dirty="0">
                    <a:solidFill>
                      <a:schemeClr val="tx1"/>
                    </a:solidFill>
                    <a:latin typeface="Noto Sans"/>
                    <a:ea typeface="Noto Sans"/>
                    <a:cs typeface="Noto Sans"/>
                    <a:sym typeface="Noto Sans"/>
                  </a:rPr>
                  <a:t>Sin shock (x = 0): ln(odds sin shock) = β₀</a:t>
                </a:r>
              </a:p>
            </p:txBody>
          </p:sp>
        </mc:Fallback>
      </mc:AlternateContent>
      <mc:AlternateContent xmlns:mc="http://schemas.openxmlformats.org/markup-compatibility/2006" xmlns:a14="http://schemas.microsoft.com/office/drawing/2010/main">
        <mc:Choice Requires="a14">
          <p:sp>
            <p:nvSpPr>
              <p:cNvPr id="7" name="Equation 7"/>
              <p:cNvSpPr txBox="1"/>
              <p:nvPr/>
            </p:nvSpPr>
            <p:spPr>
              <a:xfrm>
                <a:off x="548640" y="4480560"/>
                <a:ext cx="11091672" cy="548640"/>
              </a:xfrm>
              <a:prstGeom prst="rect">
                <a:avLst/>
              </a:prstGeom>
              <a:noFill/>
            </p:spPr>
            <p:txBody>
              <a:bodyPr wrap="square" anchor="ctr">
                <a:noAutofit/>
              </a:bodyPr>
              <a:lstStyle/>
              <a:p>
                <a:pPr algn="ctr"/>
                <a14:m>
                  <m:oMathPara xmlns:m="http://schemas.openxmlformats.org/officeDocument/2006/math">
                    <m:oMath>
                      <m:r>
                        <m:rPr>
                          <m:nor/>
                        </m:rPr>
                        <a:rPr lang="es-CO" sz="2400" i="0">
                          <a:solidFill>
                            <a:schemeClr val="tx1"/>
                          </a:solidFill>
                          <a:latin typeface="Noto Sans"/>
                          <a:ea typeface="Noto Sans"/>
                          <a:cs typeface="Noto Sans"/>
                          <a:sym typeface="Noto Sans"/>
                        </a:rPr>
                        <m:t>Con shock (</m:t>
                      </m:r>
                      <m:r>
                        <a:rPr lang="es-CO" sz="2400" i="1">
                          <a:latin typeface="Cambria Math"/>
                        </a:rPr>
                        <m:t>𝑥</m:t>
                      </m:r>
                      <m:r>
                        <a:rPr lang="es-CO" sz="2400" i="0">
                          <a:latin typeface="Cambria Math"/>
                        </a:rPr>
                        <m:t>=1</m:t>
                      </m:r>
                      <m:r>
                        <m:rPr>
                          <m:nor/>
                        </m:rPr>
                        <a:rPr lang="es-CO" sz="2400" i="0">
                          <a:solidFill>
                            <a:schemeClr val="tx1"/>
                          </a:solidFill>
                          <a:latin typeface="Noto Sans"/>
                          <a:ea typeface="Noto Sans"/>
                          <a:cs typeface="Noto Sans"/>
                          <a:sym typeface="Noto Sans"/>
                        </a:rPr>
                        <m:t>):   </m:t>
                      </m:r>
                      <m:r>
                        <m:rPr>
                          <m:sty m:val="p"/>
                        </m:rPr>
                        <a:rPr lang="es-CO" sz="2400" i="0">
                          <a:latin typeface="Cambria Math"/>
                        </a:rPr>
                        <m:t>ln</m:t>
                      </m:r>
                      <m:d>
                        <m:dPr>
                          <m:ctrlPr>
                            <a:rPr lang="es-CO" sz="2400" i="0">
                              <a:solidFill>
                                <a:schemeClr val="tx1"/>
                              </a:solidFill>
                              <a:latin typeface="Noto Sans"/>
                              <a:ea typeface="Noto Sans"/>
                              <a:cs typeface="Noto Sans"/>
                              <a:sym typeface="Noto Sans"/>
                            </a:rPr>
                          </m:ctrlPr>
                        </m:dPr>
                        <m:e>
                          <m:r>
                            <m:rPr>
                              <m:nor/>
                            </m:rPr>
                            <a:rPr lang="es-CO" sz="2400" i="0">
                              <a:solidFill>
                                <a:schemeClr val="tx1"/>
                              </a:solidFill>
                              <a:latin typeface="Noto Sans"/>
                              <a:ea typeface="Noto Sans"/>
                              <a:cs typeface="Noto Sans"/>
                              <a:sym typeface="Noto Sans"/>
                            </a:rPr>
                            <m:t>odds con shock</m:t>
                          </m:r>
                        </m:e>
                      </m:d>
                      <m:r>
                        <a:rPr lang="es-CO" sz="2400" i="0">
                          <a:latin typeface="Cambria Math"/>
                        </a:rPr>
                        <m:t>=</m:t>
                      </m:r>
                      <m:sSub>
                        <m:sSubPr>
                          <m:ctrlPr>
                            <a:rPr lang="es-CO" sz="2400" i="1">
                              <a:latin typeface="Cambria Math"/>
                            </a:rPr>
                          </m:ctrlPr>
                        </m:sSubPr>
                        <m:e>
                          <m:r>
                            <a:rPr lang="es-CO" sz="2400" i="1">
                              <a:latin typeface="Cambria Math"/>
                            </a:rPr>
                            <m:t>𝛽</m:t>
                          </m:r>
                        </m:e>
                        <m:sub>
                          <m:r>
                            <a:rPr lang="es-CO" sz="2400" i="0">
                              <a:latin typeface="Cambria Math"/>
                            </a:rPr>
                            <m:t>0</m:t>
                          </m:r>
                        </m:sub>
                      </m:sSub>
                      <m:r>
                        <a:rPr lang="es-CO" sz="2400" i="0">
                          <a:latin typeface="Cambria Math"/>
                        </a:rPr>
                        <m:t>+</m:t>
                      </m:r>
                      <m:sSub>
                        <m:sSubPr>
                          <m:ctrlPr>
                            <a:rPr lang="es-CO" sz="2400" i="1">
                              <a:latin typeface="Cambria Math"/>
                            </a:rPr>
                          </m:ctrlPr>
                        </m:sSubPr>
                        <m:e>
                          <m:r>
                            <a:rPr lang="es-CO" sz="2400" i="1">
                              <a:latin typeface="Cambria Math"/>
                            </a:rPr>
                            <m:t>𝛽</m:t>
                          </m:r>
                        </m:e>
                        <m:sub>
                          <m:r>
                            <a:rPr lang="es-CO" sz="2400" i="0">
                              <a:latin typeface="Cambria Math"/>
                            </a:rPr>
                            <m:t>1</m:t>
                          </m:r>
                        </m:sub>
                      </m:sSub>
                    </m:oMath>
                  </m:oMathPara>
                </a14:m>
                <a:endParaRPr/>
              </a:p>
            </p:txBody>
          </p:sp>
        </mc:Choice>
        <mc:Fallback xmlns="">
          <p:sp>
            <p:nvSpPr>
              <p:cNvPr id="7" name="Equation 7"/>
              <p:cNvSpPr txBox="1"/>
              <p:nvPr/>
            </p:nvSpPr>
            <p:spPr>
              <a:xfrm>
                <a:off x="548640" y="4480560"/>
                <a:ext cx="11091672" cy="548640"/>
              </a:xfrm>
              <a:prstGeom prst="rect">
                <a:avLst/>
              </a:prstGeom>
              <a:noFill/>
            </p:spPr>
            <p:txBody>
              <a:bodyPr wrap="square" anchor="ctr">
                <a:noAutofit/>
              </a:bodyPr>
              <a:lstStyle/>
              <a:p>
                <a:pPr algn="ctr"/>
                <a:r>
                  <a:rPr lang="es-CO" sz="2400" b="0" dirty="0">
                    <a:solidFill>
                      <a:schemeClr val="tx1"/>
                    </a:solidFill>
                    <a:latin typeface="Noto Sans"/>
                    <a:ea typeface="Noto Sans"/>
                    <a:cs typeface="Noto Sans"/>
                    <a:sym typeface="Noto Sans"/>
                  </a:rPr>
                  <a:t>Con shock (x = 1): ln(odds con shock) = β₀ + β₁</a:t>
                </a:r>
              </a:p>
            </p:txBody>
          </p:sp>
        </mc:Fallback>
      </mc:AlternateContent>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Conceptos</a:t>
            </a:r>
            <a:endParaRPr lang="es-CO" sz="3600" dirty="0"/>
          </a:p>
        </p:txBody>
      </p:sp>
      <p:sp>
        <p:nvSpPr>
          <p:cNvPr id="3" name="TextBox 3"/>
          <p:cNvSpPr txBox="1"/>
          <p:nvPr/>
        </p:nvSpPr>
        <p:spPr>
          <a:xfrm>
            <a:off x="548640" y="1737360"/>
            <a:ext cx="11091672" cy="45720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0"/>
              </a:spcAft>
              <a:buNone/>
            </a:pPr>
            <a:r>
              <a:rPr lang="es-CO" sz="2200" b="0" dirty="0">
                <a:solidFill>
                  <a:schemeClr val="tx1"/>
                </a:solidFill>
                <a:latin typeface="Noto Sans"/>
                <a:ea typeface="Noto Sans"/>
                <a:cs typeface="Noto Sans"/>
                <a:sym typeface="Noto Sans"/>
              </a:rPr>
              <a:t>Al restar ambas ecuaciones:</a:t>
            </a:r>
          </a:p>
        </p:txBody>
      </p:sp>
      <mc:AlternateContent xmlns:mc="http://schemas.openxmlformats.org/markup-compatibility/2006" xmlns:a14="http://schemas.microsoft.com/office/drawing/2010/main">
        <mc:Choice Requires="a14">
          <p:sp>
            <p:nvSpPr>
              <p:cNvPr id="4" name="Equation 4"/>
              <p:cNvSpPr txBox="1"/>
              <p:nvPr/>
            </p:nvSpPr>
            <p:spPr>
              <a:xfrm>
                <a:off x="548640" y="2194560"/>
                <a:ext cx="11091672" cy="548640"/>
              </a:xfrm>
              <a:prstGeom prst="rect">
                <a:avLst/>
              </a:prstGeom>
              <a:noFill/>
            </p:spPr>
            <p:txBody>
              <a:bodyPr wrap="square" anchor="ctr">
                <a:noAutofit/>
              </a:bodyPr>
              <a:lstStyle/>
              <a:p>
                <a:pPr algn="ctr"/>
                <a14:m>
                  <m:oMathPara xmlns:m="http://schemas.openxmlformats.org/officeDocument/2006/math">
                    <m:oMath>
                      <m:r>
                        <m:rPr>
                          <m:sty m:val="p"/>
                        </m:rPr>
                        <a:rPr lang="es-CO" sz="2400" i="0">
                          <a:latin typeface="Cambria Math"/>
                        </a:rPr>
                        <m:t>ln</m:t>
                      </m:r>
                      <m:d>
                        <m:dPr>
                          <m:ctrlPr>
                            <a:rPr lang="es-CO" sz="2400" i="0">
                              <a:solidFill>
                                <a:schemeClr val="tx1"/>
                              </a:solidFill>
                              <a:latin typeface="Noto Sans"/>
                              <a:ea typeface="Noto Sans"/>
                              <a:cs typeface="Noto Sans"/>
                              <a:sym typeface="Noto Sans"/>
                            </a:rPr>
                          </m:ctrlPr>
                        </m:dPr>
                        <m:e>
                          <m:r>
                            <m:rPr>
                              <m:nor/>
                            </m:rPr>
                            <a:rPr lang="es-CO" sz="2400" i="0">
                              <a:solidFill>
                                <a:schemeClr val="tx1"/>
                              </a:solidFill>
                              <a:latin typeface="Noto Sans"/>
                              <a:ea typeface="Noto Sans"/>
                              <a:cs typeface="Noto Sans"/>
                              <a:sym typeface="Noto Sans"/>
                            </a:rPr>
                            <m:t>odds con shock</m:t>
                          </m:r>
                        </m:e>
                      </m:d>
                      <m:r>
                        <a:rPr lang="es-CO" sz="2400" i="0">
                          <a:latin typeface="Cambria Math"/>
                        </a:rPr>
                        <m:t>−</m:t>
                      </m:r>
                      <m:r>
                        <m:rPr>
                          <m:sty m:val="p"/>
                        </m:rPr>
                        <a:rPr lang="es-CO" sz="2400" i="0">
                          <a:latin typeface="Cambria Math"/>
                        </a:rPr>
                        <m:t>ln</m:t>
                      </m:r>
                      <m:d>
                        <m:dPr>
                          <m:ctrlPr>
                            <a:rPr lang="es-CO" sz="2400" i="0">
                              <a:solidFill>
                                <a:schemeClr val="tx1"/>
                              </a:solidFill>
                              <a:latin typeface="Noto Sans"/>
                              <a:ea typeface="Noto Sans"/>
                              <a:cs typeface="Noto Sans"/>
                              <a:sym typeface="Noto Sans"/>
                            </a:rPr>
                          </m:ctrlPr>
                        </m:dPr>
                        <m:e>
                          <m:r>
                            <m:rPr>
                              <m:nor/>
                            </m:rPr>
                            <a:rPr lang="es-CO" sz="2400" i="0">
                              <a:solidFill>
                                <a:schemeClr val="tx1"/>
                              </a:solidFill>
                              <a:latin typeface="Noto Sans"/>
                              <a:ea typeface="Noto Sans"/>
                              <a:cs typeface="Noto Sans"/>
                              <a:sym typeface="Noto Sans"/>
                            </a:rPr>
                            <m:t>odds sin shock</m:t>
                          </m:r>
                        </m:e>
                      </m:d>
                      <m:r>
                        <a:rPr lang="es-CO" sz="2400" i="0">
                          <a:latin typeface="Cambria Math"/>
                        </a:rPr>
                        <m:t>=</m:t>
                      </m:r>
                      <m:sSub>
                        <m:sSubPr>
                          <m:ctrlPr>
                            <a:rPr lang="es-CO" sz="2400" i="1">
                              <a:latin typeface="Cambria Math"/>
                            </a:rPr>
                          </m:ctrlPr>
                        </m:sSubPr>
                        <m:e>
                          <m:r>
                            <a:rPr lang="es-CO" sz="2400" i="1">
                              <a:latin typeface="Cambria Math"/>
                            </a:rPr>
                            <m:t>𝛽</m:t>
                          </m:r>
                        </m:e>
                        <m:sub>
                          <m:r>
                            <a:rPr lang="es-CO" sz="2400" i="0">
                              <a:latin typeface="Cambria Math"/>
                            </a:rPr>
                            <m:t>1</m:t>
                          </m:r>
                        </m:sub>
                      </m:sSub>
                    </m:oMath>
                  </m:oMathPara>
                </a14:m>
                <a:endParaRPr/>
              </a:p>
            </p:txBody>
          </p:sp>
        </mc:Choice>
        <mc:Fallback xmlns="">
          <p:sp>
            <p:nvSpPr>
              <p:cNvPr id="4" name="Equation 4"/>
              <p:cNvSpPr txBox="1"/>
              <p:nvPr/>
            </p:nvSpPr>
            <p:spPr>
              <a:xfrm>
                <a:off x="548640" y="2194560"/>
                <a:ext cx="11091672" cy="548640"/>
              </a:xfrm>
              <a:prstGeom prst="rect">
                <a:avLst/>
              </a:prstGeom>
              <a:noFill/>
            </p:spPr>
            <p:txBody>
              <a:bodyPr wrap="square" anchor="ctr">
                <a:noAutofit/>
              </a:bodyPr>
              <a:lstStyle/>
              <a:p>
                <a:pPr algn="ctr"/>
                <a:r>
                  <a:rPr lang="es-CO" sz="2400" b="0" dirty="0">
                    <a:solidFill>
                      <a:schemeClr val="tx1"/>
                    </a:solidFill>
                    <a:latin typeface="Noto Sans"/>
                    <a:ea typeface="Noto Sans"/>
                    <a:cs typeface="Noto Sans"/>
                    <a:sym typeface="Noto Sans"/>
                  </a:rPr>
                  <a:t>ln(odds con shock) − ln(odds sin shock) = β₁</a:t>
                </a:r>
              </a:p>
            </p:txBody>
          </p:sp>
        </mc:Fallback>
      </mc:AlternateContent>
      <p:sp>
        <p:nvSpPr>
          <p:cNvPr id="5" name="TextBox 5"/>
          <p:cNvSpPr txBox="1"/>
          <p:nvPr/>
        </p:nvSpPr>
        <p:spPr>
          <a:xfrm>
            <a:off x="548640" y="2834640"/>
            <a:ext cx="11091672" cy="68580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0"/>
              </a:spcAft>
              <a:buNone/>
            </a:pPr>
            <a:r>
              <a:rPr lang="es-CO" sz="2200" b="0" dirty="0">
                <a:solidFill>
                  <a:schemeClr val="tx1"/>
                </a:solidFill>
                <a:latin typeface="Noto Sans"/>
                <a:ea typeface="Noto Sans"/>
                <a:cs typeface="Noto Sans"/>
                <a:sym typeface="Noto Sans"/>
              </a:rPr>
              <a:t>Como la resta de logaritmos es el logaritmo del cociente, y ese cociente es el odds ratio:</a:t>
            </a:r>
          </a:p>
        </p:txBody>
      </p:sp>
      <mc:AlternateContent xmlns:mc="http://schemas.openxmlformats.org/markup-compatibility/2006" xmlns:a14="http://schemas.microsoft.com/office/drawing/2010/main">
        <mc:Choice Requires="a14">
          <p:sp>
            <p:nvSpPr>
              <p:cNvPr id="6" name="Equation 6"/>
              <p:cNvSpPr txBox="1"/>
              <p:nvPr/>
            </p:nvSpPr>
            <p:spPr>
              <a:xfrm>
                <a:off x="548640" y="3520440"/>
                <a:ext cx="11091672" cy="868680"/>
              </a:xfrm>
              <a:prstGeom prst="rect">
                <a:avLst/>
              </a:prstGeom>
              <a:noFill/>
            </p:spPr>
            <p:txBody>
              <a:bodyPr wrap="square" anchor="ctr">
                <a:noAutofit/>
              </a:bodyPr>
              <a:lstStyle/>
              <a:p>
                <a:pPr algn="ctr"/>
                <a14:m>
                  <m:oMathPara xmlns:m="http://schemas.openxmlformats.org/officeDocument/2006/math">
                    <m:oMath>
                      <m:r>
                        <m:rPr>
                          <m:sty m:val="p"/>
                        </m:rPr>
                        <a:rPr lang="es-CO" sz="2400" i="0">
                          <a:latin typeface="Cambria Math"/>
                        </a:rPr>
                        <m:t>ln</m:t>
                      </m:r>
                      <m:d>
                        <m:dPr>
                          <m:ctrlPr>
                            <a:rPr lang="es-CO" sz="2400" i="1">
                              <a:solidFill>
                                <a:schemeClr val="tx1"/>
                              </a:solidFill>
                              <a:latin typeface="Cambria Math" panose="02040503050406030204" pitchFamily="18" charset="0"/>
                              <a:ea typeface="Noto Sans"/>
                              <a:cs typeface="Noto Sans"/>
                              <a:sym typeface="Noto Sans"/>
                            </a:rPr>
                          </m:ctrlPr>
                        </m:dPr>
                        <m:e>
                          <m:f>
                            <m:fPr>
                              <m:ctrlPr>
                                <a:rPr lang="es-CO" sz="2400" i="0">
                                  <a:solidFill>
                                    <a:schemeClr val="tx1"/>
                                  </a:solidFill>
                                  <a:latin typeface="Noto Sans"/>
                                  <a:ea typeface="Noto Sans"/>
                                  <a:cs typeface="Noto Sans"/>
                                  <a:sym typeface="Noto Sans"/>
                                </a:rPr>
                              </m:ctrlPr>
                            </m:fPr>
                            <m:num>
                              <m:r>
                                <m:rPr>
                                  <m:nor/>
                                </m:rPr>
                                <a:rPr lang="es-CO" sz="2400" i="0">
                                  <a:solidFill>
                                    <a:schemeClr val="tx1"/>
                                  </a:solidFill>
                                  <a:latin typeface="Noto Sans"/>
                                  <a:ea typeface="Noto Sans"/>
                                  <a:cs typeface="Noto Sans"/>
                                  <a:sym typeface="Noto Sans"/>
                                </a:rPr>
                                <m:t>odds con shock</m:t>
                              </m:r>
                            </m:num>
                            <m:den>
                              <m:r>
                                <m:rPr>
                                  <m:nor/>
                                </m:rPr>
                                <a:rPr lang="es-CO" sz="2400" i="0">
                                  <a:solidFill>
                                    <a:schemeClr val="tx1"/>
                                  </a:solidFill>
                                  <a:latin typeface="Noto Sans"/>
                                  <a:ea typeface="Noto Sans"/>
                                  <a:cs typeface="Noto Sans"/>
                                  <a:sym typeface="Noto Sans"/>
                                </a:rPr>
                                <m:t>odds sin shock</m:t>
                              </m:r>
                            </m:den>
                          </m:f>
                        </m:e>
                      </m:d>
                      <m:r>
                        <a:rPr lang="es-CO" sz="2400" i="0">
                          <a:latin typeface="Cambria Math"/>
                        </a:rPr>
                        <m:t>=</m:t>
                      </m:r>
                      <m:r>
                        <m:rPr>
                          <m:sty m:val="p"/>
                        </m:rPr>
                        <a:rPr lang="es-CO" sz="2400" i="0">
                          <a:latin typeface="Cambria Math"/>
                        </a:rPr>
                        <m:t>ln</m:t>
                      </m:r>
                      <m:d>
                        <m:dPr>
                          <m:ctrlPr>
                            <a:rPr lang="es-CO" sz="2400" i="0">
                              <a:solidFill>
                                <a:schemeClr val="tx1"/>
                              </a:solidFill>
                              <a:latin typeface="Noto Sans"/>
                              <a:ea typeface="Noto Sans"/>
                              <a:cs typeface="Noto Sans"/>
                              <a:sym typeface="Noto Sans"/>
                            </a:rPr>
                          </m:ctrlPr>
                        </m:dPr>
                        <m:e>
                          <m:r>
                            <m:rPr>
                              <m:nor/>
                            </m:rPr>
                            <a:rPr lang="es-CO" sz="2400" i="0">
                              <a:solidFill>
                                <a:schemeClr val="tx1"/>
                              </a:solidFill>
                              <a:latin typeface="Noto Sans"/>
                              <a:ea typeface="Noto Sans"/>
                              <a:cs typeface="Noto Sans"/>
                              <a:sym typeface="Noto Sans"/>
                            </a:rPr>
                            <m:t>odds ratio</m:t>
                          </m:r>
                        </m:e>
                      </m:d>
                      <m:r>
                        <a:rPr lang="es-CO" sz="2400" i="0">
                          <a:latin typeface="Cambria Math"/>
                        </a:rPr>
                        <m:t>=</m:t>
                      </m:r>
                      <m:sSub>
                        <m:sSubPr>
                          <m:ctrlPr>
                            <a:rPr lang="es-CO" sz="2400" i="1">
                              <a:latin typeface="Cambria Math"/>
                            </a:rPr>
                          </m:ctrlPr>
                        </m:sSubPr>
                        <m:e>
                          <m:r>
                            <a:rPr lang="es-CO" sz="2400" i="1">
                              <a:latin typeface="Cambria Math"/>
                            </a:rPr>
                            <m:t>𝛽</m:t>
                          </m:r>
                        </m:e>
                        <m:sub>
                          <m:r>
                            <a:rPr lang="es-CO" sz="2400" i="0">
                              <a:latin typeface="Cambria Math"/>
                            </a:rPr>
                            <m:t>1</m:t>
                          </m:r>
                        </m:sub>
                      </m:sSub>
                    </m:oMath>
                  </m:oMathPara>
                </a14:m>
                <a:endParaRPr/>
              </a:p>
            </p:txBody>
          </p:sp>
        </mc:Choice>
        <mc:Fallback xmlns="">
          <p:sp>
            <p:nvSpPr>
              <p:cNvPr id="6" name="Equation 6"/>
              <p:cNvSpPr txBox="1"/>
              <p:nvPr/>
            </p:nvSpPr>
            <p:spPr>
              <a:xfrm>
                <a:off x="548640" y="3520440"/>
                <a:ext cx="11091672" cy="868680"/>
              </a:xfrm>
              <a:prstGeom prst="rect">
                <a:avLst/>
              </a:prstGeom>
              <a:noFill/>
            </p:spPr>
            <p:txBody>
              <a:bodyPr wrap="square" anchor="ctr">
                <a:noAutofit/>
              </a:bodyPr>
              <a:lstStyle/>
              <a:p>
                <a:pPr algn="ctr"/>
                <a:r>
                  <a:rPr lang="es-CO" sz="2400" b="0" dirty="0">
                    <a:solidFill>
                      <a:schemeClr val="tx1"/>
                    </a:solidFill>
                    <a:latin typeface="Noto Sans"/>
                    <a:ea typeface="Noto Sans"/>
                    <a:cs typeface="Noto Sans"/>
                    <a:sym typeface="Noto Sans"/>
                  </a:rPr>
                  <a:t>ln(odds con shock / odds sin shock) = ln(odds ratio) = β₁</a:t>
                </a:r>
              </a:p>
            </p:txBody>
          </p:sp>
        </mc:Fallback>
      </mc:AlternateContent>
      <p:sp>
        <p:nvSpPr>
          <p:cNvPr id="7" name="TextBox 7"/>
          <p:cNvSpPr txBox="1"/>
          <p:nvPr/>
        </p:nvSpPr>
        <p:spPr>
          <a:xfrm>
            <a:off x="548640" y="4480560"/>
            <a:ext cx="11091672" cy="45720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0"/>
              </a:spcAft>
              <a:buNone/>
            </a:pPr>
            <a:r>
              <a:rPr lang="es-CO" sz="2200" b="0" dirty="0">
                <a:solidFill>
                  <a:schemeClr val="tx1"/>
                </a:solidFill>
                <a:latin typeface="Noto Sans"/>
                <a:ea typeface="Noto Sans"/>
                <a:cs typeface="Noto Sans"/>
                <a:sym typeface="Noto Sans"/>
              </a:rPr>
              <a:t>Aplicando el exponencial a ambos lados:</a:t>
            </a:r>
          </a:p>
        </p:txBody>
      </p:sp>
      <mc:AlternateContent xmlns:mc="http://schemas.openxmlformats.org/markup-compatibility/2006" xmlns:a14="http://schemas.microsoft.com/office/drawing/2010/main">
        <mc:Choice Requires="a14">
          <p:sp>
            <p:nvSpPr>
              <p:cNvPr id="8" name="Equation 8"/>
              <p:cNvSpPr txBox="1"/>
              <p:nvPr/>
            </p:nvSpPr>
            <p:spPr>
              <a:xfrm>
                <a:off x="548640" y="4937760"/>
                <a:ext cx="11091672" cy="548640"/>
              </a:xfrm>
              <a:prstGeom prst="rect">
                <a:avLst/>
              </a:prstGeom>
              <a:noFill/>
            </p:spPr>
            <p:txBody>
              <a:bodyPr wrap="square" anchor="ctr">
                <a:noAutofit/>
              </a:bodyPr>
              <a:lstStyle/>
              <a:p>
                <a:pPr algn="ctr"/>
                <a14:m>
                  <m:oMathPara xmlns:m="http://schemas.openxmlformats.org/officeDocument/2006/math">
                    <m:oMath>
                      <m:r>
                        <m:rPr>
                          <m:nor/>
                        </m:rPr>
                        <a:rPr lang="es-CO" sz="2400" i="0">
                          <a:solidFill>
                            <a:schemeClr val="tx1"/>
                          </a:solidFill>
                          <a:latin typeface="Noto Sans"/>
                          <a:ea typeface="Noto Sans"/>
                          <a:cs typeface="Noto Sans"/>
                          <a:sym typeface="Noto Sans"/>
                        </a:rPr>
                        <m:t>Odds ratio</m:t>
                      </m:r>
                      <m:r>
                        <a:rPr lang="es-CO" sz="2400" i="0">
                          <a:latin typeface="Cambria Math"/>
                        </a:rPr>
                        <m:t>=</m:t>
                      </m:r>
                      <m:sSup>
                        <m:sSupPr>
                          <m:ctrlPr>
                            <a:rPr lang="es-CO" sz="2400" i="1">
                              <a:latin typeface="Cambria Math"/>
                            </a:rPr>
                          </m:ctrlPr>
                        </m:sSupPr>
                        <m:e>
                          <m:r>
                            <a:rPr lang="es-CO" sz="2400" i="1">
                              <a:latin typeface="Cambria Math"/>
                            </a:rPr>
                            <m:t>𝑒</m:t>
                          </m:r>
                        </m:e>
                        <m:sup>
                          <m:sSub>
                            <m:sSubPr>
                              <m:ctrlPr>
                                <a:rPr lang="es-CO" sz="2400" i="1">
                                  <a:latin typeface="Cambria Math"/>
                                </a:rPr>
                              </m:ctrlPr>
                            </m:sSubPr>
                            <m:e>
                              <m:r>
                                <a:rPr lang="es-CO" sz="2400" i="1">
                                  <a:latin typeface="Cambria Math"/>
                                </a:rPr>
                                <m:t>𝛽</m:t>
                              </m:r>
                            </m:e>
                            <m:sub>
                              <m:r>
                                <a:rPr lang="es-CO" sz="2400" i="0">
                                  <a:latin typeface="Cambria Math"/>
                                </a:rPr>
                                <m:t>1</m:t>
                              </m:r>
                            </m:sub>
                          </m:sSub>
                        </m:sup>
                      </m:sSup>
                      <m:r>
                        <a:rPr lang="es-CO" sz="2400" i="0">
                          <a:latin typeface="Cambria Math"/>
                        </a:rPr>
                        <m:t>=</m:t>
                      </m:r>
                      <m:sSup>
                        <m:sSupPr>
                          <m:ctrlPr>
                            <a:rPr lang="es-CO" sz="2400" i="1">
                              <a:latin typeface="Cambria Math"/>
                            </a:rPr>
                          </m:ctrlPr>
                        </m:sSupPr>
                        <m:e>
                          <m:r>
                            <a:rPr lang="es-CO" sz="2400" i="1">
                              <a:latin typeface="Cambria Math"/>
                            </a:rPr>
                            <m:t>𝑒</m:t>
                          </m:r>
                        </m:e>
                        <m:sup>
                          <m:r>
                            <a:rPr lang="es-CO" sz="2400" i="0">
                              <a:latin typeface="Cambria Math"/>
                            </a:rPr>
                            <m:t>5.56</m:t>
                          </m:r>
                        </m:sup>
                      </m:sSup>
                      <m:r>
                        <a:rPr lang="es-CO" sz="2400" i="0">
                          <a:latin typeface="Cambria Math"/>
                        </a:rPr>
                        <m:t>≈261</m:t>
                      </m:r>
                    </m:oMath>
                  </m:oMathPara>
                </a14:m>
                <a:endParaRPr/>
              </a:p>
            </p:txBody>
          </p:sp>
        </mc:Choice>
        <mc:Fallback xmlns="">
          <p:sp>
            <p:nvSpPr>
              <p:cNvPr id="8" name="Equation 8"/>
              <p:cNvSpPr txBox="1"/>
              <p:nvPr/>
            </p:nvSpPr>
            <p:spPr>
              <a:xfrm>
                <a:off x="548640" y="4937760"/>
                <a:ext cx="11091672" cy="548640"/>
              </a:xfrm>
              <a:prstGeom prst="rect">
                <a:avLst/>
              </a:prstGeom>
              <a:noFill/>
            </p:spPr>
            <p:txBody>
              <a:bodyPr wrap="square" anchor="ctr">
                <a:noAutofit/>
              </a:bodyPr>
              <a:lstStyle/>
              <a:p>
                <a:pPr algn="ctr"/>
                <a:r>
                  <a:rPr lang="es-CO" sz="2400" b="0" dirty="0">
                    <a:solidFill>
                      <a:schemeClr val="tx1"/>
                    </a:solidFill>
                    <a:latin typeface="Noto Sans"/>
                    <a:ea typeface="Noto Sans"/>
                    <a:cs typeface="Noto Sans"/>
                    <a:sym typeface="Noto Sans"/>
                  </a:rPr>
                  <a:t>Odds ratio = e^β₁ = e^5.56 ≈ 261</a:t>
                </a:r>
              </a:p>
            </p:txBody>
          </p:sp>
        </mc:Fallback>
      </mc:AlternateContent>
      <p:sp>
        <p:nvSpPr>
          <p:cNvPr id="9" name="TextBox 9"/>
          <p:cNvSpPr txBox="1"/>
          <p:nvPr/>
        </p:nvSpPr>
        <p:spPr>
          <a:xfrm>
            <a:off x="548640" y="5577840"/>
            <a:ext cx="11091672" cy="45720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0"/>
              </a:spcAft>
              <a:buNone/>
            </a:pPr>
            <a:r>
              <a:rPr lang="es-CO" sz="2200" b="0" dirty="0">
                <a:solidFill>
                  <a:schemeClr val="tx1"/>
                </a:solidFill>
                <a:latin typeface="Noto Sans"/>
                <a:ea typeface="Noto Sans"/>
                <a:cs typeface="Noto Sans"/>
                <a:sym typeface="Noto Sans"/>
              </a:rPr>
              <a:t>Por eso el </a:t>
            </a:r>
            <a:r>
              <a:rPr lang="es-CO" sz="2200" b="1" dirty="0">
                <a:solidFill>
                  <a:schemeClr val="tx1"/>
                </a:solidFill>
                <a:latin typeface="Noto Sans"/>
                <a:ea typeface="Noto Sans"/>
                <a:cs typeface="Noto Sans"/>
                <a:sym typeface="Noto Sans"/>
              </a:rPr>
              <a:t>odds ratio</a:t>
            </a:r>
            <a:r>
              <a:rPr lang="es-CO" sz="2200" b="0" dirty="0">
                <a:solidFill>
                  <a:schemeClr val="tx1"/>
                </a:solidFill>
                <a:latin typeface="Noto Sans"/>
                <a:ea typeface="Noto Sans"/>
                <a:cs typeface="Noto Sans"/>
                <a:sym typeface="Noto Sans"/>
              </a:rPr>
              <a:t> de cada variable es el exponencial de su coeficiente.</a:t>
            </a:r>
          </a:p>
        </p:txBody>
      </p:sp>
    </p:spTree>
  </p:cSld>
  <p:clrMapOvr>
    <a:masterClrMapping/>
  </p:clrMapOvr>
</p:sld>
</file>

<file path=ppt/theme/theme1.xml><?xml version="1.0" encoding="utf-8"?>
<a:theme xmlns:a="http://schemas.openxmlformats.org/drawingml/2006/main" name="TGHN Regional Programme">
  <a:themeElements>
    <a:clrScheme name="TGHN Theme 1">
      <a:dk1>
        <a:srgbClr val="000000"/>
      </a:dk1>
      <a:lt1>
        <a:srgbClr val="FFFFFF"/>
      </a:lt1>
      <a:dk2>
        <a:srgbClr val="0E2841"/>
      </a:dk2>
      <a:lt2>
        <a:srgbClr val="E8E8E8"/>
      </a:lt2>
      <a:accent1>
        <a:srgbClr val="0071BC"/>
      </a:accent1>
      <a:accent2>
        <a:srgbClr val="771213"/>
      </a:accent2>
      <a:accent3>
        <a:srgbClr val="80AF40"/>
      </a:accent3>
      <a:accent4>
        <a:srgbClr val="79CBC6"/>
      </a:accent4>
      <a:accent5>
        <a:srgbClr val="F06EA9"/>
      </a:accent5>
      <a:accent6>
        <a:srgbClr val="CBDFF3"/>
      </a:accent6>
      <a:hlink>
        <a:srgbClr val="E97132"/>
      </a:hlink>
      <a:folHlink>
        <a:srgbClr val="E9713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Diseño personalizado">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456</TotalTime>
  <Words>4326</Words>
  <Application>Microsoft Office PowerPoint</Application>
  <PresentationFormat>Panorámica</PresentationFormat>
  <Paragraphs>319</Paragraphs>
  <Slides>55</Slides>
  <Notes>1</Notes>
  <HiddenSlides>0</HiddenSlides>
  <MMClips>0</MMClips>
  <ScaleCrop>false</ScaleCrop>
  <HeadingPairs>
    <vt:vector size="6" baseType="variant">
      <vt:variant>
        <vt:lpstr>Fuentes usadas</vt:lpstr>
      </vt:variant>
      <vt:variant>
        <vt:i4>6</vt:i4>
      </vt:variant>
      <vt:variant>
        <vt:lpstr>Tema</vt:lpstr>
      </vt:variant>
      <vt:variant>
        <vt:i4>2</vt:i4>
      </vt:variant>
      <vt:variant>
        <vt:lpstr>Títulos de diapositiva</vt:lpstr>
      </vt:variant>
      <vt:variant>
        <vt:i4>55</vt:i4>
      </vt:variant>
    </vt:vector>
  </HeadingPairs>
  <TitlesOfParts>
    <vt:vector size="63" baseType="lpstr">
      <vt:lpstr>Calibri Light</vt:lpstr>
      <vt:lpstr>Noto Sans SemiBold</vt:lpstr>
      <vt:lpstr>Noto Sans</vt:lpstr>
      <vt:lpstr>Arial</vt:lpstr>
      <vt:lpstr>Cambria Math</vt:lpstr>
      <vt:lpstr>Calibri</vt:lpstr>
      <vt:lpstr>TGHN Regional Programme</vt:lpstr>
      <vt:lpstr>Diseño personalizado</vt:lpstr>
      <vt:lpstr>Medidas de asociación (odds ratio)</vt:lpstr>
      <vt:lpstr>Introducción</vt:lpstr>
      <vt:lpstr>Introducción</vt:lpstr>
      <vt:lpstr>Introducción</vt:lpstr>
      <vt:lpstr>Objetivo</vt:lpstr>
      <vt:lpstr>Contenido</vt:lpstr>
      <vt:lpstr>2. Preparación de los datos</vt:lpstr>
      <vt:lpstr>2. Preparación de los datos</vt:lpstr>
      <vt:lpstr>2. Preparación de los datos</vt:lpstr>
      <vt:lpstr>2. Preparación de los datos</vt:lpstr>
      <vt:lpstr>2. Preparación de los datos</vt:lpstr>
      <vt:lpstr>2. Preparación de los datos</vt:lpstr>
      <vt:lpstr>2. Preparación de los datos</vt:lpstr>
      <vt:lpstr>2. Preparación de los datos</vt:lpstr>
      <vt:lpstr>2. Preparación de los datos</vt:lpstr>
      <vt:lpstr>2. Preparación de los datos</vt:lpstr>
      <vt:lpstr>3. Consideraciones</vt:lpstr>
      <vt:lpstr>3. Consideraciones</vt:lpstr>
      <vt:lpstr>3. Consideraciones</vt:lpstr>
      <vt:lpstr>4. Enfoque centralizado</vt:lpstr>
      <vt:lpstr>4. Enfoque centralizado</vt:lpstr>
      <vt:lpstr>4. Enfoque centralizado</vt:lpstr>
      <vt:lpstr>4. Enfoque centralizado</vt:lpstr>
      <vt:lpstr>4. Enfoque centralizado</vt:lpstr>
      <vt:lpstr>4. Enfoque centralizado</vt:lpstr>
      <vt:lpstr>4. Enfoque centralizado</vt:lpstr>
      <vt:lpstr>4. Enfoque centralizado</vt:lpstr>
      <vt:lpstr>5. Enfoque federado</vt:lpstr>
      <vt:lpstr>5. Enfoque federado</vt:lpstr>
      <vt:lpstr>5. Enfoque federado</vt:lpstr>
      <vt:lpstr>5. Enfoque federado</vt:lpstr>
      <vt:lpstr>5. Enfoque federado</vt:lpstr>
      <vt:lpstr>5. Enfoque federado</vt:lpstr>
      <vt:lpstr>5. Enfoque federado</vt:lpstr>
      <vt:lpstr>5. Enfoque federado</vt:lpstr>
      <vt:lpstr>5. Enfoque federado</vt:lpstr>
      <vt:lpstr>5. Enfoque federado</vt:lpstr>
      <vt:lpstr>5. Enfoque federado</vt:lpstr>
      <vt:lpstr>5. Enfoque federado</vt:lpstr>
      <vt:lpstr>5. Enfoque federado</vt:lpstr>
      <vt:lpstr>5. Enfoque federado</vt:lpstr>
      <vt:lpstr>5. Enfoque federado</vt:lpstr>
      <vt:lpstr>6. Comparación</vt:lpstr>
      <vt:lpstr>6. Comparación</vt:lpstr>
      <vt:lpstr>6. Comparación</vt:lpstr>
      <vt:lpstr>6. Comparación</vt:lpstr>
      <vt:lpstr>6. Comparación</vt:lpstr>
      <vt:lpstr>6. Comparación</vt:lpstr>
      <vt:lpstr>7. Conclusiones</vt:lpstr>
      <vt:lpstr>Conceptos</vt:lpstr>
      <vt:lpstr>Conceptos</vt:lpstr>
      <vt:lpstr>Conceptos</vt:lpstr>
      <vt:lpstr>Conceptos</vt:lpstr>
      <vt:lpstr>Conceptos</vt:lpstr>
      <vt:lpstr>Conceptos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cp:lastModifiedBy>carlos sarmiento</cp:lastModifiedBy>
  <cp:revision>40</cp:revision>
  <dcterms:modified xsi:type="dcterms:W3CDTF">2026-10-06T04:16:31Z</dcterms:modified>
</cp:coreProperties>
</file>