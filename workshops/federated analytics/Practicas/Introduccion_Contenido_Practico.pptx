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  <p:sldMasterId id="2147483668" r:id="rId2"/>
  </p:sldMasterIdLst>
  <p:notesMasterIdLst>
    <p:notesMasterId r:id="rId13"/>
  </p:notesMasterIdLst>
  <p:sldIdLst>
    <p:sldId id="261" r:id="rId3"/>
    <p:sldId id="262" r:id="rId4"/>
    <p:sldId id="266" r:id="rId5"/>
    <p:sldId id="271" r:id="rId6"/>
    <p:sldId id="263" r:id="rId7"/>
    <p:sldId id="267" r:id="rId8"/>
    <p:sldId id="268" r:id="rId9"/>
    <p:sldId id="269" r:id="rId10"/>
    <p:sldId id="270" r:id="rId11"/>
    <p:sldId id="272" r:id="rId12"/>
  </p:sldIdLst>
  <p:sldSz cx="12192000" cy="6858000"/>
  <p:notesSz cx="6858000" cy="9144000"/>
  <p:embeddedFontLst>
    <p:embeddedFont>
      <p:font typeface="Noto Sans" panose="020B0502040504020204" pitchFamily="34" charset="0"/>
      <p:regular r:id="rId14"/>
      <p:bold r:id="rId15"/>
      <p:italic r:id="rId16"/>
    </p:embeddedFont>
    <p:embeddedFont>
      <p:font typeface="Noto Sans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09BBDD-0D2F-4512-BD4F-111AB59D770F}" v="3" dt="2026-10-01T03:15:27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7" y="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Main Title Slide" userDrawn="1">
  <p:cSld name="4_Main 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B612C50-4774-4A19-A815-E180A9158F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 list acknowledgement">
  <p:cSld name="Four column list acknowledgem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5" descr="A map of the world&#10;&#10;Description automatically generated"/>
          <p:cNvPicPr preferRelativeResize="0"/>
          <p:nvPr/>
        </p:nvPicPr>
        <p:blipFill rotWithShape="1">
          <a:blip r:embed="rId2">
            <a:alphaModFix amt="10000"/>
          </a:blip>
          <a:srcRect t="14912" r="21635" b="31073"/>
          <a:stretch/>
        </p:blipFill>
        <p:spPr>
          <a:xfrm>
            <a:off x="1980961" y="0"/>
            <a:ext cx="10220871" cy="6356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27000" y="365125"/>
            <a:ext cx="119379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1"/>
          </p:nvPr>
        </p:nvSpPr>
        <p:spPr>
          <a:xfrm>
            <a:off x="127000" y="1885443"/>
            <a:ext cx="11937999" cy="405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67;p7">
            <a:extLst>
              <a:ext uri="{FF2B5EF4-FFF2-40B4-BE49-F238E27FC236}">
                <a16:creationId xmlns:a16="http://schemas.microsoft.com/office/drawing/2014/main" id="{F2B4C948-78BC-4F0D-9168-205BAF42234D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2846685" y="161363"/>
            <a:ext cx="6498629" cy="735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831850" y="2466753"/>
            <a:ext cx="10515600" cy="2095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Noto Sans SemiBold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67;p7">
            <a:extLst>
              <a:ext uri="{FF2B5EF4-FFF2-40B4-BE49-F238E27FC236}">
                <a16:creationId xmlns:a16="http://schemas.microsoft.com/office/drawing/2014/main" id="{8FD4A93B-5CA7-44EB-A22C-8F378AB98947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2846685" y="161363"/>
            <a:ext cx="6498629" cy="735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Four column list acknowledgement">
  <p:cSld name="1_Four column list acknowledgemen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 descr="A map of the world&#10;&#10;Description automatically generated"/>
          <p:cNvPicPr preferRelativeResize="0"/>
          <p:nvPr/>
        </p:nvPicPr>
        <p:blipFill rotWithShape="1">
          <a:blip r:embed="rId2">
            <a:alphaModFix amt="10000"/>
          </a:blip>
          <a:srcRect t="14912" r="21635" b="31073"/>
          <a:stretch/>
        </p:blipFill>
        <p:spPr>
          <a:xfrm>
            <a:off x="1980961" y="0"/>
            <a:ext cx="10220871" cy="635635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599" y="6393638"/>
            <a:ext cx="3375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3" name="Google Shape;93;p11"/>
          <p:cNvSpPr txBox="1"/>
          <p:nvPr/>
        </p:nvSpPr>
        <p:spPr>
          <a:xfrm>
            <a:off x="206188" y="6389431"/>
            <a:ext cx="52504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www.theglobalhealthnetwork.org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1"/>
          <p:cNvSpPr txBox="1">
            <a:spLocks noGrp="1"/>
          </p:cNvSpPr>
          <p:nvPr>
            <p:ph type="title"/>
          </p:nvPr>
        </p:nvSpPr>
        <p:spPr>
          <a:xfrm>
            <a:off x="206188" y="365125"/>
            <a:ext cx="1177962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1"/>
          </p:nvPr>
        </p:nvSpPr>
        <p:spPr>
          <a:xfrm>
            <a:off x="206188" y="1885443"/>
            <a:ext cx="11779623" cy="4054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1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1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67;p7">
            <a:extLst>
              <a:ext uri="{FF2B5EF4-FFF2-40B4-BE49-F238E27FC236}">
                <a16:creationId xmlns:a16="http://schemas.microsoft.com/office/drawing/2014/main" id="{83ADB874-9257-4D82-B5CE-3EBB98FD61DE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2846685" y="161363"/>
            <a:ext cx="6498629" cy="735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Title Slide">
  <p:cSld name="Main Title Slide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9832" y="1884834"/>
            <a:ext cx="12192000" cy="4973166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 rotWithShape="1">
          <a:blip r:embed="rId2">
            <a:alphaModFix amt="10000"/>
          </a:blip>
          <a:srcRect t="10864" r="4297" b="45730"/>
          <a:stretch/>
        </p:blipFill>
        <p:spPr>
          <a:xfrm>
            <a:off x="-9832" y="1876813"/>
            <a:ext cx="12192000" cy="498920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>
            <a:spLocks noGrp="1"/>
          </p:cNvSpPr>
          <p:nvPr>
            <p:ph type="ctrTitle"/>
          </p:nvPr>
        </p:nvSpPr>
        <p:spPr>
          <a:xfrm>
            <a:off x="206188" y="2494210"/>
            <a:ext cx="9429425" cy="194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Noto Sans SemiBold"/>
              <a:buNone/>
              <a:defRPr sz="6000" b="1" i="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subTitle" idx="1"/>
          </p:nvPr>
        </p:nvSpPr>
        <p:spPr>
          <a:xfrm>
            <a:off x="206188" y="4676105"/>
            <a:ext cx="9429425" cy="1458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" name="Google Shape;67;p7">
            <a:extLst>
              <a:ext uri="{FF2B5EF4-FFF2-40B4-BE49-F238E27FC236}">
                <a16:creationId xmlns:a16="http://schemas.microsoft.com/office/drawing/2014/main" id="{B6A81CA7-6D40-45C6-9227-7616A9409CA8}"/>
              </a:ext>
            </a:extLst>
          </p:cNvPr>
          <p:cNvPicPr preferRelativeResize="0"/>
          <p:nvPr userDrawn="1"/>
        </p:nvPicPr>
        <p:blipFill>
          <a:blip r:embed="rId3"/>
          <a:srcRect/>
          <a:stretch/>
        </p:blipFill>
        <p:spPr>
          <a:xfrm>
            <a:off x="2846685" y="161363"/>
            <a:ext cx="6498629" cy="735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127000" y="365125"/>
            <a:ext cx="119379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>
            <a:spLocks noGrp="1"/>
          </p:cNvSpPr>
          <p:nvPr>
            <p:ph type="title"/>
          </p:nvPr>
        </p:nvSpPr>
        <p:spPr>
          <a:xfrm>
            <a:off x="127000" y="457200"/>
            <a:ext cx="464502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emiBold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259304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7"/>
          <p:cNvSpPr txBox="1">
            <a:spLocks noGrp="1"/>
          </p:cNvSpPr>
          <p:nvPr>
            <p:ph type="body" idx="1"/>
          </p:nvPr>
        </p:nvSpPr>
        <p:spPr>
          <a:xfrm>
            <a:off x="749508" y="2057400"/>
            <a:ext cx="402251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1226800" cy="1387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 rot="5400000">
            <a:off x="4698805" y="-1189232"/>
            <a:ext cx="4691063" cy="1004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 rot="5400000">
            <a:off x="7489031" y="1600994"/>
            <a:ext cx="5811838" cy="3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body" idx="1"/>
          </p:nvPr>
        </p:nvSpPr>
        <p:spPr>
          <a:xfrm rot="5400000">
            <a:off x="1443831" y="-951706"/>
            <a:ext cx="5811838" cy="8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0" y="6356350"/>
            <a:ext cx="12201832" cy="501650"/>
          </a:xfrm>
          <a:prstGeom prst="rect">
            <a:avLst/>
          </a:prstGeom>
          <a:solidFill>
            <a:srgbClr val="0673BA"/>
          </a:solidFill>
          <a:ln w="19050" cap="flat" cmpd="sng">
            <a:solidFill>
              <a:srgbClr val="0673B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27000" y="6458693"/>
            <a:ext cx="3911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lac.tghn.org</a:t>
            </a:r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8816787" y="4382770"/>
            <a:ext cx="33752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9080500" y="6458693"/>
            <a:ext cx="2984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400" b="0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E4F96F-8F72-42AA-A830-A0E3809246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FC1A8F-408C-49E7-BC11-8DB03E679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15ABDB-8A25-4CE5-8FA4-A83E75AC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4D3370-BAA1-422C-8F8B-AD255E54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A4B5AF-298D-4A41-9C43-8A942868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7979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EDC9D-05C8-43F2-BFF8-2B3D6C31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45C3B5-F63E-4B19-ACC5-CEF14D079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E9140F-A1C7-4CDC-B9EB-1E88AB99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441BAD-AE44-4F3A-A469-633D090C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C69355-8B2D-4D94-8A7C-BB960A00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9610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0A942-2659-469A-96B1-B1682C1A6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6D8770-FC43-4E13-BB6E-56F4293D4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BDF625-DEA1-4CD4-99D6-09126F49C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18CB36-A5BE-4360-8438-EE069D243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110941-6122-4A96-B0B9-837401AC8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3607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DA1D2-61E3-4076-A24A-57C8C8FF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0C5A68-CCB3-4B07-B11D-2F9063C8B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F30839-7E32-4EF4-98F5-B8CFDE514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8BC141-8D36-4B86-8A3E-3B8EED34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B82771-11DA-4C33-8E36-A3D010AA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0E41EA-7EEC-4B11-911C-5B52655F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082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88004-2276-4511-ADB3-AF8DC1418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D45D54-F2D6-4C67-A262-C8E71DF98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F44F1B-F6B9-486C-A32E-B9E1AD228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B0B35D0-AC0D-4F38-8BA6-F142A129A7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E2750E-4A92-48D5-A3D7-F789EDBC9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6EF02BB-19B7-4E3C-B37F-38F64378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04AECE-A522-4AD6-A703-EDA07245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67E73B-7679-4D78-A03D-10B39C6C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3979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BACF1-2609-431A-AAAF-4C02EE37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2BE7A7-3C3C-4AD5-A98D-B6C877A5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DBBE023-F0F6-42B0-9D47-ADF36C3B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705CE0-A244-487D-9341-93CAF3AE9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4470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62BE20-FB31-4FDF-BD72-6C0D2C14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76A5CB-3CC0-47BD-9541-6DC8D57C6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81B8F2-74E0-473D-BC37-B0BA5EDF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0853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AA823-B37A-410C-A618-7D624CC8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E13B61-8112-4EA1-96D8-AC4BB05B3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965709-2EF8-44C4-B192-B013E112C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5D09C0-BFD1-4178-B973-34B5BCE05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A6232D-2C65-4DDF-809D-E82D0A0DC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A3A7C5-3E94-4218-89DA-37895AB9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2051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A8FA8-412B-42AB-A7F6-5F7A10156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B145078-AAE2-4ECB-AA08-5AABE51D3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67B250-0BE0-4D45-82D1-2A0DBBEAA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E8E942-A1E0-4016-95C8-9B9BF89A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955E18-5513-4AE6-B234-4D7C68EFF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1378B4-1B1F-4C5F-8872-C41FF358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0453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E4E18-2990-483E-88E0-43DF74DAA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D4B2C7-D083-46AA-8E5A-D003959E8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6C4379-68F4-457A-BA8D-C77E63F51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6ED189-6619-461C-A861-98582B50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1ACA52-8342-415B-9FF6-9420BAE4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2020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C05042-F31B-46E1-89C3-EB12F1454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D980B7-5C1A-42C0-B044-528FDD08A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D63FF1-7E5D-4612-B288-E5EB4E4C0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5C76A6-39D9-4184-87DD-073172AF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E04071-4B44-4CBB-82A1-C0A60DBD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212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127000" y="1485900"/>
            <a:ext cx="11226800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27000" y="217365"/>
            <a:ext cx="11226800" cy="112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emiBold"/>
              <a:buNone/>
              <a:defRPr sz="4000" b="1" i="0" u="none" strike="noStrike" cap="none">
                <a:solidFill>
                  <a:schemeClr val="dk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7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2EB26D-21A2-43A1-93C1-372F295E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FED00D-CAD3-42C6-B212-6DAE6F6D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C1317E-59CB-4E30-B479-59C77FF64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9D6B8-5579-43BB-B455-9065CD0ADFC9}" type="datetimeFigureOut">
              <a:rPr lang="es-CO" smtClean="0"/>
              <a:t>1/10/2026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3BE975-65F2-47B6-A241-AD12E1E41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2F7CAF-34CC-47FA-9F49-B78FC094B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EE436-99F1-4F6D-A5FC-68F56FAEBAF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464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SARICResearch/Dissemination/tree/main/workshops/federated%20analytics/FederatedAnalysis_Project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ISARICResearch/Dissemination/blob/main/workshops/federated%20analytics/FederatedAnalysis_Project/notebooks/02_descriptive_analysis.ipynb" TargetMode="External"/><Relationship Id="rId2" Type="http://schemas.openxmlformats.org/officeDocument/2006/relationships/hyperlink" Target="https://colab.research.google.com/github/ISARICResearch/Dissemination/blob/main/workshops/federated%20analytics/FederatedAnalysis_Project/notebooks/01_eda.ipynb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olab.research.google.com/github/ISARICResearch/Dissemination/blob/main/workshops/federated%20analytics/FederatedAnalysis_Project/notebooks/05_prediction.ipynb" TargetMode="External"/><Relationship Id="rId5" Type="http://schemas.openxmlformats.org/officeDocument/2006/relationships/hyperlink" Target="https://colab.research.google.com/github/ISARICResearch/Dissemination/blob/main/workshops/federated%20analytics/FederatedAnalysis_Project/notebooks/04_survival_analysis.ipynb" TargetMode="External"/><Relationship Id="rId4" Type="http://schemas.openxmlformats.org/officeDocument/2006/relationships/hyperlink" Target="https://colab.research.google.com/github/ISARICResearch/Dissemination/blob/main/workshops/federated%20analytics/FederatedAnalysis_Project/notebooks/03_odds_ratios.ipynb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2104" y="2103120"/>
            <a:ext cx="10515600" cy="2011680"/>
          </a:xfrm>
        </p:spPr>
        <p:txBody>
          <a:bodyPr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000" b="0" dirty="0">
                <a:solidFill>
                  <a:srgbClr val="0673BA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Introducción Contenido Práctico</a:t>
            </a:r>
            <a:endParaRPr lang="es-CO" sz="6000" dirty="0"/>
          </a:p>
        </p:txBody>
      </p:sp>
      <p:sp>
        <p:nvSpPr>
          <p:cNvPr id="3" name="Subtitle 3"/>
          <p:cNvSpPr>
            <a:spLocks noGrp="1"/>
          </p:cNvSpPr>
          <p:nvPr>
            <p:ph type="body" idx="1"/>
          </p:nvPr>
        </p:nvSpPr>
        <p:spPr>
          <a:xfrm>
            <a:off x="832104" y="4297680"/>
            <a:ext cx="10515600" cy="1097280"/>
          </a:xfrm>
        </p:spPr>
        <p:txBody>
          <a:bodyPr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800" b="0" dirty="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Análisis federado para la investigación en salud en Colombia</a:t>
            </a:r>
            <a:endParaRPr lang="es-CO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1188720"/>
            <a:ext cx="11091672" cy="49621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Aft>
                <a:spcPts val="2400"/>
              </a:spcAft>
              <a:buClr>
                <a:srgbClr val="0673BA"/>
              </a:buClr>
              <a:buSzPct val="100000"/>
              <a:buFont typeface="Arial"/>
              <a:buNone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Antes de iniciar la parte práctica de los talleres, revisaremos los aspectos necesarios para realizarla.</a:t>
            </a:r>
          </a:p>
          <a:p>
            <a:pPr marL="0" indent="0" algn="just">
              <a:lnSpc>
                <a:spcPct val="90000"/>
              </a:lnSpc>
              <a:spcAft>
                <a:spcPts val="1000"/>
              </a:spcAft>
              <a:buClr>
                <a:srgbClr val="0673BA"/>
              </a:buClr>
              <a:buSzPct val="100000"/>
              <a:buFont typeface="Arial"/>
              <a:buNone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El contenido de la presentación es el siguiente:</a:t>
            </a:r>
          </a:p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1.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	Generalidades</a:t>
            </a:r>
          </a:p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2.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	Objetivo de los talleres</a:t>
            </a:r>
          </a:p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3.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	Notebooks</a:t>
            </a:r>
          </a:p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4.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	Acceso a los notebooks</a:t>
            </a:r>
          </a:p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5.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	Ejecución de los notebooks</a:t>
            </a:r>
          </a:p>
          <a:p>
            <a:pPr marL="457200" indent="-457200" algn="l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6.</a:t>
            </a: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	Datos de prueba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E17BE-B112-1847-9D03-8FE542D1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A2E0A84-3ECC-8E2B-CADB-ED76A2C5B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1. Generalidades</a:t>
            </a:r>
            <a:endParaRPr lang="es-CO" sz="36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18F625A-6531-8914-C09D-AF77CCA88ADA}"/>
              </a:ext>
            </a:extLst>
          </p:cNvPr>
          <p:cNvSpPr txBox="1"/>
          <p:nvPr/>
        </p:nvSpPr>
        <p:spPr>
          <a:xfrm>
            <a:off x="548640" y="1737360"/>
            <a:ext cx="11091672" cy="4480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rgbClr val="0673BA"/>
              </a:buClr>
              <a:buSzPct val="100000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Aunque los talleres son prácticos, se usarán presentaciones como esta para guiar el contenido de cada uno.</a:t>
            </a:r>
          </a:p>
          <a:p>
            <a:pPr algn="just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673BA"/>
              </a:buClr>
              <a:buSzPct val="100000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Los talleres se enfocan en evaluar datos clínicos de ejemplo mediante análisis estadísticos habituales en estudios observacionales:</a:t>
            </a:r>
          </a:p>
          <a:p>
            <a:pPr marL="342900" indent="-342900" algn="just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673BA"/>
              </a:buClr>
              <a:buSzPct val="100000"/>
              <a:buFont typeface="Arial" panose="020B0604020202020204" pitchFamily="34" charset="0"/>
              <a:buChar char="•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Análisis exploratorio de datos</a:t>
            </a:r>
          </a:p>
          <a:p>
            <a:pPr marL="342900" indent="-342900" algn="just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673BA"/>
              </a:buClr>
              <a:buSzPct val="100000"/>
              <a:buFont typeface="Arial" panose="020B0604020202020204" pitchFamily="34" charset="0"/>
              <a:buChar char="•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Estadística descriptiva</a:t>
            </a:r>
          </a:p>
          <a:p>
            <a:pPr marL="342900" indent="-342900" algn="just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673BA"/>
              </a:buClr>
              <a:buSzPct val="100000"/>
              <a:buFont typeface="Arial" panose="020B0604020202020204" pitchFamily="34" charset="0"/>
              <a:buChar char="•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Medidas de asociación (</a:t>
            </a:r>
            <a:r>
              <a:rPr lang="es-CO" sz="2200" dirty="0" err="1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odds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 ratio)</a:t>
            </a:r>
          </a:p>
          <a:p>
            <a:pPr marL="342900" indent="-342900" algn="just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673BA"/>
              </a:buClr>
              <a:buSzPct val="100000"/>
              <a:buFont typeface="Arial" panose="020B0604020202020204" pitchFamily="34" charset="0"/>
              <a:buChar char="•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Análisis de supervivencia</a:t>
            </a:r>
          </a:p>
          <a:p>
            <a:pPr marL="342900" indent="-342900" algn="just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rgbClr val="0673BA"/>
              </a:buClr>
              <a:buSzPct val="100000"/>
              <a:buFont typeface="Arial" panose="020B0604020202020204" pitchFamily="34" charset="0"/>
              <a:buChar char="•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Modelos de predicción</a:t>
            </a:r>
            <a:endParaRPr lang="es-CO" sz="2200" dirty="0">
              <a:solidFill>
                <a:schemeClr val="tx1"/>
              </a:solidFill>
              <a:latin typeface="Noto Sans"/>
              <a:ea typeface="Noto Sans"/>
              <a:cs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117473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2. Objetivo de los talleres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1005839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2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Con excepción del análisis exploratorio, que presenta y analiza los datos, en cada taller un mismo análisis se realiza con los enfoques centralizado y federado, y se comparan sus resultados para evaluar si coinciden y dónde difieren:</a:t>
            </a:r>
          </a:p>
        </p:txBody>
      </p:sp>
      <p:sp>
        <p:nvSpPr>
          <p:cNvPr id="4" name="Card title 4"/>
          <p:cNvSpPr/>
          <p:nvPr/>
        </p:nvSpPr>
        <p:spPr>
          <a:xfrm>
            <a:off x="548640" y="2788920"/>
            <a:ext cx="5362956" cy="502920"/>
          </a:xfrm>
          <a:prstGeom prst="rect">
            <a:avLst/>
          </a:prstGeom>
          <a:solidFill>
            <a:srgbClr val="0673BA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Centralizado</a:t>
            </a:r>
          </a:p>
        </p:txBody>
      </p:sp>
      <p:sp>
        <p:nvSpPr>
          <p:cNvPr id="5" name="Card text 5"/>
          <p:cNvSpPr/>
          <p:nvPr/>
        </p:nvSpPr>
        <p:spPr>
          <a:xfrm>
            <a:off x="548640" y="3291839"/>
            <a:ext cx="5362956" cy="288036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pPr marL="342900" indent="-34290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CO" sz="2200" b="0" dirty="0">
                <a:solidFill>
                  <a:srgbClr val="0E2841"/>
                </a:solidFill>
                <a:latin typeface="Noto Sans"/>
                <a:ea typeface="Noto Sans"/>
                <a:cs typeface="Noto Sans"/>
                <a:sym typeface="Noto Sans"/>
              </a:rPr>
              <a:t>Los datos de todas las instituciones se reúnen en un solo lugar.</a:t>
            </a:r>
          </a:p>
          <a:p>
            <a:pPr marL="342900" indent="-34290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CO" sz="2200" b="0" dirty="0">
                <a:solidFill>
                  <a:srgbClr val="0E2841"/>
                </a:solidFill>
                <a:latin typeface="Noto Sans"/>
                <a:ea typeface="Noto Sans"/>
                <a:cs typeface="Noto Sans"/>
                <a:sym typeface="Noto Sans"/>
              </a:rPr>
              <a:t>Se analizan juntos, como un único conjunto.</a:t>
            </a:r>
          </a:p>
        </p:txBody>
      </p:sp>
      <p:sp>
        <p:nvSpPr>
          <p:cNvPr id="6" name="Card title 6"/>
          <p:cNvSpPr/>
          <p:nvPr/>
        </p:nvSpPr>
        <p:spPr>
          <a:xfrm>
            <a:off x="6277356" y="2788920"/>
            <a:ext cx="5362956" cy="502920"/>
          </a:xfrm>
          <a:prstGeom prst="rect">
            <a:avLst/>
          </a:prstGeom>
          <a:solidFill>
            <a:srgbClr val="0673BA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Federado</a:t>
            </a:r>
          </a:p>
        </p:txBody>
      </p:sp>
      <p:sp>
        <p:nvSpPr>
          <p:cNvPr id="7" name="Card text 7"/>
          <p:cNvSpPr/>
          <p:nvPr/>
        </p:nvSpPr>
        <p:spPr>
          <a:xfrm>
            <a:off x="6277356" y="3291839"/>
            <a:ext cx="5362956" cy="2880360"/>
          </a:xfrm>
          <a:prstGeom prst="rect">
            <a:avLst/>
          </a:prstGeom>
          <a:solidFill>
            <a:srgbClr val="E6F0FA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pPr marL="342900" indent="-34290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CO" sz="2200" b="0" dirty="0">
                <a:solidFill>
                  <a:srgbClr val="0E2841"/>
                </a:solidFill>
                <a:latin typeface="Noto Sans"/>
                <a:ea typeface="Noto Sans"/>
                <a:cs typeface="Noto Sans"/>
                <a:sym typeface="Noto Sans"/>
              </a:rPr>
              <a:t>Los datos permanecen en cada institución</a:t>
            </a:r>
            <a:r>
              <a:rPr lang="es-CO" sz="2200" dirty="0">
                <a:solidFill>
                  <a:srgbClr val="0E2841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  <a:p>
            <a:pPr marL="342900" indent="-34290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CO" sz="2200" b="0" dirty="0">
                <a:solidFill>
                  <a:srgbClr val="0E2841"/>
                </a:solidFill>
                <a:latin typeface="Noto Sans"/>
                <a:ea typeface="Noto Sans"/>
                <a:cs typeface="Noto Sans"/>
                <a:sym typeface="Noto Sans"/>
              </a:rPr>
              <a:t>Se realizan análisis locales y se comparten solo resultados agregados. </a:t>
            </a:r>
          </a:p>
          <a:p>
            <a:pPr marL="342900" indent="-34290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CO" sz="2200" b="0" dirty="0">
                <a:solidFill>
                  <a:srgbClr val="0E2841"/>
                </a:solidFill>
                <a:latin typeface="Noto Sans"/>
                <a:ea typeface="Noto Sans"/>
                <a:cs typeface="Noto Sans"/>
                <a:sym typeface="Noto Sans"/>
              </a:rPr>
              <a:t>Estos se combinan en un resultado global sin transferir registros de pacientes.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3. Notebooks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7360"/>
            <a:ext cx="11091672" cy="4480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just">
              <a:lnSpc>
                <a:spcPct val="90000"/>
              </a:lnSpc>
              <a:spcAft>
                <a:spcPts val="2400"/>
              </a:spcAft>
              <a:buClr>
                <a:srgbClr val="0673BA"/>
              </a:buClr>
              <a:buSzPct val="100000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Para realizar los talleres se usarán notebooks en formato .ipynb, escritos en lenguaje Python.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  <a:buClr>
                <a:srgbClr val="0673BA"/>
              </a:buClr>
              <a:buSzPct val="100000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Un notebook es un documento interactivo ampliamente usado en ciencia de datos e investigación, que combina en un mismo archivo texto explicativo, código y resultados (tablas y gráficas).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  <a:buClr>
                <a:srgbClr val="0673BA"/>
              </a:buClr>
              <a:buSzPct val="100000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No es necesario tener un conocimiento profundo de Python, análisis de datos o notebooks.</a:t>
            </a:r>
          </a:p>
          <a:p>
            <a:pPr algn="just">
              <a:lnSpc>
                <a:spcPct val="90000"/>
              </a:lnSpc>
              <a:spcAft>
                <a:spcPts val="1000"/>
              </a:spcAft>
              <a:buClr>
                <a:srgbClr val="0673BA"/>
              </a:buClr>
              <a:buSzPct val="100000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Durante los talleres cada paso se explicará de forma general y guiada.</a:t>
            </a:r>
            <a:endParaRPr lang="es-CO" sz="2200" dirty="0">
              <a:solidFill>
                <a:schemeClr val="tx1"/>
              </a:solidFill>
              <a:latin typeface="Noto Sans"/>
              <a:ea typeface="Noto Sans"/>
              <a:cs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3BF3-0094-E663-FBE6-90D620AE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E9CB1AB-827C-F6D3-57F8-DCDD7F636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r>
              <a:rPr lang="es-CO" sz="3600" b="0" dirty="0">
                <a:solidFill>
                  <a:srgbClr val="0E2841"/>
                </a:solidFill>
              </a:rPr>
              <a:t>4. Acceso a los notebooks</a:t>
            </a:r>
            <a:endParaRPr lang="es-CO" sz="36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31F4BCC-05E5-A2C2-F1A7-FC9885B18CAB}"/>
              </a:ext>
            </a:extLst>
          </p:cNvPr>
          <p:cNvSpPr txBox="1"/>
          <p:nvPr/>
        </p:nvSpPr>
        <p:spPr>
          <a:xfrm>
            <a:off x="548640" y="1737360"/>
            <a:ext cx="11091672" cy="4480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just">
              <a:lnSpc>
                <a:spcPct val="90000"/>
              </a:lnSpc>
              <a:spcAft>
                <a:spcPts val="2400"/>
              </a:spcAft>
              <a:buClr>
                <a:srgbClr val="0673BA"/>
              </a:buClr>
              <a:buSzPct val="100000"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Todos los notebooks, las funciones necesarias y los datos a analizar se encuentran compartidos de manera pública en el siguiente repositorio de GitHub:</a:t>
            </a:r>
          </a:p>
          <a:p>
            <a:pPr>
              <a:lnSpc>
                <a:spcPct val="90000"/>
              </a:lnSpc>
              <a:spcAft>
                <a:spcPts val="2400"/>
              </a:spcAft>
              <a:buClr>
                <a:srgbClr val="0673BA"/>
              </a:buClr>
              <a:buSzPct val="100000"/>
            </a:pPr>
            <a:r>
              <a:rPr lang="es-CO" sz="2400" u="sng" dirty="0">
                <a:solidFill>
                  <a:srgbClr val="0673BA"/>
                </a:solidFill>
                <a:latin typeface="Noto Sans"/>
                <a:ea typeface="Noto Sans"/>
                <a:cs typeface="Noto Sans"/>
                <a:sym typeface="Noto Sans"/>
                <a:hlinkClick r:id="rId2"/>
              </a:rPr>
              <a:t>https://github.com/ISARICResearch/Dissemination/tree/main/workshops/federated%20analytics/FederatedAnalysis_Project</a:t>
            </a:r>
            <a:endParaRPr lang="es-CO" sz="2400" u="sng" dirty="0">
              <a:solidFill>
                <a:srgbClr val="0673BA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>
              <a:lnSpc>
                <a:spcPct val="90000"/>
              </a:lnSpc>
              <a:spcAft>
                <a:spcPts val="2400"/>
              </a:spcAft>
              <a:buClr>
                <a:srgbClr val="0673BA"/>
              </a:buClr>
              <a:buSzPct val="100000"/>
            </a:pPr>
            <a:endParaRPr lang="es-CO" sz="2400" dirty="0"/>
          </a:p>
          <a:p>
            <a:pPr algn="just">
              <a:lnSpc>
                <a:spcPct val="90000"/>
              </a:lnSpc>
              <a:spcAft>
                <a:spcPts val="2400"/>
              </a:spcAft>
              <a:buClr>
                <a:srgbClr val="0673BA"/>
              </a:buClr>
              <a:buSzPct val="100000"/>
            </a:pPr>
            <a:endParaRPr lang="es-CO" sz="2200" dirty="0">
              <a:solidFill>
                <a:schemeClr val="tx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4" name="Root 4"/>
          <p:cNvSpPr/>
          <p:nvPr/>
        </p:nvSpPr>
        <p:spPr>
          <a:xfrm>
            <a:off x="3025414" y="3474720"/>
            <a:ext cx="5148072" cy="502920"/>
          </a:xfrm>
          <a:prstGeom prst="roundRect">
            <a:avLst>
              <a:gd name="adj" fmla="val 15000"/>
            </a:avLst>
          </a:prstGeom>
          <a:solidFill>
            <a:srgbClr val="0673BA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FederatedAnalysis_Project</a:t>
            </a:r>
            <a:endParaRPr lang="es-CO" sz="2000" dirty="0"/>
          </a:p>
        </p:txBody>
      </p:sp>
      <p:cxnSp>
        <p:nvCxnSpPr>
          <p:cNvPr id="5" name="Connector 5"/>
          <p:cNvCxnSpPr/>
          <p:nvPr/>
        </p:nvCxnSpPr>
        <p:spPr>
          <a:xfrm>
            <a:off x="3345454" y="4379976"/>
            <a:ext cx="320040" cy="0"/>
          </a:xfrm>
          <a:prstGeom prst="line">
            <a:avLst/>
          </a:prstGeom>
          <a:ln w="19050">
            <a:solidFill>
              <a:srgbClr val="0673BA"/>
            </a:solidFill>
          </a:ln>
        </p:spPr>
      </p:cxnSp>
      <p:sp>
        <p:nvSpPr>
          <p:cNvPr id="6" name="Item 6"/>
          <p:cNvSpPr/>
          <p:nvPr/>
        </p:nvSpPr>
        <p:spPr>
          <a:xfrm>
            <a:off x="3665494" y="4160520"/>
            <a:ext cx="4507992" cy="438912"/>
          </a:xfrm>
          <a:prstGeom prst="roundRect">
            <a:avLst>
              <a:gd name="adj" fmla="val 15000"/>
            </a:avLst>
          </a:prstGeom>
          <a:solidFill>
            <a:srgbClr val="E6F0FA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0E2841"/>
                </a:solidFill>
                <a:latin typeface="Noto Sans"/>
                <a:ea typeface="Noto Sans"/>
                <a:cs typeface="Noto Sans"/>
                <a:sym typeface="Noto Sans"/>
              </a:rPr>
              <a:t>notebooks</a:t>
            </a:r>
            <a:r>
              <a:rPr lang="es-CO" sz="2000" b="0" dirty="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 talleres</a:t>
            </a:r>
            <a:endParaRPr lang="es-CO" sz="2000" dirty="0"/>
          </a:p>
        </p:txBody>
      </p:sp>
      <p:cxnSp>
        <p:nvCxnSpPr>
          <p:cNvPr id="7" name="Connector 7"/>
          <p:cNvCxnSpPr/>
          <p:nvPr/>
        </p:nvCxnSpPr>
        <p:spPr>
          <a:xfrm>
            <a:off x="3345454" y="4864608"/>
            <a:ext cx="320040" cy="0"/>
          </a:xfrm>
          <a:prstGeom prst="line">
            <a:avLst/>
          </a:prstGeom>
          <a:ln w="19050">
            <a:solidFill>
              <a:srgbClr val="0673BA"/>
            </a:solidFill>
          </a:ln>
        </p:spPr>
      </p:cxnSp>
      <p:sp>
        <p:nvSpPr>
          <p:cNvPr id="8" name="Item 8"/>
          <p:cNvSpPr/>
          <p:nvPr/>
        </p:nvSpPr>
        <p:spPr>
          <a:xfrm>
            <a:off x="3665494" y="4645152"/>
            <a:ext cx="4507992" cy="438912"/>
          </a:xfrm>
          <a:prstGeom prst="roundRect">
            <a:avLst>
              <a:gd name="adj" fmla="val 15000"/>
            </a:avLst>
          </a:prstGeom>
          <a:solidFill>
            <a:srgbClr val="E6F0FA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0E2841"/>
                </a:solidFill>
                <a:latin typeface="Noto Sans"/>
                <a:ea typeface="Noto Sans"/>
                <a:cs typeface="Noto Sans"/>
                <a:sym typeface="Noto Sans"/>
              </a:rPr>
              <a:t>analysis_lib</a:t>
            </a:r>
            <a:r>
              <a:rPr lang="es-CO" sz="2000" b="0" dirty="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 funciones</a:t>
            </a:r>
            <a:endParaRPr lang="es-CO" sz="2000" dirty="0"/>
          </a:p>
        </p:txBody>
      </p:sp>
      <p:cxnSp>
        <p:nvCxnSpPr>
          <p:cNvPr id="9" name="Connector 9"/>
          <p:cNvCxnSpPr/>
          <p:nvPr/>
        </p:nvCxnSpPr>
        <p:spPr>
          <a:xfrm>
            <a:off x="3345454" y="5349240"/>
            <a:ext cx="320040" cy="0"/>
          </a:xfrm>
          <a:prstGeom prst="line">
            <a:avLst/>
          </a:prstGeom>
          <a:ln w="19050">
            <a:solidFill>
              <a:srgbClr val="0673BA"/>
            </a:solidFill>
          </a:ln>
        </p:spPr>
      </p:cxnSp>
      <p:sp>
        <p:nvSpPr>
          <p:cNvPr id="10" name="Item 10"/>
          <p:cNvSpPr/>
          <p:nvPr/>
        </p:nvSpPr>
        <p:spPr>
          <a:xfrm>
            <a:off x="3665494" y="5129784"/>
            <a:ext cx="4507992" cy="438912"/>
          </a:xfrm>
          <a:prstGeom prst="roundRect">
            <a:avLst>
              <a:gd name="adj" fmla="val 15000"/>
            </a:avLst>
          </a:prstGeom>
          <a:solidFill>
            <a:srgbClr val="E6F0FA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0E2841"/>
                </a:solidFill>
                <a:latin typeface="Noto Sans"/>
                <a:ea typeface="Noto Sans"/>
                <a:cs typeface="Noto Sans"/>
                <a:sym typeface="Noto Sans"/>
              </a:rPr>
              <a:t>data</a:t>
            </a:r>
            <a:r>
              <a:rPr lang="es-CO" sz="2000" b="0" dirty="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 datos de ejemplo</a:t>
            </a:r>
            <a:endParaRPr lang="es-CO" sz="2000" dirty="0"/>
          </a:p>
        </p:txBody>
      </p:sp>
      <p:cxnSp>
        <p:nvCxnSpPr>
          <p:cNvPr id="11" name="Connector 11"/>
          <p:cNvCxnSpPr/>
          <p:nvPr/>
        </p:nvCxnSpPr>
        <p:spPr>
          <a:xfrm>
            <a:off x="3345454" y="5833872"/>
            <a:ext cx="320040" cy="0"/>
          </a:xfrm>
          <a:prstGeom prst="line">
            <a:avLst/>
          </a:prstGeom>
          <a:ln w="19050">
            <a:solidFill>
              <a:srgbClr val="0673BA"/>
            </a:solidFill>
          </a:ln>
        </p:spPr>
      </p:cxnSp>
      <p:sp>
        <p:nvSpPr>
          <p:cNvPr id="12" name="Item 12"/>
          <p:cNvSpPr/>
          <p:nvPr/>
        </p:nvSpPr>
        <p:spPr>
          <a:xfrm>
            <a:off x="3665494" y="5614416"/>
            <a:ext cx="4507992" cy="438912"/>
          </a:xfrm>
          <a:prstGeom prst="roundRect">
            <a:avLst>
              <a:gd name="adj" fmla="val 15000"/>
            </a:avLst>
          </a:prstGeom>
          <a:solidFill>
            <a:srgbClr val="E6F0FA"/>
          </a:solidFill>
          <a:ln>
            <a:noFill/>
          </a:ln>
        </p:spPr>
        <p:txBody>
          <a:bodyPr wrap="square" lIns="137160" tIns="137160" rIns="137160" bIns="13716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0E2841"/>
                </a:solidFill>
                <a:latin typeface="Noto Sans"/>
                <a:ea typeface="Noto Sans"/>
                <a:cs typeface="Noto Sans"/>
                <a:sym typeface="Noto Sans"/>
              </a:rPr>
              <a:t>README.md</a:t>
            </a:r>
            <a:r>
              <a:rPr lang="es-CO" sz="2000" b="0" dirty="0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  instrucciones</a:t>
            </a:r>
            <a:endParaRPr lang="es-CO" sz="2000" dirty="0"/>
          </a:p>
        </p:txBody>
      </p:sp>
      <p:cxnSp>
        <p:nvCxnSpPr>
          <p:cNvPr id="13" name="Connector 13"/>
          <p:cNvCxnSpPr/>
          <p:nvPr/>
        </p:nvCxnSpPr>
        <p:spPr>
          <a:xfrm>
            <a:off x="3345454" y="3977640"/>
            <a:ext cx="0" cy="1856232"/>
          </a:xfrm>
          <a:prstGeom prst="line">
            <a:avLst/>
          </a:prstGeom>
          <a:ln w="19050">
            <a:solidFill>
              <a:srgbClr val="0673BA"/>
            </a:solidFill>
          </a:ln>
        </p:spPr>
      </p:cxnSp>
    </p:spTree>
    <p:extLst>
      <p:ext uri="{BB962C8B-B14F-4D97-AF65-F5344CB8AC3E}">
        <p14:creationId xmlns:p14="http://schemas.microsoft.com/office/powerpoint/2010/main" val="213321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9B8C2-D162-9205-14C3-807577EFB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8AC40410-1E54-936D-4A36-AAD713ED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4. Acceso a los notebooks</a:t>
            </a:r>
            <a:endParaRPr lang="es-CO" sz="36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6FFF3A8-70C1-5D7A-4F5F-7955A757D5C5}"/>
              </a:ext>
            </a:extLst>
          </p:cNvPr>
          <p:cNvSpPr txBox="1"/>
          <p:nvPr/>
        </p:nvSpPr>
        <p:spPr>
          <a:xfrm>
            <a:off x="548640" y="1737360"/>
            <a:ext cx="11091672" cy="4480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just">
              <a:lnSpc>
                <a:spcPct val="90000"/>
              </a:lnSpc>
              <a:spcAft>
                <a:spcPts val="0"/>
              </a:spcAft>
              <a:buNone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La forma más sencilla de abrir los notebooks es desde la sección “Google Colab (</a:t>
            </a:r>
            <a:r>
              <a:rPr lang="es-CO" sz="2200" dirty="0" err="1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recommended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)” del archivo README.md del repositorio, o directamente con los siguientes enlaces:</a:t>
            </a:r>
          </a:p>
        </p:txBody>
      </p:sp>
      <p:graphicFrame>
        <p:nvGraphicFramePr>
          <p:cNvPr id="20" name="Notebook links"/>
          <p:cNvGraphicFramePr>
            <a:graphicFrameLocks noGrp="1"/>
          </p:cNvGraphicFramePr>
          <p:nvPr/>
        </p:nvGraphicFramePr>
        <p:xfrm>
          <a:off x="548640" y="2926080"/>
          <a:ext cx="11091672" cy="2633472"/>
        </p:xfrm>
        <a:graphic>
          <a:graphicData uri="http://schemas.openxmlformats.org/drawingml/2006/table">
            <a:tbl>
              <a:tblPr firstRow="1" bandRow="1"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Notebook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Análisis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Enlace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01_eda.ipynb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Análisis exploratorio de datos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chemeClr val="hlink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hlinkClick r:id="rId2"/>
                        </a:rPr>
                        <a:t>Abrir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02_descriptive_analysis.ipynb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Estadística descriptiva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chemeClr val="hlink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hlinkClick r:id="rId3"/>
                        </a:rPr>
                        <a:t>Abrir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03_odds_ratios.ipynb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Medidas de asociación (odds ratio)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chemeClr val="hlink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hlinkClick r:id="rId4"/>
                        </a:rPr>
                        <a:t>Abrir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04_survival_analysis.ipynb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Análisis de supervivencia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chemeClr val="hlink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hlinkClick r:id="rId5"/>
                        </a:rPr>
                        <a:t>Abrir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05_prediction.ipynb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Modelos de predicción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2000" dirty="0">
                          <a:solidFill>
                            <a:schemeClr val="hlink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  <a:hlinkClick r:id="rId6"/>
                        </a:rPr>
                        <a:t>Abrir</a:t>
                      </a:r>
                    </a:p>
                  </a:txBody>
                  <a:tcPr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506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8D754-2007-70CB-2918-0003AD00E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5E70F58-7DC5-6E7A-1D3A-2581DE157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5. Ejecución de los notebooks</a:t>
            </a:r>
            <a:endParaRPr lang="es-CO" sz="36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D484F8B-00FE-B244-7D08-76BD84968D43}"/>
              </a:ext>
            </a:extLst>
          </p:cNvPr>
          <p:cNvSpPr txBox="1"/>
          <p:nvPr/>
        </p:nvSpPr>
        <p:spPr>
          <a:xfrm>
            <a:off x="548640" y="1737360"/>
            <a:ext cx="11091672" cy="4480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just">
              <a:lnSpc>
                <a:spcPct val="90000"/>
              </a:lnSpc>
              <a:spcAft>
                <a:spcPts val="2400"/>
              </a:spcAft>
              <a:buNone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Google Colab es un servicio gratuito de Google para abrir y ejecutar notebooks desde el navegador, sin instalar nada en el computador.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  <a:buNone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Para usarlo solo se necesita conexión a internet y una cuenta de Google con la sesión iniciada.</a:t>
            </a:r>
          </a:p>
          <a:p>
            <a:pPr algn="just">
              <a:lnSpc>
                <a:spcPct val="90000"/>
              </a:lnSpc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Las celdas de código se ejecutan en orden, una a una, con el botón ▶ a la izquierda, o todas con el botón “</a:t>
            </a:r>
            <a:r>
              <a:rPr lang="es-CO" sz="2200" b="1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▶ Ejecutar todo</a:t>
            </a: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” en la barra superior: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4647EF8-67D0-C16B-CE6A-6C35AF81D4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82"/>
          <a:stretch>
            <a:fillRect/>
          </a:stretch>
        </p:blipFill>
        <p:spPr>
          <a:xfrm>
            <a:off x="6425966" y="4343400"/>
            <a:ext cx="4932740" cy="18288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981CA3C-DBD7-AF93-8384-3CA4AFDA0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74" t="31047"/>
          <a:stretch>
            <a:fillRect/>
          </a:stretch>
        </p:blipFill>
        <p:spPr>
          <a:xfrm>
            <a:off x="830246" y="4343400"/>
            <a:ext cx="522996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57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7918-6432-119D-7381-A429C309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282E6D5-149D-857A-150F-B09E630CF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5. Ejecución de los notebooks</a:t>
            </a:r>
            <a:endParaRPr lang="es-CO" sz="36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E49CECD-3220-59CF-A2E7-487370ACA6FB}"/>
              </a:ext>
            </a:extLst>
          </p:cNvPr>
          <p:cNvSpPr txBox="1"/>
          <p:nvPr/>
        </p:nvSpPr>
        <p:spPr>
          <a:xfrm>
            <a:off x="548640" y="1737360"/>
            <a:ext cx="11091672" cy="448056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algn="just">
              <a:lnSpc>
                <a:spcPct val="90000"/>
              </a:lnSpc>
              <a:spcAft>
                <a:spcPts val="2400"/>
              </a:spcAft>
              <a:buNone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La primera vez que se ejecuta una celda, Colab muestra una advertencia porque el notebook se abrió desde GitHub y no fue creado por Google.</a:t>
            </a:r>
          </a:p>
          <a:p>
            <a:pPr algn="just">
              <a:lnSpc>
                <a:spcPct val="90000"/>
              </a:lnSpc>
              <a:spcAft>
                <a:spcPts val="2400"/>
              </a:spcAft>
              <a:buNone/>
            </a:pPr>
            <a:endParaRPr lang="es-CO" sz="2200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just">
              <a:lnSpc>
                <a:spcPct val="90000"/>
              </a:lnSpc>
              <a:spcAft>
                <a:spcPts val="2400"/>
              </a:spcAft>
              <a:buNone/>
            </a:pPr>
            <a:endParaRPr lang="es-CO" sz="2200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just">
              <a:lnSpc>
                <a:spcPct val="90000"/>
              </a:lnSpc>
              <a:spcAft>
                <a:spcPts val="2400"/>
              </a:spcAft>
              <a:buNone/>
            </a:pPr>
            <a:endParaRPr lang="es-CO" sz="2200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just">
              <a:lnSpc>
                <a:spcPct val="90000"/>
              </a:lnSpc>
              <a:spcAft>
                <a:spcPts val="2400"/>
              </a:spcAft>
              <a:buNone/>
            </a:pPr>
            <a:endParaRPr lang="es-CO" sz="2200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  <a:buNone/>
            </a:pPr>
            <a:r>
              <a:rPr lang="es-CO" sz="220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Para continuar, se debe hacer clic en “Ejecutar de todos modos”.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3954262-AAFE-B4BE-80BC-4133F1177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439" y="2696904"/>
            <a:ext cx="6217920" cy="215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46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48640" y="987552"/>
            <a:ext cx="11091672" cy="685800"/>
          </a:xfrm>
        </p:spPr>
        <p:txBody>
          <a:bodyPr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3600" b="0" dirty="0">
                <a:solidFill>
                  <a:srgbClr val="0E2841"/>
                </a:solidFill>
                <a:latin typeface="Noto Sans SemiBold"/>
                <a:ea typeface="Noto Sans SemiBold"/>
                <a:cs typeface="Noto Sans SemiBold"/>
                <a:sym typeface="Noto Sans SemiBold"/>
              </a:rPr>
              <a:t>6. Datos de prueba</a:t>
            </a:r>
            <a:endParaRPr lang="es-CO" sz="3600" dirty="0"/>
          </a:p>
        </p:txBody>
      </p:sp>
      <p:sp>
        <p:nvSpPr>
          <p:cNvPr id="3" name="TextBox 3"/>
          <p:cNvSpPr txBox="1"/>
          <p:nvPr/>
        </p:nvSpPr>
        <p:spPr>
          <a:xfrm>
            <a:off x="548640" y="1730782"/>
            <a:ext cx="11091672" cy="1505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Autofit/>
          </a:bodyPr>
          <a:lstStyle/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En todos los notebooks se usa la misma base de datos de prueba, que simula registros de pacientes con dengue atendidos en 5 instituciones de salud. </a:t>
            </a: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CO" sz="2000" dirty="0">
              <a:solidFill>
                <a:schemeClr val="tx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0" indent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0" dirty="0">
                <a:solidFill>
                  <a:schemeClr val="tx1"/>
                </a:solidFill>
                <a:latin typeface="Noto Sans"/>
                <a:ea typeface="Noto Sans"/>
                <a:cs typeface="Noto Sans"/>
                <a:sym typeface="Noto Sans"/>
              </a:rPr>
              <a:t>Sirve como ejemplo clínico de cómo se aplican habitualmente los análisis de los talleres en estudios observacionales basados en registros de pacientes.</a:t>
            </a:r>
          </a:p>
        </p:txBody>
      </p:sp>
      <p:graphicFrame>
        <p:nvGraphicFramePr>
          <p:cNvPr id="4" name="Dataset categori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823796"/>
              </p:ext>
            </p:extLst>
          </p:nvPr>
        </p:nvGraphicFramePr>
        <p:xfrm>
          <a:off x="548640" y="3294012"/>
          <a:ext cx="11091672" cy="2880000"/>
        </p:xfrm>
        <a:graphic>
          <a:graphicData uri="http://schemas.openxmlformats.org/drawingml/2006/table">
            <a:tbl>
              <a:tblPr firstRow="1" bandRow="1"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22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Categoría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Variables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0673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1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Identificación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Identificador del registro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1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Institución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Identificación de la institución de salud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1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Fechas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Consulta, inicio de síntomas, hospitalización y muerte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1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Demográficos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Edad y sexo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1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Síntomas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22 síntomas y signos clínicos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1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Exámenes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Toma de muestra de tejidos y órganos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1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Atención médica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900" b="0" dirty="0">
                          <a:solidFill>
                            <a:srgbClr val="0E2841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Clasificación final, hospitalización y desenlace (vivo o muerto)</a:t>
                      </a:r>
                    </a:p>
                  </a:txBody>
                  <a:tcPr marT="27432" marB="27432" anchor="ctr">
                    <a:lnL w="12700">
                      <a:solidFill>
                        <a:srgbClr val="FFFFFF"/>
                      </a:solidFill>
                    </a:lnL>
                    <a:lnR w="12700">
                      <a:solidFill>
                        <a:srgbClr val="FFFFFF"/>
                      </a:solidFill>
                    </a:lnR>
                    <a:lnT w="12700">
                      <a:solidFill>
                        <a:srgbClr val="FFFFFF"/>
                      </a:solidFill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GHN Regional Programme">
  <a:themeElements>
    <a:clrScheme name="TGHN Them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071BC"/>
      </a:accent1>
      <a:accent2>
        <a:srgbClr val="771213"/>
      </a:accent2>
      <a:accent3>
        <a:srgbClr val="80AF40"/>
      </a:accent3>
      <a:accent4>
        <a:srgbClr val="79CBC6"/>
      </a:accent4>
      <a:accent5>
        <a:srgbClr val="F06EA9"/>
      </a:accent5>
      <a:accent6>
        <a:srgbClr val="CBDFF3"/>
      </a:accent6>
      <a:hlink>
        <a:srgbClr val="E97132"/>
      </a:hlink>
      <a:folHlink>
        <a:srgbClr val="E9713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706</Words>
  <Application>Microsoft Office PowerPoint</Application>
  <PresentationFormat>Panorámica</PresentationFormat>
  <Paragraphs>91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Calibri</vt:lpstr>
      <vt:lpstr>Calibri Light</vt:lpstr>
      <vt:lpstr>Noto Sans SemiBold</vt:lpstr>
      <vt:lpstr>Arial</vt:lpstr>
      <vt:lpstr>Noto Sans</vt:lpstr>
      <vt:lpstr>TGHN Regional Programme</vt:lpstr>
      <vt:lpstr>Diseño personalizado</vt:lpstr>
      <vt:lpstr>Introducción Contenido Práctico</vt:lpstr>
      <vt:lpstr>Presentación de PowerPoint</vt:lpstr>
      <vt:lpstr>1. Generalidades</vt:lpstr>
      <vt:lpstr>2. Objetivo de los talleres</vt:lpstr>
      <vt:lpstr>3. Notebooks</vt:lpstr>
      <vt:lpstr>4. Acceso a los notebooks</vt:lpstr>
      <vt:lpstr>5. Acceso a los notebooks</vt:lpstr>
      <vt:lpstr>6. Ejecución de los notebooks</vt:lpstr>
      <vt:lpstr>6. Ejecución de los notebooks</vt:lpstr>
      <vt:lpstr>7. Datos de prueba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carlos sarmiento</cp:lastModifiedBy>
  <cp:revision>24</cp:revision>
  <dcterms:modified xsi:type="dcterms:W3CDTF">2026-10-01T23:41:54Z</dcterms:modified>
</cp:coreProperties>
</file>