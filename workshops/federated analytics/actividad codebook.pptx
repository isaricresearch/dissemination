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Noto Sans"/>
      <p:regular r:id="rId13"/>
      <p:bold r:id="rId14"/>
      <p:italic r:id="rId15"/>
      <p:boldItalic r:id="rId16"/>
    </p:embeddedFont>
    <p:embeddedFont>
      <p:font typeface="Noto Sans SemiBold"/>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gkhqdBdAZfemdQAmzm85GDSCo0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SemiBold-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font" Target="fonts/NotoSans-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otoSans-italic.fntdata"/><Relationship Id="rId14" Type="http://schemas.openxmlformats.org/officeDocument/2006/relationships/font" Target="fonts/NotoSans-bold.fntdata"/><Relationship Id="rId17" Type="http://schemas.openxmlformats.org/officeDocument/2006/relationships/font" Target="fonts/NotoSansSemiBold-regular.fntdata"/><Relationship Id="rId16" Type="http://schemas.openxmlformats.org/officeDocument/2006/relationships/font" Target="fonts/NotoSans-boldItalic.fntdata"/><Relationship Id="rId5" Type="http://schemas.openxmlformats.org/officeDocument/2006/relationships/slide" Target="slides/slide1.xml"/><Relationship Id="rId19" Type="http://schemas.openxmlformats.org/officeDocument/2006/relationships/font" Target="fonts/NotoSansSemiBold-italic.fntdata"/><Relationship Id="rId6" Type="http://schemas.openxmlformats.org/officeDocument/2006/relationships/slide" Target="slides/slide2.xml"/><Relationship Id="rId18" Type="http://schemas.openxmlformats.org/officeDocument/2006/relationships/font" Target="fonts/NotoSansSemiBold-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t/>
            </a:r>
            <a:endParaRPr/>
          </a:p>
        </p:txBody>
      </p:sp>
      <p:sp>
        <p:nvSpPr>
          <p:cNvPr id="63" name="Google Shape;63;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38ecc53606784124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h38ecc53606784124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Slide">
  <p:cSld name="Main Title Slide">
    <p:spTree>
      <p:nvGrpSpPr>
        <p:cNvPr id="12" name="Shape 12"/>
        <p:cNvGrpSpPr/>
        <p:nvPr/>
      </p:nvGrpSpPr>
      <p:grpSpPr>
        <a:xfrm>
          <a:off x="0" y="0"/>
          <a:ext cx="0" cy="0"/>
          <a:chOff x="0" y="0"/>
          <a:chExt cx="0" cy="0"/>
        </a:xfrm>
      </p:grpSpPr>
      <p:sp>
        <p:nvSpPr>
          <p:cNvPr id="13" name="Google Shape;13;p9"/>
          <p:cNvSpPr/>
          <p:nvPr/>
        </p:nvSpPr>
        <p:spPr>
          <a:xfrm>
            <a:off x="9832" y="1884834"/>
            <a:ext cx="12192000" cy="4973166"/>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pic>
        <p:nvPicPr>
          <p:cNvPr id="14" name="Google Shape;14;p9"/>
          <p:cNvPicPr preferRelativeResize="0"/>
          <p:nvPr/>
        </p:nvPicPr>
        <p:blipFill rotWithShape="1">
          <a:blip r:embed="rId2">
            <a:alphaModFix amt="10000"/>
          </a:blip>
          <a:srcRect b="45730" l="0" r="4297" t="10864"/>
          <a:stretch/>
        </p:blipFill>
        <p:spPr>
          <a:xfrm>
            <a:off x="-9832" y="1876813"/>
            <a:ext cx="12192000" cy="4989208"/>
          </a:xfrm>
          <a:prstGeom prst="rect">
            <a:avLst/>
          </a:prstGeom>
          <a:noFill/>
          <a:ln>
            <a:noFill/>
          </a:ln>
        </p:spPr>
      </p:pic>
      <p:sp>
        <p:nvSpPr>
          <p:cNvPr id="15" name="Google Shape;15;p9"/>
          <p:cNvSpPr txBox="1"/>
          <p:nvPr>
            <p:ph type="ctrTitle"/>
          </p:nvPr>
        </p:nvSpPr>
        <p:spPr>
          <a:xfrm>
            <a:off x="206188" y="2494210"/>
            <a:ext cx="9429425" cy="19440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Noto Sans SemiBold"/>
              <a:buNone/>
              <a:defRPr b="1" i="0" sz="6000">
                <a:solidFill>
                  <a:schemeClr val="lt1"/>
                </a:solidFill>
                <a:latin typeface="Noto Sans SemiBold"/>
                <a:ea typeface="Noto Sans SemiBold"/>
                <a:cs typeface="Noto Sans SemiBold"/>
                <a:sym typeface="Noto Sans Semi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9"/>
          <p:cNvSpPr txBox="1"/>
          <p:nvPr>
            <p:ph idx="1" type="subTitle"/>
          </p:nvPr>
        </p:nvSpPr>
        <p:spPr>
          <a:xfrm>
            <a:off x="206188" y="4676105"/>
            <a:ext cx="9429425" cy="145835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400"/>
              <a:buNone/>
              <a:defRPr b="0" i="0" sz="2400">
                <a:solidFill>
                  <a:schemeClr val="lt1"/>
                </a:solidFill>
                <a:latin typeface="Noto Sans"/>
                <a:ea typeface="Noto Sans"/>
                <a:cs typeface="Noto Sans"/>
                <a:sym typeface="Noto Sa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7" name="Google Shape;17;p9"/>
          <p:cNvPicPr preferRelativeResize="0"/>
          <p:nvPr/>
        </p:nvPicPr>
        <p:blipFill rotWithShape="1">
          <a:blip r:embed="rId3">
            <a:alphaModFix/>
          </a:blip>
          <a:srcRect b="0" l="0" r="0" t="0"/>
          <a:stretch/>
        </p:blipFill>
        <p:spPr>
          <a:xfrm>
            <a:off x="2846685" y="161363"/>
            <a:ext cx="6498629" cy="73597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Four column list acknowledgement">
  <p:cSld name="1_Four column list acknowledgement">
    <p:spTree>
      <p:nvGrpSpPr>
        <p:cNvPr id="18" name="Shape 18"/>
        <p:cNvGrpSpPr/>
        <p:nvPr/>
      </p:nvGrpSpPr>
      <p:grpSpPr>
        <a:xfrm>
          <a:off x="0" y="0"/>
          <a:ext cx="0" cy="0"/>
          <a:chOff x="0" y="0"/>
          <a:chExt cx="0" cy="0"/>
        </a:xfrm>
      </p:grpSpPr>
      <p:pic>
        <p:nvPicPr>
          <p:cNvPr id="19" name="Google Shape;19;p10"/>
          <p:cNvPicPr preferRelativeResize="0"/>
          <p:nvPr/>
        </p:nvPicPr>
        <p:blipFill rotWithShape="1">
          <a:blip r:embed="rId2">
            <a:alphaModFix amt="10000"/>
          </a:blip>
          <a:srcRect b="31073" l="0" r="21635" t="14912"/>
          <a:stretch/>
        </p:blipFill>
        <p:spPr>
          <a:xfrm>
            <a:off x="1980961" y="0"/>
            <a:ext cx="10220871" cy="6356351"/>
          </a:xfrm>
          <a:prstGeom prst="rect">
            <a:avLst/>
          </a:prstGeom>
          <a:noFill/>
          <a:ln>
            <a:noFill/>
          </a:ln>
        </p:spPr>
      </p:pic>
      <p:sp>
        <p:nvSpPr>
          <p:cNvPr id="20" name="Google Shape;20;p10"/>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a:solidFill>
                <a:schemeClr val="lt1"/>
              </a:solidFill>
              <a:latin typeface="Arial"/>
              <a:ea typeface="Arial"/>
              <a:cs typeface="Arial"/>
              <a:sym typeface="Arial"/>
            </a:endParaRPr>
          </a:p>
        </p:txBody>
      </p:sp>
      <p:sp>
        <p:nvSpPr>
          <p:cNvPr id="21" name="Google Shape;21;p10"/>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1pPr>
            <a:lvl2pPr indent="0" lvl="1"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2pPr>
            <a:lvl3pPr indent="0" lvl="2"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3pPr>
            <a:lvl4pPr indent="0" lvl="3"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4pPr>
            <a:lvl5pPr indent="0" lvl="4"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5pPr>
            <a:lvl6pPr indent="0" lvl="5"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6pPr>
            <a:lvl7pPr indent="0" lvl="6"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7pPr>
            <a:lvl8pPr indent="0" lvl="7"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8pPr>
            <a:lvl9pPr indent="0" lvl="8" marL="0" marR="0" rtl="0" algn="r">
              <a:spcBef>
                <a:spcPts val="0"/>
              </a:spcBef>
              <a:spcAft>
                <a:spcPts val="0"/>
              </a:spcAft>
              <a:buClr>
                <a:schemeClr val="lt1"/>
              </a:buClr>
              <a:buSzPts val="1200"/>
              <a:buFont typeface="Arial"/>
              <a:buNone/>
              <a:defRPr b="0" i="0" sz="1200" u="none" cap="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O"/>
              <a:t>‹#›</a:t>
            </a:fld>
            <a:endParaRPr/>
          </a:p>
        </p:txBody>
      </p:sp>
      <p:sp>
        <p:nvSpPr>
          <p:cNvPr id="22" name="Google Shape;22;p10"/>
          <p:cNvSpPr/>
          <p:nvPr/>
        </p:nvSpPr>
        <p:spPr>
          <a:xfrm>
            <a:off x="206188" y="6389431"/>
            <a:ext cx="52504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Arial"/>
              <a:buNone/>
            </a:pPr>
            <a:r>
              <a:rPr b="0" i="0" lang="es-CO" sz="1800" u="none" cap="none">
                <a:solidFill>
                  <a:schemeClr val="lt1"/>
                </a:solidFill>
                <a:latin typeface="Arial"/>
                <a:ea typeface="Arial"/>
                <a:cs typeface="Arial"/>
                <a:sym typeface="Arial"/>
              </a:rPr>
              <a:t>www.theglobalhealthnetwork.org</a:t>
            </a:r>
            <a:endParaRPr sz="1800">
              <a:solidFill>
                <a:schemeClr val="lt1"/>
              </a:solidFill>
              <a:latin typeface="Arial"/>
              <a:ea typeface="Arial"/>
              <a:cs typeface="Arial"/>
              <a:sym typeface="Arial"/>
            </a:endParaRPr>
          </a:p>
        </p:txBody>
      </p:sp>
      <p:sp>
        <p:nvSpPr>
          <p:cNvPr id="23" name="Google Shape;23;p10"/>
          <p:cNvSpPr txBox="1"/>
          <p:nvPr>
            <p:ph type="title"/>
          </p:nvPr>
        </p:nvSpPr>
        <p:spPr>
          <a:xfrm>
            <a:off x="206188" y="365125"/>
            <a:ext cx="11779624"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Noto Sans SemiBol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0"/>
          <p:cNvSpPr txBox="1"/>
          <p:nvPr>
            <p:ph idx="1" type="body"/>
          </p:nvPr>
        </p:nvSpPr>
        <p:spPr>
          <a:xfrm>
            <a:off x="206188" y="1885443"/>
            <a:ext cx="11779623" cy="405411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0"/>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26" name="Google Shape;26;p10"/>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27" name="Google Shape;27;p10"/>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pic>
        <p:nvPicPr>
          <p:cNvPr id="28" name="Google Shape;28;p10"/>
          <p:cNvPicPr preferRelativeResize="0"/>
          <p:nvPr/>
        </p:nvPicPr>
        <p:blipFill rotWithShape="1">
          <a:blip r:embed="rId3">
            <a:alphaModFix/>
          </a:blip>
          <a:srcRect b="0" l="0" r="0" t="0"/>
          <a:stretch/>
        </p:blipFill>
        <p:spPr>
          <a:xfrm>
            <a:off x="2846685" y="161363"/>
            <a:ext cx="6498629" cy="7359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ain Title Slide">
  <p:cSld name="4_Main Title Slide">
    <p:spTree>
      <p:nvGrpSpPr>
        <p:cNvPr id="29" name="Shape 29"/>
        <p:cNvGrpSpPr/>
        <p:nvPr/>
      </p:nvGrpSpPr>
      <p:grpSpPr>
        <a:xfrm>
          <a:off x="0" y="0"/>
          <a:ext cx="0" cy="0"/>
          <a:chOff x="0" y="0"/>
          <a:chExt cx="0" cy="0"/>
        </a:xfrm>
      </p:grpSpPr>
      <p:pic>
        <p:nvPicPr>
          <p:cNvPr id="30" name="Google Shape;30;p11"/>
          <p:cNvPicPr preferRelativeResize="0"/>
          <p:nvPr/>
        </p:nvPicPr>
        <p:blipFill rotWithShape="1">
          <a:blip r:embed="rId2">
            <a:alphaModFix/>
          </a:blip>
          <a:srcRect b="0" l="0" r="0" t="0"/>
          <a:stretch/>
        </p:blipFill>
        <p:spPr>
          <a:xfrm>
            <a:off x="0" y="0"/>
            <a:ext cx="12192000"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2"/>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33" name="Google Shape;33;p12"/>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34" name="Google Shape;34;p12"/>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sp>
        <p:nvSpPr>
          <p:cNvPr id="35" name="Google Shape;35;p12"/>
          <p:cNvSpPr txBox="1"/>
          <p:nvPr>
            <p:ph type="title"/>
          </p:nvPr>
        </p:nvSpPr>
        <p:spPr>
          <a:xfrm>
            <a:off x="127000" y="365125"/>
            <a:ext cx="11937998"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Noto Sans SemiBol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6" name="Shape 36"/>
        <p:cNvGrpSpPr/>
        <p:nvPr/>
      </p:nvGrpSpPr>
      <p:grpSpPr>
        <a:xfrm>
          <a:off x="0" y="0"/>
          <a:ext cx="0" cy="0"/>
          <a:chOff x="0" y="0"/>
          <a:chExt cx="0" cy="0"/>
        </a:xfrm>
      </p:grpSpPr>
      <p:sp>
        <p:nvSpPr>
          <p:cNvPr id="37" name="Google Shape;37;p13"/>
          <p:cNvSpPr txBox="1"/>
          <p:nvPr>
            <p:ph type="title"/>
          </p:nvPr>
        </p:nvSpPr>
        <p:spPr>
          <a:xfrm>
            <a:off x="127000" y="457200"/>
            <a:ext cx="4645025"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Noto Sans SemiBold"/>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3"/>
          <p:cNvSpPr/>
          <p:nvPr>
            <p:ph idx="2" type="pic"/>
          </p:nvPr>
        </p:nvSpPr>
        <p:spPr>
          <a:xfrm>
            <a:off x="5183188" y="987425"/>
            <a:ext cx="6259304" cy="4873625"/>
          </a:xfrm>
          <a:prstGeom prst="rect">
            <a:avLst/>
          </a:prstGeom>
          <a:noFill/>
          <a:ln>
            <a:noFill/>
          </a:ln>
        </p:spPr>
      </p:sp>
      <p:sp>
        <p:nvSpPr>
          <p:cNvPr id="39" name="Google Shape;39;p13"/>
          <p:cNvSpPr txBox="1"/>
          <p:nvPr>
            <p:ph idx="1" type="body"/>
          </p:nvPr>
        </p:nvSpPr>
        <p:spPr>
          <a:xfrm>
            <a:off x="749508" y="2057400"/>
            <a:ext cx="402251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 name="Google Shape;40;p13"/>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41" name="Google Shape;41;p13"/>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42" name="Google Shape;42;p13"/>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3" name="Shape 43"/>
        <p:cNvGrpSpPr/>
        <p:nvPr/>
      </p:nvGrpSpPr>
      <p:grpSpPr>
        <a:xfrm>
          <a:off x="0" y="0"/>
          <a:ext cx="0" cy="0"/>
          <a:chOff x="0" y="0"/>
          <a:chExt cx="0" cy="0"/>
        </a:xfrm>
      </p:grpSpPr>
      <p:sp>
        <p:nvSpPr>
          <p:cNvPr id="44" name="Google Shape;44;p14"/>
          <p:cNvSpPr txBox="1"/>
          <p:nvPr>
            <p:ph type="title"/>
          </p:nvPr>
        </p:nvSpPr>
        <p:spPr>
          <a:xfrm>
            <a:off x="838200" y="365125"/>
            <a:ext cx="11226800" cy="13874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4"/>
          <p:cNvSpPr txBox="1"/>
          <p:nvPr>
            <p:ph idx="1" type="body"/>
          </p:nvPr>
        </p:nvSpPr>
        <p:spPr>
          <a:xfrm rot="5400000">
            <a:off x="4698805" y="-1189232"/>
            <a:ext cx="4691063" cy="1004132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4"/>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47" name="Google Shape;47;p14"/>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48" name="Google Shape;48;p14"/>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15"/>
          <p:cNvSpPr txBox="1"/>
          <p:nvPr>
            <p:ph type="title"/>
          </p:nvPr>
        </p:nvSpPr>
        <p:spPr>
          <a:xfrm rot="5400000">
            <a:off x="7489031" y="1600994"/>
            <a:ext cx="5811838" cy="3340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5"/>
          <p:cNvSpPr txBox="1"/>
          <p:nvPr>
            <p:ph idx="1" type="body"/>
          </p:nvPr>
        </p:nvSpPr>
        <p:spPr>
          <a:xfrm rot="5400000">
            <a:off x="1443831" y="-951706"/>
            <a:ext cx="5811838" cy="84455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5"/>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53" name="Google Shape;53;p15"/>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54" name="Google Shape;54;p15"/>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55" name="Shape 55"/>
        <p:cNvGrpSpPr/>
        <p:nvPr/>
      </p:nvGrpSpPr>
      <p:grpSpPr>
        <a:xfrm>
          <a:off x="0" y="0"/>
          <a:ext cx="0" cy="0"/>
          <a:chOff x="0" y="0"/>
          <a:chExt cx="0" cy="0"/>
        </a:xfrm>
      </p:grpSpPr>
      <p:sp>
        <p:nvSpPr>
          <p:cNvPr id="56" name="Google Shape;56;p16"/>
          <p:cNvSpPr/>
          <p:nvPr/>
        </p:nvSpPr>
        <p:spPr>
          <a:xfrm>
            <a:off x="0" y="6356350"/>
            <a:ext cx="12201832" cy="501650"/>
          </a:xfrm>
          <a:prstGeom prst="rect">
            <a:avLst/>
          </a:prstGeom>
          <a:solidFill>
            <a:srgbClr val="0673BA"/>
          </a:solidFill>
          <a:ln cap="flat" cmpd="sng" w="19050">
            <a:solidFill>
              <a:srgbClr val="0673B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sp>
        <p:nvSpPr>
          <p:cNvPr id="57" name="Google Shape;57;p16"/>
          <p:cNvSpPr/>
          <p:nvPr/>
        </p:nvSpPr>
        <p:spPr>
          <a:xfrm>
            <a:off x="127000" y="6458693"/>
            <a:ext cx="39116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Arial"/>
              <a:buNone/>
            </a:pPr>
            <a:r>
              <a:rPr lang="es-CO" sz="1400">
                <a:solidFill>
                  <a:schemeClr val="lt1"/>
                </a:solidFill>
                <a:latin typeface="Arial"/>
                <a:ea typeface="Arial"/>
                <a:cs typeface="Arial"/>
                <a:sym typeface="Arial"/>
              </a:rPr>
              <a:t>lac.tghn.org</a:t>
            </a:r>
            <a:endParaRPr b="0" i="0" sz="1400">
              <a:solidFill>
                <a:schemeClr val="lt1"/>
              </a:solidFill>
              <a:latin typeface="Arial"/>
              <a:ea typeface="Arial"/>
              <a:cs typeface="Arial"/>
              <a:sym typeface="Arial"/>
            </a:endParaRPr>
          </a:p>
        </p:txBody>
      </p:sp>
      <p:sp>
        <p:nvSpPr>
          <p:cNvPr id="58" name="Google Shape;58;p16"/>
          <p:cNvSpPr/>
          <p:nvPr/>
        </p:nvSpPr>
        <p:spPr>
          <a:xfrm>
            <a:off x="8816787" y="4382770"/>
            <a:ext cx="3375213"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1200"/>
              <a:buFont typeface="Arial"/>
              <a:buNone/>
            </a:pPr>
            <a:fld id="{00000000-1234-1234-1234-123412341234}" type="slidenum">
              <a:rPr lang="es-CO"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59" name="Google Shape;59;p16"/>
          <p:cNvSpPr/>
          <p:nvPr/>
        </p:nvSpPr>
        <p:spPr>
          <a:xfrm>
            <a:off x="9080500" y="6458693"/>
            <a:ext cx="2984500" cy="30777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lt1"/>
              </a:buClr>
              <a:buSzPts val="1400"/>
              <a:buFont typeface="Arial"/>
              <a:buNone/>
            </a:pPr>
            <a:fld id="{00000000-1234-1234-1234-123412341234}" type="slidenum">
              <a:rPr lang="es-CO" sz="1400">
                <a:solidFill>
                  <a:schemeClr val="lt1"/>
                </a:solidFill>
                <a:latin typeface="Arial"/>
                <a:ea typeface="Arial"/>
                <a:cs typeface="Arial"/>
                <a:sym typeface="Arial"/>
              </a:rPr>
              <a:t>‹#›</a:t>
            </a:fld>
            <a:endParaRPr b="0" i="0" sz="14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idx="1" type="body"/>
          </p:nvPr>
        </p:nvSpPr>
        <p:spPr>
          <a:xfrm>
            <a:off x="127000" y="1485900"/>
            <a:ext cx="11226800" cy="4691063"/>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Noto Sans"/>
                <a:ea typeface="Noto Sans"/>
                <a:cs typeface="Noto Sans"/>
                <a:sym typeface="Noto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Noto Sans"/>
                <a:ea typeface="Noto Sans"/>
                <a:cs typeface="Noto Sans"/>
                <a:sym typeface="Noto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Noto Sans"/>
                <a:ea typeface="Noto Sans"/>
                <a:cs typeface="Noto Sans"/>
                <a:sym typeface="Noto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Noto Sans"/>
                <a:ea typeface="Noto Sans"/>
                <a:cs typeface="Noto Sans"/>
                <a:sym typeface="Noto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Noto Sans"/>
                <a:ea typeface="Noto Sans"/>
                <a:cs typeface="Noto Sans"/>
                <a:sym typeface="No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 name="Google Shape;11;p8"/>
          <p:cNvSpPr txBox="1"/>
          <p:nvPr>
            <p:ph type="title"/>
          </p:nvPr>
        </p:nvSpPr>
        <p:spPr>
          <a:xfrm>
            <a:off x="127000" y="217365"/>
            <a:ext cx="11226800" cy="112767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Noto Sans SemiBold"/>
              <a:buNone/>
              <a:defRPr b="1" i="0" sz="4000" u="none" cap="none" strike="noStrike">
                <a:solidFill>
                  <a:schemeClr val="dk1"/>
                </a:solidFill>
                <a:latin typeface="Noto Sans SemiBold"/>
                <a:ea typeface="Noto Sans SemiBold"/>
                <a:cs typeface="Noto Sans SemiBold"/>
                <a:sym typeface="Noto Sans SemiBol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colab.research.google.com/drive/1Q3oRt1FB41TuPB05zgH-VdLNzcJ-nRXC?usp=sharin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ohdsi.org/data-standardization/" TargetMode="External"/><Relationship Id="rId4" Type="http://schemas.openxmlformats.org/officeDocument/2006/relationships/hyperlink" Target="https://pcornet.or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zenodo.org/records/21702267" TargetMode="External"/><Relationship Id="rId4" Type="http://schemas.openxmlformats.org/officeDocument/2006/relationships/hyperlink" Target="https://opaldoc.obiba.org/en/dev/data-harmonization.html" TargetMode="External"/><Relationship Id="rId9" Type="http://schemas.openxmlformats.org/officeDocument/2006/relationships/hyperlink" Target="https://pmc.ncbi.nlm.nih.gov/articles/PMC11571052/" TargetMode="External"/><Relationship Id="rId5" Type="http://schemas.openxmlformats.org/officeDocument/2006/relationships/hyperlink" Target="https://opaldoc.obiba.org/en/dev/python-user-guide/datasources/data-dictionary.html" TargetMode="External"/><Relationship Id="rId6" Type="http://schemas.openxmlformats.org/officeDocument/2006/relationships/hyperlink" Target="https://academic.oup.com/ije/article/46/5/1372/4102813" TargetMode="External"/><Relationship Id="rId7" Type="http://schemas.openxmlformats.org/officeDocument/2006/relationships/hyperlink" Target="https://docs.opensafely.org/federation/" TargetMode="External"/><Relationship Id="rId8" Type="http://schemas.openxmlformats.org/officeDocument/2006/relationships/hyperlink" Target="https://pmc.ncbi.nlm.nih.gov/articles/PMC851476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
          <p:cNvSpPr/>
          <p:nvPr/>
        </p:nvSpPr>
        <p:spPr>
          <a:xfrm>
            <a:off x="714375" y="2743200"/>
            <a:ext cx="10763250"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4275"/>
              <a:buFont typeface="Noto Sans"/>
              <a:buNone/>
            </a:pPr>
            <a:r>
              <a:rPr b="1" lang="es-CO" sz="4275">
                <a:solidFill>
                  <a:srgbClr val="FFFFFF"/>
                </a:solidFill>
                <a:latin typeface="Noto Sans"/>
                <a:ea typeface="Noto Sans"/>
                <a:cs typeface="Noto Sans"/>
                <a:sym typeface="Noto Sans"/>
              </a:rPr>
              <a:t>Actividad de Conversión de la ficha epidemiológica de dengue a un diccionario común </a:t>
            </a:r>
            <a:endParaRPr b="1" sz="4275">
              <a:solidFill>
                <a:srgbClr val="FFFFFF"/>
              </a:solidFill>
              <a:latin typeface="Noto Sans"/>
              <a:ea typeface="Noto Sans"/>
              <a:cs typeface="Noto Sans"/>
              <a:sym typeface="Noto Sans"/>
            </a:endParaRPr>
          </a:p>
        </p:txBody>
      </p:sp>
      <p:sp>
        <p:nvSpPr>
          <p:cNvPr id="66" name="Google Shape;66;p1"/>
          <p:cNvSpPr/>
          <p:nvPr/>
        </p:nvSpPr>
        <p:spPr>
          <a:xfrm>
            <a:off x="742950" y="4781550"/>
            <a:ext cx="10620375"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025"/>
              <a:buFont typeface="Noto Sans"/>
              <a:buNone/>
            </a:pPr>
            <a:r>
              <a:rPr b="0" lang="es-CO" sz="2025">
                <a:solidFill>
                  <a:srgbClr val="FFFFFF"/>
                </a:solidFill>
                <a:latin typeface="Noto Sans"/>
                <a:ea typeface="Noto Sans"/>
                <a:cs typeface="Noto Sans"/>
                <a:sym typeface="Noto Sans"/>
              </a:rPr>
              <a:t>Lyda Osorio MD PhD</a:t>
            </a:r>
            <a:endParaRPr/>
          </a:p>
          <a:p>
            <a:pPr indent="0" lvl="0" marL="0" marR="0" rtl="0" algn="l">
              <a:spcBef>
                <a:spcPts val="0"/>
              </a:spcBef>
              <a:spcAft>
                <a:spcPts val="0"/>
              </a:spcAft>
              <a:buClr>
                <a:srgbClr val="FFFFFF"/>
              </a:buClr>
              <a:buSzPts val="2025"/>
              <a:buFont typeface="Noto Sans"/>
              <a:buNone/>
            </a:pPr>
            <a:r>
              <a:rPr b="0" lang="es-CO" sz="2025">
                <a:solidFill>
                  <a:srgbClr val="FFFFFF"/>
                </a:solidFill>
                <a:latin typeface="Noto Sans"/>
                <a:ea typeface="Noto Sans"/>
                <a:cs typeface="Noto Sans"/>
                <a:sym typeface="Noto Sans"/>
              </a:rPr>
              <a:t>Lyda.Osorio@correounivalle.edu.co</a:t>
            </a:r>
            <a:endParaRPr b="0" sz="2025">
              <a:solidFill>
                <a:srgbClr val="FFFFFF"/>
              </a:solidFill>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txBox="1"/>
          <p:nvPr>
            <p:ph type="title"/>
          </p:nvPr>
        </p:nvSpPr>
        <p:spPr>
          <a:xfrm>
            <a:off x="206187" y="696595"/>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a:latin typeface="Arial"/>
                <a:ea typeface="Arial"/>
                <a:cs typeface="Arial"/>
                <a:sym typeface="Arial"/>
              </a:rPr>
              <a:t>Objetivos de aprendizaje</a:t>
            </a:r>
            <a:endParaRPr/>
          </a:p>
        </p:txBody>
      </p:sp>
      <p:sp>
        <p:nvSpPr>
          <p:cNvPr id="72" name="Google Shape;72;p2"/>
          <p:cNvSpPr txBox="1"/>
          <p:nvPr>
            <p:ph idx="1" type="body"/>
          </p:nvPr>
        </p:nvSpPr>
        <p:spPr>
          <a:xfrm>
            <a:off x="206188" y="1885443"/>
            <a:ext cx="11779623" cy="4054111"/>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1000"/>
              </a:spcBef>
              <a:spcAft>
                <a:spcPts val="0"/>
              </a:spcAft>
              <a:buSzPts val="1600"/>
              <a:buNone/>
            </a:pPr>
            <a:r>
              <a:rPr lang="es-CO" sz="3200">
                <a:latin typeface="Arial"/>
                <a:ea typeface="Arial"/>
                <a:cs typeface="Arial"/>
                <a:sym typeface="Arial"/>
              </a:rPr>
              <a:t>Al final de la sesión l@s participantes deben de estar en capacidad de:</a:t>
            </a:r>
            <a:endParaRPr/>
          </a:p>
          <a:p>
            <a:pPr indent="-514350" lvl="0" marL="742950" rtl="0" algn="l">
              <a:lnSpc>
                <a:spcPct val="90000"/>
              </a:lnSpc>
              <a:spcBef>
                <a:spcPts val="1000"/>
              </a:spcBef>
              <a:spcAft>
                <a:spcPts val="0"/>
              </a:spcAft>
              <a:buSzPts val="1600"/>
              <a:buFont typeface="Arial"/>
              <a:buAutoNum type="arabicPeriod"/>
            </a:pPr>
            <a:r>
              <a:rPr lang="es-CO" sz="3200">
                <a:latin typeface="Arial"/>
                <a:ea typeface="Arial"/>
                <a:cs typeface="Arial"/>
                <a:sym typeface="Arial"/>
              </a:rPr>
              <a:t>Identificar el contenido del diccionario de datos federado</a:t>
            </a:r>
            <a:endParaRPr/>
          </a:p>
          <a:p>
            <a:pPr indent="-514350" lvl="0" marL="742950" rtl="0" algn="l">
              <a:lnSpc>
                <a:spcPct val="90000"/>
              </a:lnSpc>
              <a:spcBef>
                <a:spcPts val="1000"/>
              </a:spcBef>
              <a:spcAft>
                <a:spcPts val="0"/>
              </a:spcAft>
              <a:buSzPts val="1600"/>
              <a:buFont typeface="Arial"/>
              <a:buAutoNum type="arabicPeriod"/>
            </a:pPr>
            <a:r>
              <a:rPr lang="es-CO" sz="3200">
                <a:latin typeface="Arial"/>
                <a:ea typeface="Arial"/>
                <a:cs typeface="Arial"/>
                <a:sym typeface="Arial"/>
              </a:rPr>
              <a:t>Traducir variables de registros epidemiológicos y clínicos (como las fichas de SIVIGILA e historias clínicas) en esquemas de datos estructurados y armonizados aptos para análisis federados.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78" name="Google Shape;78;p3"/>
          <p:cNvSpPr txBox="1"/>
          <p:nvPr>
            <p:ph type="title"/>
          </p:nvPr>
        </p:nvSpPr>
        <p:spPr>
          <a:xfrm>
            <a:off x="206188" y="918446"/>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sz="3600">
                <a:latin typeface="Arial"/>
                <a:ea typeface="Arial"/>
                <a:cs typeface="Arial"/>
                <a:sym typeface="Arial"/>
              </a:rPr>
              <a:t>Definición y estructura del diccionario de datos (o Codebook)</a:t>
            </a:r>
            <a:endParaRPr/>
          </a:p>
        </p:txBody>
      </p:sp>
      <p:sp>
        <p:nvSpPr>
          <p:cNvPr id="79" name="Google Shape;79;p3"/>
          <p:cNvSpPr txBox="1"/>
          <p:nvPr>
            <p:ph idx="1" type="body"/>
          </p:nvPr>
        </p:nvSpPr>
        <p:spPr>
          <a:xfrm>
            <a:off x="0" y="2244009"/>
            <a:ext cx="11779623" cy="4054111"/>
          </a:xfrm>
          <a:prstGeom prst="rect">
            <a:avLst/>
          </a:prstGeom>
          <a:noFill/>
          <a:ln>
            <a:noFill/>
          </a:ln>
        </p:spPr>
        <p:txBody>
          <a:bodyPr anchorCtr="0" anchor="t" bIns="45700" lIns="91425" spcFirstLastPara="1" rIns="91425" wrap="square" tIns="45700">
            <a:normAutofit lnSpcReduction="10000"/>
          </a:bodyPr>
          <a:lstStyle/>
          <a:p>
            <a:pPr indent="-228600" lvl="0" marL="457200" rtl="0" algn="l">
              <a:lnSpc>
                <a:spcPct val="90000"/>
              </a:lnSpc>
              <a:spcBef>
                <a:spcPts val="1000"/>
              </a:spcBef>
              <a:spcAft>
                <a:spcPts val="0"/>
              </a:spcAft>
              <a:buClr>
                <a:schemeClr val="dk1"/>
              </a:buClr>
              <a:buSzPts val="1600"/>
              <a:buNone/>
            </a:pPr>
            <a:r>
              <a:rPr lang="es-CO" sz="2000">
                <a:latin typeface="Arial"/>
                <a:ea typeface="Arial"/>
                <a:cs typeface="Arial"/>
                <a:sym typeface="Arial"/>
              </a:rPr>
              <a:t>Un </a:t>
            </a:r>
            <a:r>
              <a:rPr b="1" lang="es-CO" sz="2000">
                <a:latin typeface="Arial"/>
                <a:ea typeface="Arial"/>
                <a:cs typeface="Arial"/>
                <a:sym typeface="Arial"/>
              </a:rPr>
              <a:t>diccionario de datos</a:t>
            </a:r>
            <a:r>
              <a:rPr lang="es-CO" sz="2000">
                <a:latin typeface="Arial"/>
                <a:ea typeface="Arial"/>
                <a:cs typeface="Arial"/>
                <a:sym typeface="Arial"/>
              </a:rPr>
              <a:t> (o </a:t>
            </a:r>
            <a:r>
              <a:rPr i="1" lang="es-CO" sz="2000">
                <a:latin typeface="Arial"/>
                <a:ea typeface="Arial"/>
                <a:cs typeface="Arial"/>
                <a:sym typeface="Arial"/>
              </a:rPr>
              <a:t>codebook</a:t>
            </a:r>
            <a:r>
              <a:rPr lang="es-CO" sz="2000">
                <a:latin typeface="Arial"/>
                <a:ea typeface="Arial"/>
                <a:cs typeface="Arial"/>
                <a:sym typeface="Arial"/>
              </a:rPr>
              <a:t>) es un archivo que describe minuciosamente la estructura, el significado y las características de cada variable en un conjunto de datos (dataset)</a:t>
            </a:r>
            <a:endParaRPr/>
          </a:p>
          <a:p>
            <a:pPr indent="-228600" lvl="0" marL="457200" rtl="0" algn="l">
              <a:lnSpc>
                <a:spcPct val="90000"/>
              </a:lnSpc>
              <a:spcBef>
                <a:spcPts val="1000"/>
              </a:spcBef>
              <a:spcAft>
                <a:spcPts val="0"/>
              </a:spcAft>
              <a:buClr>
                <a:schemeClr val="dk1"/>
              </a:buClr>
              <a:buSzPts val="16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600"/>
              <a:buNone/>
            </a:pPr>
            <a:r>
              <a:rPr lang="es-CO" sz="2000">
                <a:latin typeface="Arial"/>
                <a:ea typeface="Arial"/>
                <a:cs typeface="Arial"/>
                <a:sym typeface="Arial"/>
              </a:rPr>
              <a:t>Entre sus elementos clave suelen encontrarse:</a:t>
            </a:r>
            <a:endParaRPr/>
          </a:p>
          <a:p>
            <a:pPr indent="-228600" lvl="0" marL="457200" rtl="0" algn="l">
              <a:lnSpc>
                <a:spcPct val="90000"/>
              </a:lnSpc>
              <a:spcBef>
                <a:spcPts val="1000"/>
              </a:spcBef>
              <a:spcAft>
                <a:spcPts val="0"/>
              </a:spcAft>
              <a:buSzPts val="1600"/>
              <a:buNone/>
            </a:pPr>
            <a:r>
              <a:rPr lang="es-CO" sz="2000">
                <a:latin typeface="Arial"/>
                <a:ea typeface="Arial"/>
                <a:cs typeface="Arial"/>
                <a:sym typeface="Arial"/>
              </a:rPr>
              <a:t>🏷️ </a:t>
            </a:r>
            <a:r>
              <a:rPr b="1" lang="es-CO" sz="2000">
                <a:latin typeface="Arial"/>
                <a:ea typeface="Arial"/>
                <a:cs typeface="Arial"/>
                <a:sym typeface="Arial"/>
              </a:rPr>
              <a:t>Nombre y etiqueta:</a:t>
            </a:r>
            <a:r>
              <a:rPr lang="es-CO" sz="2000">
                <a:latin typeface="Arial"/>
                <a:ea typeface="Arial"/>
                <a:cs typeface="Arial"/>
                <a:sym typeface="Arial"/>
              </a:rPr>
              <a:t> El identificador en el dataset (ej. edad_resp) y su descripción completa (ej. </a:t>
            </a:r>
            <a:r>
              <a:rPr i="1" lang="es-CO" sz="2000">
                <a:latin typeface="Arial"/>
                <a:ea typeface="Arial"/>
                <a:cs typeface="Arial"/>
                <a:sym typeface="Arial"/>
              </a:rPr>
              <a:t>"Edad del encuestado en años cumplidos"</a:t>
            </a:r>
            <a:r>
              <a:rPr lang="es-CO" sz="2000">
                <a:latin typeface="Arial"/>
                <a:ea typeface="Arial"/>
                <a:cs typeface="Arial"/>
                <a:sym typeface="Arial"/>
              </a:rPr>
              <a:t>).</a:t>
            </a:r>
            <a:endParaRPr/>
          </a:p>
          <a:p>
            <a:pPr indent="-228600" lvl="0" marL="457200" rtl="0" algn="l">
              <a:lnSpc>
                <a:spcPct val="90000"/>
              </a:lnSpc>
              <a:spcBef>
                <a:spcPts val="1000"/>
              </a:spcBef>
              <a:spcAft>
                <a:spcPts val="0"/>
              </a:spcAft>
              <a:buSzPts val="1600"/>
              <a:buNone/>
            </a:pPr>
            <a:r>
              <a:rPr lang="es-CO" sz="2000">
                <a:latin typeface="Arial"/>
                <a:ea typeface="Arial"/>
                <a:cs typeface="Arial"/>
                <a:sym typeface="Arial"/>
              </a:rPr>
              <a:t>🔢 </a:t>
            </a:r>
            <a:r>
              <a:rPr b="1" lang="es-CO" sz="2000">
                <a:latin typeface="Arial"/>
                <a:ea typeface="Arial"/>
                <a:cs typeface="Arial"/>
                <a:sym typeface="Arial"/>
              </a:rPr>
              <a:t>Tipo de dato:</a:t>
            </a:r>
            <a:r>
              <a:rPr lang="es-CO" sz="2000">
                <a:latin typeface="Arial"/>
                <a:ea typeface="Arial"/>
                <a:cs typeface="Arial"/>
                <a:sym typeface="Arial"/>
              </a:rPr>
              <a:t> Si la variable es numérica, texto, fecha, lógica/booleana.</a:t>
            </a:r>
            <a:endParaRPr/>
          </a:p>
          <a:p>
            <a:pPr indent="-228600" lvl="0" marL="457200" rtl="0" algn="l">
              <a:lnSpc>
                <a:spcPct val="90000"/>
              </a:lnSpc>
              <a:spcBef>
                <a:spcPts val="1000"/>
              </a:spcBef>
              <a:spcAft>
                <a:spcPts val="0"/>
              </a:spcAft>
              <a:buSzPts val="1600"/>
              <a:buNone/>
            </a:pPr>
            <a:r>
              <a:rPr lang="es-CO" sz="2000">
                <a:latin typeface="Arial"/>
                <a:ea typeface="Arial"/>
                <a:cs typeface="Arial"/>
                <a:sym typeface="Arial"/>
              </a:rPr>
              <a:t>🔣 </a:t>
            </a:r>
            <a:r>
              <a:rPr b="1" lang="es-CO" sz="2000">
                <a:latin typeface="Arial"/>
                <a:ea typeface="Arial"/>
                <a:cs typeface="Arial"/>
                <a:sym typeface="Arial"/>
              </a:rPr>
              <a:t>Códigos y valores:</a:t>
            </a:r>
            <a:r>
              <a:rPr lang="es-CO" sz="2000">
                <a:latin typeface="Arial"/>
                <a:ea typeface="Arial"/>
                <a:cs typeface="Arial"/>
                <a:sym typeface="Arial"/>
              </a:rPr>
              <a:t> El significado de cada categoría o valor (ej. 1 = Sí, 2 = No, 9 = No responde).</a:t>
            </a:r>
            <a:endParaRPr/>
          </a:p>
          <a:p>
            <a:pPr indent="-228600" lvl="0" marL="457200" rtl="0" algn="l">
              <a:lnSpc>
                <a:spcPct val="90000"/>
              </a:lnSpc>
              <a:spcBef>
                <a:spcPts val="1000"/>
              </a:spcBef>
              <a:spcAft>
                <a:spcPts val="0"/>
              </a:spcAft>
              <a:buSzPts val="1600"/>
              <a:buNone/>
            </a:pPr>
            <a:r>
              <a:rPr lang="es-CO" sz="2000">
                <a:latin typeface="Arial"/>
                <a:ea typeface="Arial"/>
                <a:cs typeface="Arial"/>
                <a:sym typeface="Arial"/>
              </a:rPr>
              <a:t>❓ </a:t>
            </a:r>
            <a:r>
              <a:rPr b="1" lang="es-CO" sz="2000">
                <a:latin typeface="Arial"/>
                <a:ea typeface="Arial"/>
                <a:cs typeface="Arial"/>
                <a:sym typeface="Arial"/>
              </a:rPr>
              <a:t>Reglas de datos nulos:</a:t>
            </a:r>
            <a:r>
              <a:rPr lang="es-CO" sz="2000">
                <a:latin typeface="Arial"/>
                <a:ea typeface="Arial"/>
                <a:cs typeface="Arial"/>
                <a:sym typeface="Arial"/>
              </a:rPr>
              <a:t> Cómo se identifican los valores no aplicables (ej. NA, 999).</a:t>
            </a:r>
            <a:endParaRPr/>
          </a:p>
          <a:p>
            <a:pPr indent="-228600" lvl="0" marL="457200" rtl="0" algn="l">
              <a:lnSpc>
                <a:spcPct val="90000"/>
              </a:lnSpc>
              <a:spcBef>
                <a:spcPts val="1000"/>
              </a:spcBef>
              <a:spcAft>
                <a:spcPts val="0"/>
              </a:spcAft>
              <a:buSzPts val="1600"/>
              <a:buNone/>
            </a:pPr>
            <a:r>
              <a:rPr lang="es-CO" sz="2000">
                <a:latin typeface="Arial"/>
                <a:ea typeface="Arial"/>
                <a:cs typeface="Arial"/>
                <a:sym typeface="Arial"/>
              </a:rPr>
              <a:t>📏 </a:t>
            </a:r>
            <a:r>
              <a:rPr b="1" lang="es-CO" sz="2000">
                <a:latin typeface="Arial"/>
                <a:ea typeface="Arial"/>
                <a:cs typeface="Arial"/>
                <a:sym typeface="Arial"/>
              </a:rPr>
              <a:t>Unidades de medida:</a:t>
            </a:r>
            <a:r>
              <a:rPr lang="es-CO" sz="2000">
                <a:latin typeface="Arial"/>
                <a:ea typeface="Arial"/>
                <a:cs typeface="Arial"/>
                <a:sym typeface="Arial"/>
              </a:rPr>
              <a:t> La escala empleada a la variable (ej. kilogramos, metros).</a:t>
            </a:r>
            <a:endParaRPr/>
          </a:p>
          <a:p>
            <a:pPr indent="-228600" lvl="0" marL="457200" rtl="0" algn="l">
              <a:lnSpc>
                <a:spcPct val="90000"/>
              </a:lnSpc>
              <a:spcBef>
                <a:spcPts val="1000"/>
              </a:spcBef>
              <a:spcAft>
                <a:spcPts val="0"/>
              </a:spcAft>
              <a:buClr>
                <a:schemeClr val="dk1"/>
              </a:buClr>
              <a:buSzPts val="1600"/>
              <a:buNone/>
            </a:pPr>
            <a:r>
              <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85" name="Google Shape;85;p4"/>
          <p:cNvSpPr txBox="1"/>
          <p:nvPr>
            <p:ph type="title"/>
          </p:nvPr>
        </p:nvSpPr>
        <p:spPr>
          <a:xfrm>
            <a:off x="103094" y="726175"/>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sz="3600">
                <a:latin typeface="Arial"/>
                <a:ea typeface="Arial"/>
                <a:cs typeface="Arial"/>
                <a:sym typeface="Arial"/>
              </a:rPr>
              <a:t>Función del diccionario de datos (Codebook): “hablar el mismo idioma”</a:t>
            </a:r>
            <a:endParaRPr/>
          </a:p>
        </p:txBody>
      </p:sp>
      <p:sp>
        <p:nvSpPr>
          <p:cNvPr id="86" name="Google Shape;86;p4"/>
          <p:cNvSpPr txBox="1"/>
          <p:nvPr>
            <p:ph idx="1" type="body"/>
          </p:nvPr>
        </p:nvSpPr>
        <p:spPr>
          <a:xfrm>
            <a:off x="0" y="2325100"/>
            <a:ext cx="11779500" cy="4533000"/>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1000"/>
              </a:spcBef>
              <a:spcAft>
                <a:spcPts val="0"/>
              </a:spcAft>
              <a:buSzPts val="1600"/>
              <a:buNone/>
            </a:pPr>
            <a:r>
              <a:rPr b="1" lang="es-CO" sz="2000">
                <a:latin typeface="Arial"/>
                <a:ea typeface="Arial"/>
                <a:cs typeface="Arial"/>
                <a:sym typeface="Arial"/>
              </a:rPr>
              <a:t>Interoperabilidad semántica (significado) y sintáctica (estructura):</a:t>
            </a:r>
            <a:r>
              <a:rPr lang="es-CO" sz="2000">
                <a:latin typeface="Arial"/>
                <a:ea typeface="Arial"/>
                <a:cs typeface="Arial"/>
                <a:sym typeface="Arial"/>
              </a:rPr>
              <a:t> Establece una definición unívoca de cada variable, sus tipos de datos y sus vocabularios estandarizados. Esto asegura que un concepto como dengue_grave tenga exactamente el mismo significado y codificación en todos los centros participantes.</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rPr b="1" lang="es-CO" sz="2000">
                <a:latin typeface="Arial"/>
                <a:ea typeface="Arial"/>
                <a:cs typeface="Arial"/>
                <a:sym typeface="Arial"/>
              </a:rPr>
              <a:t>Habilitación de scripts únicos (Un solo código para todos los nodos):</a:t>
            </a:r>
            <a:r>
              <a:rPr lang="es-CO" sz="2000">
                <a:latin typeface="Arial"/>
                <a:ea typeface="Arial"/>
                <a:cs typeface="Arial"/>
                <a:sym typeface="Arial"/>
              </a:rPr>
              <a:t> Permite escribir un único script analítico en el centro coordinador y distribuirlo a todos los nodos. Como el script asume la estructura definida en el codebook, puede ejecutarse de manera idéntica en cada servidor sin requerir modificaciones locales.</a:t>
            </a:r>
            <a:endParaRPr sz="1800"/>
          </a:p>
          <a:p>
            <a:pPr indent="0" lvl="0" marL="228600" rtl="0" algn="l">
              <a:lnSpc>
                <a:spcPct val="90000"/>
              </a:lnSpc>
              <a:spcBef>
                <a:spcPts val="1000"/>
              </a:spcBef>
              <a:spcAft>
                <a:spcPts val="0"/>
              </a:spcAft>
              <a:buClr>
                <a:schemeClr val="dk1"/>
              </a:buClr>
              <a:buSzPts val="1600"/>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h38ecc53606784124_0_0"/>
          <p:cNvSpPr txBox="1"/>
          <p:nvPr>
            <p:ph idx="12" type="sldNum"/>
          </p:nvPr>
        </p:nvSpPr>
        <p:spPr>
          <a:xfrm>
            <a:off x="8610599" y="6393638"/>
            <a:ext cx="33753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92" name="Google Shape;92;h38ecc53606784124_0_0"/>
          <p:cNvSpPr txBox="1"/>
          <p:nvPr>
            <p:ph type="title"/>
          </p:nvPr>
        </p:nvSpPr>
        <p:spPr>
          <a:xfrm>
            <a:off x="103094" y="726175"/>
            <a:ext cx="11779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sz="3600">
                <a:latin typeface="Arial"/>
                <a:ea typeface="Arial"/>
                <a:cs typeface="Arial"/>
                <a:sym typeface="Arial"/>
              </a:rPr>
              <a:t>Función del diccionario de datos (Codebook): “hablar el mismo idioma”</a:t>
            </a:r>
            <a:endParaRPr/>
          </a:p>
        </p:txBody>
      </p:sp>
      <p:sp>
        <p:nvSpPr>
          <p:cNvPr id="93" name="Google Shape;93;h38ecc53606784124_0_0"/>
          <p:cNvSpPr txBox="1"/>
          <p:nvPr>
            <p:ph idx="1" type="body"/>
          </p:nvPr>
        </p:nvSpPr>
        <p:spPr>
          <a:xfrm>
            <a:off x="0" y="1926008"/>
            <a:ext cx="11779500" cy="4932000"/>
          </a:xfrm>
          <a:prstGeom prst="rect">
            <a:avLst/>
          </a:prstGeom>
          <a:noFill/>
          <a:ln>
            <a:noFill/>
          </a:ln>
        </p:spPr>
        <p:txBody>
          <a:bodyPr anchorCtr="0" anchor="t" bIns="45700" lIns="91425" spcFirstLastPara="1" rIns="91425" wrap="square" tIns="45700">
            <a:noAutofit/>
          </a:bodyPr>
          <a:lstStyle/>
          <a:p>
            <a:pPr indent="-228600" lvl="0" marL="457200" rtl="0" algn="l">
              <a:lnSpc>
                <a:spcPct val="90000"/>
              </a:lnSpc>
              <a:spcBef>
                <a:spcPts val="1000"/>
              </a:spcBef>
              <a:spcAft>
                <a:spcPts val="0"/>
              </a:spcAft>
              <a:buSzPts val="1600"/>
              <a:buNone/>
            </a:pPr>
            <a:r>
              <a:rPr b="1" lang="es-CO" sz="2000">
                <a:latin typeface="Arial"/>
                <a:ea typeface="Arial"/>
                <a:cs typeface="Arial"/>
                <a:sym typeface="Arial"/>
              </a:rPr>
              <a:t>Guía de armonización local: </a:t>
            </a:r>
            <a:r>
              <a:rPr lang="es-CO" sz="2000">
                <a:latin typeface="Arial"/>
                <a:ea typeface="Arial"/>
                <a:cs typeface="Arial"/>
                <a:sym typeface="Arial"/>
              </a:rPr>
              <a:t>Sirve como la plantilla para que cada institución transforme sus datos nativos (por ejemplo, archivos del SIVIGILA) hacia la estructura común requerida por la red federada.</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rPr b="1" lang="es-CO" sz="2000">
                <a:latin typeface="Arial"/>
                <a:ea typeface="Arial"/>
                <a:cs typeface="Arial"/>
                <a:sym typeface="Arial"/>
              </a:rPr>
              <a:t>Validación y control de calidad de datos:</a:t>
            </a:r>
            <a:r>
              <a:rPr lang="es-CO" sz="2000">
                <a:latin typeface="Arial"/>
                <a:ea typeface="Arial"/>
                <a:cs typeface="Arial"/>
                <a:sym typeface="Arial"/>
              </a:rPr>
              <a:t> Define las reglas de integridad (rangos permitidos, valores válidos, formatos de fecha) para auditar los datos locales antes del análisis. Si una variable está fuera de los rangos especificados en el codebook, el nodo puede detectar el error de manera automatizada.</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t/>
            </a:r>
            <a:endParaRPr sz="2000">
              <a:latin typeface="Arial"/>
              <a:ea typeface="Arial"/>
              <a:cs typeface="Arial"/>
              <a:sym typeface="Arial"/>
            </a:endParaRPr>
          </a:p>
          <a:p>
            <a:pPr indent="-228600" lvl="0" marL="457200" rtl="0" algn="l">
              <a:lnSpc>
                <a:spcPct val="90000"/>
              </a:lnSpc>
              <a:spcBef>
                <a:spcPts val="1000"/>
              </a:spcBef>
              <a:spcAft>
                <a:spcPts val="0"/>
              </a:spcAft>
              <a:buSzPts val="1600"/>
              <a:buNone/>
            </a:pPr>
            <a:r>
              <a:rPr b="1" lang="es-CO" sz="2000">
                <a:latin typeface="Arial"/>
                <a:ea typeface="Arial"/>
                <a:cs typeface="Arial"/>
                <a:sym typeface="Arial"/>
              </a:rPr>
              <a:t>Gobernanza de datos y privacidad:</a:t>
            </a:r>
            <a:r>
              <a:rPr lang="es-CO" sz="2000">
                <a:latin typeface="Arial"/>
                <a:ea typeface="Arial"/>
                <a:cs typeface="Arial"/>
                <a:sym typeface="Arial"/>
              </a:rPr>
              <a:t> Transparencia institucional sobre qué campos existen en la red federada y qué tipo de información se está procesando, garantizando que no se extraigan microdatos ni variables sensibles fuera de las reglas acordadas de privacidad.</a:t>
            </a:r>
            <a:endParaRPr sz="1800"/>
          </a:p>
          <a:p>
            <a:pPr indent="-228600" lvl="0" marL="457200" rtl="0" algn="l">
              <a:lnSpc>
                <a:spcPct val="90000"/>
              </a:lnSpc>
              <a:spcBef>
                <a:spcPts val="1000"/>
              </a:spcBef>
              <a:spcAft>
                <a:spcPts val="0"/>
              </a:spcAft>
              <a:buClr>
                <a:schemeClr val="dk1"/>
              </a:buClr>
              <a:buSzPts val="1600"/>
              <a:buNone/>
            </a:pPr>
            <a:r>
              <a:t/>
            </a:r>
            <a:endParaRPr sz="2000">
              <a:latin typeface="Arial"/>
              <a:ea typeface="Arial"/>
              <a:cs typeface="Arial"/>
              <a:sym typeface="Arial"/>
            </a:endParaRPr>
          </a:p>
          <a:p>
            <a:pPr indent="-228600" lvl="0" marL="457200" rtl="0" algn="l">
              <a:lnSpc>
                <a:spcPct val="90000"/>
              </a:lnSpc>
              <a:spcBef>
                <a:spcPts val="1000"/>
              </a:spcBef>
              <a:spcAft>
                <a:spcPts val="0"/>
              </a:spcAft>
              <a:buClr>
                <a:schemeClr val="dk1"/>
              </a:buClr>
              <a:buSzPts val="1600"/>
              <a:buNone/>
            </a:pPr>
            <a:r>
              <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5"/>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99" name="Google Shape;99;p5"/>
          <p:cNvSpPr txBox="1"/>
          <p:nvPr>
            <p:ph type="title"/>
          </p:nvPr>
        </p:nvSpPr>
        <p:spPr>
          <a:xfrm>
            <a:off x="206187" y="559880"/>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a:latin typeface="Arial"/>
                <a:ea typeface="Arial"/>
                <a:cs typeface="Arial"/>
                <a:sym typeface="Arial"/>
              </a:rPr>
              <a:t>Generar codebook en R para dengue-sivigila</a:t>
            </a:r>
            <a:endParaRPr>
              <a:latin typeface="Arial"/>
              <a:ea typeface="Arial"/>
              <a:cs typeface="Arial"/>
              <a:sym typeface="Arial"/>
            </a:endParaRPr>
          </a:p>
        </p:txBody>
      </p:sp>
      <p:sp>
        <p:nvSpPr>
          <p:cNvPr id="100" name="Google Shape;100;p5"/>
          <p:cNvSpPr txBox="1"/>
          <p:nvPr>
            <p:ph idx="1" type="body"/>
          </p:nvPr>
        </p:nvSpPr>
        <p:spPr>
          <a:xfrm>
            <a:off x="206188" y="1885443"/>
            <a:ext cx="11779623" cy="4054111"/>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Clr>
                <a:schemeClr val="dk1"/>
              </a:buClr>
              <a:buSzPts val="1600"/>
              <a:buNone/>
            </a:pPr>
            <a:r>
              <a:rPr lang="es-CO" sz="2800">
                <a:latin typeface="Arial"/>
                <a:ea typeface="Arial"/>
                <a:cs typeface="Arial"/>
                <a:sym typeface="Arial"/>
              </a:rPr>
              <a:t>Abrir sesión de Google</a:t>
            </a:r>
            <a:endParaRPr/>
          </a:p>
          <a:p>
            <a:pPr indent="-228600" lvl="0" marL="457200" rtl="0" algn="l">
              <a:lnSpc>
                <a:spcPct val="90000"/>
              </a:lnSpc>
              <a:spcBef>
                <a:spcPts val="1000"/>
              </a:spcBef>
              <a:spcAft>
                <a:spcPts val="0"/>
              </a:spcAft>
              <a:buClr>
                <a:schemeClr val="dk1"/>
              </a:buClr>
              <a:buSzPts val="1600"/>
              <a:buNone/>
            </a:pPr>
            <a:r>
              <a:rPr lang="es-CO" sz="2800">
                <a:latin typeface="Arial"/>
                <a:ea typeface="Arial"/>
                <a:cs typeface="Arial"/>
                <a:sym typeface="Arial"/>
              </a:rPr>
              <a:t>https://colab.research.google.com/</a:t>
            </a:r>
            <a:endParaRPr/>
          </a:p>
          <a:p>
            <a:pPr indent="-228600" lvl="0" marL="457200" rtl="0" algn="l">
              <a:lnSpc>
                <a:spcPct val="90000"/>
              </a:lnSpc>
              <a:spcBef>
                <a:spcPts val="1000"/>
              </a:spcBef>
              <a:spcAft>
                <a:spcPts val="0"/>
              </a:spcAft>
              <a:buClr>
                <a:schemeClr val="dk1"/>
              </a:buClr>
              <a:buSzPts val="1600"/>
              <a:buNone/>
            </a:pPr>
            <a:r>
              <a:rPr lang="es-CO" sz="2800" u="sng">
                <a:solidFill>
                  <a:schemeClr val="hlink"/>
                </a:solidFill>
                <a:latin typeface="Arial"/>
                <a:ea typeface="Arial"/>
                <a:cs typeface="Arial"/>
                <a:sym typeface="Arial"/>
                <a:hlinkClick r:id="rId3"/>
              </a:rPr>
              <a:t>Utilizar este enlace para notebook colab</a:t>
            </a:r>
            <a:endParaRPr sz="2800">
              <a:latin typeface="Arial"/>
              <a:ea typeface="Arial"/>
              <a:cs typeface="Arial"/>
              <a:sym typeface="Arial"/>
            </a:endParaRPr>
          </a:p>
          <a:p>
            <a:pPr indent="-228600" lvl="0" marL="457200" rtl="0" algn="l">
              <a:lnSpc>
                <a:spcPct val="90000"/>
              </a:lnSpc>
              <a:spcBef>
                <a:spcPts val="1000"/>
              </a:spcBef>
              <a:spcAft>
                <a:spcPts val="0"/>
              </a:spcAft>
              <a:buClr>
                <a:schemeClr val="dk1"/>
              </a:buClr>
              <a:buSzPts val="1600"/>
              <a:buNone/>
            </a:pPr>
            <a:r>
              <a:t/>
            </a:r>
            <a:endParaRPr sz="2800">
              <a:latin typeface="Arial"/>
              <a:ea typeface="Arial"/>
              <a:cs typeface="Arial"/>
              <a:sym typeface="Arial"/>
            </a:endParaRPr>
          </a:p>
          <a:p>
            <a:pPr indent="-228600" lvl="0" marL="457200" rtl="0" algn="l">
              <a:lnSpc>
                <a:spcPct val="90000"/>
              </a:lnSpc>
              <a:spcBef>
                <a:spcPts val="1000"/>
              </a:spcBef>
              <a:spcAft>
                <a:spcPts val="0"/>
              </a:spcAft>
              <a:buClr>
                <a:schemeClr val="dk1"/>
              </a:buClr>
              <a:buSzPts val="1600"/>
              <a:buNone/>
            </a:pPr>
            <a:r>
              <a:rPr lang="es-CO" sz="2800">
                <a:latin typeface="Arial"/>
                <a:ea typeface="Arial"/>
                <a:cs typeface="Arial"/>
                <a:sym typeface="Arial"/>
              </a:rPr>
              <a:t>https://colab.research.google.com/drive/1Q3oRt1FB41TuPB05zgH-VdLNzcJ-nRXC?usp=sharing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6"/>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106" name="Google Shape;106;p6"/>
          <p:cNvSpPr txBox="1"/>
          <p:nvPr>
            <p:ph type="title"/>
          </p:nvPr>
        </p:nvSpPr>
        <p:spPr>
          <a:xfrm>
            <a:off x="206188" y="768577"/>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a:latin typeface="Arial"/>
                <a:ea typeface="Arial"/>
                <a:cs typeface="Arial"/>
                <a:sym typeface="Arial"/>
              </a:rPr>
              <a:t>Componentes estándar de un diccionario de datos federado</a:t>
            </a:r>
            <a:endParaRPr/>
          </a:p>
        </p:txBody>
      </p:sp>
      <p:sp>
        <p:nvSpPr>
          <p:cNvPr id="107" name="Google Shape;107;p6"/>
          <p:cNvSpPr txBox="1"/>
          <p:nvPr>
            <p:ph idx="1" type="body"/>
          </p:nvPr>
        </p:nvSpPr>
        <p:spPr>
          <a:xfrm>
            <a:off x="206188" y="1885443"/>
            <a:ext cx="11779623" cy="4054111"/>
          </a:xfrm>
          <a:prstGeom prst="rect">
            <a:avLst/>
          </a:prstGeom>
          <a:noFill/>
          <a:ln>
            <a:noFill/>
          </a:ln>
        </p:spPr>
        <p:txBody>
          <a:bodyPr anchorCtr="0" anchor="t" bIns="45700" lIns="91425" spcFirstLastPara="1" rIns="91425" wrap="square" tIns="45700">
            <a:normAutofit fontScale="92500" lnSpcReduction="10000"/>
          </a:bodyPr>
          <a:lstStyle/>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Nombre de la Variable Local: El identificador del sistema fuente (ej. ini_sin en SIVIGILA).</a:t>
            </a:r>
            <a:endParaRPr/>
          </a:p>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Definición / Significado Clínico: La interpretación epidemiológica o médica del dato.</a:t>
            </a:r>
            <a:endParaRPr/>
          </a:p>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Modelo Común de Datos o </a:t>
            </a:r>
            <a:r>
              <a:rPr i="1" lang="es-CO" sz="2400"/>
              <a:t>Common Data Model</a:t>
            </a:r>
            <a:r>
              <a:rPr lang="es-CO" sz="2400"/>
              <a:t> - </a:t>
            </a:r>
            <a:r>
              <a:rPr lang="es-CO" sz="2400">
                <a:latin typeface="Arial"/>
                <a:ea typeface="Arial"/>
                <a:cs typeface="Arial"/>
                <a:sym typeface="Arial"/>
              </a:rPr>
              <a:t>CDM: La entidad conceptual donde se almacena en el modelo común (ej. PERSON, MEASUREMENT, OBSERVATION en </a:t>
            </a:r>
            <a:r>
              <a:rPr lang="es-CO" sz="2400" u="sng">
                <a:solidFill>
                  <a:srgbClr val="4D90D8"/>
                </a:solidFill>
                <a:latin typeface="Arial"/>
                <a:ea typeface="Arial"/>
                <a:cs typeface="Arial"/>
                <a:sym typeface="Arial"/>
                <a:hlinkClick r:id="rId3">
                  <a:extLst>
                    <a:ext uri="{A12FA001-AC4F-418D-AE19-62706E023703}">
                      <ahyp:hlinkClr val="tx"/>
                    </a:ext>
                  </a:extLst>
                </a:hlinkClick>
              </a:rPr>
              <a:t>OMOP CDM</a:t>
            </a:r>
            <a:r>
              <a:rPr lang="es-CO" sz="2400">
                <a:solidFill>
                  <a:schemeClr val="dk1"/>
                </a:solidFill>
                <a:latin typeface="Arial"/>
                <a:ea typeface="Arial"/>
                <a:cs typeface="Arial"/>
                <a:sym typeface="Arial"/>
              </a:rPr>
              <a:t>) ver también </a:t>
            </a:r>
            <a:r>
              <a:rPr lang="es-CO" sz="2400" u="sng">
                <a:solidFill>
                  <a:srgbClr val="4D90D8"/>
                </a:solidFill>
                <a:latin typeface="Arial"/>
                <a:ea typeface="Arial"/>
                <a:cs typeface="Arial"/>
                <a:sym typeface="Arial"/>
                <a:hlinkClick r:id="rId4">
                  <a:extLst>
                    <a:ext uri="{A12FA001-AC4F-418D-AE19-62706E023703}">
                      <ahyp:hlinkClr val="tx"/>
                    </a:ext>
                  </a:extLst>
                </a:hlinkClick>
              </a:rPr>
              <a:t>PCORNET CDM</a:t>
            </a:r>
            <a:endParaRPr sz="2400">
              <a:latin typeface="Arial"/>
              <a:ea typeface="Arial"/>
              <a:cs typeface="Arial"/>
              <a:sym typeface="Arial"/>
            </a:endParaRPr>
          </a:p>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Tipo de Dato Técnico y Formato: La especificación informática requerida por el script (INTEGER, FLOAT, DATE, BOOLEAN).</a:t>
            </a:r>
            <a:endParaRPr/>
          </a:p>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Estándar / Vocabulario de Referencia: El código terminológico internacional (LOINC para laboratorios, SNOMED CT para diagnósticos/síntomas, CIE-10/11).</a:t>
            </a:r>
            <a:endParaRPr/>
          </a:p>
          <a:p>
            <a:pPr indent="-342900" lvl="0" marL="571500" rtl="0" algn="l">
              <a:lnSpc>
                <a:spcPct val="90000"/>
              </a:lnSpc>
              <a:spcBef>
                <a:spcPts val="1000"/>
              </a:spcBef>
              <a:spcAft>
                <a:spcPts val="0"/>
              </a:spcAft>
              <a:buSzPct val="72072"/>
              <a:buFont typeface="Arial"/>
              <a:buAutoNum type="arabicPeriod"/>
            </a:pPr>
            <a:r>
              <a:rPr lang="es-CO" sz="2400">
                <a:latin typeface="Arial"/>
                <a:ea typeface="Arial"/>
                <a:cs typeface="Arial"/>
                <a:sym typeface="Arial"/>
              </a:rPr>
              <a:t>Regla de Validez y Restricción Federada: Rango de valores biológicos plausibles y reglas de privacidad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12" type="sldNum"/>
          </p:nvPr>
        </p:nvSpPr>
        <p:spPr>
          <a:xfrm>
            <a:off x="8610599" y="6393638"/>
            <a:ext cx="337521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chemeClr val="lt1"/>
              </a:buClr>
              <a:buSzPts val="1200"/>
              <a:buFont typeface="Arial"/>
              <a:buNone/>
            </a:pPr>
            <a:fld id="{00000000-1234-1234-1234-123412341234}" type="slidenum">
              <a:rPr lang="es-CO"/>
              <a:t>‹#›</a:t>
            </a:fld>
            <a:endParaRPr/>
          </a:p>
        </p:txBody>
      </p:sp>
      <p:sp>
        <p:nvSpPr>
          <p:cNvPr id="113" name="Google Shape;113;p7"/>
          <p:cNvSpPr txBox="1"/>
          <p:nvPr>
            <p:ph type="title"/>
          </p:nvPr>
        </p:nvSpPr>
        <p:spPr>
          <a:xfrm>
            <a:off x="206188" y="559880"/>
            <a:ext cx="1177962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Noto Sans SemiBold"/>
              <a:buNone/>
            </a:pPr>
            <a:r>
              <a:rPr lang="es-CO">
                <a:latin typeface="Arial"/>
                <a:ea typeface="Arial"/>
                <a:cs typeface="Arial"/>
                <a:sym typeface="Arial"/>
              </a:rPr>
              <a:t>Recursos adicionales</a:t>
            </a:r>
            <a:endParaRPr/>
          </a:p>
        </p:txBody>
      </p:sp>
      <p:sp>
        <p:nvSpPr>
          <p:cNvPr id="114" name="Google Shape;114;p7"/>
          <p:cNvSpPr txBox="1"/>
          <p:nvPr>
            <p:ph idx="1" type="body"/>
          </p:nvPr>
        </p:nvSpPr>
        <p:spPr>
          <a:xfrm>
            <a:off x="206188" y="1885443"/>
            <a:ext cx="11779623" cy="4054111"/>
          </a:xfrm>
          <a:prstGeom prst="rect">
            <a:avLst/>
          </a:prstGeom>
          <a:noFill/>
          <a:ln>
            <a:noFill/>
          </a:ln>
        </p:spPr>
        <p:txBody>
          <a:bodyPr anchorCtr="0" anchor="t" bIns="45700" lIns="91425" spcFirstLastPara="1" rIns="91425" wrap="square" tIns="45700">
            <a:normAutofit/>
          </a:bodyPr>
          <a:lstStyle/>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3">
                  <a:extLst>
                    <a:ext uri="{A12FA001-AC4F-418D-AE19-62706E023703}">
                      <ahyp:hlinkClr val="tx"/>
                    </a:ext>
                  </a:extLst>
                </a:hlinkClick>
              </a:rPr>
              <a:t>ENVESOME Harmonized Data Dictionary and Codebook (Zenodo)</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4">
                  <a:extLst>
                    <a:ext uri="{A12FA001-AC4F-418D-AE19-62706E023703}">
                      <ahyp:hlinkClr val="tx"/>
                    </a:ext>
                  </a:extLst>
                </a:hlinkClick>
              </a:rPr>
              <a:t>Data Harmonization — Opal documentation</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5">
                  <a:extLst>
                    <a:ext uri="{A12FA001-AC4F-418D-AE19-62706E023703}">
                      <ahyp:hlinkClr val="tx"/>
                    </a:ext>
                  </a:extLst>
                </a:hlinkClick>
              </a:rPr>
              <a:t>Data Dictionary — Opal documentation</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6">
                  <a:extLst>
                    <a:ext uri="{A12FA001-AC4F-418D-AE19-62706E023703}">
                      <ahyp:hlinkClr val="tx"/>
                    </a:ext>
                  </a:extLst>
                </a:hlinkClick>
              </a:rPr>
              <a:t>Opal and Mica: software application profile (IJE)</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7">
                  <a:extLst>
                    <a:ext uri="{A12FA001-AC4F-418D-AE19-62706E023703}">
                      <ahyp:hlinkClr val="tx"/>
                    </a:ext>
                  </a:extLst>
                </a:hlinkClick>
              </a:rPr>
              <a:t>Federated analytics – OpenSAFELY documentation</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8">
                  <a:extLst>
                    <a:ext uri="{A12FA001-AC4F-418D-AE19-62706E023703}">
                      <ahyp:hlinkClr val="tx"/>
                    </a:ext>
                  </a:extLst>
                </a:hlinkClick>
              </a:rPr>
              <a:t>Federated Networks for Distributed Analysis of Health Data (PMC)</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SzPts val="1600"/>
              <a:buNone/>
            </a:pPr>
            <a:r>
              <a:rPr lang="es-CO" sz="2400" u="sng">
                <a:solidFill>
                  <a:schemeClr val="dk1"/>
                </a:solidFill>
                <a:latin typeface="Arial"/>
                <a:ea typeface="Arial"/>
                <a:cs typeface="Arial"/>
                <a:sym typeface="Arial"/>
                <a:hlinkClick r:id="rId9">
                  <a:extLst>
                    <a:ext uri="{A12FA001-AC4F-418D-AE19-62706E023703}">
                      <ahyp:hlinkClr val="tx"/>
                    </a:ext>
                  </a:extLst>
                </a:hlinkClick>
              </a:rPr>
              <a:t>Centralized and Federated Models for the Analysis of Clinical Data (PMC)</a:t>
            </a:r>
            <a:endParaRPr sz="2400">
              <a:solidFill>
                <a:schemeClr val="dk1"/>
              </a:solidFill>
              <a:latin typeface="Arial"/>
              <a:ea typeface="Arial"/>
              <a:cs typeface="Arial"/>
              <a:sym typeface="Arial"/>
            </a:endParaRPr>
          </a:p>
          <a:p>
            <a:pPr indent="-228600" lvl="0" marL="457200" rtl="0" algn="l">
              <a:lnSpc>
                <a:spcPct val="90000"/>
              </a:lnSpc>
              <a:spcBef>
                <a:spcPts val="1000"/>
              </a:spcBef>
              <a:spcAft>
                <a:spcPts val="0"/>
              </a:spcAft>
              <a:buClr>
                <a:schemeClr val="dk1"/>
              </a:buClr>
              <a:buSzPts val="16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GHN Regional Programme">
  <a:themeElements>
    <a:clrScheme name="TGHN Theme 1">
      <a:dk1>
        <a:srgbClr val="000000"/>
      </a:dk1>
      <a:lt1>
        <a:srgbClr val="FFFFFF"/>
      </a:lt1>
      <a:dk2>
        <a:srgbClr val="0E2841"/>
      </a:dk2>
      <a:lt2>
        <a:srgbClr val="E8E8E8"/>
      </a:lt2>
      <a:accent1>
        <a:srgbClr val="0071BC"/>
      </a:accent1>
      <a:accent2>
        <a:srgbClr val="771213"/>
      </a:accent2>
      <a:accent3>
        <a:srgbClr val="80AF40"/>
      </a:accent3>
      <a:accent4>
        <a:srgbClr val="79CBC6"/>
      </a:accent4>
      <a:accent5>
        <a:srgbClr val="F06EA9"/>
      </a:accent5>
      <a:accent6>
        <a:srgbClr val="CBDFF3"/>
      </a:accent6>
      <a:hlink>
        <a:srgbClr val="E97132"/>
      </a:hlink>
      <a:folHlink>
        <a:srgbClr val="E9713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2026-10-04T13:56:35Z</dcterms:created>
  <dc:creator>Walnut Exporter</dc:creator>
</cp:coreProperties>
</file>