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Noto Sans" panose="020B0502040204020203" pitchFamily="34" charset="0"/>
      <p:regular r:id="rId13"/>
      <p:bold r:id="rId14"/>
      <p:italic r:id="rId15"/>
      <p:boldItalic r:id="rId16"/>
    </p:embeddedFont>
    <p:embeddedFont>
      <p:font typeface="Noto Sans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You can use this slide when teaching and presenting at TGHN LAC events</a:t>
            </a:r>
            <a:endParaRPr/>
          </a:p>
        </p:txBody>
      </p:sp>
      <p:sp>
        <p:nvSpPr>
          <p:cNvPr id="128" name="Google Shape;1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Main Title Slide">
  <p:cSld name="4_Main 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831850" y="2466753"/>
            <a:ext cx="10515600" cy="2095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emiBold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127000" y="365125"/>
            <a:ext cx="119379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127000" y="457200"/>
            <a:ext cx="464502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259304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49508" y="2057400"/>
            <a:ext cx="402251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226800" cy="138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 rot="5400000">
            <a:off x="4698805" y="-1189232"/>
            <a:ext cx="4691063" cy="1004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 rot="5400000">
            <a:off x="7489031" y="1600994"/>
            <a:ext cx="5811838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 rot="5400000">
            <a:off x="1443831" y="-951706"/>
            <a:ext cx="5811838" cy="8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7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 txBox="1"/>
          <p:nvPr/>
        </p:nvSpPr>
        <p:spPr>
          <a:xfrm>
            <a:off x="8816787" y="4382770"/>
            <a:ext cx="3375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127000" y="1485900"/>
            <a:ext cx="11226800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7000" y="217365"/>
            <a:ext cx="11226800" cy="112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 sz="4000" b="1" i="0" u="none" strike="noStrike" cap="none">
                <a:solidFill>
                  <a:schemeClr val="dk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/>
        </p:nvSpPr>
        <p:spPr>
          <a:xfrm>
            <a:off x="344382" y="5473005"/>
            <a:ext cx="1184761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Neal Alexander, Juan Fernando Arenas, Robin Castro, Esteban Garcia, Juan Sebastian Hurtado, Lyda Osorio, Carlos Andres Sarmiento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0" y="1593950"/>
            <a:ext cx="6915150" cy="412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0550" tIns="210550" rIns="210550" bIns="21055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Hoy salón 106G, mañana 108G.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Sesiones </a:t>
            </a:r>
            <a:r>
              <a:rPr lang="es-ES" sz="3200" b="0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teórico-prácticas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Mañana, una lluvia de ideas sobre posibles propuestas para proyectos futuros.</a:t>
            </a:r>
            <a:endParaRPr dirty="0"/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5150" y="1194801"/>
            <a:ext cx="49911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3457575" y="806950"/>
            <a:ext cx="5939667" cy="77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emiBold"/>
              <a:buNone/>
            </a:pPr>
            <a:r>
              <a:rPr lang="es-ES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 sz="5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35873"/>
          <a:stretch/>
        </p:blipFill>
        <p:spPr>
          <a:xfrm>
            <a:off x="3078953" y="892627"/>
            <a:ext cx="6034093" cy="515982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3">
            <a:alphaModFix/>
          </a:blip>
          <a:srcRect b="35873"/>
          <a:stretch/>
        </p:blipFill>
        <p:spPr>
          <a:xfrm>
            <a:off x="3078953" y="892627"/>
            <a:ext cx="6034093" cy="515982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8" name="Google Shape;148;p24"/>
          <p:cNvSpPr/>
          <p:nvPr/>
        </p:nvSpPr>
        <p:spPr>
          <a:xfrm>
            <a:off x="8501741" y="489857"/>
            <a:ext cx="3635829" cy="3472544"/>
          </a:xfrm>
          <a:prstGeom prst="wedgeEllipseCallout">
            <a:avLst>
              <a:gd name="adj1" fmla="val -56046"/>
              <a:gd name="adj2" fmla="val 74977"/>
            </a:avLst>
          </a:prstGeom>
          <a:solidFill>
            <a:schemeClr val="lt1"/>
          </a:solidFill>
          <a:ln w="25400" cap="flat" cmpd="sng">
            <a:solidFill>
              <a:srgbClr val="002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“Twenty potential barriers were identified and classified in six categories: technical, motivational, economic,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political, legal and ethical.”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Subset of PEARL: political, ethical, administrative, regulatory, and legal.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/>
        </p:nvSpPr>
        <p:spPr>
          <a:xfrm>
            <a:off x="-1" y="1593950"/>
            <a:ext cx="11375571" cy="412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0550" tIns="210550" rIns="210550" bIns="21055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McMahan et al 2016 “Communication-Efficient Learning of Deep Networks from Decentralized Data” arXiv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4526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used by Google to improve next-word text prediction for Gboard.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on previous literature on, e.g. Privacy-Preserving Data Mining (PPDM), Secure Multi-Party Computation (SMPC) and Edge Computing.</a:t>
            </a:r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1485900" y="905334"/>
            <a:ext cx="9220200" cy="77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emiBold"/>
              <a:buNone/>
            </a:pPr>
            <a:r>
              <a:rPr lang="es-E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 of “Federated Learning”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 b="57263"/>
          <a:stretch/>
        </p:blipFill>
        <p:spPr>
          <a:xfrm>
            <a:off x="1903510" y="990599"/>
            <a:ext cx="8078691" cy="4603009"/>
          </a:xfrm>
          <a:prstGeom prst="rect">
            <a:avLst/>
          </a:prstGeom>
          <a:noFill/>
          <a:ln w="9525" cap="flat" cmpd="sng">
            <a:solidFill>
              <a:srgbClr val="002F4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/>
          <p:cNvPicPr preferRelativeResize="0"/>
          <p:nvPr/>
        </p:nvPicPr>
        <p:blipFill rotWithShape="1">
          <a:blip r:embed="rId3">
            <a:alphaModFix/>
          </a:blip>
          <a:srcRect b="57263"/>
          <a:stretch/>
        </p:blipFill>
        <p:spPr>
          <a:xfrm>
            <a:off x="1903510" y="990599"/>
            <a:ext cx="8078691" cy="4603009"/>
          </a:xfrm>
          <a:prstGeom prst="rect">
            <a:avLst/>
          </a:prstGeom>
          <a:noFill/>
          <a:ln w="9525" cap="flat" cmpd="sng">
            <a:solidFill>
              <a:srgbClr val="002F4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5" name="Google Shape;165;p27"/>
          <p:cNvSpPr/>
          <p:nvPr/>
        </p:nvSpPr>
        <p:spPr>
          <a:xfrm>
            <a:off x="7543801" y="119741"/>
            <a:ext cx="4495800" cy="4603009"/>
          </a:xfrm>
          <a:prstGeom prst="wedgeEllipseCallout">
            <a:avLst>
              <a:gd name="adj1" fmla="val -62723"/>
              <a:gd name="adj2" fmla="val 10611"/>
            </a:avLst>
          </a:prstGeom>
          <a:solidFill>
            <a:schemeClr val="lt1"/>
          </a:solidFill>
          <a:ln w="25400" cap="flat" cmpd="sng">
            <a:solidFill>
              <a:srgbClr val="002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 approaches, like the original FedAvg, focus on prediction, are model agnostic, and may be more prone to bias.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Statistical approaches, e.g. GLORE (Grid binary LOgistic REgression) focus more on parameter estimation from specific models, and may be less biased.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0" y="1310924"/>
            <a:ext cx="11963400" cy="412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0550" tIns="210550" rIns="210550" bIns="21055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site-specific statistics we can calculate overall median, standard deviation, minimum, etc, but not the overall median. 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 (2013) explains this in terms of monoids: algebraic structures which have i) a set of elements, ii) an associative binary operation and iii) an identity element.</a:t>
            </a:r>
            <a:endParaRPr/>
          </a:p>
          <a:p>
            <a:pPr marL="424526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mean, the elements are the site-specific means and counts; for SD, the counts, sums, and sum of squares.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 median cannot be “monoidified”.</a:t>
            </a:r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title"/>
          </p:nvPr>
        </p:nvSpPr>
        <p:spPr>
          <a:xfrm>
            <a:off x="1485900" y="755149"/>
            <a:ext cx="9220200" cy="77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emiBold"/>
              <a:buNone/>
            </a:pPr>
            <a:r>
              <a:rPr lang="es-E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 is not always exact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/>
        </p:nvSpPr>
        <p:spPr>
          <a:xfrm>
            <a:off x="0" y="1310924"/>
            <a:ext cx="11821887" cy="412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0550" tIns="210550" rIns="210550" bIns="21055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two participant profiles: clinician / epidemiologist and statistician / data scientist.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because we want the activity to have a public health impact, as well as imparting technical knowledge.</a:t>
            </a:r>
            <a:endParaRPr/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GHN Regional Programme">
  <a:themeElements>
    <a:clrScheme name="TGHN Them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71BC"/>
      </a:accent1>
      <a:accent2>
        <a:srgbClr val="771213"/>
      </a:accent2>
      <a:accent3>
        <a:srgbClr val="80AF40"/>
      </a:accent3>
      <a:accent4>
        <a:srgbClr val="79CBC6"/>
      </a:accent4>
      <a:accent5>
        <a:srgbClr val="F06EA9"/>
      </a:accent5>
      <a:accent6>
        <a:srgbClr val="CBDFF3"/>
      </a:accent6>
      <a:hlink>
        <a:srgbClr val="E97132"/>
      </a:hlink>
      <a:folHlink>
        <a:srgbClr val="E9713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Panorámica</PresentationFormat>
  <Paragraphs>25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Noto Sans SemiBold</vt:lpstr>
      <vt:lpstr>Noto Sans</vt:lpstr>
      <vt:lpstr>Calibri</vt:lpstr>
      <vt:lpstr>TGHN Regional Programme</vt:lpstr>
      <vt:lpstr>Diseño personalizado</vt:lpstr>
      <vt:lpstr>Presentación de PowerPoint</vt:lpstr>
      <vt:lpstr>Cronograma</vt:lpstr>
      <vt:lpstr>Presentación de PowerPoint</vt:lpstr>
      <vt:lpstr>Presentación de PowerPoint</vt:lpstr>
      <vt:lpstr>Origin of “Federated Learning”</vt:lpstr>
      <vt:lpstr>Presentación de PowerPoint</vt:lpstr>
      <vt:lpstr>Presentación de PowerPoint</vt:lpstr>
      <vt:lpstr>FL is not always exact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aulas</cp:lastModifiedBy>
  <cp:revision>1</cp:revision>
  <dcterms:modified xsi:type="dcterms:W3CDTF">2026-10-05T12:31:21Z</dcterms:modified>
</cp:coreProperties>
</file>