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Lst>
  <p:notesMasterIdLst>
    <p:notesMasterId r:id="rId28"/>
  </p:notesMasterIdLst>
  <p:sldIdLst>
    <p:sldId id="263" r:id="rId3"/>
    <p:sldId id="264" r:id="rId4"/>
    <p:sldId id="265" r:id="rId5"/>
    <p:sldId id="266" r:id="rId6"/>
    <p:sldId id="267" r:id="rId7"/>
    <p:sldId id="268" r:id="rId8"/>
    <p:sldId id="269" r:id="rId9"/>
    <p:sldId id="270" r:id="rId10"/>
    <p:sldId id="271" r:id="rId11"/>
    <p:sldId id="272" r:id="rId12"/>
    <p:sldId id="273" r:id="rId13"/>
    <p:sldId id="275" r:id="rId14"/>
    <p:sldId id="256" r:id="rId15"/>
    <p:sldId id="257" r:id="rId16"/>
    <p:sldId id="258" r:id="rId17"/>
    <p:sldId id="259" r:id="rId18"/>
    <p:sldId id="260" r:id="rId19"/>
    <p:sldId id="262" r:id="rId20"/>
    <p:sldId id="277" r:id="rId21"/>
    <p:sldId id="278" r:id="rId22"/>
    <p:sldId id="279" r:id="rId23"/>
    <p:sldId id="280" r:id="rId24"/>
    <p:sldId id="281" r:id="rId25"/>
    <p:sldId id="282" r:id="rId26"/>
    <p:sldId id="284" r:id="rId27"/>
  </p:sldIdLst>
  <p:sldSz cx="12192000" cy="6858000"/>
  <p:notesSz cx="6858000" cy="9144000"/>
  <p:embeddedFontLst>
    <p:embeddedFont>
      <p:font typeface="Calibri" panose="020F0502020204030204" pitchFamily="34" charset="0"/>
      <p:regular r:id="rId29"/>
      <p:bold r:id="rId30"/>
      <p:italic r:id="rId31"/>
      <p:boldItalic r:id="rId32"/>
    </p:embeddedFont>
    <p:embeddedFont>
      <p:font typeface="Calibri Light" panose="020F0302020204030204" pitchFamily="34" charset="0"/>
      <p:regular r:id="rId33"/>
      <p:italic r:id="rId34"/>
    </p:embeddedFont>
    <p:embeddedFont>
      <p:font typeface="Noto Sans" panose="020B0502040504020204" pitchFamily="34" charset="0"/>
      <p:regular r:id="rId35"/>
      <p:bold r:id="rId36"/>
      <p:italic r:id="rId37"/>
      <p:boldItalic r:id="rId38"/>
    </p:embeddedFont>
    <p:embeddedFont>
      <p:font typeface="Noto Sans SemiBold" panose="020B060402020202020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221"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font" Target="fonts/font14.fntdata"/><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Garcia" userId="6ed11bed-e8f2-467c-a1c5-7a34c4f9f419" providerId="ADAL" clId="{B1FCCFF3-7AB9-4AEC-A7CE-537726BCFAE8}"/>
    <pc:docChg chg="addSld delSld modSld">
      <pc:chgData name="Esteban Garcia" userId="6ed11bed-e8f2-467c-a1c5-7a34c4f9f419" providerId="ADAL" clId="{B1FCCFF3-7AB9-4AEC-A7CE-537726BCFAE8}" dt="2026-10-04T14:35:46.851" v="28" actId="47"/>
      <pc:docMkLst>
        <pc:docMk/>
      </pc:docMkLst>
      <pc:sldChg chg="modSp mod">
        <pc:chgData name="Esteban Garcia" userId="6ed11bed-e8f2-467c-a1c5-7a34c4f9f419" providerId="ADAL" clId="{B1FCCFF3-7AB9-4AEC-A7CE-537726BCFAE8}" dt="2026-10-04T14:31:26.542" v="0" actId="20577"/>
        <pc:sldMkLst>
          <pc:docMk/>
          <pc:sldMk cId="2054197913" sldId="256"/>
        </pc:sldMkLst>
        <pc:spChg chg="mod">
          <ac:chgData name="Esteban Garcia" userId="6ed11bed-e8f2-467c-a1c5-7a34c4f9f419" providerId="ADAL" clId="{B1FCCFF3-7AB9-4AEC-A7CE-537726BCFAE8}" dt="2026-10-04T14:31:26.542" v="0" actId="20577"/>
          <ac:spMkLst>
            <pc:docMk/>
            <pc:sldMk cId="2054197913" sldId="256"/>
            <ac:spMk id="2" creationId="{FBC375C3-E990-4779-8135-D5C290DB239C}"/>
          </ac:spMkLst>
        </pc:spChg>
      </pc:sldChg>
      <pc:sldChg chg="del">
        <pc:chgData name="Esteban Garcia" userId="6ed11bed-e8f2-467c-a1c5-7a34c4f9f419" providerId="ADAL" clId="{B1FCCFF3-7AB9-4AEC-A7CE-537726BCFAE8}" dt="2026-10-04T14:34:50.880" v="7" actId="47"/>
        <pc:sldMkLst>
          <pc:docMk/>
          <pc:sldMk cId="693502589" sldId="261"/>
        </pc:sldMkLst>
      </pc:sldChg>
      <pc:sldChg chg="del">
        <pc:chgData name="Esteban Garcia" userId="6ed11bed-e8f2-467c-a1c5-7a34c4f9f419" providerId="ADAL" clId="{B1FCCFF3-7AB9-4AEC-A7CE-537726BCFAE8}" dt="2026-10-04T14:31:35.410" v="1" actId="47"/>
        <pc:sldMkLst>
          <pc:docMk/>
          <pc:sldMk cId="693502589" sldId="263"/>
        </pc:sldMkLst>
      </pc:sldChg>
      <pc:sldChg chg="add">
        <pc:chgData name="Esteban Garcia" userId="6ed11bed-e8f2-467c-a1c5-7a34c4f9f419" providerId="ADAL" clId="{B1FCCFF3-7AB9-4AEC-A7CE-537726BCFAE8}" dt="2026-10-04T14:32:33.751" v="2"/>
        <pc:sldMkLst>
          <pc:docMk/>
          <pc:sldMk cId="1507329429" sldId="263"/>
        </pc:sldMkLst>
      </pc:sldChg>
      <pc:sldChg chg="add">
        <pc:chgData name="Esteban Garcia" userId="6ed11bed-e8f2-467c-a1c5-7a34c4f9f419" providerId="ADAL" clId="{B1FCCFF3-7AB9-4AEC-A7CE-537726BCFAE8}" dt="2026-10-04T14:32:33.751" v="2"/>
        <pc:sldMkLst>
          <pc:docMk/>
          <pc:sldMk cId="1752435432" sldId="264"/>
        </pc:sldMkLst>
      </pc:sldChg>
      <pc:sldChg chg="add">
        <pc:chgData name="Esteban Garcia" userId="6ed11bed-e8f2-467c-a1c5-7a34c4f9f419" providerId="ADAL" clId="{B1FCCFF3-7AB9-4AEC-A7CE-537726BCFAE8}" dt="2026-10-04T14:32:33.751" v="2"/>
        <pc:sldMkLst>
          <pc:docMk/>
          <pc:sldMk cId="3078958095" sldId="265"/>
        </pc:sldMkLst>
      </pc:sldChg>
      <pc:sldChg chg="add">
        <pc:chgData name="Esteban Garcia" userId="6ed11bed-e8f2-467c-a1c5-7a34c4f9f419" providerId="ADAL" clId="{B1FCCFF3-7AB9-4AEC-A7CE-537726BCFAE8}" dt="2026-10-04T14:32:33.751" v="2"/>
        <pc:sldMkLst>
          <pc:docMk/>
          <pc:sldMk cId="1635859866" sldId="266"/>
        </pc:sldMkLst>
      </pc:sldChg>
      <pc:sldChg chg="add">
        <pc:chgData name="Esteban Garcia" userId="6ed11bed-e8f2-467c-a1c5-7a34c4f9f419" providerId="ADAL" clId="{B1FCCFF3-7AB9-4AEC-A7CE-537726BCFAE8}" dt="2026-10-04T14:32:33.751" v="2"/>
        <pc:sldMkLst>
          <pc:docMk/>
          <pc:sldMk cId="459810925" sldId="267"/>
        </pc:sldMkLst>
      </pc:sldChg>
      <pc:sldChg chg="add">
        <pc:chgData name="Esteban Garcia" userId="6ed11bed-e8f2-467c-a1c5-7a34c4f9f419" providerId="ADAL" clId="{B1FCCFF3-7AB9-4AEC-A7CE-537726BCFAE8}" dt="2026-10-04T14:32:33.751" v="2"/>
        <pc:sldMkLst>
          <pc:docMk/>
          <pc:sldMk cId="464932705" sldId="268"/>
        </pc:sldMkLst>
      </pc:sldChg>
      <pc:sldChg chg="add">
        <pc:chgData name="Esteban Garcia" userId="6ed11bed-e8f2-467c-a1c5-7a34c4f9f419" providerId="ADAL" clId="{B1FCCFF3-7AB9-4AEC-A7CE-537726BCFAE8}" dt="2026-10-04T14:33:02.640" v="3"/>
        <pc:sldMkLst>
          <pc:docMk/>
          <pc:sldMk cId="1857695627" sldId="269"/>
        </pc:sldMkLst>
      </pc:sldChg>
      <pc:sldChg chg="add">
        <pc:chgData name="Esteban Garcia" userId="6ed11bed-e8f2-467c-a1c5-7a34c4f9f419" providerId="ADAL" clId="{B1FCCFF3-7AB9-4AEC-A7CE-537726BCFAE8}" dt="2026-10-04T14:33:02.640" v="3"/>
        <pc:sldMkLst>
          <pc:docMk/>
          <pc:sldMk cId="1745609595" sldId="270"/>
        </pc:sldMkLst>
      </pc:sldChg>
      <pc:sldChg chg="add">
        <pc:chgData name="Esteban Garcia" userId="6ed11bed-e8f2-467c-a1c5-7a34c4f9f419" providerId="ADAL" clId="{B1FCCFF3-7AB9-4AEC-A7CE-537726BCFAE8}" dt="2026-10-04T14:33:02.640" v="3"/>
        <pc:sldMkLst>
          <pc:docMk/>
          <pc:sldMk cId="2645718907" sldId="271"/>
        </pc:sldMkLst>
      </pc:sldChg>
      <pc:sldChg chg="add">
        <pc:chgData name="Esteban Garcia" userId="6ed11bed-e8f2-467c-a1c5-7a34c4f9f419" providerId="ADAL" clId="{B1FCCFF3-7AB9-4AEC-A7CE-537726BCFAE8}" dt="2026-10-04T14:33:02.640" v="3"/>
        <pc:sldMkLst>
          <pc:docMk/>
          <pc:sldMk cId="1080146277" sldId="272"/>
        </pc:sldMkLst>
      </pc:sldChg>
      <pc:sldChg chg="add">
        <pc:chgData name="Esteban Garcia" userId="6ed11bed-e8f2-467c-a1c5-7a34c4f9f419" providerId="ADAL" clId="{B1FCCFF3-7AB9-4AEC-A7CE-537726BCFAE8}" dt="2026-10-04T14:33:02.640" v="3"/>
        <pc:sldMkLst>
          <pc:docMk/>
          <pc:sldMk cId="2227174338" sldId="273"/>
        </pc:sldMkLst>
      </pc:sldChg>
      <pc:sldChg chg="add del">
        <pc:chgData name="Esteban Garcia" userId="6ed11bed-e8f2-467c-a1c5-7a34c4f9f419" providerId="ADAL" clId="{B1FCCFF3-7AB9-4AEC-A7CE-537726BCFAE8}" dt="2026-10-04T14:34:35.088" v="5" actId="47"/>
        <pc:sldMkLst>
          <pc:docMk/>
          <pc:sldMk cId="291869024" sldId="274"/>
        </pc:sldMkLst>
      </pc:sldChg>
      <pc:sldChg chg="add">
        <pc:chgData name="Esteban Garcia" userId="6ed11bed-e8f2-467c-a1c5-7a34c4f9f419" providerId="ADAL" clId="{B1FCCFF3-7AB9-4AEC-A7CE-537726BCFAE8}" dt="2026-10-04T14:33:02.640" v="3"/>
        <pc:sldMkLst>
          <pc:docMk/>
          <pc:sldMk cId="1137090520" sldId="275"/>
        </pc:sldMkLst>
      </pc:sldChg>
      <pc:sldChg chg="add del">
        <pc:chgData name="Esteban Garcia" userId="6ed11bed-e8f2-467c-a1c5-7a34c4f9f419" providerId="ADAL" clId="{B1FCCFF3-7AB9-4AEC-A7CE-537726BCFAE8}" dt="2026-10-04T14:34:38.268" v="6" actId="47"/>
        <pc:sldMkLst>
          <pc:docMk/>
          <pc:sldMk cId="1182006361" sldId="276"/>
        </pc:sldMkLst>
      </pc:sldChg>
      <pc:sldChg chg="add">
        <pc:chgData name="Esteban Garcia" userId="6ed11bed-e8f2-467c-a1c5-7a34c4f9f419" providerId="ADAL" clId="{B1FCCFF3-7AB9-4AEC-A7CE-537726BCFAE8}" dt="2026-10-04T14:33:47.809" v="4"/>
        <pc:sldMkLst>
          <pc:docMk/>
          <pc:sldMk cId="1527158505" sldId="277"/>
        </pc:sldMkLst>
      </pc:sldChg>
      <pc:sldChg chg="add">
        <pc:chgData name="Esteban Garcia" userId="6ed11bed-e8f2-467c-a1c5-7a34c4f9f419" providerId="ADAL" clId="{B1FCCFF3-7AB9-4AEC-A7CE-537726BCFAE8}" dt="2026-10-04T14:33:47.809" v="4"/>
        <pc:sldMkLst>
          <pc:docMk/>
          <pc:sldMk cId="1654717604" sldId="278"/>
        </pc:sldMkLst>
      </pc:sldChg>
      <pc:sldChg chg="add">
        <pc:chgData name="Esteban Garcia" userId="6ed11bed-e8f2-467c-a1c5-7a34c4f9f419" providerId="ADAL" clId="{B1FCCFF3-7AB9-4AEC-A7CE-537726BCFAE8}" dt="2026-10-04T14:33:47.809" v="4"/>
        <pc:sldMkLst>
          <pc:docMk/>
          <pc:sldMk cId="2576497499" sldId="279"/>
        </pc:sldMkLst>
      </pc:sldChg>
      <pc:sldChg chg="add">
        <pc:chgData name="Esteban Garcia" userId="6ed11bed-e8f2-467c-a1c5-7a34c4f9f419" providerId="ADAL" clId="{B1FCCFF3-7AB9-4AEC-A7CE-537726BCFAE8}" dt="2026-10-04T14:33:47.809" v="4"/>
        <pc:sldMkLst>
          <pc:docMk/>
          <pc:sldMk cId="1666575516" sldId="280"/>
        </pc:sldMkLst>
      </pc:sldChg>
      <pc:sldChg chg="modSp add mod">
        <pc:chgData name="Esteban Garcia" userId="6ed11bed-e8f2-467c-a1c5-7a34c4f9f419" providerId="ADAL" clId="{B1FCCFF3-7AB9-4AEC-A7CE-537726BCFAE8}" dt="2026-10-04T14:35:28.597" v="26" actId="20577"/>
        <pc:sldMkLst>
          <pc:docMk/>
          <pc:sldMk cId="3628481421" sldId="281"/>
        </pc:sldMkLst>
        <pc:spChg chg="mod">
          <ac:chgData name="Esteban Garcia" userId="6ed11bed-e8f2-467c-a1c5-7a34c4f9f419" providerId="ADAL" clId="{B1FCCFF3-7AB9-4AEC-A7CE-537726BCFAE8}" dt="2026-10-04T14:35:28.597" v="26" actId="20577"/>
          <ac:spMkLst>
            <pc:docMk/>
            <pc:sldMk cId="3628481421" sldId="281"/>
            <ac:spMk id="3" creationId="{D0B92D2B-9368-4A1D-85A6-70E39E2F1A07}"/>
          </ac:spMkLst>
        </pc:spChg>
      </pc:sldChg>
      <pc:sldChg chg="add">
        <pc:chgData name="Esteban Garcia" userId="6ed11bed-e8f2-467c-a1c5-7a34c4f9f419" providerId="ADAL" clId="{B1FCCFF3-7AB9-4AEC-A7CE-537726BCFAE8}" dt="2026-10-04T14:33:47.809" v="4"/>
        <pc:sldMkLst>
          <pc:docMk/>
          <pc:sldMk cId="3191193648" sldId="282"/>
        </pc:sldMkLst>
      </pc:sldChg>
      <pc:sldChg chg="add del">
        <pc:chgData name="Esteban Garcia" userId="6ed11bed-e8f2-467c-a1c5-7a34c4f9f419" providerId="ADAL" clId="{B1FCCFF3-7AB9-4AEC-A7CE-537726BCFAE8}" dt="2026-10-04T14:35:34.499" v="27" actId="47"/>
        <pc:sldMkLst>
          <pc:docMk/>
          <pc:sldMk cId="1056135698" sldId="283"/>
        </pc:sldMkLst>
      </pc:sldChg>
      <pc:sldChg chg="add">
        <pc:chgData name="Esteban Garcia" userId="6ed11bed-e8f2-467c-a1c5-7a34c4f9f419" providerId="ADAL" clId="{B1FCCFF3-7AB9-4AEC-A7CE-537726BCFAE8}" dt="2026-10-04T14:33:47.809" v="4"/>
        <pc:sldMkLst>
          <pc:docMk/>
          <pc:sldMk cId="2877840693" sldId="284"/>
        </pc:sldMkLst>
      </pc:sldChg>
      <pc:sldChg chg="add del">
        <pc:chgData name="Esteban Garcia" userId="6ed11bed-e8f2-467c-a1c5-7a34c4f9f419" providerId="ADAL" clId="{B1FCCFF3-7AB9-4AEC-A7CE-537726BCFAE8}" dt="2026-10-04T14:35:46.851" v="28" actId="47"/>
        <pc:sldMkLst>
          <pc:docMk/>
          <pc:sldMk cId="3857375879"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Session introduction. Session 3</a:t>
            </a:r>
          </a:p>
          <a:p>
            <a:pPr marL="0" lvl="0" indent="0" algn="l">
              <a:spcBef>
                <a:spcPts val="0"/>
              </a:spcBef>
              <a:spcAft>
                <a:spcPts val="0"/>
              </a:spcAft>
              <a:buNone/>
            </a:pPr>
            <a:r>
              <a:t>Theory and practical</a:t>
            </a:r>
          </a:p>
          <a:p>
            <a:pPr marL="0" lvl="0" indent="0" algn="l">
              <a:spcBef>
                <a:spcPts val="0"/>
              </a:spcBef>
              <a:spcAft>
                <a:spcPts val="0"/>
              </a:spcAft>
              <a:buNone/>
            </a:pPr>
            <a:r>
              <a:t>1.2 hours</a:t>
            </a:r>
          </a:p>
          <a:p>
            <a:pPr marL="0" lvl="0" indent="0" algn="l">
              <a:spcBef>
                <a:spcPts val="0"/>
              </a:spcBef>
              <a:spcAft>
                <a:spcPts val="0"/>
              </a:spcAft>
              <a:buNone/>
            </a:pPr>
            <a:r>
              <a:t>Brief introduction followed by notebook 02. The four practical session durations retain the organiser’s label of 1.2 hours. Introductory teaching should occupy approximately 10–15 minutes, leaving most of each slot for the notebook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This is our descriptive component of the original question about identifying and stratifying early cases. The cohort cannot directly estimate population susceptibility. All notebook examples use dummy dengue data.</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notebooks/02_descriptive_analysis.ipynb.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Link to familiar R summaries. Means/SD and medians/quartiles answer different descriptive needs. Available observations, rather than a single total patient number, may determine the correct weights.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notebooks/02_descriptive_analysis.ipynb.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The weighted mean is exact when counts correspond to non-missing observations. The pooled SD uses suitable sufficient summaries. Global quantiles cannot be reconstructed from local quantiles alone, but other federated algorithms can estimate or compute them. Avoid claiming that all federated quantiles must be approximations.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Notebook 02 returns minima and maxima for teaching. In the DataSHIELD study these were not released. A mathematically exact computation does not imply that the output is safe to publish.</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a:p>
            <a:pPr marL="0" lvl="0" indent="0" algn="l">
              <a:spcBef>
                <a:spcPts val="0"/>
              </a:spcBef>
              <a:spcAft>
                <a:spcPts val="0"/>
              </a:spcAft>
              <a:buNone/>
            </a:pPr>
            <a:endParaRP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Allow approximately 5 minutes at the end. Focus on denominators, enough information for aggregation, approximation and output controls. Keep the total slot labelled 1.2 hours until its interpretation is confirmed.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notebooks/02_descriptive_analysis.ipynb.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Session introduction. Session 4</a:t>
            </a:r>
          </a:p>
          <a:p>
            <a:pPr marL="0" lvl="0" indent="0" algn="l">
              <a:spcBef>
                <a:spcPts val="0"/>
              </a:spcBef>
              <a:spcAft>
                <a:spcPts val="0"/>
              </a:spcAft>
              <a:buNone/>
            </a:pPr>
            <a:r>
              <a:t>Theory and practical</a:t>
            </a:r>
          </a:p>
          <a:p>
            <a:pPr marL="0" lvl="0" indent="0" algn="l">
              <a:spcBef>
                <a:spcPts val="0"/>
              </a:spcBef>
              <a:spcAft>
                <a:spcPts val="0"/>
              </a:spcAft>
              <a:buNone/>
            </a:pPr>
            <a:r>
              <a:t>1.2 hours</a:t>
            </a:r>
          </a:p>
          <a:p>
            <a:pPr marL="0" lvl="0" indent="0" algn="l">
              <a:spcBef>
                <a:spcPts val="0"/>
              </a:spcBef>
              <a:spcAft>
                <a:spcPts val="0"/>
              </a:spcAft>
              <a:buNone/>
            </a:pPr>
            <a:r>
              <a:t>Brief introduction followed by notebook 03. The four practical session durations retain the organiser’s label of 1.2 hours. Introductory teaching should occupy approximately 10–15 minutes, leaving most of each slot for the notebook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Relate this to identifying and stratifying early cases. Notebook 03 analyses one predictor at a time, so its odds ratios are unadjusted associations. They do not establish causation or treatment effects.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notebooks/03_odds_ratios.ipynb.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Odds are p/(1-p), not the probability itself. An OR is not a risk ratio. Age ORs apply to the defined increment. A confidence interval including 1 does not prove absence of an association. Avoid reducing interpretation to a significance label.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notebooks/03_odds_ratios.ipynb.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Explain complete separation intuitively: one predictor group contains no events. Missingness and temporal ordering matter. Interpretive models can still overfit or be biased; not using a train/test split does not remove these problems. The exercise fits univariable models.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Notebook 03 uses fixed-effect inverse-variance meta-analysis. It assumes a common underlying association. It does not necessarily reproduce a pooled model. Excluding unstable local estimates changes which sites contribute. The Jégou study uses a different, random-effects aggregation strategy.</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Allow approximately 5 minutes. Discuss site composition, different comparisons, sparse events and model assumptions. A difference is not automatically an error in federation. The relevant combined estimand must be specified.</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Session introduction. Session 5</a:t>
            </a:r>
          </a:p>
          <a:p>
            <a:pPr marL="0" lvl="0" indent="0" algn="l">
              <a:spcBef>
                <a:spcPts val="0"/>
              </a:spcBef>
              <a:spcAft>
                <a:spcPts val="0"/>
              </a:spcAft>
              <a:buNone/>
            </a:pPr>
            <a:r>
              <a:t>Theory and practical</a:t>
            </a:r>
          </a:p>
          <a:p>
            <a:pPr marL="0" lvl="0" indent="0" algn="l">
              <a:spcBef>
                <a:spcPts val="0"/>
              </a:spcBef>
              <a:spcAft>
                <a:spcPts val="0"/>
              </a:spcAft>
              <a:buNone/>
            </a:pPr>
            <a:r>
              <a:t>1.2 hours</a:t>
            </a:r>
          </a:p>
          <a:p>
            <a:pPr marL="0" lvl="0" indent="0" algn="l">
              <a:spcBef>
                <a:spcPts val="0"/>
              </a:spcBef>
              <a:spcAft>
                <a:spcPts val="0"/>
              </a:spcAft>
              <a:buNone/>
            </a:pPr>
            <a:r>
              <a:t>Brief introduction followed by notebook 04. The four practical session durations retain the organiser’s label of 1.2 hours. Introductory teaching should occupy approximately 10–15 minutes, leaving most of each slot for the notebook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This develops the disease-course component of clinical characterisation. Notebook 04 compares age groups and uses a 30-day summary. Other outcomes need their own event definitions and potentially competing-risk methods.</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notebooks/04_survival_analysis.ipynb.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Censoring is not the same as surviving indefinitely. For standard survival methods, consider whether censoring is informative. Discharge may be a competing event in hospital outcome analyses rather than something to censor without thought.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HR is not a ratio of cumulative risks or survival probabilities. Explain proportional hazards conceptually, without derivation: the relative hazard is assumed constant over time for the basic model. Clinical interpretation depends on that assumption and the chosen event.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In notebook 04, nobody is censored before day 30, so patient-weighted survival equals the pooled day-30 survivor proportion. That equality does not generally hold with earlier censoring. Cox estimates use fixed-effect inverse-variance meta-analysis and can differ from a pooled Cox model. Exact event times or curves can also be disclosive.</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Allow approximately 5 minutes. Keep the exact-match finding conditional on this dummy dataset. Discuss age and mortality differences between sites, precision and the comparison represented by each model.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notebooks/04_survival_analysis.ipynb.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Jégou et al. Capability and accuracy of usual statistical analyses in a real-world setting using a federated approach. PLOS ONE, 19(11) (2024), e0312697. DOI: 10.1371/journal.pone.0312697. Local source: Reference papers/Capability and accuracy of usual statistical analyses in a real-world setting using a federated approach.pdf.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Session introduction. Session 6</a:t>
            </a:r>
          </a:p>
          <a:p>
            <a:pPr marL="0" lvl="0" indent="0" algn="l">
              <a:spcBef>
                <a:spcPts val="0"/>
              </a:spcBef>
              <a:spcAft>
                <a:spcPts val="0"/>
              </a:spcAft>
              <a:buNone/>
            </a:pPr>
            <a:r>
              <a:t>Theory and practical</a:t>
            </a:r>
          </a:p>
          <a:p>
            <a:pPr marL="0" lvl="0" indent="0" algn="l">
              <a:spcBef>
                <a:spcPts val="0"/>
              </a:spcBef>
              <a:spcAft>
                <a:spcPts val="0"/>
              </a:spcAft>
              <a:buNone/>
            </a:pPr>
            <a:r>
              <a:t>1.2 hours</a:t>
            </a:r>
          </a:p>
          <a:p>
            <a:pPr marL="0" lvl="0" indent="0" algn="l">
              <a:spcBef>
                <a:spcPts val="0"/>
              </a:spcBef>
              <a:spcAft>
                <a:spcPts val="0"/>
              </a:spcAft>
              <a:buNone/>
            </a:pPr>
            <a:r>
              <a:t>Brief introduction followed by notebook 05. The four practical session durations retain the organiser’s label of 1.2 hours. Introductory teaching should occupy approximately 10–15 minutes, leaving most of each slot for the notebook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Link to Dunning’s wording about identifying and stratifying early cases. For a genuine early prediction model, only information known at that prediction time belongs in the predictors. The dummy exercise demonstrates mechanics and does not validate a deployable early-warning tool.</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Dunning et al. Open source clinical science for emerging infections. The Lancet Infectious Diseases, 14 (2014), 8–9. Local source: Reference papers/open source clinical science for infectius diseases.pdf.</a:t>
            </a:r>
          </a:p>
          <a:p>
            <a:pPr marL="0" lvl="0" indent="0" algn="l">
              <a:spcBef>
                <a:spcPts val="0"/>
              </a:spcBef>
              <a:spcAft>
                <a:spcPts val="0"/>
              </a:spcAft>
              <a:buNone/>
            </a:pPr>
            <a:endParaRP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2 minutes. The same logistic model family can serve different purposes. A strong association does not guarantee useful prediction. Both purposes require sound design and sufficient information.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notebooks/03_odds_ratios.ipynb.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Explain regularisation conceptually. Notebook 05 uses cross-validation to choose regularisation within training data and compares models on the same test patients. A random split within sites is not external validation in new hospitals. The iterative exercise displays test metrics over rounds; these should not be used to choose the final model in a confirmatory evaluation.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Accuracy can be dominated by survival when mortality is rare. Thresholds trade false positives against false negatives. AUC measures ranking, not calibration or clinical benefit. The notebook reports AUC and threshold metrics but does not assess calibration. Class weighting can affect probability calibration.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notebooks/05_prediction.ipynb. Dummy dengue dataset from five institutions. Teaching simulation, not clinical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Introduction: approximately 3 minutes. This practical demonstrates federated learning, distinct from meta-analysis of completed regression models. Local updates are weighted by training records. The notebook’s patient-weighted average of site AUCs is not the exact pooled AUC, which also includes cross-site patient pairs. Shared parameters and evaluation summaries still require disclosure assessment.</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notebooks/05_prediction.ipynb.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Allow approximately 5 minutes. Exact confusion-matrix counts can be summed, whereas the notebook’s aggregate AUC is approximate. Clinical use would additionally require appropriate timing of predictors, calibration, external validation and evaluation of usefulness. End by connecting prepared questions, CRFs and pipelines to the platform discussion.</a:t>
            </a:r>
          </a:p>
          <a:p>
            <a:pPr marL="0" lvl="0" indent="0" algn="l">
              <a:spcBef>
                <a:spcPts val="0"/>
              </a:spcBef>
              <a:spcAft>
                <a:spcPts val="0"/>
              </a:spcAft>
              <a:buNone/>
            </a:pPr>
            <a:endParaRPr/>
          </a:p>
          <a:p>
            <a:pPr marL="0" lvl="0" indent="0" algn="l">
              <a:spcBef>
                <a:spcPts val="0"/>
              </a:spcBef>
              <a:spcAft>
                <a:spcPts val="0"/>
              </a:spcAft>
              <a:buNone/>
            </a:pPr>
            <a:r>
              <a:t>Sources:</a:t>
            </a:r>
          </a:p>
          <a:p>
            <a:pPr marL="0" lvl="0" indent="0" algn="l">
              <a:spcBef>
                <a:spcPts val="0"/>
              </a:spcBef>
              <a:spcAft>
                <a:spcPts val="0"/>
              </a:spcAft>
              <a:buNone/>
            </a:pPr>
            <a:r>
              <a:t>Workshop notebook: notebooks/05_prediction.ipynb. Dummy dengue dataset from five institutions. Teaching simulation, not clinical evidence.</a:t>
            </a:r>
          </a:p>
          <a:p>
            <a:pPr marL="0" lvl="0" indent="0" algn="l">
              <a:spcBef>
                <a:spcPts val="0"/>
              </a:spcBef>
              <a:spcAft>
                <a:spcPts val="0"/>
              </a:spcAft>
              <a:buNone/>
            </a:pPr>
            <a:endParaRPr/>
          </a:p>
          <a:p>
            <a:pPr marL="0" lvl="0" indent="0" algn="l">
              <a:spcBef>
                <a:spcPts val="0"/>
              </a:spcBef>
              <a:spcAft>
                <a:spcPts val="0"/>
              </a:spcAft>
              <a:buNone/>
            </a:pPr>
            <a:r>
              <a:t>Wang et al. A Survey on Federated Analytics: Taxonomy, Enabling Techniques, Applications and Open Issues. IEEE Communications Surveys &amp; Tutorials, 28 (2026), 2457–2496. Published online 2025. DOI: 10.1109/COMST.2025.3558755. Local source: Reference papers/a survey on federated analytics.pdf.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4_Main Title Slide" userDrawn="1">
  <p:cSld name="4_Main Title Slide">
    <p:spTree>
      <p:nvGrpSpPr>
        <p:cNvPr id="1" name=""/>
        <p:cNvGrpSpPr/>
        <p:nvPr/>
      </p:nvGrpSpPr>
      <p:grpSpPr>
        <a:xfrm>
          <a:off x="0" y="0"/>
          <a:ext cx="0" cy="0"/>
          <a:chOff x="0" y="0"/>
          <a:chExt cx="0" cy="0"/>
        </a:xfrm>
      </p:grpSpPr>
      <p:pic>
        <p:nvPicPr>
          <p:cNvPr id="2" name="Imagen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ur column list acknowledgement">
  <p:cSld name="Four column list acknowledgement">
    <p:spTree>
      <p:nvGrpSpPr>
        <p:cNvPr id="1" name=""/>
        <p:cNvGrpSpPr/>
        <p:nvPr/>
      </p:nvGrpSpPr>
      <p:grpSpPr>
        <a:xfrm>
          <a:off x="0" y="0"/>
          <a:ext cx="0" cy="0"/>
          <a:chOff x="0" y="0"/>
          <a:chExt cx="0" cy="0"/>
        </a:xfrm>
      </p:grpSpPr>
      <p:pic>
        <p:nvPicPr>
          <p:cNvPr id="54" name="Google Shape;46;p5"/>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47" name="Google Shape;47;p5">
            <a:extLst>
              <a:ext uri="{FF2B5EF4-FFF2-40B4-BE49-F238E27FC236}">
                <a16:creationId xmlns:a16="http://schemas.microsoft.com/office/drawing/2014/main" id="{9A5E9520-FC0D-458C-876E-0BB7C71B7925}"/>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48" name="Google Shape;48;p5">
            <a:extLst>
              <a:ext uri="{FF2B5EF4-FFF2-40B4-BE49-F238E27FC236}">
                <a16:creationId xmlns:a16="http://schemas.microsoft.com/office/drawing/2014/main" id="{79E87D33-C212-4CD1-A290-B66A582A7E9A}"/>
              </a:ext>
            </a:extLst>
          </p:cNvPr>
          <p:cNvSpPr>
            <a:spLocks noGrp="1"/>
          </p:cNvSpPr>
          <p:nvPr>
            <p:ph type="body" idx="1"/>
          </p:nvPr>
        </p:nvSpPr>
        <p:spPr>
          <a:xfrm>
            <a:off x="127000" y="1885443"/>
            <a:ext cx="11937999"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9" name="Google Shape;49;p5">
            <a:extLst>
              <a:ext uri="{FF2B5EF4-FFF2-40B4-BE49-F238E27FC236}">
                <a16:creationId xmlns:a16="http://schemas.microsoft.com/office/drawing/2014/main" id="{32A5E638-9AB1-4688-B3BD-90DB1C6E64DC}"/>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50" name="Google Shape;50;p5">
            <a:extLst>
              <a:ext uri="{FF2B5EF4-FFF2-40B4-BE49-F238E27FC236}">
                <a16:creationId xmlns:a16="http://schemas.microsoft.com/office/drawing/2014/main" id="{D223DAD3-2ABC-402E-92C8-3CD40279BE11}"/>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51" name="Google Shape;51;p5">
            <a:extLst>
              <a:ext uri="{FF2B5EF4-FFF2-40B4-BE49-F238E27FC236}">
                <a16:creationId xmlns:a16="http://schemas.microsoft.com/office/drawing/2014/main" id="{89676FB3-E95B-4DCC-8A88-755CD25F6367}"/>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6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62" name="Google Shape;62;p7">
            <a:extLst>
              <a:ext uri="{FF2B5EF4-FFF2-40B4-BE49-F238E27FC236}">
                <a16:creationId xmlns:a16="http://schemas.microsoft.com/office/drawing/2014/main" id="{E148FB94-449C-4D6D-84B5-C40645C8D4E4}"/>
              </a:ext>
            </a:extLst>
          </p:cNvPr>
          <p:cNvSpPr>
            <a:spLocks noGrp="1"/>
          </p:cNvSpPr>
          <p:nvPr>
            <p:ph type="title"/>
          </p:nvPr>
        </p:nvSpPr>
        <p:spPr>
          <a:xfrm>
            <a:off x="831850" y="2466753"/>
            <a:ext cx="10515600" cy="2095722"/>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6000"/>
              <a:buFont typeface="Noto Sans SemiBold"/>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63" name="Google Shape;63;p7">
            <a:extLst>
              <a:ext uri="{FF2B5EF4-FFF2-40B4-BE49-F238E27FC236}">
                <a16:creationId xmlns:a16="http://schemas.microsoft.com/office/drawing/2014/main" id="{49BCCEF6-EA59-4215-ABAD-9944761D34AA}"/>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757575"/>
              </a:buClr>
              <a:buSzPts val="2400"/>
              <a:buNone/>
              <a:defRPr sz="2400">
                <a:solidFill>
                  <a:srgbClr val="757575"/>
                </a:solidFill>
              </a:defRPr>
            </a:lvl1pPr>
            <a:lvl2pPr marL="914400" indent="-228600" algn="l">
              <a:lnSpc>
                <a:spcPct val="90000"/>
              </a:lnSpc>
              <a:spcBef>
                <a:spcPts val="500"/>
              </a:spcBef>
              <a:spcAft>
                <a:spcPts val="0"/>
              </a:spcAft>
              <a:buClr>
                <a:srgbClr val="757575"/>
              </a:buClr>
              <a:buSzPts val="2000"/>
              <a:buNone/>
              <a:defRPr sz="2000">
                <a:solidFill>
                  <a:srgbClr val="757575"/>
                </a:solidFill>
              </a:defRPr>
            </a:lvl2pPr>
            <a:lvl3pPr marL="1371600" indent="-228600" algn="l">
              <a:lnSpc>
                <a:spcPct val="90000"/>
              </a:lnSpc>
              <a:spcBef>
                <a:spcPts val="500"/>
              </a:spcBef>
              <a:spcAft>
                <a:spcPts val="0"/>
              </a:spcAft>
              <a:buClr>
                <a:srgbClr val="757575"/>
              </a:buClr>
              <a:buSzPts val="1800"/>
              <a:buNone/>
              <a:defRPr sz="1800">
                <a:solidFill>
                  <a:srgbClr val="757575"/>
                </a:solidFill>
              </a:defRPr>
            </a:lvl3pPr>
            <a:lvl4pPr marL="1828800" indent="-228600" algn="l">
              <a:lnSpc>
                <a:spcPct val="90000"/>
              </a:lnSpc>
              <a:spcBef>
                <a:spcPts val="500"/>
              </a:spcBef>
              <a:spcAft>
                <a:spcPts val="0"/>
              </a:spcAft>
              <a:buClr>
                <a:srgbClr val="757575"/>
              </a:buClr>
              <a:buSzPts val="1600"/>
              <a:buNone/>
              <a:defRPr sz="1600">
                <a:solidFill>
                  <a:srgbClr val="757575"/>
                </a:solidFill>
              </a:defRPr>
            </a:lvl4pPr>
            <a:lvl5pPr marL="2286000" indent="-228600" algn="l">
              <a:lnSpc>
                <a:spcPct val="90000"/>
              </a:lnSpc>
              <a:spcBef>
                <a:spcPts val="500"/>
              </a:spcBef>
              <a:spcAft>
                <a:spcPts val="0"/>
              </a:spcAft>
              <a:buClr>
                <a:srgbClr val="757575"/>
              </a:buClr>
              <a:buSzPts val="1600"/>
              <a:buNone/>
              <a:defRPr sz="1600">
                <a:solidFill>
                  <a:srgbClr val="757575"/>
                </a:solidFill>
              </a:defRPr>
            </a:lvl5pPr>
            <a:lvl6pPr marL="2743200" indent="-228600" algn="l">
              <a:lnSpc>
                <a:spcPct val="90000"/>
              </a:lnSpc>
              <a:spcBef>
                <a:spcPts val="500"/>
              </a:spcBef>
              <a:spcAft>
                <a:spcPts val="0"/>
              </a:spcAft>
              <a:buClr>
                <a:srgbClr val="757575"/>
              </a:buClr>
              <a:buSzPts val="1600"/>
              <a:buNone/>
              <a:defRPr sz="1600">
                <a:solidFill>
                  <a:srgbClr val="757575"/>
                </a:solidFill>
              </a:defRPr>
            </a:lvl6pPr>
            <a:lvl7pPr marL="3200400" indent="-228600" algn="l">
              <a:lnSpc>
                <a:spcPct val="90000"/>
              </a:lnSpc>
              <a:spcBef>
                <a:spcPts val="500"/>
              </a:spcBef>
              <a:spcAft>
                <a:spcPts val="0"/>
              </a:spcAft>
              <a:buClr>
                <a:srgbClr val="757575"/>
              </a:buClr>
              <a:buSzPts val="1600"/>
              <a:buNone/>
              <a:defRPr sz="1600">
                <a:solidFill>
                  <a:srgbClr val="757575"/>
                </a:solidFill>
              </a:defRPr>
            </a:lvl7pPr>
            <a:lvl8pPr marL="3657600" indent="-228600" algn="l">
              <a:lnSpc>
                <a:spcPct val="90000"/>
              </a:lnSpc>
              <a:spcBef>
                <a:spcPts val="500"/>
              </a:spcBef>
              <a:spcAft>
                <a:spcPts val="0"/>
              </a:spcAft>
              <a:buClr>
                <a:srgbClr val="757575"/>
              </a:buClr>
              <a:buSzPts val="1600"/>
              <a:buNone/>
              <a:defRPr sz="1600">
                <a:solidFill>
                  <a:srgbClr val="757575"/>
                </a:solidFill>
              </a:defRPr>
            </a:lvl8pPr>
            <a:lvl9pPr marL="4114800"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64" name="Google Shape;64;p7">
            <a:extLst>
              <a:ext uri="{FF2B5EF4-FFF2-40B4-BE49-F238E27FC236}">
                <a16:creationId xmlns:a16="http://schemas.microsoft.com/office/drawing/2014/main" id="{B4F94311-9BF8-4255-A1B2-835C813C76F1}"/>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65" name="Google Shape;65;p7">
            <a:extLst>
              <a:ext uri="{FF2B5EF4-FFF2-40B4-BE49-F238E27FC236}">
                <a16:creationId xmlns:a16="http://schemas.microsoft.com/office/drawing/2014/main" id="{41D3CDFB-4B6A-42D6-8061-B9850435D601}"/>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b="0" i="0" u="none" cap="none">
                <a:solidFill>
                  <a:schemeClr val="lt1"/>
                </a:solidFill>
                <a:latin typeface="Arial"/>
                <a:ea typeface="Arial"/>
                <a:cs typeface="Arial"/>
              </a:rPr>
              <a:t>lac.tghn.org</a:t>
            </a:r>
          </a:p>
        </p:txBody>
      </p:sp>
      <p:sp>
        <p:nvSpPr>
          <p:cNvPr id="66" name="Google Shape;66;p7">
            <a:extLst>
              <a:ext uri="{FF2B5EF4-FFF2-40B4-BE49-F238E27FC236}">
                <a16:creationId xmlns:a16="http://schemas.microsoft.com/office/drawing/2014/main" id="{89DC1B53-94E2-40A1-B2F6-C2D97F9C4009}"/>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b="0" i="0" u="none" cap="none">
                <a:solidFill>
                  <a:schemeClr val="lt1"/>
                </a:solidFill>
                <a:latin typeface="Arial"/>
                <a:ea typeface="Arial"/>
                <a:cs typeface="Arial"/>
              </a:rPr>
              <a:t>‹#›</a:t>
            </a:fld>
            <a:endParaRPr sz="1400" b="0" i="0" u="none" cap="none">
              <a:solidFill>
                <a:schemeClr val="lt1"/>
              </a:solidFill>
              <a:latin typeface="Arial"/>
              <a:ea typeface="Arial"/>
              <a:cs typeface="Arial"/>
            </a:endParaRPr>
          </a:p>
        </p:txBody>
      </p:sp>
      <p:pic>
        <p:nvPicPr>
          <p:cNvPr id="73" name="Google Shape;67;p7"/>
          <p:cNvPicPr>
            <a:picLocks noChangeAspect="1"/>
          </p:cNvPicPr>
          <p:nvPr/>
        </p:nvPicPr>
        <p:blipFill>
          <a:blip r:embed="rId2"/>
          <a:srcRect/>
          <a:stretch/>
        </p:blipFill>
        <p:spPr>
          <a:xfrm>
            <a:off x="2846685" y="161363"/>
            <a:ext cx="6498629" cy="735971"/>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Four column list acknowledgement">
  <p:cSld name="1_Four column list acknowledgement">
    <p:spTree>
      <p:nvGrpSpPr>
        <p:cNvPr id="1" name=""/>
        <p:cNvGrpSpPr/>
        <p:nvPr/>
      </p:nvGrpSpPr>
      <p:grpSpPr>
        <a:xfrm>
          <a:off x="0" y="0"/>
          <a:ext cx="0" cy="0"/>
          <a:chOff x="0" y="0"/>
          <a:chExt cx="0" cy="0"/>
        </a:xfrm>
      </p:grpSpPr>
      <p:pic>
        <p:nvPicPr>
          <p:cNvPr id="101" name="Google Shape;90;p11"/>
          <p:cNvPicPr>
            <a:picLocks noChangeAspect="1"/>
          </p:cNvPicPr>
          <p:nvPr/>
        </p:nvPicPr>
        <p:blipFill rotWithShape="1">
          <a:blip r:embed="rId2">
            <a:alphaModFix amt="10000"/>
          </a:blip>
          <a:srcRect t="14912" r="21635" b="31073"/>
          <a:stretch/>
        </p:blipFill>
        <p:spPr>
          <a:xfrm>
            <a:off x="1980961" y="0"/>
            <a:ext cx="10220871" cy="6356351"/>
          </a:xfrm>
          <a:prstGeom prst="rect">
            <a:avLst/>
          </a:prstGeom>
          <a:ln>
            <a:noFill/>
          </a:ln>
        </p:spPr>
      </p:pic>
      <p:sp>
        <p:nvSpPr>
          <p:cNvPr id="91" name="Google Shape;91;p11">
            <a:extLst>
              <a:ext uri="{FF2B5EF4-FFF2-40B4-BE49-F238E27FC236}">
                <a16:creationId xmlns:a16="http://schemas.microsoft.com/office/drawing/2014/main" id="{F6B9BFCA-4990-4B1F-BABA-C85495ADB7DB}"/>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b="0" i="0" u="none" cap="none">
              <a:solidFill>
                <a:schemeClr val="lt1"/>
              </a:solidFill>
              <a:latin typeface="Arial"/>
              <a:ea typeface="Arial"/>
              <a:cs typeface="Arial"/>
            </a:endParaRPr>
          </a:p>
        </p:txBody>
      </p:sp>
      <p:sp>
        <p:nvSpPr>
          <p:cNvPr id="92" name="Google Shape;92;p11">
            <a:extLst>
              <a:ext uri="{FF2B5EF4-FFF2-40B4-BE49-F238E27FC236}">
                <a16:creationId xmlns:a16="http://schemas.microsoft.com/office/drawing/2014/main" id="{440D0FD4-E138-456E-9FED-81C20391795D}"/>
              </a:ext>
            </a:extLst>
          </p:cNvPr>
          <p:cNvSpPr>
            <a:spLocks noGrp="1"/>
          </p:cNvSpPr>
          <p:nvPr>
            <p:ph type="sldNum" idx="12"/>
          </p:nvPr>
        </p:nvSpPr>
        <p:spPr>
          <a:xfrm>
            <a:off x="8610599" y="6393638"/>
            <a:ext cx="3375213"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cap="none">
                <a:solidFill>
                  <a:schemeClr val="lt1"/>
                </a:solidFill>
                <a:latin typeface="Arial"/>
                <a:ea typeface="Arial"/>
                <a:cs typeface="Arial"/>
              </a:defRPr>
            </a:lvl1pPr>
            <a:lvl2pPr marL="0" marR="0" indent="0" algn="r">
              <a:spcBef>
                <a:spcPts val="0"/>
              </a:spcBef>
              <a:buNone/>
              <a:defRPr sz="1200" b="0" i="0" u="none" cap="none">
                <a:solidFill>
                  <a:schemeClr val="lt1"/>
                </a:solidFill>
                <a:latin typeface="Arial"/>
                <a:ea typeface="Arial"/>
                <a:cs typeface="Arial"/>
              </a:defRPr>
            </a:lvl2pPr>
            <a:lvl3pPr marL="0" marR="0" indent="0" algn="r">
              <a:spcBef>
                <a:spcPts val="0"/>
              </a:spcBef>
              <a:buNone/>
              <a:defRPr sz="1200" b="0" i="0" u="none" cap="none">
                <a:solidFill>
                  <a:schemeClr val="lt1"/>
                </a:solidFill>
                <a:latin typeface="Arial"/>
                <a:ea typeface="Arial"/>
                <a:cs typeface="Arial"/>
              </a:defRPr>
            </a:lvl3pPr>
            <a:lvl4pPr marL="0" marR="0" indent="0" algn="r">
              <a:spcBef>
                <a:spcPts val="0"/>
              </a:spcBef>
              <a:buNone/>
              <a:defRPr sz="1200" b="0" i="0" u="none" cap="none">
                <a:solidFill>
                  <a:schemeClr val="lt1"/>
                </a:solidFill>
                <a:latin typeface="Arial"/>
                <a:ea typeface="Arial"/>
                <a:cs typeface="Arial"/>
              </a:defRPr>
            </a:lvl4pPr>
            <a:lvl5pPr marL="0" marR="0" indent="0" algn="r">
              <a:spcBef>
                <a:spcPts val="0"/>
              </a:spcBef>
              <a:buNone/>
              <a:defRPr sz="1200" b="0" i="0" u="none" cap="none">
                <a:solidFill>
                  <a:schemeClr val="lt1"/>
                </a:solidFill>
                <a:latin typeface="Arial"/>
                <a:ea typeface="Arial"/>
                <a:cs typeface="Arial"/>
              </a:defRPr>
            </a:lvl5pPr>
            <a:lvl6pPr marL="0" marR="0" indent="0" algn="r">
              <a:spcBef>
                <a:spcPts val="0"/>
              </a:spcBef>
              <a:buNone/>
              <a:defRPr sz="1200" b="0" i="0" u="none" cap="none">
                <a:solidFill>
                  <a:schemeClr val="lt1"/>
                </a:solidFill>
                <a:latin typeface="Arial"/>
                <a:ea typeface="Arial"/>
                <a:cs typeface="Arial"/>
              </a:defRPr>
            </a:lvl6pPr>
            <a:lvl7pPr marL="0" marR="0" indent="0" algn="r">
              <a:spcBef>
                <a:spcPts val="0"/>
              </a:spcBef>
              <a:buNone/>
              <a:defRPr sz="1200" b="0" i="0" u="none" cap="none">
                <a:solidFill>
                  <a:schemeClr val="lt1"/>
                </a:solidFill>
                <a:latin typeface="Arial"/>
                <a:ea typeface="Arial"/>
                <a:cs typeface="Arial"/>
              </a:defRPr>
            </a:lvl7pPr>
            <a:lvl8pPr marL="0" marR="0" indent="0" algn="r">
              <a:spcBef>
                <a:spcPts val="0"/>
              </a:spcBef>
              <a:buNone/>
              <a:defRPr sz="1200" b="0" i="0" u="none" cap="none">
                <a:solidFill>
                  <a:schemeClr val="lt1"/>
                </a:solidFill>
                <a:latin typeface="Arial"/>
                <a:ea typeface="Arial"/>
                <a:cs typeface="Arial"/>
              </a:defRPr>
            </a:lvl8pPr>
            <a:lvl9pPr marL="0" marR="0" indent="0" algn="r">
              <a:spcBef>
                <a:spcPts val="0"/>
              </a:spcBef>
              <a:buNone/>
              <a:defRPr sz="1200" b="0" i="0" u="none" cap="none">
                <a:solidFill>
                  <a:schemeClr val="lt1"/>
                </a:solidFill>
                <a:latin typeface="Arial"/>
                <a:ea typeface="Arial"/>
                <a:cs typeface="Arial"/>
              </a:defRPr>
            </a:lvl9pPr>
          </a:lstStyle>
          <a:p>
            <a:pPr marL="0" lvl="0" indent="0" algn="r">
              <a:spcBef>
                <a:spcPts val="0"/>
              </a:spcBef>
              <a:spcAft>
                <a:spcPts val="0"/>
              </a:spcAft>
              <a:buNone/>
            </a:pPr>
            <a:fld id="{00000000-1234-1234-1234-123412341234}" type="slidenum">
              <a:t>‹#›</a:t>
            </a:fld>
            <a:endParaRPr/>
          </a:p>
        </p:txBody>
      </p:sp>
      <p:sp>
        <p:nvSpPr>
          <p:cNvPr id="93" name="Google Shape;93;p11">
            <a:extLst>
              <a:ext uri="{FF2B5EF4-FFF2-40B4-BE49-F238E27FC236}">
                <a16:creationId xmlns:a16="http://schemas.microsoft.com/office/drawing/2014/main" id="{768FAEE8-8964-478A-B90E-9925B2F17196}"/>
              </a:ext>
            </a:extLst>
          </p:cNvPr>
          <p:cNvSpPr>
            <a:spLocks noGrp="1"/>
          </p:cNvSpPr>
          <p:nvPr/>
        </p:nvSpPr>
        <p:spPr>
          <a:xfrm>
            <a:off x="206188" y="6389431"/>
            <a:ext cx="5250426" cy="369332"/>
          </a:xfrm>
          <a:prstGeom prst="rect">
            <a:avLst/>
          </a:prstGeom>
          <a:noFill/>
          <a:ln>
            <a:noFill/>
          </a:ln>
        </p:spPr>
        <p:txBody>
          <a:bodyPr spcFirstLastPara="1" wrap="square" lIns="91425" tIns="45700" rIns="91425" bIns="45700" anchor="t">
            <a:spAutoFit/>
          </a:bodyPr>
          <a:lstStyle/>
          <a:p>
            <a:pPr marL="0" marR="0" lvl="0" indent="0" algn="l">
              <a:spcBef>
                <a:spcPts val="0"/>
              </a:spcBef>
              <a:spcAft>
                <a:spcPts val="0"/>
              </a:spcAft>
              <a:buNone/>
            </a:pPr>
            <a:r>
              <a:rPr sz="1800" b="0" i="0" u="none" cap="none">
                <a:solidFill>
                  <a:schemeClr val="lt1"/>
                </a:solidFill>
                <a:latin typeface="Arial"/>
                <a:ea typeface="Arial"/>
                <a:cs typeface="Arial"/>
              </a:rPr>
              <a:t>www.theglobalhealthnetwork.org</a:t>
            </a:r>
            <a:endParaRPr sz="1800">
              <a:solidFill>
                <a:schemeClr val="lt1"/>
              </a:solidFill>
              <a:latin typeface="Arial"/>
              <a:ea typeface="Arial"/>
              <a:cs typeface="Arial"/>
            </a:endParaRPr>
          </a:p>
        </p:txBody>
      </p:sp>
      <p:sp>
        <p:nvSpPr>
          <p:cNvPr id="94" name="Google Shape;94;p11">
            <a:extLst>
              <a:ext uri="{FF2B5EF4-FFF2-40B4-BE49-F238E27FC236}">
                <a16:creationId xmlns:a16="http://schemas.microsoft.com/office/drawing/2014/main" id="{D4542BA0-829B-40E9-ABD2-832BB50B9EBB}"/>
              </a:ext>
            </a:extLst>
          </p:cNvPr>
          <p:cNvSpPr>
            <a:spLocks noGrp="1"/>
          </p:cNvSpPr>
          <p:nvPr>
            <p:ph type="title"/>
          </p:nvPr>
        </p:nvSpPr>
        <p:spPr>
          <a:xfrm>
            <a:off x="206188" y="365125"/>
            <a:ext cx="11779624"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95" name="Google Shape;95;p11">
            <a:extLst>
              <a:ext uri="{FF2B5EF4-FFF2-40B4-BE49-F238E27FC236}">
                <a16:creationId xmlns:a16="http://schemas.microsoft.com/office/drawing/2014/main" id="{41D5F9C2-74BF-4595-B96C-8E17A1D6157F}"/>
              </a:ext>
            </a:extLst>
          </p:cNvPr>
          <p:cNvSpPr>
            <a:spLocks noGrp="1"/>
          </p:cNvSpPr>
          <p:nvPr>
            <p:ph type="body" idx="1"/>
          </p:nvPr>
        </p:nvSpPr>
        <p:spPr>
          <a:xfrm>
            <a:off x="206188" y="1885443"/>
            <a:ext cx="11779623" cy="4054111"/>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96" name="Google Shape;96;p11">
            <a:extLst>
              <a:ext uri="{FF2B5EF4-FFF2-40B4-BE49-F238E27FC236}">
                <a16:creationId xmlns:a16="http://schemas.microsoft.com/office/drawing/2014/main" id="{41EA4ACF-CAA0-4B7F-B2B6-B94F63DB7FD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97" name="Google Shape;97;p11">
            <a:extLst>
              <a:ext uri="{FF2B5EF4-FFF2-40B4-BE49-F238E27FC236}">
                <a16:creationId xmlns:a16="http://schemas.microsoft.com/office/drawing/2014/main" id="{8CE73B78-DEBE-43F7-ADED-84418C6B4139}"/>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98" name="Google Shape;98;p11">
            <a:extLst>
              <a:ext uri="{FF2B5EF4-FFF2-40B4-BE49-F238E27FC236}">
                <a16:creationId xmlns:a16="http://schemas.microsoft.com/office/drawing/2014/main" id="{11FC630F-E955-44C3-8A65-8B5CC2F1221A}"/>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pic>
        <p:nvPicPr>
          <p:cNvPr id="11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Title Slide">
  <p:cSld name="Main Title Slide">
    <p:spTree>
      <p:nvGrpSpPr>
        <p:cNvPr id="1" name=""/>
        <p:cNvGrpSpPr/>
        <p:nvPr/>
      </p:nvGrpSpPr>
      <p:grpSpPr>
        <a:xfrm>
          <a:off x="0" y="0"/>
          <a:ext cx="0" cy="0"/>
          <a:chOff x="0" y="0"/>
          <a:chExt cx="0" cy="0"/>
        </a:xfrm>
      </p:grpSpPr>
      <p:sp>
        <p:nvSpPr>
          <p:cNvPr id="140" name="Google Shape;140;p15">
            <a:extLst>
              <a:ext uri="{FF2B5EF4-FFF2-40B4-BE49-F238E27FC236}">
                <a16:creationId xmlns:a16="http://schemas.microsoft.com/office/drawing/2014/main" id="{C0174BEF-FBA0-4500-A9CA-3A866F131148}"/>
              </a:ext>
            </a:extLst>
          </p:cNvPr>
          <p:cNvSpPr>
            <a:spLocks noGrp="1"/>
          </p:cNvSpPr>
          <p:nvPr/>
        </p:nvSpPr>
        <p:spPr>
          <a:xfrm>
            <a:off x="9832" y="1884834"/>
            <a:ext cx="12192000" cy="4973166"/>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pic>
        <p:nvPicPr>
          <p:cNvPr id="147" name="Google Shape;141;p15"/>
          <p:cNvPicPr>
            <a:picLocks noChangeAspect="1"/>
          </p:cNvPicPr>
          <p:nvPr/>
        </p:nvPicPr>
        <p:blipFill rotWithShape="1">
          <a:blip r:embed="rId2">
            <a:alphaModFix amt="10000"/>
          </a:blip>
          <a:srcRect t="10864" r="4297" b="45730"/>
          <a:stretch/>
        </p:blipFill>
        <p:spPr>
          <a:xfrm>
            <a:off x="-9832" y="1876813"/>
            <a:ext cx="12192000" cy="4989208"/>
          </a:xfrm>
          <a:prstGeom prst="rect">
            <a:avLst/>
          </a:prstGeom>
          <a:ln>
            <a:noFill/>
          </a:ln>
        </p:spPr>
      </p:pic>
      <p:sp>
        <p:nvSpPr>
          <p:cNvPr id="142" name="Google Shape;142;p15">
            <a:extLst>
              <a:ext uri="{FF2B5EF4-FFF2-40B4-BE49-F238E27FC236}">
                <a16:creationId xmlns:a16="http://schemas.microsoft.com/office/drawing/2014/main" id="{545E2D1D-36B3-482E-97E0-5006F75FFA1F}"/>
              </a:ext>
            </a:extLst>
          </p:cNvPr>
          <p:cNvSpPr>
            <a:spLocks noGrp="1"/>
          </p:cNvSpPr>
          <p:nvPr>
            <p:ph type="ctrTitle"/>
          </p:nvPr>
        </p:nvSpPr>
        <p:spPr>
          <a:xfrm>
            <a:off x="206188" y="2494210"/>
            <a:ext cx="9429425" cy="19440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Noto Sans SemiBold"/>
              <a:buNone/>
              <a:defRPr sz="6000" b="1" i="0">
                <a:solidFill>
                  <a:schemeClr val="lt1"/>
                </a:solidFill>
                <a:latin typeface="Noto Sans SemiBold"/>
                <a:ea typeface="Noto Sans SemiBold"/>
                <a:cs typeface="Noto Sans SemiBold"/>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43" name="Google Shape;143;p15">
            <a:extLst>
              <a:ext uri="{FF2B5EF4-FFF2-40B4-BE49-F238E27FC236}">
                <a16:creationId xmlns:a16="http://schemas.microsoft.com/office/drawing/2014/main" id="{BBB7F043-6FB5-4129-A3EA-E634B62D89EB}"/>
              </a:ext>
            </a:extLst>
          </p:cNvPr>
          <p:cNvSpPr>
            <a:spLocks noGrp="1"/>
          </p:cNvSpPr>
          <p:nvPr>
            <p:ph type="subTitle" idx="1"/>
          </p:nvPr>
        </p:nvSpPr>
        <p:spPr>
          <a:xfrm>
            <a:off x="206188" y="4676105"/>
            <a:ext cx="9429425" cy="1458357"/>
          </a:xfrm>
          <a:prstGeom prst="rect">
            <a:avLst/>
          </a:prstGeom>
          <a:noFill/>
          <a:ln>
            <a:noFill/>
          </a:ln>
        </p:spPr>
        <p:txBody>
          <a:bodyPr spcFirstLastPara="1" wrap="square" lIns="91425" tIns="45700" rIns="91425" bIns="45700" anchor="t">
            <a:normAutofit/>
          </a:bodyPr>
          <a:lstStyle>
            <a:lvl1pPr algn="l">
              <a:lnSpc>
                <a:spcPct val="90000"/>
              </a:lnSpc>
              <a:spcBef>
                <a:spcPts val="1000"/>
              </a:spcBef>
              <a:spcAft>
                <a:spcPts val="0"/>
              </a:spcAft>
              <a:buClr>
                <a:schemeClr val="lt1"/>
              </a:buClr>
              <a:buSzPts val="2400"/>
              <a:buNone/>
              <a:defRPr sz="2400" b="0" i="0">
                <a:solidFill>
                  <a:schemeClr val="lt1"/>
                </a:solidFill>
                <a:latin typeface="Noto Sans"/>
                <a:ea typeface="Noto Sans"/>
                <a:cs typeface="Noto Sans"/>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pic>
        <p:nvPicPr>
          <p:cNvPr id="150" name="Google Shape;67;p7"/>
          <p:cNvPicPr>
            <a:picLocks noChangeAspect="1"/>
          </p:cNvPicPr>
          <p:nvPr/>
        </p:nvPicPr>
        <p:blipFill>
          <a:blip r:embed="rId3"/>
          <a:srcRect/>
          <a:stretch/>
        </p:blipFill>
        <p:spPr>
          <a:xfrm>
            <a:off x="2846685" y="161363"/>
            <a:ext cx="6498629" cy="735971"/>
          </a:xfrm>
          <a:prstGeom prst="rect">
            <a:avLst/>
          </a:prstGeom>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146" name="Google Shape;146;p16">
            <a:extLst>
              <a:ext uri="{FF2B5EF4-FFF2-40B4-BE49-F238E27FC236}">
                <a16:creationId xmlns:a16="http://schemas.microsoft.com/office/drawing/2014/main" id="{B70494F9-1764-4DDE-B73F-A465A94FA33D}"/>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47" name="Google Shape;147;p16">
            <a:extLst>
              <a:ext uri="{FF2B5EF4-FFF2-40B4-BE49-F238E27FC236}">
                <a16:creationId xmlns:a16="http://schemas.microsoft.com/office/drawing/2014/main" id="{A2D46B4E-4727-42CA-9044-FB2323F6E6AE}"/>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48" name="Google Shape;148;p16">
            <a:extLst>
              <a:ext uri="{FF2B5EF4-FFF2-40B4-BE49-F238E27FC236}">
                <a16:creationId xmlns:a16="http://schemas.microsoft.com/office/drawing/2014/main" id="{68B13552-BEB2-4AEA-AD36-96A7752D38F0}"/>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
        <p:nvSpPr>
          <p:cNvPr id="149" name="Google Shape;149;p16">
            <a:extLst>
              <a:ext uri="{FF2B5EF4-FFF2-40B4-BE49-F238E27FC236}">
                <a16:creationId xmlns:a16="http://schemas.microsoft.com/office/drawing/2014/main" id="{4239C657-6E79-4349-B26C-D3FAD6500606}"/>
              </a:ext>
            </a:extLst>
          </p:cNvPr>
          <p:cNvSpPr>
            <a:spLocks noGrp="1"/>
          </p:cNvSpPr>
          <p:nvPr>
            <p:ph type="title"/>
          </p:nvPr>
        </p:nvSpPr>
        <p:spPr>
          <a:xfrm>
            <a:off x="127000" y="365125"/>
            <a:ext cx="11937998"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4000"/>
              <a:buFont typeface="Noto Sans SemiBold"/>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151" name="Google Shape;151;p17">
            <a:extLst>
              <a:ext uri="{FF2B5EF4-FFF2-40B4-BE49-F238E27FC236}">
                <a16:creationId xmlns:a16="http://schemas.microsoft.com/office/drawing/2014/main" id="{54F12B81-B70A-4D50-9D4A-EA2EE1325AE5}"/>
              </a:ext>
            </a:extLst>
          </p:cNvPr>
          <p:cNvSpPr>
            <a:spLocks noGrp="1"/>
          </p:cNvSpPr>
          <p:nvPr>
            <p:ph type="title"/>
          </p:nvPr>
        </p:nvSpPr>
        <p:spPr>
          <a:xfrm>
            <a:off x="127000" y="457200"/>
            <a:ext cx="4645025"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Noto Sans SemiBold"/>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2" name="Google Shape;152;p17">
            <a:extLst>
              <a:ext uri="{FF2B5EF4-FFF2-40B4-BE49-F238E27FC236}">
                <a16:creationId xmlns:a16="http://schemas.microsoft.com/office/drawing/2014/main" id="{4F27DC01-D05C-4135-8C8B-8EE1F199249C}"/>
              </a:ext>
            </a:extLst>
          </p:cNvPr>
          <p:cNvSpPr>
            <a:spLocks noGrp="1"/>
          </p:cNvSpPr>
          <p:nvPr>
            <p:ph type="pic" idx="2"/>
          </p:nvPr>
        </p:nvSpPr>
        <p:spPr>
          <a:xfrm>
            <a:off x="5183188" y="987425"/>
            <a:ext cx="6259304" cy="4873625"/>
          </a:xfrm>
          <a:prstGeom prst="rect">
            <a:avLst/>
          </a:prstGeom>
          <a:noFill/>
          <a:ln>
            <a:noFill/>
          </a:ln>
        </p:spPr>
      </p:sp>
      <p:sp>
        <p:nvSpPr>
          <p:cNvPr id="153" name="Google Shape;153;p17">
            <a:extLst>
              <a:ext uri="{FF2B5EF4-FFF2-40B4-BE49-F238E27FC236}">
                <a16:creationId xmlns:a16="http://schemas.microsoft.com/office/drawing/2014/main" id="{6FAA7D08-5D35-434A-8F42-4D2515C5D8A7}"/>
              </a:ext>
            </a:extLst>
          </p:cNvPr>
          <p:cNvSpPr>
            <a:spLocks noGrp="1"/>
          </p:cNvSpPr>
          <p:nvPr>
            <p:ph type="body" idx="1"/>
          </p:nvPr>
        </p:nvSpPr>
        <p:spPr>
          <a:xfrm>
            <a:off x="749508" y="2057400"/>
            <a:ext cx="402251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
        <p:nvSpPr>
          <p:cNvPr id="154" name="Google Shape;154;p17">
            <a:extLst>
              <a:ext uri="{FF2B5EF4-FFF2-40B4-BE49-F238E27FC236}">
                <a16:creationId xmlns:a16="http://schemas.microsoft.com/office/drawing/2014/main" id="{BBBBC786-BA24-4152-A147-4B8952BD24CF}"/>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55" name="Google Shape;155;p17">
            <a:extLst>
              <a:ext uri="{FF2B5EF4-FFF2-40B4-BE49-F238E27FC236}">
                <a16:creationId xmlns:a16="http://schemas.microsoft.com/office/drawing/2014/main" id="{DC87F332-4312-4701-863C-5099134A9DB6}"/>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56" name="Google Shape;156;p17">
            <a:extLst>
              <a:ext uri="{FF2B5EF4-FFF2-40B4-BE49-F238E27FC236}">
                <a16:creationId xmlns:a16="http://schemas.microsoft.com/office/drawing/2014/main" id="{17CCC4A5-FDB4-4E9E-B7DF-E9C463ACC359}"/>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158" name="Google Shape;158;p18">
            <a:extLst>
              <a:ext uri="{FF2B5EF4-FFF2-40B4-BE49-F238E27FC236}">
                <a16:creationId xmlns:a16="http://schemas.microsoft.com/office/drawing/2014/main" id="{E2372DFA-8A71-484A-A2EB-5B943D00E83A}"/>
              </a:ext>
            </a:extLst>
          </p:cNvPr>
          <p:cNvSpPr>
            <a:spLocks noGrp="1"/>
          </p:cNvSpPr>
          <p:nvPr>
            <p:ph type="title"/>
          </p:nvPr>
        </p:nvSpPr>
        <p:spPr>
          <a:xfrm>
            <a:off x="838200" y="365125"/>
            <a:ext cx="11226800" cy="1387475"/>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59" name="Google Shape;159;p18">
            <a:extLst>
              <a:ext uri="{FF2B5EF4-FFF2-40B4-BE49-F238E27FC236}">
                <a16:creationId xmlns:a16="http://schemas.microsoft.com/office/drawing/2014/main" id="{87D468F9-53AC-4F8E-830E-A079272126AC}"/>
              </a:ext>
            </a:extLst>
          </p:cNvPr>
          <p:cNvSpPr>
            <a:spLocks noGrp="1"/>
          </p:cNvSpPr>
          <p:nvPr>
            <p:ph type="body" idx="1"/>
          </p:nvPr>
        </p:nvSpPr>
        <p:spPr>
          <a:xfrm rot="5400000">
            <a:off x="4698805" y="-1189232"/>
            <a:ext cx="4691063" cy="1004132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0" name="Google Shape;160;p18">
            <a:extLst>
              <a:ext uri="{FF2B5EF4-FFF2-40B4-BE49-F238E27FC236}">
                <a16:creationId xmlns:a16="http://schemas.microsoft.com/office/drawing/2014/main" id="{53DDBFA4-9ADB-4CA4-B4FD-2FF07A6A4252}"/>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1" name="Google Shape;161;p18">
            <a:extLst>
              <a:ext uri="{FF2B5EF4-FFF2-40B4-BE49-F238E27FC236}">
                <a16:creationId xmlns:a16="http://schemas.microsoft.com/office/drawing/2014/main" id="{834C5B60-D9C7-4996-B485-73AB7F171E70}"/>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2" name="Google Shape;162;p18">
            <a:extLst>
              <a:ext uri="{FF2B5EF4-FFF2-40B4-BE49-F238E27FC236}">
                <a16:creationId xmlns:a16="http://schemas.microsoft.com/office/drawing/2014/main" id="{254F87A7-EC1C-4AD2-AFA7-0E16353AFAE4}"/>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164" name="Google Shape;164;p19">
            <a:extLst>
              <a:ext uri="{FF2B5EF4-FFF2-40B4-BE49-F238E27FC236}">
                <a16:creationId xmlns:a16="http://schemas.microsoft.com/office/drawing/2014/main" id="{FCD0D814-3BF0-4ECB-9F78-AC1A8C840BC0}"/>
              </a:ext>
            </a:extLst>
          </p:cNvPr>
          <p:cNvSpPr>
            <a:spLocks noGrp="1"/>
          </p:cNvSpPr>
          <p:nvPr>
            <p:ph type="title"/>
          </p:nvPr>
        </p:nvSpPr>
        <p:spPr>
          <a:xfrm rot="5400000">
            <a:off x="7489031" y="1600994"/>
            <a:ext cx="5811838" cy="33401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165" name="Google Shape;165;p19">
            <a:extLst>
              <a:ext uri="{FF2B5EF4-FFF2-40B4-BE49-F238E27FC236}">
                <a16:creationId xmlns:a16="http://schemas.microsoft.com/office/drawing/2014/main" id="{EA2C0962-AF41-4EF6-A436-52947A710CD6}"/>
              </a:ext>
            </a:extLst>
          </p:cNvPr>
          <p:cNvSpPr>
            <a:spLocks noGrp="1"/>
          </p:cNvSpPr>
          <p:nvPr>
            <p:ph type="body" idx="1"/>
          </p:nvPr>
        </p:nvSpPr>
        <p:spPr>
          <a:xfrm rot="5400000">
            <a:off x="1443831" y="-951706"/>
            <a:ext cx="5811838" cy="84455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166" name="Google Shape;166;p19">
            <a:extLst>
              <a:ext uri="{FF2B5EF4-FFF2-40B4-BE49-F238E27FC236}">
                <a16:creationId xmlns:a16="http://schemas.microsoft.com/office/drawing/2014/main" id="{41D36351-11B7-4624-AA60-9DBF589DFF32}"/>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67" name="Google Shape;167;p19">
            <a:extLst>
              <a:ext uri="{FF2B5EF4-FFF2-40B4-BE49-F238E27FC236}">
                <a16:creationId xmlns:a16="http://schemas.microsoft.com/office/drawing/2014/main" id="{AA9DF33F-93BF-4BF1-AA43-6B8B66C7F4A4}"/>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68" name="Google Shape;168;p19">
            <a:extLst>
              <a:ext uri="{FF2B5EF4-FFF2-40B4-BE49-F238E27FC236}">
                <a16:creationId xmlns:a16="http://schemas.microsoft.com/office/drawing/2014/main" id="{29AF189E-616D-4C31-ABC6-A2189D422478}"/>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
        <p:cNvGrpSpPr/>
        <p:nvPr/>
      </p:nvGrpSpPr>
      <p:grpSpPr>
        <a:xfrm>
          <a:off x="0" y="0"/>
          <a:ext cx="0" cy="0"/>
          <a:chOff x="0" y="0"/>
          <a:chExt cx="0" cy="0"/>
        </a:xfrm>
      </p:grpSpPr>
      <p:sp>
        <p:nvSpPr>
          <p:cNvPr id="170" name="Google Shape;170;p20">
            <a:extLst>
              <a:ext uri="{FF2B5EF4-FFF2-40B4-BE49-F238E27FC236}">
                <a16:creationId xmlns:a16="http://schemas.microsoft.com/office/drawing/2014/main" id="{E4B38B22-2BEE-4C19-83FB-373530A4AA4C}"/>
              </a:ext>
            </a:extLst>
          </p:cNvPr>
          <p:cNvSpPr>
            <a:spLocks noGrp="1"/>
          </p:cNvSpPr>
          <p:nvPr/>
        </p:nvSpPr>
        <p:spPr>
          <a:xfrm>
            <a:off x="0" y="6356350"/>
            <a:ext cx="12201832" cy="501650"/>
          </a:xfrm>
          <a:prstGeom prst="rect">
            <a:avLst/>
          </a:prstGeom>
          <a:solidFill>
            <a:srgbClr val="0673BA"/>
          </a:solidFill>
          <a:ln w="19050" cmpd="sng">
            <a:solidFill>
              <a:srgbClr val="0673BA"/>
            </a:solidFill>
            <a:prstDash val="solid"/>
            <a:headEnd type="none" w="sm" len="sm"/>
            <a:tailEnd type="none" w="sm" len="sm"/>
          </a:ln>
        </p:spPr>
        <p:txBody>
          <a:bodyPr spcFirstLastPara="1" wrap="square" lIns="91425" tIns="45700" rIns="91425" bIns="45700" anchor="ctr">
            <a:noAutofit/>
          </a:bodyPr>
          <a:lstStyle/>
          <a:p>
            <a:pPr marL="0" marR="0" lvl="0" indent="0" algn="ctr">
              <a:spcBef>
                <a:spcPts val="0"/>
              </a:spcBef>
              <a:spcAft>
                <a:spcPts val="0"/>
              </a:spcAft>
              <a:buNone/>
            </a:pPr>
            <a:endParaRPr sz="1800">
              <a:solidFill>
                <a:schemeClr val="lt1"/>
              </a:solidFill>
              <a:latin typeface="Arial"/>
              <a:ea typeface="Arial"/>
              <a:cs typeface="Arial"/>
            </a:endParaRPr>
          </a:p>
        </p:txBody>
      </p:sp>
      <p:sp>
        <p:nvSpPr>
          <p:cNvPr id="171" name="Google Shape;171;p20">
            <a:extLst>
              <a:ext uri="{FF2B5EF4-FFF2-40B4-BE49-F238E27FC236}">
                <a16:creationId xmlns:a16="http://schemas.microsoft.com/office/drawing/2014/main" id="{57BCC1BA-D6EC-4E34-8872-9CA06A88EED4}"/>
              </a:ext>
            </a:extLst>
          </p:cNvPr>
          <p:cNvSpPr>
            <a:spLocks noGrp="1"/>
          </p:cNvSpPr>
          <p:nvPr/>
        </p:nvSpPr>
        <p:spPr>
          <a:xfrm>
            <a:off x="127000" y="6458693"/>
            <a:ext cx="3911600" cy="307777"/>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chemeClr val="lt1"/>
              </a:buClr>
              <a:buSzPts val="1400"/>
              <a:buFont typeface="Arial"/>
              <a:buNone/>
            </a:pPr>
            <a:r>
              <a:rPr sz="1400">
                <a:solidFill>
                  <a:schemeClr val="lt1"/>
                </a:solidFill>
                <a:latin typeface="Arial"/>
                <a:ea typeface="Arial"/>
                <a:cs typeface="Arial"/>
              </a:rPr>
              <a:t>lac.tghn.org</a:t>
            </a:r>
            <a:endParaRPr sz="1400" b="0" i="0">
              <a:solidFill>
                <a:schemeClr val="lt1"/>
              </a:solidFill>
              <a:latin typeface="Arial"/>
              <a:ea typeface="Arial"/>
              <a:cs typeface="Arial"/>
            </a:endParaRPr>
          </a:p>
        </p:txBody>
      </p:sp>
      <p:sp>
        <p:nvSpPr>
          <p:cNvPr id="172" name="Google Shape;172;p20">
            <a:extLst>
              <a:ext uri="{FF2B5EF4-FFF2-40B4-BE49-F238E27FC236}">
                <a16:creationId xmlns:a16="http://schemas.microsoft.com/office/drawing/2014/main" id="{9F923E9C-42A1-47BC-BEDB-0C07AD5A8D9C}"/>
              </a:ext>
            </a:extLst>
          </p:cNvPr>
          <p:cNvSpPr>
            <a:spLocks noGrp="1"/>
          </p:cNvSpPr>
          <p:nvPr/>
        </p:nvSpPr>
        <p:spPr>
          <a:xfrm>
            <a:off x="8816787" y="4382770"/>
            <a:ext cx="3375213"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None/>
            </a:pPr>
            <a:fld id="{00000000-1234-1234-1234-123412341234}" type="slidenum">
              <a:rPr sz="1200">
                <a:solidFill>
                  <a:schemeClr val="lt1"/>
                </a:solidFill>
                <a:latin typeface="Arial"/>
                <a:ea typeface="Arial"/>
                <a:cs typeface="Arial"/>
              </a:rPr>
              <a:t>‹#›</a:t>
            </a:fld>
            <a:endParaRPr sz="1200">
              <a:solidFill>
                <a:schemeClr val="lt1"/>
              </a:solidFill>
              <a:latin typeface="Arial"/>
              <a:ea typeface="Arial"/>
              <a:cs typeface="Arial"/>
            </a:endParaRPr>
          </a:p>
        </p:txBody>
      </p:sp>
      <p:sp>
        <p:nvSpPr>
          <p:cNvPr id="173" name="Google Shape;173;p20">
            <a:extLst>
              <a:ext uri="{FF2B5EF4-FFF2-40B4-BE49-F238E27FC236}">
                <a16:creationId xmlns:a16="http://schemas.microsoft.com/office/drawing/2014/main" id="{39193F28-1EEA-4822-9EF9-FA041E690E9A}"/>
              </a:ext>
            </a:extLst>
          </p:cNvPr>
          <p:cNvSpPr>
            <a:spLocks noGrp="1"/>
          </p:cNvSpPr>
          <p:nvPr/>
        </p:nvSpPr>
        <p:spPr>
          <a:xfrm>
            <a:off x="9080500" y="6458693"/>
            <a:ext cx="2984500" cy="307777"/>
          </a:xfrm>
          <a:prstGeom prst="rect">
            <a:avLst/>
          </a:prstGeom>
          <a:noFill/>
          <a:ln>
            <a:noFill/>
          </a:ln>
        </p:spPr>
        <p:txBody>
          <a:bodyPr spcFirstLastPara="1" wrap="square" lIns="91425" tIns="45700" rIns="91425" bIns="45700" anchor="t">
            <a:spAutoFit/>
          </a:bodyPr>
          <a:lstStyle/>
          <a:p>
            <a:pPr marL="0" marR="0" lvl="0" indent="0" algn="r">
              <a:lnSpc>
                <a:spcPct val="100000"/>
              </a:lnSpc>
              <a:spcBef>
                <a:spcPts val="0"/>
              </a:spcBef>
              <a:spcAft>
                <a:spcPts val="0"/>
              </a:spcAft>
              <a:buClr>
                <a:schemeClr val="lt1"/>
              </a:buClr>
              <a:buSzPts val="1400"/>
              <a:buFont typeface="Arial"/>
              <a:buNone/>
            </a:pPr>
            <a:fld id="{00000000-1234-1234-1234-123412341234}" type="slidenum">
              <a:rPr sz="1400">
                <a:solidFill>
                  <a:schemeClr val="lt1"/>
                </a:solidFill>
                <a:latin typeface="Arial"/>
                <a:ea typeface="Arial"/>
                <a:cs typeface="Arial"/>
              </a:rPr>
              <a:t>‹#›</a:t>
            </a:fld>
            <a:endParaRPr sz="1400" b="0" i="0">
              <a:solidFill>
                <a:schemeClr val="lt1"/>
              </a:solidFill>
              <a:latin typeface="Arial"/>
              <a:ea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F96F-8F72-42AA-A830-A0E3809246B0}"/>
              </a:ext>
            </a:extLst>
          </p:cNvPr>
          <p:cNvSpPr>
            <a:spLocks noGrp="1"/>
          </p:cNvSpPr>
          <p:nvPr>
            <p:ph type="ctrTitle"/>
          </p:nvPr>
        </p:nvSpPr>
        <p:spPr>
          <a:xfrm>
            <a:off x="1524000" y="1122363"/>
            <a:ext cx="9144000" cy="2387600"/>
          </a:xfrm>
        </p:spPr>
        <p:txBody>
          <a:bodyPr anchor="b"/>
          <a:lstStyle>
            <a:lvl1pPr algn="ctr">
              <a:buNone/>
              <a:defRPr sz="6000"/>
            </a:lvl1pPr>
          </a:lstStyle>
          <a:p>
            <a:r>
              <a:t>Haz clic para modificar el estilo de título del patrón</a:t>
            </a:r>
          </a:p>
        </p:txBody>
      </p:sp>
      <p:sp>
        <p:nvSpPr>
          <p:cNvPr id="3" name="Subtítulo 2">
            <a:extLst>
              <a:ext uri="{FF2B5EF4-FFF2-40B4-BE49-F238E27FC236}">
                <a16:creationId xmlns:a16="http://schemas.microsoft.com/office/drawing/2014/main" id="{62FC1A8F-408C-49E7-BC11-8DB03E679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Haz clic para editar el estilo de subtítulo del patrón</a:t>
            </a:r>
          </a:p>
        </p:txBody>
      </p:sp>
      <p:sp>
        <p:nvSpPr>
          <p:cNvPr id="4" name="Marcador de fecha 3">
            <a:extLst>
              <a:ext uri="{FF2B5EF4-FFF2-40B4-BE49-F238E27FC236}">
                <a16:creationId xmlns:a16="http://schemas.microsoft.com/office/drawing/2014/main" id="{C715ABDB-8A25-4CE5-8FA4-A83E75AC8948}"/>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004D3370-BAA1-422C-8F8B-AD255E545EAD}"/>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D6A4B5AF-298D-4A41-9C43-8A942868F72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EDC9D-05C8-43F2-BFF8-2B3D6C314F4E}"/>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C145C3B5-F63E-4B19-ACC5-CEF14D07904F}"/>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2EE9140F-A1C7-4CDC-B9EB-1E88AB997A99}"/>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EC441BAD-AE44-4F3A-A469-633D090C1CC1}"/>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1C69355-8B2D-4D94-8A7C-BB960A00A92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40A942-2659-469A-96B1-B1682C1A6F14}"/>
              </a:ext>
            </a:extLst>
          </p:cNvPr>
          <p:cNvSpPr>
            <a:spLocks noGrp="1"/>
          </p:cNvSpPr>
          <p:nvPr>
            <p:ph type="title"/>
          </p:nvPr>
        </p:nvSpPr>
        <p:spPr>
          <a:xfrm>
            <a:off x="831850" y="1709738"/>
            <a:ext cx="10515600" cy="2852737"/>
          </a:xfrm>
        </p:spPr>
        <p:txBody>
          <a:bodyPr anchor="b"/>
          <a:lstStyle>
            <a:lvl1pPr>
              <a:buNone/>
              <a:defRPr sz="6000"/>
            </a:lvl1pPr>
          </a:lstStyle>
          <a:p>
            <a:r>
              <a:t>Haz clic para modificar el estilo de título del patrón</a:t>
            </a:r>
          </a:p>
        </p:txBody>
      </p:sp>
      <p:sp>
        <p:nvSpPr>
          <p:cNvPr id="3" name="Marcador de texto 2">
            <a:extLst>
              <a:ext uri="{FF2B5EF4-FFF2-40B4-BE49-F238E27FC236}">
                <a16:creationId xmlns:a16="http://schemas.microsoft.com/office/drawing/2014/main" id="{A66D8770-FC43-4E13-BB6E-56F4293D4B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65BDF625-DEA1-4CD4-99D6-09126F49C4A6}"/>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518CB36-A5BE-4360-8438-EE069D2436E7}"/>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D110941-6122-4A96-B0B9-837401AC8DD4}"/>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2DA1D2-61E3-4076-A24A-57C8C8FF663A}"/>
              </a:ext>
            </a:extLst>
          </p:cNvPr>
          <p:cNvSpPr>
            <a:spLocks noGrp="1"/>
          </p:cNvSpPr>
          <p:nvPr>
            <p:ph type="title"/>
          </p:nvPr>
        </p:nvSpPr>
        <p:spPr/>
        <p:txBody>
          <a:bodyPr/>
          <a:lstStyle/>
          <a:p>
            <a:r>
              <a:t>Haz clic para modificar el estilo de título del patrón</a:t>
            </a:r>
          </a:p>
        </p:txBody>
      </p:sp>
      <p:sp>
        <p:nvSpPr>
          <p:cNvPr id="3" name="Marcador de contenido 2">
            <a:extLst>
              <a:ext uri="{FF2B5EF4-FFF2-40B4-BE49-F238E27FC236}">
                <a16:creationId xmlns:a16="http://schemas.microsoft.com/office/drawing/2014/main" id="{360C5A68-CCB3-4B07-B11D-2F9063C8BE77}"/>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34F30839-7E32-4EF4-98F5-B8CFDE5145B0}"/>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978BC141-8D36-4B86-8A3E-3B8EED3491A1}"/>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0EB82771-11DA-4C33-8E36-A3D010AA9D3D}"/>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0F0E41EA-7EEC-4B11-911C-5B52655F843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188004-2276-4511-ADB3-AF8DC1418D32}"/>
              </a:ext>
            </a:extLst>
          </p:cNvPr>
          <p:cNvSpPr>
            <a:spLocks noGrp="1"/>
          </p:cNvSpPr>
          <p:nvPr>
            <p:ph type="title"/>
          </p:nvPr>
        </p:nvSpPr>
        <p:spPr>
          <a:xfrm>
            <a:off x="839788" y="365125"/>
            <a:ext cx="10515600" cy="1325563"/>
          </a:xfrm>
        </p:spPr>
        <p:txBody>
          <a:bodyPr/>
          <a:lstStyle/>
          <a:p>
            <a:r>
              <a:t>Haz clic para modificar el estilo de título del patrón</a:t>
            </a:r>
          </a:p>
        </p:txBody>
      </p:sp>
      <p:sp>
        <p:nvSpPr>
          <p:cNvPr id="3" name="Marcador de texto 2">
            <a:extLst>
              <a:ext uri="{FF2B5EF4-FFF2-40B4-BE49-F238E27FC236}">
                <a16:creationId xmlns:a16="http://schemas.microsoft.com/office/drawing/2014/main" id="{F0D45D54-F2D6-4C67-A262-C8E71DF986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DAF44F1B-F6B9-486C-A32E-B9E1AD228A35}"/>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0B0B35D0-AC0D-4F38-8BA6-F142A129A7C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A1E2750E-4A92-48D5-A3D7-F789EDBC9DCB}"/>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86EF02BB-19B7-4E3C-B37F-38F643782894}"/>
              </a:ext>
            </a:extLst>
          </p:cNvPr>
          <p:cNvSpPr>
            <a:spLocks noGrp="1"/>
          </p:cNvSpPr>
          <p:nvPr>
            <p:ph type="dt" idx="10"/>
          </p:nvPr>
        </p:nvSpPr>
        <p:spPr/>
        <p:txBody>
          <a:bodyPr/>
          <a:lstStyle/>
          <a:p>
            <a:fld id="{93E9D6B8-5579-43BB-B455-9065CD0ADFC9}" type="datetimeFigureOut">
              <a:t>10/4/2026</a:t>
            </a:fld>
            <a:endParaRPr/>
          </a:p>
        </p:txBody>
      </p:sp>
      <p:sp>
        <p:nvSpPr>
          <p:cNvPr id="8" name="Marcador de pie de página 7">
            <a:extLst>
              <a:ext uri="{FF2B5EF4-FFF2-40B4-BE49-F238E27FC236}">
                <a16:creationId xmlns:a16="http://schemas.microsoft.com/office/drawing/2014/main" id="{EE04AECE-A522-4AD6-A703-EDA07245EBD7}"/>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1F67E73B-7679-4D78-A03D-10B39C6C5F39}"/>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4BACF1-2609-431A-AAAF-4C02EE3785C8}"/>
              </a:ext>
            </a:extLst>
          </p:cNvPr>
          <p:cNvSpPr>
            <a:spLocks noGrp="1"/>
          </p:cNvSpPr>
          <p:nvPr>
            <p:ph type="title"/>
          </p:nvPr>
        </p:nvSpPr>
        <p:spPr/>
        <p:txBody>
          <a:bodyPr/>
          <a:lstStyle/>
          <a:p>
            <a:r>
              <a:t>Haz clic para modificar el estilo de título del patrón</a:t>
            </a:r>
          </a:p>
        </p:txBody>
      </p:sp>
      <p:sp>
        <p:nvSpPr>
          <p:cNvPr id="3" name="Marcador de fecha 2">
            <a:extLst>
              <a:ext uri="{FF2B5EF4-FFF2-40B4-BE49-F238E27FC236}">
                <a16:creationId xmlns:a16="http://schemas.microsoft.com/office/drawing/2014/main" id="{F02BE7A7-3C3C-4AD5-A98D-B6C877A5E473}"/>
              </a:ext>
            </a:extLst>
          </p:cNvPr>
          <p:cNvSpPr>
            <a:spLocks noGrp="1"/>
          </p:cNvSpPr>
          <p:nvPr>
            <p:ph type="dt" idx="10"/>
          </p:nvPr>
        </p:nvSpPr>
        <p:spPr/>
        <p:txBody>
          <a:bodyPr/>
          <a:lstStyle/>
          <a:p>
            <a:fld id="{93E9D6B8-5579-43BB-B455-9065CD0ADFC9}" type="datetimeFigureOut">
              <a:t>10/4/2026</a:t>
            </a:fld>
            <a:endParaRPr/>
          </a:p>
        </p:txBody>
      </p:sp>
      <p:sp>
        <p:nvSpPr>
          <p:cNvPr id="4" name="Marcador de pie de página 3">
            <a:extLst>
              <a:ext uri="{FF2B5EF4-FFF2-40B4-BE49-F238E27FC236}">
                <a16:creationId xmlns:a16="http://schemas.microsoft.com/office/drawing/2014/main" id="{9DBBE023-F0F6-42B0-9D47-ADF36C3B572B}"/>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74705CE0-A244-487D-9341-93CAF3AE9EDE}"/>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D62BE20-FB31-4FDF-BD72-6C0D2C14B4EE}"/>
              </a:ext>
            </a:extLst>
          </p:cNvPr>
          <p:cNvSpPr>
            <a:spLocks noGrp="1"/>
          </p:cNvSpPr>
          <p:nvPr>
            <p:ph type="dt" idx="10"/>
          </p:nvPr>
        </p:nvSpPr>
        <p:spPr/>
        <p:txBody>
          <a:bodyPr/>
          <a:lstStyle/>
          <a:p>
            <a:fld id="{93E9D6B8-5579-43BB-B455-9065CD0ADFC9}" type="datetimeFigureOut">
              <a:t>10/4/2026</a:t>
            </a:fld>
            <a:endParaRPr/>
          </a:p>
        </p:txBody>
      </p:sp>
      <p:sp>
        <p:nvSpPr>
          <p:cNvPr id="3" name="Marcador de pie de página 2">
            <a:extLst>
              <a:ext uri="{FF2B5EF4-FFF2-40B4-BE49-F238E27FC236}">
                <a16:creationId xmlns:a16="http://schemas.microsoft.com/office/drawing/2014/main" id="{5E76A5CB-3CC0-47BD-9541-6DC8D57C6AAA}"/>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5581B8F2-74E0-473D-BC37-B0BA5EDF3E0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DAA823-B37A-410C-A618-7D624CC88B50}"/>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contenido 2">
            <a:extLst>
              <a:ext uri="{FF2B5EF4-FFF2-40B4-BE49-F238E27FC236}">
                <a16:creationId xmlns:a16="http://schemas.microsoft.com/office/drawing/2014/main" id="{F4E13B61-8112-4EA1-96D8-AC4BB05B36EA}"/>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6D965709-2EF8-44C4-B192-B013E112C40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E35D09C0-BFD1-4178-B973-34B5BCE054E0}"/>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83A6232D-2C65-4DDF-809D-E82D0A0DCC26}"/>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C9A3A7C5-3E94-4218-89DA-37895AB9490B}"/>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A8FA8-412B-42AB-A7F6-5F7A1015689E}"/>
              </a:ext>
            </a:extLst>
          </p:cNvPr>
          <p:cNvSpPr>
            <a:spLocks noGrp="1"/>
          </p:cNvSpPr>
          <p:nvPr>
            <p:ph type="title"/>
          </p:nvPr>
        </p:nvSpPr>
        <p:spPr>
          <a:xfrm>
            <a:off x="839788" y="457200"/>
            <a:ext cx="3932237" cy="1600200"/>
          </a:xfrm>
        </p:spPr>
        <p:txBody>
          <a:bodyPr anchor="b"/>
          <a:lstStyle>
            <a:lvl1pPr>
              <a:buNone/>
              <a:defRPr sz="3200"/>
            </a:lvl1pPr>
          </a:lstStyle>
          <a:p>
            <a:r>
              <a:t>Haz clic para modificar el estilo de título del patrón</a:t>
            </a:r>
          </a:p>
        </p:txBody>
      </p:sp>
      <p:sp>
        <p:nvSpPr>
          <p:cNvPr id="3" name="Marcador de posición de imagen 2">
            <a:extLst>
              <a:ext uri="{FF2B5EF4-FFF2-40B4-BE49-F238E27FC236}">
                <a16:creationId xmlns:a16="http://schemas.microsoft.com/office/drawing/2014/main" id="{AB145078-AAE2-4ECB-AA08-5AABE51D3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6567B250-0BE0-4D45-82D1-2A0DBBEAAC1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78E8E942-A1E0-4016-95C8-9B9BF89AF8C3}"/>
              </a:ext>
            </a:extLst>
          </p:cNvPr>
          <p:cNvSpPr>
            <a:spLocks noGrp="1"/>
          </p:cNvSpPr>
          <p:nvPr>
            <p:ph type="dt" idx="10"/>
          </p:nvPr>
        </p:nvSpPr>
        <p:spPr/>
        <p:txBody>
          <a:bodyPr/>
          <a:lstStyle/>
          <a:p>
            <a:fld id="{93E9D6B8-5579-43BB-B455-9065CD0ADFC9}" type="datetimeFigureOut">
              <a:t>10/4/2026</a:t>
            </a:fld>
            <a:endParaRPr/>
          </a:p>
        </p:txBody>
      </p:sp>
      <p:sp>
        <p:nvSpPr>
          <p:cNvPr id="6" name="Marcador de pie de página 5">
            <a:extLst>
              <a:ext uri="{FF2B5EF4-FFF2-40B4-BE49-F238E27FC236}">
                <a16:creationId xmlns:a16="http://schemas.microsoft.com/office/drawing/2014/main" id="{11955E18-5513-4AE6-B234-4D7C68EFF218}"/>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FC1378B4-1B1F-4C5F-8872-C41FF35852EF}"/>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E4E18-2990-483E-88E0-43DF74DAA6B6}"/>
              </a:ext>
            </a:extLst>
          </p:cNvPr>
          <p:cNvSpPr>
            <a:spLocks noGrp="1"/>
          </p:cNvSpPr>
          <p:nvPr>
            <p:ph type="title"/>
          </p:nvPr>
        </p:nvSpPr>
        <p:spPr/>
        <p:txBody>
          <a:bodyPr/>
          <a:lstStyle/>
          <a:p>
            <a:r>
              <a:t>Haz clic para modificar el estilo de título del patrón</a:t>
            </a:r>
          </a:p>
        </p:txBody>
      </p:sp>
      <p:sp>
        <p:nvSpPr>
          <p:cNvPr id="3" name="Marcador de texto vertical 2">
            <a:extLst>
              <a:ext uri="{FF2B5EF4-FFF2-40B4-BE49-F238E27FC236}">
                <a16:creationId xmlns:a16="http://schemas.microsoft.com/office/drawing/2014/main" id="{DBD4B2C7-D083-46AA-8E5A-D003959E8507}"/>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FD6C4379-68F4-457A-BA8D-C77E63F51A45}"/>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DC6ED189-6619-461C-A861-98582B5036A4}"/>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FA1ACA52-8342-415B-9FF6-9420BAE42F55}"/>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C05042-F31B-46E1-89C3-EB12F1454A8F}"/>
              </a:ext>
            </a:extLst>
          </p:cNvPr>
          <p:cNvSpPr>
            <a:spLocks noGrp="1"/>
          </p:cNvSpPr>
          <p:nvPr>
            <p:ph type="title"/>
          </p:nvPr>
        </p:nvSpPr>
        <p:spPr>
          <a:xfrm>
            <a:off x="8724900" y="365125"/>
            <a:ext cx="2628900" cy="5811838"/>
          </a:xfrm>
        </p:spPr>
        <p:txBody>
          <a:bodyPr vert="eaVert"/>
          <a:lstStyle/>
          <a:p>
            <a:r>
              <a:t>Haz clic para modificar el estilo de título del patrón</a:t>
            </a:r>
          </a:p>
        </p:txBody>
      </p:sp>
      <p:sp>
        <p:nvSpPr>
          <p:cNvPr id="3" name="Marcador de texto vertical 2">
            <a:extLst>
              <a:ext uri="{FF2B5EF4-FFF2-40B4-BE49-F238E27FC236}">
                <a16:creationId xmlns:a16="http://schemas.microsoft.com/office/drawing/2014/main" id="{D8D980B7-5C1A-42C0-B044-528FDD08A1FF}"/>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15D63FF1-7E5D-4612-B288-E5EB4E4C0984}"/>
              </a:ext>
            </a:extLst>
          </p:cNvPr>
          <p:cNvSpPr>
            <a:spLocks noGrp="1"/>
          </p:cNvSpPr>
          <p:nvPr>
            <p:ph type="dt" idx="10"/>
          </p:nvPr>
        </p:nvSpPr>
        <p:spPr/>
        <p:txBody>
          <a:body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7C5C76A6-39D9-4184-87DD-073172AF0862}"/>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4CE04071-4B44-4CBB-82A1-C0A60DBDC393}"/>
              </a:ext>
            </a:extLst>
          </p:cNvPr>
          <p:cNvSpPr>
            <a:spLocks noGrp="1"/>
          </p:cNvSpPr>
          <p:nvPr>
            <p:ph type="sldNum" idx="12"/>
          </p:nvPr>
        </p:nvSpPr>
        <p:spPr/>
        <p:txBody>
          <a:bodyPr/>
          <a:lstStyle/>
          <a:p>
            <a:fld id="{F02EE436-99F1-4F6D-A5FC-68F56FAEBAF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6AF249AD-C97A-4933-BC24-196CF7CB5D07}"/>
              </a:ext>
            </a:extLst>
          </p:cNvPr>
          <p:cNvSpPr>
            <a:spLocks noGrp="1"/>
          </p:cNvSpPr>
          <p:nvPr>
            <p:ph type="body" idx="1"/>
          </p:nvPr>
        </p:nvSpPr>
        <p:spPr>
          <a:xfrm>
            <a:off x="127000" y="1485900"/>
            <a:ext cx="11226800" cy="4691063"/>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Noto Sans"/>
                <a:ea typeface="Noto Sans"/>
                <a:cs typeface="Noto Sans"/>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Noto Sans"/>
                <a:ea typeface="Noto Sans"/>
                <a:cs typeface="Noto Sans"/>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Noto Sans"/>
                <a:ea typeface="Noto Sans"/>
                <a:cs typeface="Noto Sans"/>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Noto Sans"/>
                <a:ea typeface="Noto Sans"/>
                <a:cs typeface="Noto Sans"/>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Arial"/>
                <a:ea typeface="Arial"/>
                <a:cs typeface="Arial"/>
              </a:defRPr>
            </a:lvl9pPr>
          </a:lstStyle>
          <a:p>
            <a:endParaRPr/>
          </a:p>
        </p:txBody>
      </p:sp>
      <p:sp>
        <p:nvSpPr>
          <p:cNvPr id="11" name="Google Shape;11;p1">
            <a:extLst>
              <a:ext uri="{FF2B5EF4-FFF2-40B4-BE49-F238E27FC236}">
                <a16:creationId xmlns:a16="http://schemas.microsoft.com/office/drawing/2014/main" id="{E016D27F-0769-4803-B32E-34EAB774315C}"/>
              </a:ext>
            </a:extLst>
          </p:cNvPr>
          <p:cNvSpPr>
            <a:spLocks noGrp="1"/>
          </p:cNvSpPr>
          <p:nvPr>
            <p:ph type="title"/>
          </p:nvPr>
        </p:nvSpPr>
        <p:spPr>
          <a:xfrm>
            <a:off x="127000" y="217365"/>
            <a:ext cx="11226800" cy="1127670"/>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000"/>
              <a:buFont typeface="Noto Sans SemiBold"/>
              <a:buNone/>
              <a:defRPr sz="4000" b="1" i="0" u="none" cap="none">
                <a:solidFill>
                  <a:schemeClr val="dk1"/>
                </a:solidFill>
                <a:latin typeface="Noto Sans SemiBold"/>
                <a:ea typeface="Noto Sans SemiBold"/>
                <a:cs typeface="Noto Sans SemiBold"/>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2EB26D-21A2-43A1-93C1-372F295E198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Haz clic para modificar el estilo de título del patrón</a:t>
            </a:r>
          </a:p>
        </p:txBody>
      </p:sp>
      <p:sp>
        <p:nvSpPr>
          <p:cNvPr id="3" name="Marcador de texto 2">
            <a:extLst>
              <a:ext uri="{FF2B5EF4-FFF2-40B4-BE49-F238E27FC236}">
                <a16:creationId xmlns:a16="http://schemas.microsoft.com/office/drawing/2014/main" id="{B1FED00D-CAD3-42C6-B212-6DAE6F6D2E1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B8C1317E-59CB-4E30-B479-59C77FF64F0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3E9D6B8-5579-43BB-B455-9065CD0ADFC9}" type="datetimeFigureOut">
              <a:t>10/4/2026</a:t>
            </a:fld>
            <a:endParaRPr/>
          </a:p>
        </p:txBody>
      </p:sp>
      <p:sp>
        <p:nvSpPr>
          <p:cNvPr id="5" name="Marcador de pie de página 4">
            <a:extLst>
              <a:ext uri="{FF2B5EF4-FFF2-40B4-BE49-F238E27FC236}">
                <a16:creationId xmlns:a16="http://schemas.microsoft.com/office/drawing/2014/main" id="{FF3BE975-65F2-47B6-A241-AD12E1E412F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072F7CAF-34CC-47FA-9F49-B78FC094B84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02EE436-99F1-4F6D-A5FC-68F56FAEBAFB}" type="slidenum">
              <a:t>‹#›</a:t>
            </a:fld>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184FE01C-0C12-422B-A1DE-BDB5810D48B5}"/>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Federated</a:t>
            </a:r>
          </a:p>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descriptive analysis</a:t>
            </a:r>
          </a:p>
        </p:txBody>
      </p:sp>
      <p:sp>
        <p:nvSpPr>
          <p:cNvPr id="2" name="session_subtitle">
            <a:extLst>
              <a:ext uri="{FF2B5EF4-FFF2-40B4-BE49-F238E27FC236}">
                <a16:creationId xmlns:a16="http://schemas.microsoft.com/office/drawing/2014/main" id="{154C0633-FFDC-431B-9B9D-E8F44B35806C}"/>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150732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AA94F01A-54E1-4274-8B51-2FDBFAD704CB}"/>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Clinical question</a:t>
            </a:r>
          </a:p>
        </p:txBody>
      </p:sp>
      <p:sp>
        <p:nvSpPr>
          <p:cNvPr id="2" name="body">
            <a:extLst>
              <a:ext uri="{FF2B5EF4-FFF2-40B4-BE49-F238E27FC236}">
                <a16:creationId xmlns:a16="http://schemas.microsoft.com/office/drawing/2014/main" id="{462E4665-72F2-46A0-A9F5-B32BD41E4B53}"/>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Who are the patients presenting with disease?</a:t>
            </a:r>
          </a:p>
          <a:p>
            <a:pPr>
              <a:spcAft>
                <a:spcPts val="1800"/>
              </a:spcAft>
              <a:defRPr sz="2700" b="0">
                <a:solidFill>
                  <a:srgbClr val="202020"/>
                </a:solidFill>
                <a:latin typeface="Noto Sans"/>
                <a:ea typeface="Noto Sans"/>
                <a:cs typeface="Noto Sans"/>
              </a:defRPr>
            </a:pPr>
            <a:r>
              <a:t>What symptoms, severity and outcomes do we observe?</a:t>
            </a:r>
          </a:p>
          <a:p>
            <a:pPr>
              <a:spcAft>
                <a:spcPts val="1800"/>
              </a:spcAft>
              <a:defRPr sz="2700" b="0">
                <a:solidFill>
                  <a:srgbClr val="202020"/>
                </a:solidFill>
                <a:latin typeface="Noto Sans"/>
                <a:ea typeface="Noto Sans"/>
                <a:cs typeface="Noto Sans"/>
              </a:defRPr>
            </a:pPr>
            <a:r>
              <a:t>Which patients are represented in our dataset?</a:t>
            </a:r>
          </a:p>
        </p:txBody>
      </p:sp>
      <p:sp>
        <p:nvSpPr>
          <p:cNvPr id="3" name="source_reference">
            <a:extLst>
              <a:ext uri="{FF2B5EF4-FFF2-40B4-BE49-F238E27FC236}">
                <a16:creationId xmlns:a16="http://schemas.microsoft.com/office/drawing/2014/main" id="{5CC9EFAF-D21B-4111-A23D-8B754460FB49}"/>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Dunning et al. (2014)</a:t>
            </a:r>
          </a:p>
        </p:txBody>
      </p:sp>
    </p:spTree>
    <p:extLst>
      <p:ext uri="{BB962C8B-B14F-4D97-AF65-F5344CB8AC3E}">
        <p14:creationId xmlns:p14="http://schemas.microsoft.com/office/powerpoint/2010/main" val="1752435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D91EE2ED-6ABF-479C-B2BF-9EFF42B258A6}"/>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The essentials for interpretation</a:t>
            </a:r>
          </a:p>
        </p:txBody>
      </p:sp>
      <p:graphicFrame>
        <p:nvGraphicFramePr>
          <p:cNvPr id="4"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Concept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Why it matters</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Denominator</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Who contributes to this percentage?</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Missingness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Who lacks the required observation?</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Distribution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What do centre and spread describe?</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Site composition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How different are the contributing patients?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7895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570DA621-0541-4B03-AD7A-A3CF6FECB26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Local summaries and combined results</a:t>
            </a:r>
          </a:p>
        </p:txBody>
      </p:sp>
      <p:graphicFrame>
        <p:nvGraphicFramePr>
          <p:cNvPr id="5" name="Table 4"/>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Statistic</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Notebook approach</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Counts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Sum local counts</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Mean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Weight means by available observations</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Standard deviation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Combine counts, sums and sums of squares</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Median and quartiles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Weighted local values as an approximation</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3" name="source_reference">
            <a:extLst>
              <a:ext uri="{FF2B5EF4-FFF2-40B4-BE49-F238E27FC236}">
                <a16:creationId xmlns:a16="http://schemas.microsoft.com/office/drawing/2014/main" id="{F968C59B-19DB-48CF-9D36-FE706EB1BD9D}"/>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Wang et al. (2025/2026)</a:t>
            </a:r>
          </a:p>
        </p:txBody>
      </p:sp>
    </p:spTree>
    <p:extLst>
      <p:ext uri="{BB962C8B-B14F-4D97-AF65-F5344CB8AC3E}">
        <p14:creationId xmlns:p14="http://schemas.microsoft.com/office/powerpoint/2010/main" val="1635859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F4D3BCC0-F786-42B9-A084-C2BBE74CE2E1}"/>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Accuracy and permitted outputs</a:t>
            </a:r>
          </a:p>
        </p:txBody>
      </p:sp>
      <p:sp>
        <p:nvSpPr>
          <p:cNvPr id="2" name="body">
            <a:extLst>
              <a:ext uri="{FF2B5EF4-FFF2-40B4-BE49-F238E27FC236}">
                <a16:creationId xmlns:a16="http://schemas.microsoft.com/office/drawing/2014/main" id="{68695645-7E24-4105-8861-CD4B0851AB45}"/>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The aggregation method determines equivalence</a:t>
            </a:r>
          </a:p>
          <a:p>
            <a:pPr>
              <a:spcAft>
                <a:spcPts val="1800"/>
              </a:spcAft>
              <a:defRPr sz="2700" b="0">
                <a:solidFill>
                  <a:srgbClr val="202020"/>
                </a:solidFill>
                <a:latin typeface="Noto Sans"/>
                <a:ea typeface="Noto Sans"/>
                <a:cs typeface="Noto Sans"/>
              </a:defRPr>
            </a:pPr>
            <a:r>
              <a:t>Heterogeneous sites can change approximation error</a:t>
            </a:r>
          </a:p>
          <a:p>
            <a:pPr>
              <a:spcAft>
                <a:spcPts val="1800"/>
              </a:spcAft>
              <a:defRPr sz="2700" b="0">
                <a:solidFill>
                  <a:srgbClr val="202020"/>
                </a:solidFill>
                <a:latin typeface="Noto Sans"/>
                <a:ea typeface="Noto Sans"/>
                <a:cs typeface="Noto Sans"/>
              </a:defRPr>
            </a:pPr>
            <a:r>
              <a:t>Small cells and extreme values need disclosure rules</a:t>
            </a:r>
          </a:p>
        </p:txBody>
      </p:sp>
      <p:sp>
        <p:nvSpPr>
          <p:cNvPr id="3" name="source_reference">
            <a:extLst>
              <a:ext uri="{FF2B5EF4-FFF2-40B4-BE49-F238E27FC236}">
                <a16:creationId xmlns:a16="http://schemas.microsoft.com/office/drawing/2014/main" id="{C20D49A2-D487-46A5-9A04-90435ECC2047}"/>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 Wang et al. (2025/2026)</a:t>
            </a:r>
          </a:p>
        </p:txBody>
      </p:sp>
    </p:spTree>
    <p:extLst>
      <p:ext uri="{BB962C8B-B14F-4D97-AF65-F5344CB8AC3E}">
        <p14:creationId xmlns:p14="http://schemas.microsoft.com/office/powerpoint/2010/main" val="459810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2513CD01-5D91-4832-83B9-7DA233C9770E}"/>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Debrief</a:t>
            </a:r>
          </a:p>
        </p:txBody>
      </p:sp>
      <p:sp>
        <p:nvSpPr>
          <p:cNvPr id="2" name="body">
            <a:extLst>
              <a:ext uri="{FF2B5EF4-FFF2-40B4-BE49-F238E27FC236}">
                <a16:creationId xmlns:a16="http://schemas.microsoft.com/office/drawing/2014/main" id="{55258C53-955E-4591-876F-435CC548FCE0}"/>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Which results matched, and why?</a:t>
            </a:r>
          </a:p>
          <a:p>
            <a:pPr>
              <a:spcAft>
                <a:spcPts val="1800"/>
              </a:spcAft>
              <a:defRPr sz="2700" b="0">
                <a:solidFill>
                  <a:srgbClr val="202020"/>
                </a:solidFill>
                <a:latin typeface="Noto Sans"/>
                <a:ea typeface="Noto Sans"/>
                <a:cs typeface="Noto Sans"/>
              </a:defRPr>
            </a:pPr>
            <a:r>
              <a:t>Which summaries were insufficient for exact reconstruction?</a:t>
            </a:r>
          </a:p>
          <a:p>
            <a:pPr>
              <a:spcAft>
                <a:spcPts val="1800"/>
              </a:spcAft>
              <a:defRPr sz="2700" b="0">
                <a:solidFill>
                  <a:srgbClr val="202020"/>
                </a:solidFill>
                <a:latin typeface="Noto Sans"/>
                <a:ea typeface="Noto Sans"/>
                <a:cs typeface="Noto Sans"/>
              </a:defRPr>
            </a:pPr>
            <a:r>
              <a:t>What would you agree before using real patient data?</a:t>
            </a:r>
          </a:p>
        </p:txBody>
      </p:sp>
      <p:sp>
        <p:nvSpPr>
          <p:cNvPr id="3" name="source_reference">
            <a:extLst>
              <a:ext uri="{FF2B5EF4-FFF2-40B4-BE49-F238E27FC236}">
                <a16:creationId xmlns:a16="http://schemas.microsoft.com/office/drawing/2014/main" id="{4CF1959C-665E-4BCE-8F21-884F864FEF9C}"/>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Wang et al. (2025/2026); Jégou et al. (2024)</a:t>
            </a:r>
          </a:p>
        </p:txBody>
      </p:sp>
    </p:spTree>
    <p:extLst>
      <p:ext uri="{BB962C8B-B14F-4D97-AF65-F5344CB8AC3E}">
        <p14:creationId xmlns:p14="http://schemas.microsoft.com/office/powerpoint/2010/main" val="464932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9B8A98D3-0722-4B9E-BE59-58078A956FA9}"/>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Logistic regression</a:t>
            </a:r>
          </a:p>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for associations</a:t>
            </a:r>
          </a:p>
        </p:txBody>
      </p:sp>
      <p:sp>
        <p:nvSpPr>
          <p:cNvPr id="2" name="session_subtitle">
            <a:extLst>
              <a:ext uri="{FF2B5EF4-FFF2-40B4-BE49-F238E27FC236}">
                <a16:creationId xmlns:a16="http://schemas.microsoft.com/office/drawing/2014/main" id="{BF3AE40F-B283-4C2B-9DF2-C3E41645591E}"/>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Session 4</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Theory and practical</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1.2 hours</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Brief introduction followed by notebook 03</a:t>
            </a:r>
          </a:p>
        </p:txBody>
      </p:sp>
    </p:spTree>
    <p:extLst>
      <p:ext uri="{BB962C8B-B14F-4D97-AF65-F5344CB8AC3E}">
        <p14:creationId xmlns:p14="http://schemas.microsoft.com/office/powerpoint/2010/main" val="1857695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3D2CDC22-F5A3-47F8-87CE-B50B40BF022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Clinical question</a:t>
            </a:r>
          </a:p>
        </p:txBody>
      </p:sp>
      <p:sp>
        <p:nvSpPr>
          <p:cNvPr id="2" name="body">
            <a:extLst>
              <a:ext uri="{FF2B5EF4-FFF2-40B4-BE49-F238E27FC236}">
                <a16:creationId xmlns:a16="http://schemas.microsoft.com/office/drawing/2014/main" id="{5991BAE1-9431-44E5-B301-F55A822EBA15}"/>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Which characteristics are associated with death?</a:t>
            </a:r>
          </a:p>
          <a:p>
            <a:pPr>
              <a:spcAft>
                <a:spcPts val="1800"/>
              </a:spcAft>
              <a:defRPr sz="2700" b="0">
                <a:solidFill>
                  <a:srgbClr val="202020"/>
                </a:solidFill>
                <a:latin typeface="Noto Sans"/>
                <a:ea typeface="Noto Sans"/>
                <a:cs typeface="Noto Sans"/>
              </a:defRPr>
            </a:pPr>
            <a:r>
              <a:t>How large is each estimated association?</a:t>
            </a:r>
          </a:p>
          <a:p>
            <a:pPr>
              <a:spcAft>
                <a:spcPts val="1800"/>
              </a:spcAft>
              <a:defRPr sz="2700" b="0">
                <a:solidFill>
                  <a:srgbClr val="202020"/>
                </a:solidFill>
                <a:latin typeface="Noto Sans"/>
                <a:ea typeface="Noto Sans"/>
                <a:cs typeface="Noto Sans"/>
              </a:defRPr>
            </a:pPr>
            <a:r>
              <a:t>How uncertain is that estimate?</a:t>
            </a:r>
          </a:p>
        </p:txBody>
      </p:sp>
      <p:sp>
        <p:nvSpPr>
          <p:cNvPr id="3" name="source_reference">
            <a:extLst>
              <a:ext uri="{FF2B5EF4-FFF2-40B4-BE49-F238E27FC236}">
                <a16:creationId xmlns:a16="http://schemas.microsoft.com/office/drawing/2014/main" id="{1AA8994A-8E6B-4322-B0DB-466C3E6168A9}"/>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Dunning et al. (2014)</a:t>
            </a:r>
          </a:p>
        </p:txBody>
      </p:sp>
    </p:spTree>
    <p:extLst>
      <p:ext uri="{BB962C8B-B14F-4D97-AF65-F5344CB8AC3E}">
        <p14:creationId xmlns:p14="http://schemas.microsoft.com/office/powerpoint/2010/main" val="1745609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93565920-0BE5-4B55-BBFE-48D6840D49C2}"/>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Odds ratios and uncertainty</a:t>
            </a:r>
          </a:p>
        </p:txBody>
      </p:sp>
      <p:graphicFrame>
        <p:nvGraphicFramePr>
          <p:cNvPr id="4"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Result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Interpretation</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OR = 1</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Equal estimated odds</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OR &gt; 1</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Higher estimated odds</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OR &lt; 1</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Lower estimated odds</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95% confidence interval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Precision under the model assumptions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4571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87188674-1E86-4CF1-A39C-7A1B4999E7B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Sparse events and site differences</a:t>
            </a:r>
          </a:p>
        </p:txBody>
      </p:sp>
      <p:sp>
        <p:nvSpPr>
          <p:cNvPr id="2" name="body">
            <a:extLst>
              <a:ext uri="{FF2B5EF4-FFF2-40B4-BE49-F238E27FC236}">
                <a16:creationId xmlns:a16="http://schemas.microsoft.com/office/drawing/2014/main" id="{BD4A0FA0-7B05-4C4A-91A9-80B2FCC058A5}"/>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Patient numbers alone do not determine precision</a:t>
            </a:r>
          </a:p>
          <a:p>
            <a:pPr>
              <a:spcAft>
                <a:spcPts val="1800"/>
              </a:spcAft>
              <a:defRPr sz="2700" b="0">
                <a:solidFill>
                  <a:srgbClr val="202020"/>
                </a:solidFill>
                <a:latin typeface="Noto Sans"/>
                <a:ea typeface="Noto Sans"/>
                <a:cs typeface="Noto Sans"/>
              </a:defRPr>
            </a:pPr>
            <a:r>
              <a:t>Rare outcomes can produce unstable local models</a:t>
            </a:r>
          </a:p>
          <a:p>
            <a:pPr>
              <a:spcAft>
                <a:spcPts val="1800"/>
              </a:spcAft>
              <a:defRPr sz="2700" b="0">
                <a:solidFill>
                  <a:srgbClr val="202020"/>
                </a:solidFill>
                <a:latin typeface="Noto Sans"/>
                <a:ea typeface="Noto Sans"/>
                <a:cs typeface="Noto Sans"/>
              </a:defRPr>
            </a:pPr>
            <a:r>
              <a:t>Association estimates depend on the comparison made</a:t>
            </a:r>
          </a:p>
        </p:txBody>
      </p:sp>
      <p:sp>
        <p:nvSpPr>
          <p:cNvPr id="3" name="source_reference">
            <a:extLst>
              <a:ext uri="{FF2B5EF4-FFF2-40B4-BE49-F238E27FC236}">
                <a16:creationId xmlns:a16="http://schemas.microsoft.com/office/drawing/2014/main" id="{F6097C81-7525-4B0D-8A6E-84C00AB17AD4}"/>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1080146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C96AC2C2-FA7B-4EDC-A53C-3B65B232D5AD}"/>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Combining local association estimates</a:t>
            </a:r>
          </a:p>
        </p:txBody>
      </p:sp>
      <p:graphicFrame>
        <p:nvGraphicFramePr>
          <p:cNvPr id="5" name="Table 4"/>
          <p:cNvGraphicFramePr/>
          <p:nvPr/>
        </p:nvGraphicFramePr>
        <p:xfrm>
          <a:off x="685800" y="2009775"/>
          <a:ext cx="10820400" cy="28194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At each site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At the coordinator</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Fit the same univariable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Check estimates and uncertainty</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Return coefficient and standard error</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Combine coefficients on the log-odds scale</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Describe local limitations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Use inverse-variance weights</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
        <p:nvSpPr>
          <p:cNvPr id="3" name="source_reference">
            <a:extLst>
              <a:ext uri="{FF2B5EF4-FFF2-40B4-BE49-F238E27FC236}">
                <a16:creationId xmlns:a16="http://schemas.microsoft.com/office/drawing/2014/main" id="{4A7EDCD8-2E3A-42EA-85FC-55CF4F4AF758}"/>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2227174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83CE4B53-E8D7-4E91-BDCC-9ECC6ADB40D3}"/>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Debrief</a:t>
            </a:r>
          </a:p>
        </p:txBody>
      </p:sp>
      <p:sp>
        <p:nvSpPr>
          <p:cNvPr id="2" name="body">
            <a:extLst>
              <a:ext uri="{FF2B5EF4-FFF2-40B4-BE49-F238E27FC236}">
                <a16:creationId xmlns:a16="http://schemas.microsoft.com/office/drawing/2014/main" id="{3A2F04C8-7204-48B4-A55A-D566F168A710}"/>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Did the direction and magnitude agree?</a:t>
            </a:r>
          </a:p>
          <a:p>
            <a:pPr>
              <a:spcAft>
                <a:spcPts val="1800"/>
              </a:spcAft>
              <a:defRPr sz="2700" b="0">
                <a:solidFill>
                  <a:srgbClr val="202020"/>
                </a:solidFill>
                <a:latin typeface="Noto Sans"/>
                <a:ea typeface="Noto Sans"/>
                <a:cs typeface="Noto Sans"/>
              </a:defRPr>
            </a:pPr>
            <a:r>
              <a:t>Which sites contributed to each estimate?</a:t>
            </a:r>
          </a:p>
          <a:p>
            <a:pPr>
              <a:spcAft>
                <a:spcPts val="1800"/>
              </a:spcAft>
              <a:defRPr sz="2700" b="0">
                <a:solidFill>
                  <a:srgbClr val="202020"/>
                </a:solidFill>
                <a:latin typeface="Noto Sans"/>
                <a:ea typeface="Noto Sans"/>
                <a:cs typeface="Noto Sans"/>
              </a:defRPr>
            </a:pPr>
            <a:r>
              <a:t>What could explain a difference from the pooled model?</a:t>
            </a:r>
          </a:p>
        </p:txBody>
      </p:sp>
      <p:sp>
        <p:nvSpPr>
          <p:cNvPr id="3" name="source_reference">
            <a:extLst>
              <a:ext uri="{FF2B5EF4-FFF2-40B4-BE49-F238E27FC236}">
                <a16:creationId xmlns:a16="http://schemas.microsoft.com/office/drawing/2014/main" id="{1144430C-1537-46FA-8CFE-C3978B2FD9E9}"/>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1137090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B74CA550-3467-498C-8296-E857F67CA2EB}"/>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Federated</a:t>
            </a:r>
          </a:p>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survival analysis</a:t>
            </a:r>
          </a:p>
        </p:txBody>
      </p:sp>
      <p:sp>
        <p:nvSpPr>
          <p:cNvPr id="2" name="session_subtitle">
            <a:extLst>
              <a:ext uri="{FF2B5EF4-FFF2-40B4-BE49-F238E27FC236}">
                <a16:creationId xmlns:a16="http://schemas.microsoft.com/office/drawing/2014/main" id="{FBC375C3-E990-4779-8135-D5C290DB239C}"/>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defRPr sz="2025" b="0">
                <a:solidFill>
                  <a:srgbClr val="FFFFFF"/>
                </a:solidFill>
                <a:latin typeface="Noto Sans"/>
                <a:ea typeface="Noto Sans"/>
                <a:cs typeface="Noto Sans"/>
              </a:defRPr>
            </a:pPr>
            <a:endParaRPr sz="2025" b="0" dirty="0">
              <a:solidFill>
                <a:srgbClr val="FFFFFF"/>
              </a:solidFill>
              <a:latin typeface="Noto Sans"/>
              <a:ea typeface="Noto Sans"/>
              <a:cs typeface="Noto Sans"/>
            </a:endParaRPr>
          </a:p>
        </p:txBody>
      </p:sp>
    </p:spTree>
    <p:extLst>
      <p:ext uri="{BB962C8B-B14F-4D97-AF65-F5344CB8AC3E}">
        <p14:creationId xmlns:p14="http://schemas.microsoft.com/office/powerpoint/2010/main" val="2054197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3C984D63-6DF3-4873-AA1A-9C497BEE064E}"/>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Clinical question</a:t>
            </a:r>
          </a:p>
        </p:txBody>
      </p:sp>
      <p:sp>
        <p:nvSpPr>
          <p:cNvPr id="2" name="body">
            <a:extLst>
              <a:ext uri="{FF2B5EF4-FFF2-40B4-BE49-F238E27FC236}">
                <a16:creationId xmlns:a16="http://schemas.microsoft.com/office/drawing/2014/main" id="{07E6BD8D-A559-4D52-A626-5964CC254F31}"/>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When do deaths occur during follow-up?</a:t>
            </a:r>
          </a:p>
          <a:p>
            <a:pPr>
              <a:spcAft>
                <a:spcPts val="1800"/>
              </a:spcAft>
              <a:defRPr sz="2700" b="0">
                <a:solidFill>
                  <a:srgbClr val="202020"/>
                </a:solidFill>
                <a:latin typeface="Noto Sans"/>
                <a:ea typeface="Noto Sans"/>
                <a:cs typeface="Noto Sans"/>
              </a:defRPr>
            </a:pPr>
            <a:r>
              <a:t>What is survival at a defined time?</a:t>
            </a:r>
          </a:p>
          <a:p>
            <a:pPr>
              <a:spcAft>
                <a:spcPts val="1800"/>
              </a:spcAft>
              <a:defRPr sz="2700" b="0">
                <a:solidFill>
                  <a:srgbClr val="202020"/>
                </a:solidFill>
                <a:latin typeface="Noto Sans"/>
                <a:ea typeface="Noto Sans"/>
                <a:cs typeface="Noto Sans"/>
              </a:defRPr>
            </a:pPr>
            <a:r>
              <a:t>How does the pattern differ by age group?</a:t>
            </a:r>
          </a:p>
        </p:txBody>
      </p:sp>
      <p:sp>
        <p:nvSpPr>
          <p:cNvPr id="3" name="source_reference">
            <a:extLst>
              <a:ext uri="{FF2B5EF4-FFF2-40B4-BE49-F238E27FC236}">
                <a16:creationId xmlns:a16="http://schemas.microsoft.com/office/drawing/2014/main" id="{F00AD7C4-A58D-41F8-997A-459016B8F204}"/>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Dunning et al. (2014)</a:t>
            </a:r>
          </a:p>
        </p:txBody>
      </p:sp>
    </p:spTree>
    <p:extLst>
      <p:ext uri="{BB962C8B-B14F-4D97-AF65-F5344CB8AC3E}">
        <p14:creationId xmlns:p14="http://schemas.microsoft.com/office/powerpoint/2010/main" val="69350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7E659945-2AAA-45DE-BF8A-DF50B6727662}"/>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The essentials for time-to-event analysis</a:t>
            </a:r>
          </a:p>
        </p:txBody>
      </p:sp>
      <p:graphicFrame>
        <p:nvGraphicFramePr>
          <p:cNvPr id="5" name="Table 4"/>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Concept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Agreement needed</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Time origin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When follow-up begins</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Event</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What outcome ends event-free follow-up</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Censoring</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When observation ends without the event</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Time horizon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When the summary is evaluated</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3" name="source_reference">
            <a:extLst>
              <a:ext uri="{FF2B5EF4-FFF2-40B4-BE49-F238E27FC236}">
                <a16:creationId xmlns:a16="http://schemas.microsoft.com/office/drawing/2014/main" id="{AE6CF78E-2DAC-40D0-9592-742564F75A9F}"/>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693502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B21D84E9-8DE7-46E1-8262-3EF237412463}"/>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Survival probability and hazard ratio</a:t>
            </a:r>
          </a:p>
        </p:txBody>
      </p:sp>
      <p:graphicFrame>
        <p:nvGraphicFramePr>
          <p:cNvPr id="5" name="Table 4"/>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Measure</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What it describes</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Survival probability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Probability of remaining event-free to a time</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Kaplan–Meier curve</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Estimated event-free survival over follow-up</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Hazard ratio</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Relative instantaneous event rate</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Cox model</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Association with hazard under model assumptions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3" name="source_reference">
            <a:extLst>
              <a:ext uri="{FF2B5EF4-FFF2-40B4-BE49-F238E27FC236}">
                <a16:creationId xmlns:a16="http://schemas.microsoft.com/office/drawing/2014/main" id="{F7082EAF-17EA-4E02-B695-62369F6DFB8C}"/>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693502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FE0B939B-EDC5-4B7E-A627-8CD69C3EA3C0}"/>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Federated survival summaries</a:t>
            </a:r>
          </a:p>
        </p:txBody>
      </p:sp>
      <p:sp>
        <p:nvSpPr>
          <p:cNvPr id="2" name="body">
            <a:extLst>
              <a:ext uri="{FF2B5EF4-FFF2-40B4-BE49-F238E27FC236}">
                <a16:creationId xmlns:a16="http://schemas.microsoft.com/office/drawing/2014/main" id="{40B55213-13F5-4985-A0AB-A6AC309374E2}"/>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Sites return fixed-time estimates and uncertainty</a:t>
            </a:r>
          </a:p>
          <a:p>
            <a:pPr>
              <a:spcAft>
                <a:spcPts val="1800"/>
              </a:spcAft>
              <a:defRPr sz="2700" b="0">
                <a:solidFill>
                  <a:srgbClr val="202020"/>
                </a:solidFill>
                <a:latin typeface="Noto Sans"/>
                <a:ea typeface="Noto Sans"/>
                <a:cs typeface="Noto Sans"/>
              </a:defRPr>
            </a:pPr>
            <a:r>
              <a:t>Local Cox models return coefficients and standard errors</a:t>
            </a:r>
          </a:p>
          <a:p>
            <a:pPr>
              <a:spcAft>
                <a:spcPts val="1800"/>
              </a:spcAft>
              <a:defRPr sz="2700" b="0">
                <a:solidFill>
                  <a:srgbClr val="202020"/>
                </a:solidFill>
                <a:latin typeface="Noto Sans"/>
                <a:ea typeface="Noto Sans"/>
                <a:cs typeface="Noto Sans"/>
              </a:defRPr>
            </a:pPr>
            <a:r>
              <a:t>Aggregation depends on the measure and censoring</a:t>
            </a:r>
          </a:p>
        </p:txBody>
      </p:sp>
      <p:sp>
        <p:nvSpPr>
          <p:cNvPr id="3" name="source_reference">
            <a:extLst>
              <a:ext uri="{FF2B5EF4-FFF2-40B4-BE49-F238E27FC236}">
                <a16:creationId xmlns:a16="http://schemas.microsoft.com/office/drawing/2014/main" id="{FA9A6C3B-F53E-47FE-9933-192E4F7943CD}"/>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693502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B7869DAE-10AB-4143-8D05-C8D24C0AE986}"/>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Debrief</a:t>
            </a:r>
          </a:p>
        </p:txBody>
      </p:sp>
      <p:sp>
        <p:nvSpPr>
          <p:cNvPr id="2" name="body">
            <a:extLst>
              <a:ext uri="{FF2B5EF4-FFF2-40B4-BE49-F238E27FC236}">
                <a16:creationId xmlns:a16="http://schemas.microsoft.com/office/drawing/2014/main" id="{474F8036-BFF1-4E6F-A1AD-AF72F12A6360}"/>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Why did day-30 survival match in this dataset?</a:t>
            </a:r>
          </a:p>
          <a:p>
            <a:pPr>
              <a:spcAft>
                <a:spcPts val="1800"/>
              </a:spcAft>
              <a:defRPr sz="2700" b="0">
                <a:solidFill>
                  <a:srgbClr val="202020"/>
                </a:solidFill>
                <a:latin typeface="Noto Sans"/>
                <a:ea typeface="Noto Sans"/>
                <a:cs typeface="Noto Sans"/>
              </a:defRPr>
            </a:pPr>
            <a:r>
              <a:t>What would change with earlier censoring?</a:t>
            </a:r>
          </a:p>
          <a:p>
            <a:pPr>
              <a:spcAft>
                <a:spcPts val="1800"/>
              </a:spcAft>
              <a:defRPr sz="2700" b="0">
                <a:solidFill>
                  <a:srgbClr val="202020"/>
                </a:solidFill>
                <a:latin typeface="Noto Sans"/>
                <a:ea typeface="Noto Sans"/>
                <a:cs typeface="Noto Sans"/>
              </a:defRPr>
            </a:pPr>
            <a:r>
              <a:t>Why might local and pooled hazard ratios differ?</a:t>
            </a:r>
          </a:p>
        </p:txBody>
      </p:sp>
      <p:sp>
        <p:nvSpPr>
          <p:cNvPr id="3" name="source_reference">
            <a:extLst>
              <a:ext uri="{FF2B5EF4-FFF2-40B4-BE49-F238E27FC236}">
                <a16:creationId xmlns:a16="http://schemas.microsoft.com/office/drawing/2014/main" id="{46E6636D-1B2A-483F-A204-FD5C01E9402E}"/>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Jégou et al. (2024)</a:t>
            </a:r>
          </a:p>
        </p:txBody>
      </p:sp>
    </p:spTree>
    <p:extLst>
      <p:ext uri="{BB962C8B-B14F-4D97-AF65-F5344CB8AC3E}">
        <p14:creationId xmlns:p14="http://schemas.microsoft.com/office/powerpoint/2010/main" val="693502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ssion_title">
            <a:extLst>
              <a:ext uri="{FF2B5EF4-FFF2-40B4-BE49-F238E27FC236}">
                <a16:creationId xmlns:a16="http://schemas.microsoft.com/office/drawing/2014/main" id="{659C4C51-4915-4697-BDDE-449AFF2D93E3}"/>
              </a:ext>
            </a:extLst>
          </p:cNvPr>
          <p:cNvSpPr>
            <a:spLocks noGrp="1"/>
          </p:cNvSpPr>
          <p:nvPr/>
        </p:nvSpPr>
        <p:spPr>
          <a:xfrm>
            <a:off x="714375" y="2762250"/>
            <a:ext cx="10763250" cy="1666875"/>
          </a:xfrm>
          <a:prstGeom prst="rect">
            <a:avLst/>
          </a:prstGeom>
          <a:noFill/>
          <a:ln w="0">
            <a:noFill/>
          </a:ln>
        </p:spPr>
        <p:txBody>
          <a:bodyPr lIns="0" tIns="0" rIns="0" bIns="0" anchor="t">
            <a:noAutofit/>
          </a:bodyPr>
          <a:lstStyle/>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Logistic regression</a:t>
            </a:r>
          </a:p>
          <a:p>
            <a:pPr>
              <a:defRPr sz="4275" b="1">
                <a:solidFill>
                  <a:srgbClr val="FFFFFF"/>
                </a:solidFill>
                <a:latin typeface="Noto Sans"/>
                <a:ea typeface="Noto Sans"/>
                <a:cs typeface="Noto Sans"/>
              </a:defRPr>
            </a:pPr>
            <a:r>
              <a:rPr sz="4275" b="1">
                <a:solidFill>
                  <a:srgbClr val="FFFFFF"/>
                </a:solidFill>
                <a:latin typeface="Noto Sans"/>
                <a:ea typeface="Noto Sans"/>
                <a:cs typeface="Noto Sans"/>
              </a:rPr>
              <a:t>for classification</a:t>
            </a:r>
          </a:p>
        </p:txBody>
      </p:sp>
      <p:sp>
        <p:nvSpPr>
          <p:cNvPr id="2" name="session_subtitle">
            <a:extLst>
              <a:ext uri="{FF2B5EF4-FFF2-40B4-BE49-F238E27FC236}">
                <a16:creationId xmlns:a16="http://schemas.microsoft.com/office/drawing/2014/main" id="{5248F619-566F-4D2B-B01E-0ECA34932591}"/>
              </a:ext>
            </a:extLst>
          </p:cNvPr>
          <p:cNvSpPr>
            <a:spLocks noGrp="1"/>
          </p:cNvSpPr>
          <p:nvPr/>
        </p:nvSpPr>
        <p:spPr>
          <a:xfrm>
            <a:off x="742950" y="4762500"/>
            <a:ext cx="10620375" cy="1285875"/>
          </a:xfrm>
          <a:prstGeom prst="rect">
            <a:avLst/>
          </a:prstGeom>
          <a:noFill/>
          <a:ln w="0">
            <a:noFill/>
          </a:ln>
        </p:spPr>
        <p:txBody>
          <a:bodyPr lIns="0" tIns="0" rIns="0" bIns="0" anchor="t">
            <a:noAutofit/>
          </a:bodyPr>
          <a:lstStyle/>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Session 6</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Theory and practical</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1.2 hours</a:t>
            </a:r>
          </a:p>
          <a:p>
            <a:pPr>
              <a:defRPr sz="2025" b="0">
                <a:solidFill>
                  <a:srgbClr val="FFFFFF"/>
                </a:solidFill>
                <a:latin typeface="Noto Sans"/>
                <a:ea typeface="Noto Sans"/>
                <a:cs typeface="Noto Sans"/>
              </a:defRPr>
            </a:pPr>
            <a:r>
              <a:rPr sz="2025" b="0">
                <a:solidFill>
                  <a:srgbClr val="FFFFFF"/>
                </a:solidFill>
                <a:latin typeface="Noto Sans"/>
                <a:ea typeface="Noto Sans"/>
                <a:cs typeface="Noto Sans"/>
              </a:rPr>
              <a:t>Brief introduction followed by notebook 05</a:t>
            </a:r>
          </a:p>
        </p:txBody>
      </p:sp>
    </p:spTree>
    <p:extLst>
      <p:ext uri="{BB962C8B-B14F-4D97-AF65-F5344CB8AC3E}">
        <p14:creationId xmlns:p14="http://schemas.microsoft.com/office/powerpoint/2010/main" val="1527158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07B79197-66E0-4B1B-9422-6BA2C3445E34}"/>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Clinical question</a:t>
            </a:r>
          </a:p>
        </p:txBody>
      </p:sp>
      <p:sp>
        <p:nvSpPr>
          <p:cNvPr id="2" name="body">
            <a:extLst>
              <a:ext uri="{FF2B5EF4-FFF2-40B4-BE49-F238E27FC236}">
                <a16:creationId xmlns:a16="http://schemas.microsoft.com/office/drawing/2014/main" id="{39411D7A-EE5F-46C8-A8B2-CA2A081B7650}"/>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Can available information identify patients at higher risk?</a:t>
            </a:r>
          </a:p>
          <a:p>
            <a:pPr>
              <a:spcAft>
                <a:spcPts val="1800"/>
              </a:spcAft>
              <a:defRPr sz="2700" b="0">
                <a:solidFill>
                  <a:srgbClr val="202020"/>
                </a:solidFill>
                <a:latin typeface="Noto Sans"/>
                <a:ea typeface="Noto Sans"/>
                <a:cs typeface="Noto Sans"/>
              </a:defRPr>
            </a:pPr>
            <a:r>
              <a:t>When would the prediction be used?</a:t>
            </a:r>
          </a:p>
          <a:p>
            <a:pPr>
              <a:spcAft>
                <a:spcPts val="1800"/>
              </a:spcAft>
              <a:defRPr sz="2700" b="0">
                <a:solidFill>
                  <a:srgbClr val="202020"/>
                </a:solidFill>
                <a:latin typeface="Noto Sans"/>
                <a:ea typeface="Noto Sans"/>
                <a:cs typeface="Noto Sans"/>
              </a:defRPr>
            </a:pPr>
            <a:r>
              <a:t>What are the consequences of an incorrect classification?</a:t>
            </a:r>
          </a:p>
        </p:txBody>
      </p:sp>
      <p:sp>
        <p:nvSpPr>
          <p:cNvPr id="3" name="source_reference">
            <a:extLst>
              <a:ext uri="{FF2B5EF4-FFF2-40B4-BE49-F238E27FC236}">
                <a16:creationId xmlns:a16="http://schemas.microsoft.com/office/drawing/2014/main" id="{644BE2A6-7354-4FC6-A92D-C7123E00B88D}"/>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Dunning et al. (2014)</a:t>
            </a:r>
          </a:p>
        </p:txBody>
      </p:sp>
    </p:spTree>
    <p:extLst>
      <p:ext uri="{BB962C8B-B14F-4D97-AF65-F5344CB8AC3E}">
        <p14:creationId xmlns:p14="http://schemas.microsoft.com/office/powerpoint/2010/main" val="1654717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D4361D62-5286-447E-81D9-8B128214E3DE}"/>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Association and prediction</a:t>
            </a:r>
          </a:p>
        </p:txBody>
      </p:sp>
      <p:graphicFrame>
        <p:nvGraphicFramePr>
          <p:cNvPr id="4" name="Table 3"/>
          <p:cNvGraphicFramePr/>
          <p:nvPr/>
        </p:nvGraphicFramePr>
        <p:xfrm>
          <a:off x="685800" y="2009775"/>
          <a:ext cx="10820400" cy="281940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Association analysis</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Prediction / classification</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Estimate a relationship</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Estimate an outcome for a new patient</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Interpret odds ratios and uncertainty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Evaluate predictions on held-out patients</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Consider confounding and model assumptions</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Consider leakage, overfitting and calibration</a:t>
                      </a:r>
                    </a:p>
                  </a:txBody>
                  <a:tcPr marL="114300" marR="114300" marT="76200" marB="76200"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6497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2AE3FECA-9F60-442E-9914-881290518B37}"/>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A fair prediction exercise</a:t>
            </a:r>
          </a:p>
        </p:txBody>
      </p:sp>
      <p:sp>
        <p:nvSpPr>
          <p:cNvPr id="2" name="body">
            <a:extLst>
              <a:ext uri="{FF2B5EF4-FFF2-40B4-BE49-F238E27FC236}">
                <a16:creationId xmlns:a16="http://schemas.microsoft.com/office/drawing/2014/main" id="{D96C6130-D91D-4FEC-B223-5A664E1B90E5}"/>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Separate training and test patients</a:t>
            </a:r>
          </a:p>
          <a:p>
            <a:pPr>
              <a:spcAft>
                <a:spcPts val="1800"/>
              </a:spcAft>
              <a:defRPr sz="2700" b="0">
                <a:solidFill>
                  <a:srgbClr val="202020"/>
                </a:solidFill>
                <a:latin typeface="Noto Sans"/>
                <a:ea typeface="Noto Sans"/>
                <a:cs typeface="Noto Sans"/>
              </a:defRPr>
            </a:pPr>
            <a:r>
              <a:t>Learn preprocessing from training data</a:t>
            </a:r>
          </a:p>
          <a:p>
            <a:pPr>
              <a:spcAft>
                <a:spcPts val="1800"/>
              </a:spcAft>
              <a:defRPr sz="2700" b="0">
                <a:solidFill>
                  <a:srgbClr val="202020"/>
                </a:solidFill>
                <a:latin typeface="Noto Sans"/>
                <a:ea typeface="Noto Sans"/>
                <a:cs typeface="Noto Sans"/>
              </a:defRPr>
            </a:pPr>
            <a:r>
              <a:t>Control model complexity and information leakage</a:t>
            </a:r>
          </a:p>
          <a:p>
            <a:pPr>
              <a:spcAft>
                <a:spcPts val="1800"/>
              </a:spcAft>
              <a:defRPr sz="2700" b="0">
                <a:solidFill>
                  <a:srgbClr val="202020"/>
                </a:solidFill>
                <a:latin typeface="Noto Sans"/>
                <a:ea typeface="Noto Sans"/>
                <a:cs typeface="Noto Sans"/>
              </a:defRPr>
            </a:pPr>
            <a:r>
              <a:t>Check performance across participating sites</a:t>
            </a:r>
          </a:p>
        </p:txBody>
      </p:sp>
    </p:spTree>
    <p:extLst>
      <p:ext uri="{BB962C8B-B14F-4D97-AF65-F5344CB8AC3E}">
        <p14:creationId xmlns:p14="http://schemas.microsoft.com/office/powerpoint/2010/main" val="1666575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_title">
            <a:extLst>
              <a:ext uri="{FF2B5EF4-FFF2-40B4-BE49-F238E27FC236}">
                <a16:creationId xmlns:a16="http://schemas.microsoft.com/office/drawing/2014/main" id="{D0B92D2B-9368-4A1D-85A6-70E39E2F1A07}"/>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lang="en-GB" sz="3450" b="1" dirty="0">
                <a:solidFill>
                  <a:srgbClr val="202020"/>
                </a:solidFill>
                <a:latin typeface="Noto Sans"/>
                <a:ea typeface="Noto Sans"/>
                <a:cs typeface="Noto Sans"/>
              </a:rPr>
              <a:t>Performance metrics</a:t>
            </a:r>
            <a:endParaRPr sz="3450" b="1" dirty="0">
              <a:solidFill>
                <a:srgbClr val="202020"/>
              </a:solidFill>
              <a:latin typeface="Noto Sans"/>
              <a:ea typeface="Noto Sans"/>
              <a:cs typeface="Noto Sans"/>
            </a:endParaRPr>
          </a:p>
        </p:txBody>
      </p:sp>
      <p:graphicFrame>
        <p:nvGraphicFramePr>
          <p:cNvPr id="4" name="Table 3"/>
          <p:cNvGraphicFramePr/>
          <p:nvPr/>
        </p:nvGraphicFramePr>
        <p:xfrm>
          <a:off x="685800" y="2009775"/>
          <a:ext cx="10820400" cy="3524250"/>
        </p:xfrm>
        <a:graphic>
          <a:graphicData uri="http://schemas.openxmlformats.org/drawingml/2006/table">
            <a:tbl>
              <a:tblPr/>
              <a:tblGrid>
                <a:gridCol w="45720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704850">
                <a:tc>
                  <a:txBody>
                    <a:bodyPr/>
                    <a:lstStyle/>
                    <a:p>
                      <a:r>
                        <a:rPr sz="1800" b="1">
                          <a:solidFill>
                            <a:srgbClr val="FFFFFF"/>
                          </a:solidFill>
                          <a:latin typeface="Noto Sans"/>
                          <a:ea typeface="Noto Sans"/>
                          <a:cs typeface="Noto Sans"/>
                        </a:rPr>
                        <a:t>Concept</a:t>
                      </a:r>
                    </a:p>
                  </a:txBody>
                  <a:tcPr marL="114300" marR="114300" marT="76200" marB="76200" anchor="ctr">
                    <a:solidFill>
                      <a:srgbClr val="0874B8"/>
                    </a:solidFill>
                  </a:tcPr>
                </a:tc>
                <a:tc>
                  <a:txBody>
                    <a:bodyPr/>
                    <a:lstStyle/>
                    <a:p>
                      <a:r>
                        <a:rPr sz="1800" b="1">
                          <a:solidFill>
                            <a:srgbClr val="FFFFFF"/>
                          </a:solidFill>
                          <a:latin typeface="Noto Sans"/>
                          <a:ea typeface="Noto Sans"/>
                          <a:cs typeface="Noto Sans"/>
                        </a:rPr>
                        <a:t>Question to ask</a:t>
                      </a:r>
                    </a:p>
                  </a:txBody>
                  <a:tcPr marL="114300" marR="114300" marT="76200" marB="76200" anchor="ctr">
                    <a:solidFill>
                      <a:srgbClr val="0874B8"/>
                    </a:solidFill>
                  </a:tcPr>
                </a:tc>
                <a:extLst>
                  <a:ext uri="{0D108BD9-81ED-4DB2-BD59-A6C34878D82A}">
                    <a16:rowId xmlns:a16="http://schemas.microsoft.com/office/drawing/2014/main" val="10000"/>
                  </a:ext>
                </a:extLst>
              </a:tr>
              <a:tr h="704850">
                <a:tc>
                  <a:txBody>
                    <a:bodyPr/>
                    <a:lstStyle/>
                    <a:p>
                      <a:r>
                        <a:rPr sz="1800">
                          <a:solidFill>
                            <a:srgbClr val="202020"/>
                          </a:solidFill>
                          <a:latin typeface="Noto Sans"/>
                          <a:ea typeface="Noto Sans"/>
                          <a:cs typeface="Noto Sans"/>
                        </a:rPr>
                        <a:t>Recall / sensitivity</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How many deaths are detected?</a:t>
                      </a:r>
                    </a:p>
                  </a:txBody>
                  <a:tcPr marL="114300" marR="114300" marT="76200" marB="76200" anchor="ctr">
                    <a:solidFill>
                      <a:srgbClr val="FFFFFF"/>
                    </a:solidFill>
                  </a:tcPr>
                </a:tc>
                <a:extLst>
                  <a:ext uri="{0D108BD9-81ED-4DB2-BD59-A6C34878D82A}">
                    <a16:rowId xmlns:a16="http://schemas.microsoft.com/office/drawing/2014/main" val="10001"/>
                  </a:ext>
                </a:extLst>
              </a:tr>
              <a:tr h="704850">
                <a:tc>
                  <a:txBody>
                    <a:bodyPr/>
                    <a:lstStyle/>
                    <a:p>
                      <a:r>
                        <a:rPr sz="1800">
                          <a:solidFill>
                            <a:srgbClr val="202020"/>
                          </a:solidFill>
                          <a:latin typeface="Noto Sans"/>
                          <a:ea typeface="Noto Sans"/>
                          <a:cs typeface="Noto Sans"/>
                        </a:rPr>
                        <a:t>Precision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How many predicted deaths actually occur?</a:t>
                      </a:r>
                    </a:p>
                  </a:txBody>
                  <a:tcPr marL="114300" marR="114300" marT="76200" marB="76200" anchor="ctr">
                    <a:solidFill>
                      <a:srgbClr val="FFFFFF"/>
                    </a:solidFill>
                  </a:tcPr>
                </a:tc>
                <a:extLst>
                  <a:ext uri="{0D108BD9-81ED-4DB2-BD59-A6C34878D82A}">
                    <a16:rowId xmlns:a16="http://schemas.microsoft.com/office/drawing/2014/main" val="10002"/>
                  </a:ext>
                </a:extLst>
              </a:tr>
              <a:tr h="704850">
                <a:tc>
                  <a:txBody>
                    <a:bodyPr/>
                    <a:lstStyle/>
                    <a:p>
                      <a:r>
                        <a:rPr sz="1800">
                          <a:solidFill>
                            <a:srgbClr val="202020"/>
                          </a:solidFill>
                          <a:latin typeface="Noto Sans"/>
                          <a:ea typeface="Noto Sans"/>
                          <a:cs typeface="Noto Sans"/>
                        </a:rPr>
                        <a:t>AUC</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How well does the model rank patients?</a:t>
                      </a:r>
                    </a:p>
                  </a:txBody>
                  <a:tcPr marL="114300" marR="114300" marT="76200" marB="76200" anchor="ctr">
                    <a:solidFill>
                      <a:srgbClr val="FFFFFF"/>
                    </a:solidFill>
                  </a:tcPr>
                </a:tc>
                <a:extLst>
                  <a:ext uri="{0D108BD9-81ED-4DB2-BD59-A6C34878D82A}">
                    <a16:rowId xmlns:a16="http://schemas.microsoft.com/office/drawing/2014/main" val="10003"/>
                  </a:ext>
                </a:extLst>
              </a:tr>
              <a:tr h="704850">
                <a:tc>
                  <a:txBody>
                    <a:bodyPr/>
                    <a:lstStyle/>
                    <a:p>
                      <a:r>
                        <a:rPr sz="1800">
                          <a:solidFill>
                            <a:srgbClr val="202020"/>
                          </a:solidFill>
                          <a:latin typeface="Noto Sans"/>
                          <a:ea typeface="Noto Sans"/>
                          <a:cs typeface="Noto Sans"/>
                        </a:rPr>
                        <a:t>Calibration</a:t>
                      </a:r>
                    </a:p>
                  </a:txBody>
                  <a:tcPr marL="114300" marR="114300" marT="76200" marB="76200" anchor="ctr">
                    <a:solidFill>
                      <a:srgbClr val="FFFFFF"/>
                    </a:solidFill>
                  </a:tcPr>
                </a:tc>
                <a:tc>
                  <a:txBody>
                    <a:bodyPr/>
                    <a:lstStyle/>
                    <a:p>
                      <a:r>
                        <a:rPr sz="1800">
                          <a:solidFill>
                            <a:srgbClr val="202020"/>
                          </a:solidFill>
                          <a:latin typeface="Noto Sans"/>
                          <a:ea typeface="Noto Sans"/>
                          <a:cs typeface="Noto Sans"/>
                        </a:rPr>
                        <a:t>Do predicted probabilities match observed frequencies?</a:t>
                      </a:r>
                    </a:p>
                  </a:txBody>
                  <a:tcPr marL="114300" marR="114300" marT="76200" marB="76200" anchor="ct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2848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1F948672-D7F2-4D19-823B-C81E9F0489A7}"/>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Iterative federated model training</a:t>
            </a:r>
          </a:p>
        </p:txBody>
      </p:sp>
      <p:sp>
        <p:nvSpPr>
          <p:cNvPr id="2" name="body">
            <a:extLst>
              <a:ext uri="{FF2B5EF4-FFF2-40B4-BE49-F238E27FC236}">
                <a16:creationId xmlns:a16="http://schemas.microsoft.com/office/drawing/2014/main" id="{09C76CB6-7227-407B-AF65-FFB4FF6699D6}"/>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Sites use a common predictor scale</a:t>
            </a:r>
          </a:p>
          <a:p>
            <a:pPr>
              <a:spcAft>
                <a:spcPts val="1800"/>
              </a:spcAft>
              <a:defRPr sz="2700" b="0">
                <a:solidFill>
                  <a:srgbClr val="202020"/>
                </a:solidFill>
                <a:latin typeface="Noto Sans"/>
                <a:ea typeface="Noto Sans"/>
                <a:cs typeface="Noto Sans"/>
              </a:defRPr>
            </a:pPr>
            <a:r>
              <a:t>Each site updates the shared model locally</a:t>
            </a:r>
          </a:p>
          <a:p>
            <a:pPr>
              <a:spcAft>
                <a:spcPts val="1800"/>
              </a:spcAft>
              <a:defRPr sz="2700" b="0">
                <a:solidFill>
                  <a:srgbClr val="202020"/>
                </a:solidFill>
                <a:latin typeface="Noto Sans"/>
                <a:ea typeface="Noto Sans"/>
                <a:cs typeface="Noto Sans"/>
              </a:defRPr>
            </a:pPr>
            <a:r>
              <a:t>The coordinator combines updates over rounds</a:t>
            </a:r>
          </a:p>
          <a:p>
            <a:pPr>
              <a:spcAft>
                <a:spcPts val="1800"/>
              </a:spcAft>
              <a:defRPr sz="2700" b="0">
                <a:solidFill>
                  <a:srgbClr val="202020"/>
                </a:solidFill>
                <a:latin typeface="Noto Sans"/>
                <a:ea typeface="Noto Sans"/>
                <a:cs typeface="Noto Sans"/>
              </a:defRPr>
            </a:pPr>
            <a:r>
              <a:t>Sites evaluate the final model on local test patients</a:t>
            </a:r>
          </a:p>
        </p:txBody>
      </p:sp>
      <p:sp>
        <p:nvSpPr>
          <p:cNvPr id="3" name="source_reference">
            <a:extLst>
              <a:ext uri="{FF2B5EF4-FFF2-40B4-BE49-F238E27FC236}">
                <a16:creationId xmlns:a16="http://schemas.microsoft.com/office/drawing/2014/main" id="{E8A6AEEA-45C0-4890-AEAD-BAC9721A106D}"/>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Wang et al. (2025/2026)</a:t>
            </a:r>
          </a:p>
        </p:txBody>
      </p:sp>
    </p:spTree>
    <p:extLst>
      <p:ext uri="{BB962C8B-B14F-4D97-AF65-F5344CB8AC3E}">
        <p14:creationId xmlns:p14="http://schemas.microsoft.com/office/powerpoint/2010/main" val="3191193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_title">
            <a:extLst>
              <a:ext uri="{FF2B5EF4-FFF2-40B4-BE49-F238E27FC236}">
                <a16:creationId xmlns:a16="http://schemas.microsoft.com/office/drawing/2014/main" id="{1C514E39-F3D8-4384-B877-B5FADFA2037A}"/>
              </a:ext>
            </a:extLst>
          </p:cNvPr>
          <p:cNvSpPr>
            <a:spLocks noGrp="1"/>
          </p:cNvSpPr>
          <p:nvPr/>
        </p:nvSpPr>
        <p:spPr>
          <a:xfrm>
            <a:off x="685800" y="733425"/>
            <a:ext cx="10820400" cy="1076325"/>
          </a:xfrm>
          <a:prstGeom prst="rect">
            <a:avLst/>
          </a:prstGeom>
          <a:noFill/>
          <a:ln w="0">
            <a:noFill/>
          </a:ln>
        </p:spPr>
        <p:txBody>
          <a:bodyPr lIns="0" tIns="0" rIns="0" bIns="0" anchor="t">
            <a:noAutofit/>
          </a:bodyPr>
          <a:lstStyle/>
          <a:p>
            <a:pPr>
              <a:defRPr sz="3450" b="1">
                <a:solidFill>
                  <a:srgbClr val="202020"/>
                </a:solidFill>
                <a:latin typeface="Noto Sans"/>
                <a:ea typeface="Noto Sans"/>
                <a:cs typeface="Noto Sans"/>
              </a:defRPr>
            </a:pPr>
            <a:r>
              <a:rPr sz="3450" b="1">
                <a:solidFill>
                  <a:srgbClr val="202020"/>
                </a:solidFill>
                <a:latin typeface="Noto Sans"/>
                <a:ea typeface="Noto Sans"/>
                <a:cs typeface="Noto Sans"/>
              </a:rPr>
              <a:t>Debrief</a:t>
            </a:r>
          </a:p>
        </p:txBody>
      </p:sp>
      <p:sp>
        <p:nvSpPr>
          <p:cNvPr id="2" name="body">
            <a:extLst>
              <a:ext uri="{FF2B5EF4-FFF2-40B4-BE49-F238E27FC236}">
                <a16:creationId xmlns:a16="http://schemas.microsoft.com/office/drawing/2014/main" id="{7131EF50-BA0C-4A64-9B98-3E96B22019D5}"/>
              </a:ext>
            </a:extLst>
          </p:cNvPr>
          <p:cNvSpPr>
            <a:spLocks noGrp="1"/>
          </p:cNvSpPr>
          <p:nvPr/>
        </p:nvSpPr>
        <p:spPr>
          <a:xfrm>
            <a:off x="723900" y="2095500"/>
            <a:ext cx="10744200" cy="3667125"/>
          </a:xfrm>
          <a:prstGeom prst="rect">
            <a:avLst/>
          </a:prstGeom>
          <a:noFill/>
          <a:ln w="0">
            <a:noFill/>
          </a:ln>
        </p:spPr>
        <p:txBody>
          <a:bodyPr lIns="0" tIns="0" rIns="0" bIns="0" anchor="t">
            <a:noAutofit/>
          </a:bodyPr>
          <a:lstStyle/>
          <a:p>
            <a:pPr>
              <a:spcAft>
                <a:spcPts val="1800"/>
              </a:spcAft>
              <a:defRPr sz="2700" b="0">
                <a:solidFill>
                  <a:srgbClr val="202020"/>
                </a:solidFill>
                <a:latin typeface="Noto Sans"/>
                <a:ea typeface="Noto Sans"/>
                <a:cs typeface="Noto Sans"/>
              </a:defRPr>
            </a:pPr>
            <a:r>
              <a:t>Did the models rank and classify patients similarly?</a:t>
            </a:r>
          </a:p>
          <a:p>
            <a:pPr>
              <a:spcAft>
                <a:spcPts val="1800"/>
              </a:spcAft>
              <a:defRPr sz="2700" b="0">
                <a:solidFill>
                  <a:srgbClr val="202020"/>
                </a:solidFill>
                <a:latin typeface="Noto Sans"/>
                <a:ea typeface="Noto Sans"/>
                <a:cs typeface="Noto Sans"/>
              </a:defRPr>
            </a:pPr>
            <a:r>
              <a:t>Which evaluation results combine exactly?</a:t>
            </a:r>
          </a:p>
          <a:p>
            <a:pPr>
              <a:spcAft>
                <a:spcPts val="1800"/>
              </a:spcAft>
              <a:defRPr sz="2700" b="0">
                <a:solidFill>
                  <a:srgbClr val="202020"/>
                </a:solidFill>
                <a:latin typeface="Noto Sans"/>
                <a:ea typeface="Noto Sans"/>
                <a:cs typeface="Noto Sans"/>
              </a:defRPr>
            </a:pPr>
            <a:r>
              <a:t>What else is needed before clinical use?</a:t>
            </a:r>
          </a:p>
        </p:txBody>
      </p:sp>
      <p:sp>
        <p:nvSpPr>
          <p:cNvPr id="3" name="source_reference">
            <a:extLst>
              <a:ext uri="{FF2B5EF4-FFF2-40B4-BE49-F238E27FC236}">
                <a16:creationId xmlns:a16="http://schemas.microsoft.com/office/drawing/2014/main" id="{FE23C83F-7651-4DDF-94AE-66BC3A079AAC}"/>
              </a:ext>
            </a:extLst>
          </p:cNvPr>
          <p:cNvSpPr>
            <a:spLocks noGrp="1"/>
          </p:cNvSpPr>
          <p:nvPr/>
        </p:nvSpPr>
        <p:spPr>
          <a:xfrm>
            <a:off x="723900" y="5886450"/>
            <a:ext cx="10744200" cy="247650"/>
          </a:xfrm>
          <a:prstGeom prst="rect">
            <a:avLst/>
          </a:prstGeom>
          <a:noFill/>
          <a:ln w="0">
            <a:noFill/>
          </a:ln>
        </p:spPr>
        <p:txBody>
          <a:bodyPr lIns="0" tIns="0" rIns="0" bIns="0" anchor="t">
            <a:noAutofit/>
          </a:bodyPr>
          <a:lstStyle/>
          <a:p>
            <a:pPr>
              <a:defRPr sz="1350" b="0">
                <a:solidFill>
                  <a:srgbClr val="555555"/>
                </a:solidFill>
                <a:latin typeface="Noto Sans"/>
                <a:ea typeface="Noto Sans"/>
                <a:cs typeface="Noto Sans"/>
              </a:defRPr>
            </a:pPr>
            <a:r>
              <a:rPr sz="1350" b="0">
                <a:solidFill>
                  <a:srgbClr val="555555"/>
                </a:solidFill>
                <a:latin typeface="Noto Sans"/>
                <a:ea typeface="Noto Sans"/>
                <a:cs typeface="Noto Sans"/>
              </a:rPr>
              <a:t>Wang et al. (2025/2026)</a:t>
            </a:r>
          </a:p>
        </p:txBody>
      </p:sp>
    </p:spTree>
    <p:extLst>
      <p:ext uri="{BB962C8B-B14F-4D97-AF65-F5344CB8AC3E}">
        <p14:creationId xmlns:p14="http://schemas.microsoft.com/office/powerpoint/2010/main" val="2877840693"/>
      </p:ext>
    </p:extLst>
  </p:cSld>
  <p:clrMapOvr>
    <a:masterClrMapping/>
  </p:clrMapOvr>
</p:sld>
</file>

<file path=ppt/theme/theme1.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GHN Them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3624</Words>
  <Application>Microsoft Office PowerPoint</Application>
  <DocSecurity>0</DocSecurity>
  <PresentationFormat>Widescreen</PresentationFormat>
  <Paragraphs>308</Paragraphs>
  <Slides>25</Slides>
  <Notes>25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Noto Sans SemiBold</vt:lpstr>
      <vt:lpstr>Arial</vt:lpstr>
      <vt:lpstr>Calibri Light</vt:lpstr>
      <vt:lpstr>Noto Sans</vt:lpstr>
      <vt:lpstr>Calibri</vt:lpstr>
      <vt:lpstr>TGHN Regional Programme</vt:lpstr>
      <vt:lpstr>Diseño personalizado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Esteban Garcia</cp:lastModifiedBy>
  <cp:revision>1</cp:revision>
  <dcterms:created xsi:type="dcterms:W3CDTF">2026-10-03T11:52:17Z</dcterms:created>
  <dcterms:modified xsi:type="dcterms:W3CDTF">2026-10-04T14:35:52Z</dcterms:modified>
</cp:coreProperties>
</file>