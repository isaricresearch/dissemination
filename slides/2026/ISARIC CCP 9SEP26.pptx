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1" r:id="rId2"/>
    <p:sldId id="2145707068" r:id="rId3"/>
    <p:sldId id="350" r:id="rId4"/>
    <p:sldId id="1856" r:id="rId5"/>
    <p:sldId id="2145706984" r:id="rId6"/>
    <p:sldId id="2134959431" r:id="rId7"/>
    <p:sldId id="2145706990" r:id="rId8"/>
    <p:sldId id="2145707069" r:id="rId9"/>
    <p:sldId id="2134959441" r:id="rId10"/>
    <p:sldId id="2145706019" r:id="rId11"/>
    <p:sldId id="214570699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002D"/>
    <a:srgbClr val="F9B1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782"/>
    <p:restoredTop sz="65586"/>
  </p:normalViewPr>
  <p:slideViewPr>
    <p:cSldViewPr snapToGrid="0" snapToObjects="1">
      <p:cViewPr varScale="1">
        <p:scale>
          <a:sx n="66" d="100"/>
          <a:sy n="66" d="100"/>
        </p:scale>
        <p:origin x="480" y="19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9A1002-F189-BC4C-AC57-2BABAF031157}" type="datetimeFigureOut">
              <a:rPr lang="en-GB" smtClean="0"/>
              <a:t>09/09/2026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00587-4EC3-A347-B88E-E761648A8EA6}" type="slidenum">
              <a:rPr lang="en-GB" smtClean="0"/>
              <a:t>‹#›</a:t>
            </a:fld>
            <a:endParaRPr lang="en-GB"/>
          </a:p>
        </p:txBody>
      </p:sp>
    </p:spTree>
    <p:extLst>
      <p:ext uri="{BB962C8B-B14F-4D97-AF65-F5344CB8AC3E}">
        <p14:creationId xmlns:p14="http://schemas.microsoft.com/office/powerpoint/2010/main" val="119148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3116031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5953-64B2-42F0-A2A7-2DAD0CA5F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34579-76BA-485F-B987-E945975C4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FC384-54AD-FE82-A154-293E665EAA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brief introduction, ISARIC is a federation of investigators who, for more than a decade, have championed the development of a coordinated, agile approach clinical research on emerging infectious diseases.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dirty="0"/>
              <a:t>ISARIC's creation was a response to the lack of actionable research evidence generated during the 2009 H1N1 pandemic. This collective failure of the global research community forced the recognition that we were ill equipped to deliver the research needed to respond to outbreaks REAL TIME.</a:t>
            </a:r>
          </a:p>
          <a:p>
            <a:endParaRPr lang="en-GB" dirty="0"/>
          </a:p>
          <a:p>
            <a:r>
              <a:rPr lang="en-GB" dirty="0"/>
              <a:t>From this, a grassroots initiative emerged to tackle the challenge of improving patient outcomes during outbreaks. The strategy included the development of pre-approved, standardised protocols and data tools to support the integration of research into the public health response.  </a:t>
            </a:r>
          </a:p>
        </p:txBody>
      </p:sp>
      <p:sp>
        <p:nvSpPr>
          <p:cNvPr id="4" name="Slide Number Placeholder 3">
            <a:extLst>
              <a:ext uri="{FF2B5EF4-FFF2-40B4-BE49-F238E27FC236}">
                <a16:creationId xmlns:a16="http://schemas.microsoft.com/office/drawing/2014/main" id="{32110429-A4C2-C266-3119-2DDF68265BEE}"/>
              </a:ext>
            </a:extLst>
          </p:cNvPr>
          <p:cNvSpPr>
            <a:spLocks noGrp="1"/>
          </p:cNvSpPr>
          <p:nvPr>
            <p:ph type="sldNum" sz="quarter" idx="5"/>
          </p:nvPr>
        </p:nvSpPr>
        <p:spPr/>
        <p:txBody>
          <a:bodyPr/>
          <a:lstStyle/>
          <a:p>
            <a:fld id="{D9A00587-4EC3-A347-B88E-E761648A8EA6}" type="slidenum">
              <a:rPr lang="en-GB" smtClean="0"/>
              <a:t>2</a:t>
            </a:fld>
            <a:endParaRPr lang="en-GB"/>
          </a:p>
        </p:txBody>
      </p:sp>
    </p:spTree>
    <p:extLst>
      <p:ext uri="{BB962C8B-B14F-4D97-AF65-F5344CB8AC3E}">
        <p14:creationId xmlns:p14="http://schemas.microsoft.com/office/powerpoint/2010/main" val="2733208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Outbreak research readiness and response - Establishing high quality research studies, expertise and infrastructure </a:t>
            </a:r>
          </a:p>
          <a:p>
            <a:r>
              <a:rPr lang="en-GB" dirty="0"/>
              <a:t>between epidemics and pandemics is what enables us to respond quickly and generate high quality evidence. </a:t>
            </a:r>
          </a:p>
          <a:p>
            <a:pPr marL="342891" indent="-342891">
              <a:buFont typeface="Arial"/>
              <a:buChar char="•"/>
            </a:pPr>
            <a:r>
              <a:rPr lang="en-US" sz="1200" dirty="0">
                <a:latin typeface="+mn-lt"/>
                <a:cs typeface="Calibri"/>
              </a:rPr>
              <a:t>Universal protocol with a FLEXIBLE approach</a:t>
            </a:r>
          </a:p>
          <a:p>
            <a:pPr marL="685783" indent="-685783">
              <a:buFont typeface="Arial"/>
              <a:buChar char="•"/>
            </a:pPr>
            <a:r>
              <a:rPr lang="en-GB" sz="1200" dirty="0">
                <a:solidFill>
                  <a:srgbClr val="000000"/>
                </a:solidFill>
              </a:rPr>
              <a:t>Builds</a:t>
            </a:r>
            <a:r>
              <a:rPr lang="en-GB" sz="1200" dirty="0">
                <a:solidFill>
                  <a:srgbClr val="FF0000"/>
                </a:solidFill>
              </a:rPr>
              <a:t> open-access </a:t>
            </a:r>
            <a:r>
              <a:rPr lang="en-GB" sz="1200" dirty="0"/>
              <a:t>research tools and databases which are </a:t>
            </a:r>
            <a:r>
              <a:rPr lang="en-GB" sz="1200" dirty="0">
                <a:solidFill>
                  <a:srgbClr val="FF0000"/>
                </a:solidFill>
              </a:rPr>
              <a:t>flexible, resource-appropriate and pragmatic</a:t>
            </a:r>
          </a:p>
          <a:p>
            <a:pPr marL="685783" indent="-685783">
              <a:buFont typeface="Arial"/>
              <a:buChar char="•"/>
            </a:pPr>
            <a:r>
              <a:rPr lang="en-GB" sz="1200" dirty="0">
                <a:solidFill>
                  <a:srgbClr val="000000"/>
                </a:solidFill>
              </a:rPr>
              <a:t>Prepared and shared </a:t>
            </a:r>
            <a:r>
              <a:rPr lang="en-GB" sz="1200" dirty="0">
                <a:solidFill>
                  <a:srgbClr val="FF0000"/>
                </a:solidFill>
              </a:rPr>
              <a:t>in advance </a:t>
            </a:r>
            <a:r>
              <a:rPr lang="en-GB" sz="1200" dirty="0">
                <a:solidFill>
                  <a:srgbClr val="000000"/>
                </a:solidFill>
              </a:rPr>
              <a:t>of an outbreak</a:t>
            </a:r>
          </a:p>
          <a:p>
            <a:pPr marL="685783" indent="-685783">
              <a:buFont typeface="Arial"/>
              <a:buChar char="•"/>
            </a:pPr>
            <a:endParaRPr lang="en-GB" sz="1200" dirty="0">
              <a:solidFill>
                <a:srgbClr val="000000"/>
              </a:solidFill>
            </a:endParaRPr>
          </a:p>
          <a:p>
            <a:r>
              <a:rPr lang="en-GB" b="1" dirty="0"/>
              <a:t>Protocol</a:t>
            </a:r>
          </a:p>
          <a:p>
            <a:r>
              <a:rPr lang="en-GB" b="1" dirty="0"/>
              <a:t>CRF &amp; eCRF</a:t>
            </a:r>
            <a:r>
              <a:rPr lang="en-GB" dirty="0"/>
              <a:t>: Core data elements + modules for diseases, syndromes, follow-up, procedures</a:t>
            </a:r>
          </a:p>
          <a:p>
            <a:r>
              <a:rPr lang="en-GB" b="1" dirty="0"/>
              <a:t>Grant applications</a:t>
            </a:r>
            <a:r>
              <a:rPr lang="en-GB" dirty="0"/>
              <a:t>: library of excerpts to support other sites to write their own applications</a:t>
            </a:r>
          </a:p>
          <a:p>
            <a:r>
              <a:rPr lang="en-GB" b="1" dirty="0"/>
              <a:t>Data management</a:t>
            </a:r>
            <a:r>
              <a:rPr lang="en-GB" dirty="0"/>
              <a:t>: regional REDCap systems hosted, harmonised, updated and managed at Oxford</a:t>
            </a:r>
          </a:p>
          <a:p>
            <a:r>
              <a:rPr lang="en-GB" b="1" dirty="0"/>
              <a:t>Data visualisation</a:t>
            </a:r>
            <a:r>
              <a:rPr lang="en-GB" dirty="0"/>
              <a:t>: dashboard code that can be locally tailored and hosted to a site/network/region </a:t>
            </a:r>
          </a:p>
          <a:p>
            <a:r>
              <a:rPr lang="en-GB" b="1" dirty="0"/>
              <a:t>SOPs and other implementation tools : </a:t>
            </a:r>
            <a:r>
              <a:rPr lang="en-GB" dirty="0"/>
              <a:t>library of template documents, </a:t>
            </a:r>
            <a:r>
              <a:rPr lang="en-GB" b="1" dirty="0"/>
              <a:t>Ethics support </a:t>
            </a:r>
            <a:r>
              <a:rPr lang="en-GB" dirty="0"/>
              <a:t>materials</a:t>
            </a:r>
          </a:p>
          <a:p>
            <a:r>
              <a:rPr lang="en-GB" b="1" dirty="0"/>
              <a:t>Central database </a:t>
            </a:r>
            <a:r>
              <a:rPr lang="en-GB" dirty="0"/>
              <a:t>for data pooling/sharing</a:t>
            </a:r>
          </a:p>
          <a:p>
            <a:r>
              <a:rPr lang="en-GB" b="1" dirty="0"/>
              <a:t>Data sharing </a:t>
            </a:r>
            <a:r>
              <a:rPr lang="en-GB" dirty="0"/>
              <a:t>mechanism and partner analysis scheme</a:t>
            </a:r>
          </a:p>
          <a:p>
            <a:pPr marL="685783" indent="-685783">
              <a:buFont typeface="Arial"/>
              <a:buChar char="•"/>
            </a:pPr>
            <a:endParaRPr lang="en-GB" sz="1200" dirty="0">
              <a:solidFill>
                <a:srgbClr val="000000"/>
              </a:solidFill>
            </a:endParaRPr>
          </a:p>
          <a:p>
            <a:pPr marL="342891" indent="-342891">
              <a:buFont typeface="Arial"/>
              <a:buChar char="•"/>
            </a:pPr>
            <a:endParaRPr lang="en-CA" sz="1200" dirty="0">
              <a:latin typeface="+mn-lt"/>
              <a:cs typeface="Calibri"/>
            </a:endParaRPr>
          </a:p>
          <a:p>
            <a:endParaRPr lang="en-GB" dirty="0"/>
          </a:p>
        </p:txBody>
      </p:sp>
      <p:sp>
        <p:nvSpPr>
          <p:cNvPr id="4" name="Slide Number Placeholder 3"/>
          <p:cNvSpPr>
            <a:spLocks noGrp="1"/>
          </p:cNvSpPr>
          <p:nvPr>
            <p:ph type="sldNum" sz="quarter" idx="5"/>
          </p:nvPr>
        </p:nvSpPr>
        <p:spPr/>
        <p:txBody>
          <a:bodyPr/>
          <a:lstStyle/>
          <a:p>
            <a:fld id="{D9A00587-4EC3-A347-B88E-E761648A8EA6}" type="slidenum">
              <a:rPr lang="en-GB" smtClean="0"/>
              <a:t>3</a:t>
            </a:fld>
            <a:endParaRPr lang="en-GB"/>
          </a:p>
        </p:txBody>
      </p:sp>
    </p:spTree>
    <p:extLst>
      <p:ext uri="{BB962C8B-B14F-4D97-AF65-F5344CB8AC3E}">
        <p14:creationId xmlns:p14="http://schemas.microsoft.com/office/powerpoint/2010/main" val="4046044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it’s inception in 2012 up until 2019, CCP was used in many outbreaks </a:t>
            </a:r>
          </a:p>
          <a:p>
            <a:r>
              <a:rPr lang="en-GB" dirty="0"/>
              <a:t>Ebola</a:t>
            </a:r>
          </a:p>
          <a:p>
            <a:r>
              <a:rPr lang="en-GB" dirty="0"/>
              <a:t>Zika</a:t>
            </a:r>
          </a:p>
          <a:p>
            <a:r>
              <a:rPr lang="en-GB" dirty="0"/>
              <a:t>SPRINT-SARI - As an international point prevalence study during influenza seasons in 19 countries</a:t>
            </a:r>
          </a:p>
          <a:p>
            <a:r>
              <a:rPr lang="en-GB" dirty="0"/>
              <a:t>ISARIC4C - As a nationally approved sleeping protocol ready to respond to any pathogen of public health importance</a:t>
            </a:r>
          </a:p>
          <a:p>
            <a:r>
              <a:rPr lang="en-GB" dirty="0"/>
              <a:t>In Saudi Arabia in response to MERS-CoV</a:t>
            </a:r>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dirty="0"/>
          </a:p>
        </p:txBody>
      </p:sp>
    </p:spTree>
    <p:extLst>
      <p:ext uri="{BB962C8B-B14F-4D97-AF65-F5344CB8AC3E}">
        <p14:creationId xmlns:p14="http://schemas.microsoft.com/office/powerpoint/2010/main" val="19218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2020, the culmination of the experience gained across the multiple implementations was used to pivot the protocol toward COVID-19. The tools were adapted and shared internationally which led to wide spread uptake</a:t>
            </a:r>
          </a:p>
        </p:txBody>
      </p:sp>
      <p:sp>
        <p:nvSpPr>
          <p:cNvPr id="4" name="Slide Number Placeholder 3"/>
          <p:cNvSpPr>
            <a:spLocks noGrp="1"/>
          </p:cNvSpPr>
          <p:nvPr>
            <p:ph type="sldNum" sz="quarter" idx="5"/>
          </p:nvPr>
        </p:nvSpPr>
        <p:spPr/>
        <p:txBody>
          <a:bodyPr/>
          <a:lstStyle/>
          <a:p>
            <a:fld id="{EFDDBACE-0F8F-43FD-98F0-DEE13552DADA}" type="slidenum">
              <a:rPr lang="en-US" noProof="0" smtClean="0"/>
              <a:t>5</a:t>
            </a:fld>
            <a:endParaRPr lang="en-US" noProof="0" dirty="0"/>
          </a:p>
        </p:txBody>
      </p:sp>
    </p:spTree>
    <p:extLst>
      <p:ext uri="{BB962C8B-B14F-4D97-AF65-F5344CB8AC3E}">
        <p14:creationId xmlns:p14="http://schemas.microsoft.com/office/powerpoint/2010/main" val="2407482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THe</a:t>
            </a:r>
            <a:r>
              <a:rPr lang="en-GB" dirty="0"/>
              <a:t> ISARIC CCP Case Report Form was used in many of the earliest collections and descriptions of COVID-19</a:t>
            </a:r>
          </a:p>
          <a:p>
            <a:r>
              <a:rPr lang="en-GB" dirty="0"/>
              <a:t>Several MoH and NPHIs used the tools for national reporting systems</a:t>
            </a:r>
          </a:p>
        </p:txBody>
      </p:sp>
      <p:sp>
        <p:nvSpPr>
          <p:cNvPr id="4" name="Slide Number Placeholder 3"/>
          <p:cNvSpPr>
            <a:spLocks noGrp="1"/>
          </p:cNvSpPr>
          <p:nvPr>
            <p:ph type="sldNum" sz="quarter" idx="5"/>
          </p:nvPr>
        </p:nvSpPr>
        <p:spPr/>
        <p:txBody>
          <a:bodyPr/>
          <a:lstStyle/>
          <a:p>
            <a:fld id="{D9A00587-4EC3-A347-B88E-E761648A8EA6}" type="slidenum">
              <a:rPr lang="en-GB" smtClean="0"/>
              <a:t>6</a:t>
            </a:fld>
            <a:endParaRPr lang="en-GB"/>
          </a:p>
        </p:txBody>
      </p:sp>
    </p:spTree>
    <p:extLst>
      <p:ext uri="{BB962C8B-B14F-4D97-AF65-F5344CB8AC3E}">
        <p14:creationId xmlns:p14="http://schemas.microsoft.com/office/powerpoint/2010/main" val="680507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&gt;1800 sites across 83 countries contributed data to a central platform for sharing and collaborative analysis</a:t>
            </a:r>
          </a:p>
        </p:txBody>
      </p:sp>
      <p:sp>
        <p:nvSpPr>
          <p:cNvPr id="4" name="Slide Number Placeholder 3"/>
          <p:cNvSpPr>
            <a:spLocks noGrp="1"/>
          </p:cNvSpPr>
          <p:nvPr>
            <p:ph type="sldNum" sz="quarter" idx="5"/>
          </p:nvPr>
        </p:nvSpPr>
        <p:spPr/>
        <p:txBody>
          <a:bodyPr/>
          <a:lstStyle/>
          <a:p>
            <a:fld id="{8B32E040-E090-6A4D-83AC-458DA559B8E7}" type="slidenum">
              <a:rPr lang="en-US" smtClean="0"/>
              <a:t>7</a:t>
            </a:fld>
            <a:endParaRPr lang="en-US"/>
          </a:p>
        </p:txBody>
      </p:sp>
    </p:spTree>
    <p:extLst>
      <p:ext uri="{BB962C8B-B14F-4D97-AF65-F5344CB8AC3E}">
        <p14:creationId xmlns:p14="http://schemas.microsoft.com/office/powerpoint/2010/main" val="47997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9B46C0-EC16-4349-9D98-D639232A9BDB}" type="slidenum">
              <a:rPr lang="en-GB" smtClean="0"/>
              <a:t>9</a:t>
            </a:fld>
            <a:endParaRPr lang="en-GB"/>
          </a:p>
        </p:txBody>
      </p:sp>
    </p:spTree>
    <p:extLst>
      <p:ext uri="{BB962C8B-B14F-4D97-AF65-F5344CB8AC3E}">
        <p14:creationId xmlns:p14="http://schemas.microsoft.com/office/powerpoint/2010/main" val="2532622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a:p>
        </p:txBody>
      </p:sp>
    </p:spTree>
    <p:extLst>
      <p:ext uri="{BB962C8B-B14F-4D97-AF65-F5344CB8AC3E}">
        <p14:creationId xmlns:p14="http://schemas.microsoft.com/office/powerpoint/2010/main" val="1378912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Summary slide</a:t>
            </a:r>
          </a:p>
        </p:txBody>
      </p:sp>
      <p:sp>
        <p:nvSpPr>
          <p:cNvPr id="4" name="Slide Number Placeholder 3"/>
          <p:cNvSpPr>
            <a:spLocks noGrp="1"/>
          </p:cNvSpPr>
          <p:nvPr>
            <p:ph type="sldNum" sz="quarter" idx="5"/>
          </p:nvPr>
        </p:nvSpPr>
        <p:spPr/>
        <p:txBody>
          <a:bodyPr/>
          <a:lstStyle/>
          <a:p>
            <a:fld id="{D9A00587-4EC3-A347-B88E-E761648A8EA6}" type="slidenum">
              <a:rPr lang="en-GB" smtClean="0"/>
              <a:t>11</a:t>
            </a:fld>
            <a:endParaRPr lang="en-GB"/>
          </a:p>
        </p:txBody>
      </p:sp>
    </p:spTree>
    <p:extLst>
      <p:ext uri="{BB962C8B-B14F-4D97-AF65-F5344CB8AC3E}">
        <p14:creationId xmlns:p14="http://schemas.microsoft.com/office/powerpoint/2010/main" val="3471668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49BE-D996-1343-A93C-7C13C464FBC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EECDE4C-74A1-F146-B573-C5FE59447C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ADF0E41-5B90-CE45-AE4F-0D69CCF022AC}"/>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CC481A28-245B-A84E-B22B-1129656727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CCA786-BA8F-4A41-B9CD-2776DE42BD79}"/>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103704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52ED-7B3C-E640-9AAC-A9FDE239079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4980FDB-9A1F-CF4D-9E49-B922937AA8C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B3A55BA-D9AC-0540-9718-B81D57C68788}"/>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8E335DCF-8AC3-8A40-BD3B-868F2F2EF2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464C26-2021-6D44-A11B-07140BE037FF}"/>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917389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6797-0AD6-2845-BE6E-9BA5826E0D5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6601958-C69E-374D-8C17-22F318CE4E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589E4B-C826-1740-9623-15DD7FBA4E48}"/>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24607F6A-DEF6-BC4F-89C1-DBEC9329DE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00C50A-3F1C-D141-9DF3-F828B314FB9E}"/>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16394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FB0FB-2F74-9F44-A306-0F909D7B908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A9C9C06-DA0C-3049-A94E-1242FA79F24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62DC86B-2025-294B-97F6-2EC83AF12F2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AB43641-8831-0348-AF07-4F43C09EAD5D}"/>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6" name="Footer Placeholder 5">
            <a:extLst>
              <a:ext uri="{FF2B5EF4-FFF2-40B4-BE49-F238E27FC236}">
                <a16:creationId xmlns:a16="http://schemas.microsoft.com/office/drawing/2014/main" id="{1A44C69F-E26B-8D4B-A185-E2B5C57702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0B54D0-E3DF-5245-9BB1-23C96368B8D0}"/>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490761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2FA4-1E00-6D44-8D9F-F683EDF512D2}"/>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97FEB9A-CC8B-E84D-9BDB-1952BA413A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8910F60-0C78-6F44-9B65-53DCEF3F3B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34ABFE2-0252-A846-AF40-EDBAF3215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05A941-6299-E748-BAAD-3D4DDD2A13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3BB8695-0E78-CC4A-B542-FDE1A52A1EBA}"/>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8" name="Footer Placeholder 7">
            <a:extLst>
              <a:ext uri="{FF2B5EF4-FFF2-40B4-BE49-F238E27FC236}">
                <a16:creationId xmlns:a16="http://schemas.microsoft.com/office/drawing/2014/main" id="{D70DFAA3-2C16-7947-81A2-8FE69A1360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B51A4D4-3364-6748-9DC4-763828FF7DFA}"/>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720857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1583E-0F8A-B641-B1C8-00C137F87C3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ED25136-A759-0E47-9EAB-7D4E18E42EE9}"/>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4" name="Footer Placeholder 3">
            <a:extLst>
              <a:ext uri="{FF2B5EF4-FFF2-40B4-BE49-F238E27FC236}">
                <a16:creationId xmlns:a16="http://schemas.microsoft.com/office/drawing/2014/main" id="{8CEB1EB8-AF93-A449-8A0E-E6D89420A6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DD9E480-92F6-384F-A2AA-66D762B4DA35}"/>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3576563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907509-D3C7-8245-B4CA-C0C6BCF026A7}"/>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3" name="Footer Placeholder 2">
            <a:extLst>
              <a:ext uri="{FF2B5EF4-FFF2-40B4-BE49-F238E27FC236}">
                <a16:creationId xmlns:a16="http://schemas.microsoft.com/office/drawing/2014/main" id="{DF6BAB82-7207-1A40-A938-2B66B2A53EB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2244E2C-9F6E-4142-B500-4EFF60BC0DF7}"/>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3093744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E320-16C8-EA40-A6A2-58DA249F7C4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28E466F-B83C-BD42-B33E-254ADBA316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F5B49E9-2EB2-7A41-A4E0-498E4BDD7E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11A7B16-D2BD-904A-9565-483D24219921}"/>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6" name="Footer Placeholder 5">
            <a:extLst>
              <a:ext uri="{FF2B5EF4-FFF2-40B4-BE49-F238E27FC236}">
                <a16:creationId xmlns:a16="http://schemas.microsoft.com/office/drawing/2014/main" id="{545CF1BC-8B5A-1F46-82CD-0B0D0C9049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17277B-6D27-A34F-B0AA-FF2D3599A060}"/>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610732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18C5-A3AC-DD40-B922-AA2B334B25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4438769-2845-654C-8CA3-7B7009DDDC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5477E52-10FF-E941-BE2C-43ACEE05FD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8256D3-DA5D-4A40-A2EC-0E533BB7B98A}"/>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6" name="Footer Placeholder 5">
            <a:extLst>
              <a:ext uri="{FF2B5EF4-FFF2-40B4-BE49-F238E27FC236}">
                <a16:creationId xmlns:a16="http://schemas.microsoft.com/office/drawing/2014/main" id="{8FDB3D26-485F-A143-9A31-AE01FE43CF7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E42D3C-74C3-D242-A7F8-B02EDB36B629}"/>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154271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49FD-9866-1042-96D5-1DFCCD0AA4E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6EE06C2-94DF-214B-818A-AA5BD6EABE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E1BB5E-1833-E048-8A92-21D00A587E75}"/>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23CC9C6B-0500-DC4D-81FB-3041604EB2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B43017-5BFF-484D-9BBF-2E14AEC61E83}"/>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735271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8A01C-B778-534B-96BF-5448FFABF47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D8A6DD-A36B-FB40-81D5-3D619E04002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147E596-8F0F-114D-9853-134D94B750E9}"/>
              </a:ext>
            </a:extLst>
          </p:cNvPr>
          <p:cNvSpPr>
            <a:spLocks noGrp="1"/>
          </p:cNvSpPr>
          <p:nvPr>
            <p:ph type="dt" sz="half" idx="10"/>
          </p:nvPr>
        </p:nvSpPr>
        <p:spPr/>
        <p:txBody>
          <a:body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BA0A03E6-8851-864F-A8A3-AF4AAD040A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BC654F-478A-9A40-B0EE-93D8794D54FD}"/>
              </a:ext>
            </a:extLst>
          </p:cNvPr>
          <p:cNvSpPr>
            <a:spLocks noGrp="1"/>
          </p:cNvSpPr>
          <p:nvPr>
            <p:ph type="sldNum" sz="quarter" idx="12"/>
          </p:nvPr>
        </p:nvSpPr>
        <p:spPr/>
        <p:txBody>
          <a:bodyPr/>
          <a:lstStyle/>
          <a:p>
            <a:fld id="{369E883D-CDBB-914E-9F86-C632FA6C529F}" type="slidenum">
              <a:rPr lang="en-GB" smtClean="0"/>
              <a:t>‹#›</a:t>
            </a:fld>
            <a:endParaRPr lang="en-GB"/>
          </a:p>
        </p:txBody>
      </p:sp>
    </p:spTree>
    <p:extLst>
      <p:ext uri="{BB962C8B-B14F-4D97-AF65-F5344CB8AC3E}">
        <p14:creationId xmlns:p14="http://schemas.microsoft.com/office/powerpoint/2010/main" val="2519297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with Imag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DCDB73-1A04-4C1D-9C1A-94EEC43E34BF}"/>
              </a:ext>
            </a:extLst>
          </p:cNvPr>
          <p:cNvSpPr/>
          <p:nvPr userDrawn="1"/>
        </p:nvSpPr>
        <p:spPr>
          <a:xfrm rot="16200000">
            <a:off x="2791999" y="-2479011"/>
            <a:ext cx="6584168" cy="11815239"/>
          </a:xfrm>
          <a:prstGeom prst="rect">
            <a:avLst/>
          </a:prstGeom>
          <a:gradFill flip="none" rotWithShape="1">
            <a:gsLst>
              <a:gs pos="0">
                <a:srgbClr val="DE0144">
                  <a:shade val="30000"/>
                  <a:satMod val="115000"/>
                </a:srgbClr>
              </a:gs>
              <a:gs pos="50000">
                <a:srgbClr val="DE0144">
                  <a:shade val="67500"/>
                  <a:satMod val="115000"/>
                </a:srgbClr>
              </a:gs>
              <a:gs pos="100000">
                <a:srgbClr val="DE0144">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8AC2952E-380C-48F5-9C93-B1EB0713EF3E}"/>
              </a:ext>
            </a:extLst>
          </p:cNvPr>
          <p:cNvSpPr/>
          <p:nvPr userDrawn="1"/>
        </p:nvSpPr>
        <p:spPr>
          <a:xfrm rot="5400000">
            <a:off x="-3360737" y="3360737"/>
            <a:ext cx="6858000"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C783424E-B9B3-4D58-988A-26DEDF734F4E}"/>
              </a:ext>
            </a:extLst>
          </p:cNvPr>
          <p:cNvSpPr/>
          <p:nvPr userDrawn="1"/>
        </p:nvSpPr>
        <p:spPr>
          <a:xfrm>
            <a:off x="0" y="0"/>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7332BBED-D126-4DCA-9557-B488A96E405F}"/>
              </a:ext>
            </a:extLst>
          </p:cNvPr>
          <p:cNvSpPr/>
          <p:nvPr userDrawn="1"/>
        </p:nvSpPr>
        <p:spPr>
          <a:xfrm>
            <a:off x="0" y="6721475"/>
            <a:ext cx="10954058" cy="136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91379" y="433107"/>
            <a:ext cx="5085650" cy="1870007"/>
          </a:xfrm>
        </p:spPr>
        <p:txBody>
          <a:bodyPr anchor="b"/>
          <a:lstStyle>
            <a:lvl1pPr algn="l">
              <a:defRPr sz="4500">
                <a:solidFill>
                  <a:schemeClr val="bg1"/>
                </a:solidFill>
              </a:defRPr>
            </a:lvl1pPr>
          </a:lstStyle>
          <a:p>
            <a:r>
              <a:rPr lang="en-US" noProof="0" dirty="0"/>
              <a:t>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91379" y="2736942"/>
            <a:ext cx="5085650" cy="691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subtitle style</a:t>
            </a:r>
          </a:p>
        </p:txBody>
      </p:sp>
      <p:pic>
        <p:nvPicPr>
          <p:cNvPr id="5" name="Picture 4">
            <a:extLst>
              <a:ext uri="{FF2B5EF4-FFF2-40B4-BE49-F238E27FC236}">
                <a16:creationId xmlns:a16="http://schemas.microsoft.com/office/drawing/2014/main" id="{88350346-72C2-46EA-86E8-CF961DC2B7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9642" y="4704255"/>
            <a:ext cx="3415307" cy="1480434"/>
          </a:xfrm>
          <a:prstGeom prst="rect">
            <a:avLst/>
          </a:prstGeom>
        </p:spPr>
      </p:pic>
    </p:spTree>
    <p:extLst>
      <p:ext uri="{BB962C8B-B14F-4D97-AF65-F5344CB8AC3E}">
        <p14:creationId xmlns:p14="http://schemas.microsoft.com/office/powerpoint/2010/main" val="1762380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3" name="Picture 2" descr="A picture containing icon&#10;&#10;Description automatically generated">
            <a:extLst>
              <a:ext uri="{FF2B5EF4-FFF2-40B4-BE49-F238E27FC236}">
                <a16:creationId xmlns:a16="http://schemas.microsoft.com/office/drawing/2014/main" id="{3D6A3E6E-0B39-B245-BAFE-3CD370D740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741299" y="57876"/>
            <a:ext cx="1415979" cy="706056"/>
          </a:xfrm>
          <a:prstGeom prst="rect">
            <a:avLst/>
          </a:prstGeom>
        </p:spPr>
      </p:pic>
    </p:spTree>
    <p:extLst>
      <p:ext uri="{BB962C8B-B14F-4D97-AF65-F5344CB8AC3E}">
        <p14:creationId xmlns:p14="http://schemas.microsoft.com/office/powerpoint/2010/main" val="482868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117600" y="1219200"/>
            <a:ext cx="9855200" cy="609600"/>
          </a:xfrm>
        </p:spPr>
        <p:txBody>
          <a:bodyPr/>
          <a:lstStyle>
            <a:lvl1pPr marL="0" indent="0">
              <a:defRPr sz="3400" b="0" i="0">
                <a:latin typeface="Calibri Light" panose="020F0302020204030204" pitchFamily="34" charset="0"/>
                <a:cs typeface="Calibri Light" panose="020F0302020204030204" pitchFamily="34" charset="0"/>
              </a:defRPr>
            </a:lvl1pPr>
          </a:lstStyle>
          <a:p>
            <a:pPr lvl="0"/>
            <a:r>
              <a:rPr lang="en-US" dirty="0"/>
              <a:t>Click to edit Master text styles</a:t>
            </a:r>
          </a:p>
        </p:txBody>
      </p:sp>
      <p:sp>
        <p:nvSpPr>
          <p:cNvPr id="11" name="Text Placeholder 10"/>
          <p:cNvSpPr>
            <a:spLocks noGrp="1"/>
          </p:cNvSpPr>
          <p:nvPr>
            <p:ph type="body" sz="quarter" idx="11"/>
          </p:nvPr>
        </p:nvSpPr>
        <p:spPr>
          <a:xfrm>
            <a:off x="1117600" y="1981200"/>
            <a:ext cx="9855200" cy="3886200"/>
          </a:xfrm>
        </p:spPr>
        <p:txBody>
          <a:bodyPr/>
          <a:lstStyle>
            <a:lvl1pPr marL="231769" indent="-231769">
              <a:buFont typeface="Arial" pitchFamily="34" charset="0"/>
              <a:buChar char="•"/>
              <a:defRPr>
                <a:latin typeface="Calibri" panose="020F0502020204030204" pitchFamily="34" charset="0"/>
                <a:cs typeface="Calibri" panose="020F0502020204030204" pitchFamily="34" charset="0"/>
              </a:defRPr>
            </a:lvl1pPr>
            <a:lvl2pPr marL="736582" indent="-273044">
              <a:buFont typeface="Arial" pitchFamily="34" charset="0"/>
              <a:buChar char="–"/>
              <a:defRPr>
                <a:latin typeface="Calibri" panose="020F0502020204030204" pitchFamily="34" charset="0"/>
                <a:cs typeface="Calibri" panose="020F0502020204030204" pitchFamily="34" charset="0"/>
              </a:defRPr>
            </a:lvl2pPr>
            <a:lvl3pPr marL="395278" indent="26987">
              <a:defRPr/>
            </a:lvl3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06681772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FB68E2-3EFA-2347-A8AB-7BE6D2F32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3483262-C6A7-804E-9DB6-B45704D809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5A1BE67-285B-E343-85E7-228CCE067A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91A31-E8A8-6049-872B-E370137C51E1}" type="datetimeFigureOut">
              <a:rPr lang="en-GB" smtClean="0"/>
              <a:t>09/09/2026</a:t>
            </a:fld>
            <a:endParaRPr lang="en-GB"/>
          </a:p>
        </p:txBody>
      </p:sp>
      <p:sp>
        <p:nvSpPr>
          <p:cNvPr id="5" name="Footer Placeholder 4">
            <a:extLst>
              <a:ext uri="{FF2B5EF4-FFF2-40B4-BE49-F238E27FC236}">
                <a16:creationId xmlns:a16="http://schemas.microsoft.com/office/drawing/2014/main" id="{11D92FEE-0746-1E4D-834A-20B02E5BE1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D0C05F1-6AA8-E943-8E81-39592679F5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E883D-CDBB-914E-9F86-C632FA6C529F}" type="slidenum">
              <a:rPr lang="en-GB" smtClean="0"/>
              <a:t>‹#›</a:t>
            </a:fld>
            <a:endParaRPr lang="en-GB"/>
          </a:p>
        </p:txBody>
      </p:sp>
    </p:spTree>
    <p:extLst>
      <p:ext uri="{BB962C8B-B14F-4D97-AF65-F5344CB8AC3E}">
        <p14:creationId xmlns:p14="http://schemas.microsoft.com/office/powerpoint/2010/main" val="4167110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tiff"/><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jpe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1.jpeg"/><Relationship Id="rId5" Type="http://schemas.openxmlformats.org/officeDocument/2006/relationships/image" Target="../media/image11.png"/><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FEB6-F40E-4219-9AA6-8A27C2E8899B}"/>
              </a:ext>
            </a:extLst>
          </p:cNvPr>
          <p:cNvSpPr>
            <a:spLocks noGrp="1"/>
          </p:cNvSpPr>
          <p:nvPr>
            <p:ph type="ctrTitle"/>
          </p:nvPr>
        </p:nvSpPr>
        <p:spPr bwMode="black">
          <a:xfrm>
            <a:off x="6096000" y="5523150"/>
            <a:ext cx="5935742" cy="870648"/>
          </a:xfrm>
        </p:spPr>
        <p:txBody>
          <a:bodyPr>
            <a:noAutofit/>
          </a:bodyPr>
          <a:lstStyle/>
          <a:p>
            <a:pPr algn="l"/>
            <a:r>
              <a:rPr lang="en-US" sz="2800" dirty="0"/>
              <a:t>Laura Merson</a:t>
            </a:r>
          </a:p>
        </p:txBody>
      </p:sp>
      <p:sp>
        <p:nvSpPr>
          <p:cNvPr id="3" name="Title 1">
            <a:extLst>
              <a:ext uri="{FF2B5EF4-FFF2-40B4-BE49-F238E27FC236}">
                <a16:creationId xmlns:a16="http://schemas.microsoft.com/office/drawing/2014/main" id="{C5121BE5-A116-1280-7E43-C4BE380ABF8A}"/>
              </a:ext>
            </a:extLst>
          </p:cNvPr>
          <p:cNvSpPr txBox="1">
            <a:spLocks/>
          </p:cNvSpPr>
          <p:nvPr/>
        </p:nvSpPr>
        <p:spPr bwMode="black">
          <a:xfrm>
            <a:off x="554921" y="1997021"/>
            <a:ext cx="11767958" cy="87064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500" kern="1200">
                <a:solidFill>
                  <a:schemeClr val="bg1"/>
                </a:solidFill>
                <a:latin typeface="+mj-lt"/>
                <a:ea typeface="+mj-ea"/>
                <a:cs typeface="+mj-cs"/>
              </a:defRPr>
            </a:lvl1pPr>
          </a:lstStyle>
          <a:p>
            <a:r>
              <a:rPr lang="en-US" sz="4400" b="1" dirty="0"/>
              <a:t>ISARIC-WHO Clinical </a:t>
            </a:r>
            <a:r>
              <a:rPr lang="en-US" sz="4400" b="1" dirty="0" err="1"/>
              <a:t>Characterisation</a:t>
            </a:r>
            <a:r>
              <a:rPr lang="en-US" sz="4400" b="1" dirty="0"/>
              <a:t> Protocol</a:t>
            </a:r>
          </a:p>
        </p:txBody>
      </p:sp>
    </p:spTree>
    <p:extLst>
      <p:ext uri="{BB962C8B-B14F-4D97-AF65-F5344CB8AC3E}">
        <p14:creationId xmlns:p14="http://schemas.microsoft.com/office/powerpoint/2010/main" val="1485234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27036-FED0-480C-72F6-25F5DF748905}"/>
            </a:ext>
          </a:extLst>
        </p:cNvPr>
        <p:cNvGrpSpPr/>
        <p:nvPr/>
      </p:nvGrpSpPr>
      <p:grpSpPr>
        <a:xfrm>
          <a:off x="0" y="0"/>
          <a:ext cx="0" cy="0"/>
          <a:chOff x="0" y="0"/>
          <a:chExt cx="0" cy="0"/>
        </a:xfrm>
      </p:grpSpPr>
      <p:pic>
        <p:nvPicPr>
          <p:cNvPr id="16" name="Picture 15" descr="A map of the world with different countries/regions&#10;&#10;AI-generated content may be incorrect.">
            <a:extLst>
              <a:ext uri="{FF2B5EF4-FFF2-40B4-BE49-F238E27FC236}">
                <a16:creationId xmlns:a16="http://schemas.microsoft.com/office/drawing/2014/main" id="{A9724CC8-761F-D1A8-045A-3063EA3AFBF2}"/>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6136115" y="3532196"/>
            <a:ext cx="6168470" cy="2869496"/>
          </a:xfrm>
          <a:prstGeom prst="rect">
            <a:avLst/>
          </a:prstGeom>
        </p:spPr>
      </p:pic>
      <p:sp>
        <p:nvSpPr>
          <p:cNvPr id="5" name="TextBox 4">
            <a:extLst>
              <a:ext uri="{FF2B5EF4-FFF2-40B4-BE49-F238E27FC236}">
                <a16:creationId xmlns:a16="http://schemas.microsoft.com/office/drawing/2014/main" id="{8901813C-8546-C674-79FD-3606AF8FEE71}"/>
              </a:ext>
            </a:extLst>
          </p:cNvPr>
          <p:cNvSpPr txBox="1"/>
          <p:nvPr/>
        </p:nvSpPr>
        <p:spPr>
          <a:xfrm>
            <a:off x="237067" y="1591733"/>
            <a:ext cx="184666" cy="369332"/>
          </a:xfrm>
          <a:prstGeom prst="rect">
            <a:avLst/>
          </a:prstGeom>
          <a:noFill/>
        </p:spPr>
        <p:txBody>
          <a:bodyPr wrap="none" rtlCol="0">
            <a:spAutoFit/>
          </a:bodyPr>
          <a:lstStyle/>
          <a:p>
            <a:endParaRPr lang="en-US"/>
          </a:p>
        </p:txBody>
      </p:sp>
      <p:sp>
        <p:nvSpPr>
          <p:cNvPr id="6" name="TextBox 5">
            <a:extLst>
              <a:ext uri="{FF2B5EF4-FFF2-40B4-BE49-F238E27FC236}">
                <a16:creationId xmlns:a16="http://schemas.microsoft.com/office/drawing/2014/main" id="{067DE8A2-2472-F86E-8B1F-133F9BCCF97A}"/>
              </a:ext>
            </a:extLst>
          </p:cNvPr>
          <p:cNvSpPr txBox="1">
            <a:spLocks noChangeArrowheads="1"/>
          </p:cNvSpPr>
          <p:nvPr/>
        </p:nvSpPr>
        <p:spPr bwMode="auto">
          <a:xfrm>
            <a:off x="329399" y="1574300"/>
            <a:ext cx="11706391" cy="2277528"/>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nchor="t">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r>
              <a:rPr lang="en-GB" sz="2400" dirty="0"/>
              <a:t>ISARIC is a </a:t>
            </a:r>
            <a:r>
              <a:rPr lang="en-GB" sz="2400" b="1" dirty="0">
                <a:solidFill>
                  <a:srgbClr val="C00000"/>
                </a:solidFill>
              </a:rPr>
              <a:t>grassroots, investigator-led </a:t>
            </a:r>
            <a:r>
              <a:rPr lang="en-GB" sz="2400" dirty="0"/>
              <a:t>federation of hospital-based research networks committed to </a:t>
            </a:r>
            <a:r>
              <a:rPr lang="en-GB" sz="2400" b="1" dirty="0">
                <a:solidFill>
                  <a:srgbClr val="C00000"/>
                </a:solidFill>
              </a:rPr>
              <a:t>improving outcomes for patients with emerging infectious diseases</a:t>
            </a:r>
            <a:r>
              <a:rPr lang="en-GB" sz="2400" dirty="0">
                <a:solidFill>
                  <a:srgbClr val="C00000"/>
                </a:solidFill>
              </a:rPr>
              <a:t>. </a:t>
            </a:r>
          </a:p>
          <a:p>
            <a:pPr algn="just"/>
            <a:endParaRPr lang="en-GB" sz="2800" dirty="0">
              <a:solidFill>
                <a:srgbClr val="C00000"/>
              </a:solidFill>
            </a:endParaRPr>
          </a:p>
          <a:p>
            <a:pPr algn="just"/>
            <a:r>
              <a:rPr lang="en-GB" sz="2400" dirty="0"/>
              <a:t>Since </a:t>
            </a:r>
            <a:r>
              <a:rPr lang="en-GB" sz="2400" b="1" dirty="0"/>
              <a:t>2012</a:t>
            </a:r>
            <a:r>
              <a:rPr lang="en-GB" sz="2400" dirty="0"/>
              <a:t>, ISARIC has championed a </a:t>
            </a:r>
            <a:r>
              <a:rPr lang="en-GB" sz="2400" b="1" dirty="0">
                <a:solidFill>
                  <a:srgbClr val="C00000"/>
                </a:solidFill>
              </a:rPr>
              <a:t>coordinated, agile approach to global clinical research</a:t>
            </a:r>
            <a:r>
              <a:rPr lang="en-GB" sz="2400" dirty="0"/>
              <a:t>, accelerating the generation of critical knowledge to save lives in epidemics and pandemics.</a:t>
            </a:r>
            <a:endParaRPr lang="en-US" altLang="en-US" sz="2400" dirty="0"/>
          </a:p>
          <a:p>
            <a:pPr eaLnBrk="1" hangingPunct="1"/>
            <a:endParaRPr lang="en-US" altLang="en-US" b="1" kern="1200" dirty="0">
              <a:solidFill>
                <a:srgbClr val="D60037"/>
              </a:solidFill>
              <a:latin typeface="Calibri" pitchFamily="34" charset="0"/>
              <a:ea typeface="MS PGothic" charset="-128"/>
            </a:endParaRPr>
          </a:p>
        </p:txBody>
      </p:sp>
      <p:sp>
        <p:nvSpPr>
          <p:cNvPr id="3" name="Title 2">
            <a:extLst>
              <a:ext uri="{FF2B5EF4-FFF2-40B4-BE49-F238E27FC236}">
                <a16:creationId xmlns:a16="http://schemas.microsoft.com/office/drawing/2014/main" id="{79D3262E-EA37-2B7E-18CA-B6F7AC763F93}"/>
              </a:ext>
            </a:extLst>
          </p:cNvPr>
          <p:cNvSpPr txBox="1">
            <a:spLocks/>
          </p:cNvSpPr>
          <p:nvPr/>
        </p:nvSpPr>
        <p:spPr>
          <a:xfrm>
            <a:off x="239743" y="277580"/>
            <a:ext cx="9888248" cy="688710"/>
          </a:xfrm>
          <a:prstGeom prst="rect">
            <a:avLst/>
          </a:prstGeom>
        </p:spPr>
        <p:txBody>
          <a:bodyPr lIns="91440" tIns="45720" rIns="91440" bIns="45720" anchor="t"/>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4000" b="1" kern="0" dirty="0">
                <a:solidFill>
                  <a:schemeClr val="tx1"/>
                </a:solidFill>
                <a:cs typeface="Calibri" panose="020F0502020204030204" pitchFamily="34" charset="0"/>
              </a:rPr>
              <a:t>International</a:t>
            </a:r>
            <a:r>
              <a:rPr lang="en-US" sz="4000" b="1" kern="0" dirty="0">
                <a:solidFill>
                  <a:schemeClr val="tx1"/>
                </a:solidFill>
                <a:cs typeface="Calibri Light"/>
              </a:rPr>
              <a:t> Severe Acute Respiratory and emerging Infections Consortium (ISARIC)</a:t>
            </a:r>
            <a:endParaRPr lang="en-US" dirty="0">
              <a:solidFill>
                <a:schemeClr val="tx1"/>
              </a:solidFill>
            </a:endParaRPr>
          </a:p>
        </p:txBody>
      </p:sp>
      <p:sp>
        <p:nvSpPr>
          <p:cNvPr id="8" name="TextBox 7">
            <a:extLst>
              <a:ext uri="{FF2B5EF4-FFF2-40B4-BE49-F238E27FC236}">
                <a16:creationId xmlns:a16="http://schemas.microsoft.com/office/drawing/2014/main" id="{0156EB23-ACE5-AF47-4439-0CF2855C3D8D}"/>
              </a:ext>
            </a:extLst>
          </p:cNvPr>
          <p:cNvSpPr txBox="1">
            <a:spLocks noChangeArrowheads="1"/>
          </p:cNvSpPr>
          <p:nvPr/>
        </p:nvSpPr>
        <p:spPr bwMode="auto">
          <a:xfrm>
            <a:off x="6340381" y="6417733"/>
            <a:ext cx="5979502" cy="400091"/>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hangingPunct="1"/>
            <a:r>
              <a:rPr lang="en-US" altLang="en-US" sz="2000" dirty="0">
                <a:solidFill>
                  <a:srgbClr val="000000"/>
                </a:solidFill>
                <a:latin typeface="Calibri" pitchFamily="34" charset="0"/>
                <a:ea typeface="MS PGothic" charset="-128"/>
              </a:rPr>
              <a:t>ISARIC has </a:t>
            </a:r>
            <a:r>
              <a:rPr lang="en-US" altLang="en-US" sz="2000" b="1" dirty="0">
                <a:solidFill>
                  <a:srgbClr val="000000"/>
                </a:solidFill>
                <a:latin typeface="Calibri" pitchFamily="34" charset="0"/>
                <a:ea typeface="MS PGothic" charset="-128"/>
              </a:rPr>
              <a:t>78 </a:t>
            </a:r>
            <a:r>
              <a:rPr lang="en-US" altLang="en-US" sz="2000" dirty="0">
                <a:solidFill>
                  <a:srgbClr val="000000"/>
                </a:solidFill>
                <a:latin typeface="Calibri" pitchFamily="34" charset="0"/>
                <a:ea typeface="MS PGothic" charset="-128"/>
              </a:rPr>
              <a:t>network members across </a:t>
            </a:r>
            <a:r>
              <a:rPr lang="en-US" altLang="en-US" sz="2000" b="1" dirty="0">
                <a:solidFill>
                  <a:srgbClr val="000000"/>
                </a:solidFill>
                <a:latin typeface="Calibri" pitchFamily="34" charset="0"/>
                <a:ea typeface="MS PGothic" charset="-128"/>
              </a:rPr>
              <a:t>133 </a:t>
            </a:r>
            <a:r>
              <a:rPr lang="en-US" altLang="en-US" sz="2000" dirty="0">
                <a:solidFill>
                  <a:srgbClr val="000000"/>
                </a:solidFill>
                <a:latin typeface="Calibri" pitchFamily="34" charset="0"/>
                <a:ea typeface="MS PGothic" charset="-128"/>
              </a:rPr>
              <a:t>countries</a:t>
            </a:r>
          </a:p>
        </p:txBody>
      </p:sp>
      <p:sp>
        <p:nvSpPr>
          <p:cNvPr id="7" name="TextBox 6">
            <a:extLst>
              <a:ext uri="{FF2B5EF4-FFF2-40B4-BE49-F238E27FC236}">
                <a16:creationId xmlns:a16="http://schemas.microsoft.com/office/drawing/2014/main" id="{BC18F3CA-5355-443F-F97E-B7F04D344EAC}"/>
              </a:ext>
            </a:extLst>
          </p:cNvPr>
          <p:cNvSpPr txBox="1">
            <a:spLocks noChangeArrowheads="1"/>
          </p:cNvSpPr>
          <p:nvPr/>
        </p:nvSpPr>
        <p:spPr bwMode="auto">
          <a:xfrm>
            <a:off x="331140" y="4133855"/>
            <a:ext cx="6129867" cy="2031307"/>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hangingPunct="1"/>
            <a:r>
              <a:rPr lang="en-US" altLang="en-US" sz="2400" b="1" kern="1200" dirty="0">
                <a:solidFill>
                  <a:srgbClr val="000000"/>
                </a:solidFill>
                <a:latin typeface="Calibri" pitchFamily="34" charset="0"/>
                <a:ea typeface="MS PGothic" charset="-128"/>
              </a:rPr>
              <a:t>ISARIC’s APPROACH:</a:t>
            </a:r>
          </a:p>
          <a:p>
            <a:pPr eaLnBrk="1" hangingPunct="1"/>
            <a:r>
              <a:rPr lang="en-US" altLang="en-US" sz="2000" b="1" kern="1200" dirty="0">
                <a:solidFill>
                  <a:srgbClr val="000000"/>
                </a:solidFill>
                <a:latin typeface="Calibri" pitchFamily="34" charset="0"/>
                <a:ea typeface="MS PGothic" charset="-128"/>
              </a:rPr>
              <a:t>Prepare:</a:t>
            </a:r>
            <a:r>
              <a:rPr lang="en-US" altLang="en-US" sz="2000" kern="1200" dirty="0">
                <a:solidFill>
                  <a:srgbClr val="000000"/>
                </a:solidFill>
                <a:latin typeface="Calibri" pitchFamily="34" charset="0"/>
                <a:ea typeface="MS PGothic" charset="-128"/>
              </a:rPr>
              <a:t> pre-approved, </a:t>
            </a:r>
            <a:r>
              <a:rPr lang="en-GB" sz="2000" dirty="0">
                <a:solidFill>
                  <a:srgbClr val="000000"/>
                </a:solidFill>
                <a:latin typeface="Calibri" pitchFamily="34" charset="0"/>
                <a:ea typeface="MS PGothic" charset="-128"/>
              </a:rPr>
              <a:t>standardised protocols and CRFs </a:t>
            </a:r>
          </a:p>
          <a:p>
            <a:r>
              <a:rPr lang="en-GB" sz="2000" b="1" dirty="0">
                <a:solidFill>
                  <a:srgbClr val="000000"/>
                </a:solidFill>
                <a:latin typeface="Calibri" pitchFamily="34" charset="0"/>
                <a:ea typeface="MS PGothic" charset="-128"/>
              </a:rPr>
              <a:t>Collaborate: </a:t>
            </a:r>
            <a:r>
              <a:rPr lang="en-GB" sz="2000" dirty="0">
                <a:solidFill>
                  <a:srgbClr val="000000"/>
                </a:solidFill>
                <a:latin typeface="Calibri" pitchFamily="34" charset="0"/>
                <a:ea typeface="MS PGothic" charset="-128"/>
              </a:rPr>
              <a:t>inter-pandemic </a:t>
            </a:r>
          </a:p>
          <a:p>
            <a:r>
              <a:rPr lang="en-GB" sz="2000" b="1" dirty="0">
                <a:solidFill>
                  <a:srgbClr val="000000"/>
                </a:solidFill>
                <a:latin typeface="Calibri" pitchFamily="34" charset="0"/>
                <a:ea typeface="MS PGothic" charset="-128"/>
              </a:rPr>
              <a:t>Integrate:</a:t>
            </a:r>
            <a:r>
              <a:rPr lang="en-GB" sz="2000" dirty="0">
                <a:solidFill>
                  <a:srgbClr val="000000"/>
                </a:solidFill>
                <a:latin typeface="Calibri" pitchFamily="34" charset="0"/>
                <a:ea typeface="MS PGothic" charset="-128"/>
              </a:rPr>
              <a:t> clinical research into public health responses</a:t>
            </a:r>
          </a:p>
          <a:p>
            <a:r>
              <a:rPr lang="en-GB" sz="2000" b="1" dirty="0">
                <a:solidFill>
                  <a:srgbClr val="000000"/>
                </a:solidFill>
                <a:latin typeface="Calibri" pitchFamily="34" charset="0"/>
                <a:ea typeface="MS PGothic" charset="-128"/>
              </a:rPr>
              <a:t>Share:</a:t>
            </a:r>
            <a:r>
              <a:rPr lang="en-GB" sz="2000" dirty="0">
                <a:solidFill>
                  <a:srgbClr val="000000"/>
                </a:solidFill>
                <a:latin typeface="Calibri" pitchFamily="34" charset="0"/>
                <a:ea typeface="MS PGothic" charset="-128"/>
              </a:rPr>
              <a:t> context-adaptable tools, expertise, and data</a:t>
            </a:r>
            <a:endParaRPr lang="en-US" altLang="en-US" sz="2000" kern="1200" dirty="0">
              <a:solidFill>
                <a:srgbClr val="000000"/>
              </a:solidFill>
              <a:latin typeface="Calibri" pitchFamily="34" charset="0"/>
              <a:ea typeface="MS PGothic" charset="-128"/>
            </a:endParaRPr>
          </a:p>
          <a:p>
            <a:pPr eaLnBrk="1" hangingPunct="1"/>
            <a:r>
              <a:rPr lang="en-US" altLang="en-US" sz="2200" b="1" kern="1200" dirty="0">
                <a:solidFill>
                  <a:srgbClr val="C00000"/>
                </a:solidFill>
                <a:latin typeface="Calibri" pitchFamily="34" charset="0"/>
                <a:ea typeface="MS PGothic" charset="-128"/>
              </a:rPr>
              <a:t>Trust: </a:t>
            </a:r>
            <a:r>
              <a:rPr lang="en-US" altLang="en-US" sz="2200" kern="1200" dirty="0">
                <a:solidFill>
                  <a:schemeClr val="tx1"/>
                </a:solidFill>
                <a:latin typeface="Calibri" pitchFamily="34" charset="0"/>
                <a:ea typeface="MS PGothic" charset="-128"/>
              </a:rPr>
              <a:t>built up over years</a:t>
            </a:r>
            <a:endParaRPr lang="en-US" altLang="en-US" kern="1200" dirty="0">
              <a:solidFill>
                <a:schemeClr val="tx1"/>
              </a:solidFill>
              <a:latin typeface="Calibri" pitchFamily="34" charset="0"/>
              <a:ea typeface="MS PGothic" charset="-128"/>
            </a:endParaRPr>
          </a:p>
        </p:txBody>
      </p:sp>
    </p:spTree>
    <p:extLst>
      <p:ext uri="{BB962C8B-B14F-4D97-AF65-F5344CB8AC3E}">
        <p14:creationId xmlns:p14="http://schemas.microsoft.com/office/powerpoint/2010/main" val="3432114137"/>
      </p:ext>
    </p:extLst>
  </p:cSld>
  <p:clrMapOvr>
    <a:masterClrMapping/>
  </p:clrMapOvr>
  <mc:AlternateContent xmlns:mc="http://schemas.openxmlformats.org/markup-compatibility/2006" xmlns:p14="http://schemas.microsoft.com/office/powerpoint/2010/main">
    <mc:Choice Requires="p14">
      <p:transition spd="slow" p14:dur="2000" advTm="51020"/>
    </mc:Choice>
    <mc:Fallback xmlns="">
      <p:transition spd="slow" advTm="5102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4785B3-BA73-D25D-A7E6-E1A808F6C86B}"/>
              </a:ext>
            </a:extLst>
          </p:cNvPr>
          <p:cNvSpPr/>
          <p:nvPr/>
        </p:nvSpPr>
        <p:spPr>
          <a:xfrm>
            <a:off x="8549422" y="3247289"/>
            <a:ext cx="1778120" cy="646313"/>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p>
            <a:r>
              <a:rPr lang="en-GB" b="1" dirty="0"/>
              <a:t>Reports &amp; data visualisation</a:t>
            </a:r>
          </a:p>
        </p:txBody>
      </p:sp>
      <p:pic>
        <p:nvPicPr>
          <p:cNvPr id="3" name="Picture 2" descr="Graphical user interface, text&#10;&#10;Description automatically generated">
            <a:extLst>
              <a:ext uri="{FF2B5EF4-FFF2-40B4-BE49-F238E27FC236}">
                <a16:creationId xmlns:a16="http://schemas.microsoft.com/office/drawing/2014/main" id="{93C150FB-A0ED-30AB-EDBA-AAF46D87798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629976" y="3836650"/>
            <a:ext cx="1778120" cy="1468474"/>
          </a:xfrm>
          <a:prstGeom prst="rect">
            <a:avLst/>
          </a:prstGeom>
        </p:spPr>
      </p:pic>
      <p:sp>
        <p:nvSpPr>
          <p:cNvPr id="17" name="TextBox 16">
            <a:extLst>
              <a:ext uri="{FF2B5EF4-FFF2-40B4-BE49-F238E27FC236}">
                <a16:creationId xmlns:a16="http://schemas.microsoft.com/office/drawing/2014/main" id="{3A9BE82E-27CA-4243-9E05-561CE62BEE0D}"/>
              </a:ext>
            </a:extLst>
          </p:cNvPr>
          <p:cNvSpPr txBox="1">
            <a:spLocks noChangeArrowheads="1"/>
          </p:cNvSpPr>
          <p:nvPr/>
        </p:nvSpPr>
        <p:spPr bwMode="auto">
          <a:xfrm>
            <a:off x="221823" y="1658724"/>
            <a:ext cx="8064928" cy="101564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000" dirty="0">
                <a:solidFill>
                  <a:schemeClr val="tx1"/>
                </a:solidFill>
              </a:rPr>
              <a:t>A flexible protocol designed to </a:t>
            </a:r>
            <a:r>
              <a:rPr lang="en-US" sz="2000" dirty="0">
                <a:solidFill>
                  <a:srgbClr val="C00000"/>
                </a:solidFill>
              </a:rPr>
              <a:t>inform the major questions of </a:t>
            </a:r>
            <a:r>
              <a:rPr lang="en-US" sz="2000" b="1" dirty="0">
                <a:solidFill>
                  <a:srgbClr val="C00000"/>
                </a:solidFill>
              </a:rPr>
              <a:t>acute illness from an emerging pathogen or exposure</a:t>
            </a:r>
            <a:r>
              <a:rPr lang="en-US" sz="2000" dirty="0">
                <a:solidFill>
                  <a:schemeClr val="tx1"/>
                </a:solidFill>
              </a:rPr>
              <a:t>: transmission, natural history (pathogen &amp; host), mechanisms of severity and how to influence them.</a:t>
            </a:r>
            <a:endParaRPr lang="en-US" sz="2000" dirty="0"/>
          </a:p>
        </p:txBody>
      </p:sp>
      <p:sp>
        <p:nvSpPr>
          <p:cNvPr id="9" name="TextBox 8">
            <a:extLst>
              <a:ext uri="{FF2B5EF4-FFF2-40B4-BE49-F238E27FC236}">
                <a16:creationId xmlns:a16="http://schemas.microsoft.com/office/drawing/2014/main" id="{8C1D1D19-30CA-5C49-B075-8D15F6D9847F}"/>
              </a:ext>
            </a:extLst>
          </p:cNvPr>
          <p:cNvSpPr txBox="1">
            <a:spLocks noChangeArrowheads="1"/>
          </p:cNvSpPr>
          <p:nvPr/>
        </p:nvSpPr>
        <p:spPr bwMode="auto">
          <a:xfrm>
            <a:off x="221820" y="1033777"/>
            <a:ext cx="11160553" cy="523202"/>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a:solidFill>
                  <a:schemeClr val="tx1"/>
                </a:solidFill>
              </a:rPr>
              <a:t>ISARIC-WHO Clinical </a:t>
            </a:r>
            <a:r>
              <a:rPr lang="en-US" sz="2800" b="1" dirty="0" err="1"/>
              <a:t>Characterisation</a:t>
            </a:r>
            <a:r>
              <a:rPr lang="en-US" sz="2800" b="1" dirty="0"/>
              <a:t> Protocol, Tools &amp; Support</a:t>
            </a:r>
            <a:r>
              <a:rPr lang="en-US" sz="1600" dirty="0"/>
              <a:t>,</a:t>
            </a:r>
            <a:r>
              <a:rPr lang="en-US" sz="2800" b="1" dirty="0"/>
              <a:t> </a:t>
            </a:r>
            <a:r>
              <a:rPr lang="en-US" sz="1600" dirty="0">
                <a:solidFill>
                  <a:schemeClr val="tx1"/>
                </a:solidFill>
              </a:rPr>
              <a:t>circa 2012</a:t>
            </a:r>
            <a:endParaRPr lang="en-US" sz="1600" b="1" dirty="0"/>
          </a:p>
        </p:txBody>
      </p:sp>
      <p:sp>
        <p:nvSpPr>
          <p:cNvPr id="10" name="Trapezoid 2">
            <a:extLst>
              <a:ext uri="{FF2B5EF4-FFF2-40B4-BE49-F238E27FC236}">
                <a16:creationId xmlns:a16="http://schemas.microsoft.com/office/drawing/2014/main" id="{1317D6D2-EACD-3148-B5E0-5AA11F97E157}"/>
              </a:ext>
            </a:extLst>
          </p:cNvPr>
          <p:cNvSpPr>
            <a:spLocks/>
          </p:cNvSpPr>
          <p:nvPr/>
        </p:nvSpPr>
        <p:spPr bwMode="auto">
          <a:xfrm>
            <a:off x="669192" y="5674352"/>
            <a:ext cx="4792265" cy="422672"/>
          </a:xfrm>
          <a:custGeom>
            <a:avLst/>
            <a:gdLst>
              <a:gd name="T0" fmla="*/ 0 w 6389687"/>
              <a:gd name="T1" fmla="*/ 563562 h 563562"/>
              <a:gd name="T2" fmla="*/ 140891 w 6389687"/>
              <a:gd name="T3" fmla="*/ 0 h 563562"/>
              <a:gd name="T4" fmla="*/ 6248797 w 6389687"/>
              <a:gd name="T5" fmla="*/ 0 h 563562"/>
              <a:gd name="T6" fmla="*/ 6389687 w 6389687"/>
              <a:gd name="T7" fmla="*/ 563562 h 563562"/>
              <a:gd name="T8" fmla="*/ 0 w 6389687"/>
              <a:gd name="T9" fmla="*/ 563562 h 563562"/>
              <a:gd name="T10" fmla="*/ 0 60000 65536"/>
              <a:gd name="T11" fmla="*/ 0 60000 65536"/>
              <a:gd name="T12" fmla="*/ 0 60000 65536"/>
              <a:gd name="T13" fmla="*/ 0 60000 65536"/>
              <a:gd name="T14" fmla="*/ 0 60000 65536"/>
              <a:gd name="T15" fmla="*/ 0 w 6389687"/>
              <a:gd name="T16" fmla="*/ 0 h 563562"/>
              <a:gd name="T17" fmla="*/ 6389687 w 6389687"/>
              <a:gd name="T18" fmla="*/ 563562 h 563562"/>
            </a:gdLst>
            <a:ahLst/>
            <a:cxnLst>
              <a:cxn ang="T10">
                <a:pos x="T0" y="T1"/>
              </a:cxn>
              <a:cxn ang="T11">
                <a:pos x="T2" y="T3"/>
              </a:cxn>
              <a:cxn ang="T12">
                <a:pos x="T4" y="T5"/>
              </a:cxn>
              <a:cxn ang="T13">
                <a:pos x="T6" y="T7"/>
              </a:cxn>
              <a:cxn ang="T14">
                <a:pos x="T8" y="T9"/>
              </a:cxn>
            </a:cxnLst>
            <a:rect l="T15" t="T16" r="T17" b="T18"/>
            <a:pathLst>
              <a:path w="6389687" h="563562">
                <a:moveTo>
                  <a:pt x="0" y="563562"/>
                </a:moveTo>
                <a:lnTo>
                  <a:pt x="140891" y="0"/>
                </a:lnTo>
                <a:lnTo>
                  <a:pt x="6248797" y="0"/>
                </a:lnTo>
                <a:lnTo>
                  <a:pt x="6389687" y="563562"/>
                </a:lnTo>
                <a:lnTo>
                  <a:pt x="0" y="563562"/>
                </a:lnTo>
                <a:close/>
              </a:path>
            </a:pathLst>
          </a:custGeom>
          <a:solidFill>
            <a:srgbClr val="F2DCDB"/>
          </a:soli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2000" dirty="0">
                <a:solidFill>
                  <a:srgbClr val="000000"/>
                </a:solidFill>
                <a:ea typeface="MS PGothic" panose="020B0600070205080204" pitchFamily="34" charset="-128"/>
              </a:rPr>
              <a:t>Tier 0 - Data Collection Only </a:t>
            </a:r>
          </a:p>
        </p:txBody>
      </p:sp>
      <p:sp>
        <p:nvSpPr>
          <p:cNvPr id="11" name="Trapezoid 3">
            <a:extLst>
              <a:ext uri="{FF2B5EF4-FFF2-40B4-BE49-F238E27FC236}">
                <a16:creationId xmlns:a16="http://schemas.microsoft.com/office/drawing/2014/main" id="{EAA92694-0DCA-2440-81D1-EC7F02870EB6}"/>
              </a:ext>
            </a:extLst>
          </p:cNvPr>
          <p:cNvSpPr>
            <a:spLocks/>
          </p:cNvSpPr>
          <p:nvPr/>
        </p:nvSpPr>
        <p:spPr bwMode="auto">
          <a:xfrm>
            <a:off x="814445" y="4966649"/>
            <a:ext cx="4493419" cy="566507"/>
          </a:xfrm>
          <a:custGeom>
            <a:avLst/>
            <a:gdLst>
              <a:gd name="T0" fmla="*/ 0 w 5991225"/>
              <a:gd name="T1" fmla="*/ 858838 h 858838"/>
              <a:gd name="T2" fmla="*/ 214710 w 5991225"/>
              <a:gd name="T3" fmla="*/ 0 h 858838"/>
              <a:gd name="T4" fmla="*/ 5776516 w 5991225"/>
              <a:gd name="T5" fmla="*/ 0 h 858838"/>
              <a:gd name="T6" fmla="*/ 5991225 w 5991225"/>
              <a:gd name="T7" fmla="*/ 858838 h 858838"/>
              <a:gd name="T8" fmla="*/ 0 w 5991225"/>
              <a:gd name="T9" fmla="*/ 858838 h 858838"/>
              <a:gd name="T10" fmla="*/ 0 60000 65536"/>
              <a:gd name="T11" fmla="*/ 0 60000 65536"/>
              <a:gd name="T12" fmla="*/ 0 60000 65536"/>
              <a:gd name="T13" fmla="*/ 0 60000 65536"/>
              <a:gd name="T14" fmla="*/ 0 60000 65536"/>
              <a:gd name="T15" fmla="*/ 0 w 5991225"/>
              <a:gd name="T16" fmla="*/ 0 h 858838"/>
              <a:gd name="T17" fmla="*/ 5991225 w 5991225"/>
              <a:gd name="T18" fmla="*/ 858838 h 858838"/>
            </a:gdLst>
            <a:ahLst/>
            <a:cxnLst>
              <a:cxn ang="T10">
                <a:pos x="T0" y="T1"/>
              </a:cxn>
              <a:cxn ang="T11">
                <a:pos x="T2" y="T3"/>
              </a:cxn>
              <a:cxn ang="T12">
                <a:pos x="T4" y="T5"/>
              </a:cxn>
              <a:cxn ang="T13">
                <a:pos x="T6" y="T7"/>
              </a:cxn>
              <a:cxn ang="T14">
                <a:pos x="T8" y="T9"/>
              </a:cxn>
            </a:cxnLst>
            <a:rect l="T15" t="T16" r="T17" b="T18"/>
            <a:pathLst>
              <a:path w="5991225" h="858838">
                <a:moveTo>
                  <a:pt x="0" y="858838"/>
                </a:moveTo>
                <a:lnTo>
                  <a:pt x="214710" y="0"/>
                </a:lnTo>
                <a:lnTo>
                  <a:pt x="5776516" y="0"/>
                </a:lnTo>
                <a:lnTo>
                  <a:pt x="5991225" y="858838"/>
                </a:lnTo>
                <a:lnTo>
                  <a:pt x="0" y="858838"/>
                </a:lnTo>
                <a:close/>
              </a:path>
            </a:pathLst>
          </a:custGeom>
          <a:solidFill>
            <a:srgbClr val="E6B9B8"/>
          </a:soli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2000" dirty="0">
                <a:solidFill>
                  <a:srgbClr val="000000"/>
                </a:solidFill>
                <a:ea typeface="MS PGothic" panose="020B0600070205080204" pitchFamily="34" charset="-128"/>
              </a:rPr>
              <a:t>Tier 1 Single/Limited Biological Sampling</a:t>
            </a:r>
          </a:p>
        </p:txBody>
      </p:sp>
      <p:sp>
        <p:nvSpPr>
          <p:cNvPr id="12" name="Trapezoid 4">
            <a:extLst>
              <a:ext uri="{FF2B5EF4-FFF2-40B4-BE49-F238E27FC236}">
                <a16:creationId xmlns:a16="http://schemas.microsoft.com/office/drawing/2014/main" id="{156D8BC2-5F08-5E49-A944-D3729B98DBCE}"/>
              </a:ext>
            </a:extLst>
          </p:cNvPr>
          <p:cNvSpPr>
            <a:spLocks/>
          </p:cNvSpPr>
          <p:nvPr/>
        </p:nvSpPr>
        <p:spPr bwMode="auto">
          <a:xfrm>
            <a:off x="1054953" y="4120980"/>
            <a:ext cx="4002881" cy="724082"/>
          </a:xfrm>
          <a:custGeom>
            <a:avLst/>
            <a:gdLst>
              <a:gd name="T0" fmla="*/ 0 w 5337175"/>
              <a:gd name="T1" fmla="*/ 1119188 h 1119188"/>
              <a:gd name="T2" fmla="*/ 279797 w 5337175"/>
              <a:gd name="T3" fmla="*/ 0 h 1119188"/>
              <a:gd name="T4" fmla="*/ 5057378 w 5337175"/>
              <a:gd name="T5" fmla="*/ 0 h 1119188"/>
              <a:gd name="T6" fmla="*/ 5337175 w 5337175"/>
              <a:gd name="T7" fmla="*/ 1119188 h 1119188"/>
              <a:gd name="T8" fmla="*/ 0 w 5337175"/>
              <a:gd name="T9" fmla="*/ 1119188 h 1119188"/>
              <a:gd name="T10" fmla="*/ 0 60000 65536"/>
              <a:gd name="T11" fmla="*/ 0 60000 65536"/>
              <a:gd name="T12" fmla="*/ 0 60000 65536"/>
              <a:gd name="T13" fmla="*/ 0 60000 65536"/>
              <a:gd name="T14" fmla="*/ 0 60000 65536"/>
              <a:gd name="T15" fmla="*/ 0 w 5337175"/>
              <a:gd name="T16" fmla="*/ 0 h 1119188"/>
              <a:gd name="T17" fmla="*/ 5337175 w 5337175"/>
              <a:gd name="T18" fmla="*/ 1119188 h 1119188"/>
            </a:gdLst>
            <a:ahLst/>
            <a:cxnLst>
              <a:cxn ang="T10">
                <a:pos x="T0" y="T1"/>
              </a:cxn>
              <a:cxn ang="T11">
                <a:pos x="T2" y="T3"/>
              </a:cxn>
              <a:cxn ang="T12">
                <a:pos x="T4" y="T5"/>
              </a:cxn>
              <a:cxn ang="T13">
                <a:pos x="T6" y="T7"/>
              </a:cxn>
              <a:cxn ang="T14">
                <a:pos x="T8" y="T9"/>
              </a:cxn>
            </a:cxnLst>
            <a:rect l="T15" t="T16" r="T17" b="T18"/>
            <a:pathLst>
              <a:path w="5337175" h="1119188">
                <a:moveTo>
                  <a:pt x="0" y="1119188"/>
                </a:moveTo>
                <a:lnTo>
                  <a:pt x="279797" y="0"/>
                </a:lnTo>
                <a:lnTo>
                  <a:pt x="5057378" y="0"/>
                </a:lnTo>
                <a:lnTo>
                  <a:pt x="5337175" y="1119188"/>
                </a:lnTo>
                <a:lnTo>
                  <a:pt x="0" y="1119188"/>
                </a:lnTo>
                <a:close/>
              </a:path>
            </a:pathLst>
          </a:custGeom>
          <a:solidFill>
            <a:srgbClr val="D99694"/>
          </a:soli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2000" dirty="0">
                <a:solidFill>
                  <a:prstClr val="black"/>
                </a:solidFill>
                <a:ea typeface="MS PGothic" panose="020B0600070205080204" pitchFamily="34" charset="-128"/>
              </a:rPr>
              <a:t>Tier 2 Serial Biological Sampling</a:t>
            </a:r>
          </a:p>
        </p:txBody>
      </p:sp>
      <p:sp>
        <p:nvSpPr>
          <p:cNvPr id="13" name="Trapezoid 5">
            <a:extLst>
              <a:ext uri="{FF2B5EF4-FFF2-40B4-BE49-F238E27FC236}">
                <a16:creationId xmlns:a16="http://schemas.microsoft.com/office/drawing/2014/main" id="{8646C98B-68AA-134B-BF59-824D5A9B0EEA}"/>
              </a:ext>
            </a:extLst>
          </p:cNvPr>
          <p:cNvSpPr>
            <a:spLocks/>
          </p:cNvSpPr>
          <p:nvPr/>
        </p:nvSpPr>
        <p:spPr bwMode="auto">
          <a:xfrm>
            <a:off x="1295458" y="2958929"/>
            <a:ext cx="3480197" cy="1065611"/>
          </a:xfrm>
          <a:custGeom>
            <a:avLst/>
            <a:gdLst>
              <a:gd name="T0" fmla="*/ 0 w 4640262"/>
              <a:gd name="T1" fmla="*/ 1420813 h 1420813"/>
              <a:gd name="T2" fmla="*/ 355203 w 4640262"/>
              <a:gd name="T3" fmla="*/ 0 h 1420813"/>
              <a:gd name="T4" fmla="*/ 4285059 w 4640262"/>
              <a:gd name="T5" fmla="*/ 0 h 1420813"/>
              <a:gd name="T6" fmla="*/ 4640262 w 4640262"/>
              <a:gd name="T7" fmla="*/ 1420813 h 1420813"/>
              <a:gd name="T8" fmla="*/ 0 w 4640262"/>
              <a:gd name="T9" fmla="*/ 1420813 h 1420813"/>
              <a:gd name="T10" fmla="*/ 0 60000 65536"/>
              <a:gd name="T11" fmla="*/ 0 60000 65536"/>
              <a:gd name="T12" fmla="*/ 0 60000 65536"/>
              <a:gd name="T13" fmla="*/ 0 60000 65536"/>
              <a:gd name="T14" fmla="*/ 0 60000 65536"/>
              <a:gd name="T15" fmla="*/ 0 w 4640262"/>
              <a:gd name="T16" fmla="*/ 0 h 1420813"/>
              <a:gd name="T17" fmla="*/ 4640262 w 4640262"/>
              <a:gd name="T18" fmla="*/ 1420813 h 1420813"/>
            </a:gdLst>
            <a:ahLst/>
            <a:cxnLst>
              <a:cxn ang="T10">
                <a:pos x="T0" y="T1"/>
              </a:cxn>
              <a:cxn ang="T11">
                <a:pos x="T2" y="T3"/>
              </a:cxn>
              <a:cxn ang="T12">
                <a:pos x="T4" y="T5"/>
              </a:cxn>
              <a:cxn ang="T13">
                <a:pos x="T6" y="T7"/>
              </a:cxn>
              <a:cxn ang="T14">
                <a:pos x="T8" y="T9"/>
              </a:cxn>
            </a:cxnLst>
            <a:rect l="T15" t="T16" r="T17" b="T18"/>
            <a:pathLst>
              <a:path w="4640262" h="1420813">
                <a:moveTo>
                  <a:pt x="0" y="1420813"/>
                </a:moveTo>
                <a:lnTo>
                  <a:pt x="355203" y="0"/>
                </a:lnTo>
                <a:lnTo>
                  <a:pt x="4285059" y="0"/>
                </a:lnTo>
                <a:lnTo>
                  <a:pt x="4640262" y="1420813"/>
                </a:lnTo>
                <a:lnTo>
                  <a:pt x="0" y="1420813"/>
                </a:lnTo>
                <a:close/>
              </a:path>
            </a:pathLst>
          </a:custGeom>
          <a:solidFill>
            <a:srgbClr val="953735"/>
          </a:soli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2000" dirty="0">
                <a:solidFill>
                  <a:prstClr val="white"/>
                </a:solidFill>
                <a:ea typeface="MS PGothic" panose="020B0600070205080204" pitchFamily="34" charset="-128"/>
              </a:rPr>
              <a:t>Additional </a:t>
            </a:r>
          </a:p>
          <a:p>
            <a:pPr algn="ctr" defTabSz="342891">
              <a:defRPr/>
            </a:pPr>
            <a:r>
              <a:rPr lang="en-GB" sz="2000" dirty="0">
                <a:solidFill>
                  <a:prstClr val="white"/>
                </a:solidFill>
                <a:ea typeface="MS PGothic" panose="020B0600070205080204" pitchFamily="34" charset="-128"/>
              </a:rPr>
              <a:t>investigator-driven modules </a:t>
            </a:r>
          </a:p>
        </p:txBody>
      </p:sp>
      <p:sp>
        <p:nvSpPr>
          <p:cNvPr id="14" name="Right Arrow 13">
            <a:extLst>
              <a:ext uri="{FF2B5EF4-FFF2-40B4-BE49-F238E27FC236}">
                <a16:creationId xmlns:a16="http://schemas.microsoft.com/office/drawing/2014/main" id="{3C6F544C-6A03-2740-B162-519EBBC5A6FA}"/>
              </a:ext>
            </a:extLst>
          </p:cNvPr>
          <p:cNvSpPr>
            <a:spLocks noChangeArrowheads="1"/>
          </p:cNvSpPr>
          <p:nvPr/>
        </p:nvSpPr>
        <p:spPr bwMode="auto">
          <a:xfrm rot="4500000">
            <a:off x="3818655" y="4213167"/>
            <a:ext cx="3310690" cy="711995"/>
          </a:xfrm>
          <a:prstGeom prst="rightArrow">
            <a:avLst>
              <a:gd name="adj1" fmla="val 50000"/>
              <a:gd name="adj2" fmla="val 49989"/>
            </a:avLst>
          </a:prstGeom>
          <a:gradFill rotWithShape="1">
            <a:gsLst>
              <a:gs pos="26000">
                <a:srgbClr val="9BC1FF">
                  <a:lumMod val="68654"/>
                </a:srgbClr>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1400" dirty="0">
                <a:solidFill>
                  <a:prstClr val="white"/>
                </a:solidFill>
                <a:ea typeface="MS PGothic" panose="020B0600070205080204" pitchFamily="34" charset="-128"/>
              </a:rPr>
              <a:t>Surge pressure on local resources</a:t>
            </a:r>
          </a:p>
        </p:txBody>
      </p:sp>
      <p:sp>
        <p:nvSpPr>
          <p:cNvPr id="15" name="Right Arrow 14">
            <a:extLst>
              <a:ext uri="{FF2B5EF4-FFF2-40B4-BE49-F238E27FC236}">
                <a16:creationId xmlns:a16="http://schemas.microsoft.com/office/drawing/2014/main" id="{908660B9-AC73-5F4D-BF09-6D3AB1725212}"/>
              </a:ext>
            </a:extLst>
          </p:cNvPr>
          <p:cNvSpPr>
            <a:spLocks noChangeArrowheads="1"/>
          </p:cNvSpPr>
          <p:nvPr/>
        </p:nvSpPr>
        <p:spPr bwMode="auto">
          <a:xfrm>
            <a:off x="1320596" y="6154347"/>
            <a:ext cx="3553781" cy="711995"/>
          </a:xfrm>
          <a:prstGeom prst="rightArrow">
            <a:avLst>
              <a:gd name="adj1" fmla="val 50000"/>
              <a:gd name="adj2" fmla="val 49989"/>
            </a:avLst>
          </a:prstGeom>
          <a:gradFill rotWithShape="1">
            <a:gsLst>
              <a:gs pos="26000">
                <a:srgbClr val="9BC1FF">
                  <a:lumMod val="68654"/>
                </a:srgbClr>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1400" dirty="0">
                <a:solidFill>
                  <a:prstClr val="white"/>
                </a:solidFill>
                <a:ea typeface="MS PGothic" panose="020B0600070205080204" pitchFamily="34" charset="-128"/>
              </a:rPr>
              <a:t>Cases recruited over time</a:t>
            </a:r>
          </a:p>
        </p:txBody>
      </p:sp>
      <p:sp>
        <p:nvSpPr>
          <p:cNvPr id="16" name="Right Arrow 15">
            <a:extLst>
              <a:ext uri="{FF2B5EF4-FFF2-40B4-BE49-F238E27FC236}">
                <a16:creationId xmlns:a16="http://schemas.microsoft.com/office/drawing/2014/main" id="{F7FE81EF-838C-274F-8B97-C6A46A8D8D7D}"/>
              </a:ext>
            </a:extLst>
          </p:cNvPr>
          <p:cNvSpPr>
            <a:spLocks noChangeArrowheads="1"/>
          </p:cNvSpPr>
          <p:nvPr/>
        </p:nvSpPr>
        <p:spPr bwMode="auto">
          <a:xfrm rot="-4514465">
            <a:off x="-903266" y="4063575"/>
            <a:ext cx="3271223" cy="711995"/>
          </a:xfrm>
          <a:prstGeom prst="rightArrow">
            <a:avLst>
              <a:gd name="adj1" fmla="val 50000"/>
              <a:gd name="adj2" fmla="val 49989"/>
            </a:avLst>
          </a:prstGeom>
          <a:gradFill rotWithShape="1">
            <a:gsLst>
              <a:gs pos="26000">
                <a:srgbClr val="9BC1FF">
                  <a:lumMod val="68654"/>
                </a:srgbClr>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lIns="68580" tIns="34291" rIns="68580" bIns="34291" anchor="ctr"/>
          <a:lstStyle/>
          <a:p>
            <a:pPr algn="ctr" defTabSz="342891">
              <a:defRPr/>
            </a:pPr>
            <a:r>
              <a:rPr lang="en-GB" sz="1400" dirty="0">
                <a:solidFill>
                  <a:prstClr val="white"/>
                </a:solidFill>
                <a:ea typeface="MS PGothic" panose="020B0600070205080204" pitchFamily="34" charset="-128"/>
              </a:rPr>
              <a:t>Availability of local resources</a:t>
            </a:r>
          </a:p>
        </p:txBody>
      </p:sp>
      <p:sp>
        <p:nvSpPr>
          <p:cNvPr id="4" name="Title 2">
            <a:extLst>
              <a:ext uri="{FF2B5EF4-FFF2-40B4-BE49-F238E27FC236}">
                <a16:creationId xmlns:a16="http://schemas.microsoft.com/office/drawing/2014/main" id="{8BEB671D-429F-C1AD-4405-726A95F341A9}"/>
              </a:ext>
            </a:extLst>
          </p:cNvPr>
          <p:cNvSpPr txBox="1">
            <a:spLocks/>
          </p:cNvSpPr>
          <p:nvPr/>
        </p:nvSpPr>
        <p:spPr>
          <a:xfrm>
            <a:off x="144493" y="381299"/>
            <a:ext cx="9888248"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4000" kern="0" dirty="0">
                <a:solidFill>
                  <a:schemeClr val="tx1"/>
                </a:solidFill>
                <a:latin typeface="Corbel" panose="020B0503020204020204" pitchFamily="34" charset="0"/>
                <a:cs typeface="Calibri Light" panose="020F0302020204030204" pitchFamily="34" charset="0"/>
              </a:rPr>
              <a:t>OUTBREAK RESEARCH  PREPAREDNESS</a:t>
            </a:r>
          </a:p>
        </p:txBody>
      </p:sp>
      <p:pic>
        <p:nvPicPr>
          <p:cNvPr id="2" name="Picture 1" descr="Screen Shot 2013-05-29 at 3.33.32 PM.png">
            <a:extLst>
              <a:ext uri="{FF2B5EF4-FFF2-40B4-BE49-F238E27FC236}">
                <a16:creationId xmlns:a16="http://schemas.microsoft.com/office/drawing/2014/main" id="{D792B98B-B1E3-1B36-CF29-C6B4D458E5C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927457" y="2028986"/>
            <a:ext cx="2210568" cy="1307917"/>
          </a:xfrm>
          <a:prstGeom prst="rect">
            <a:avLst/>
          </a:prstGeom>
        </p:spPr>
      </p:pic>
      <p:pic>
        <p:nvPicPr>
          <p:cNvPr id="5" name="Picture 4" descr="ISARIC-SARI-BSP Master Case Record Form 20NOV13.pdf">
            <a:extLst>
              <a:ext uri="{FF2B5EF4-FFF2-40B4-BE49-F238E27FC236}">
                <a16:creationId xmlns:a16="http://schemas.microsoft.com/office/drawing/2014/main" id="{E6F43584-B149-E6EA-336F-8D83D837CC1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64174" y="2983378"/>
            <a:ext cx="1438926" cy="2036262"/>
          </a:xfrm>
          <a:prstGeom prst="rect">
            <a:avLst/>
          </a:prstGeom>
          <a:solidFill>
            <a:schemeClr val="bg1"/>
          </a:solidFill>
        </p:spPr>
      </p:pic>
      <p:pic>
        <p:nvPicPr>
          <p:cNvPr id="7" name="Picture 6" descr="A picture containing graphical user interface&#10;&#10;Description automatically generated">
            <a:extLst>
              <a:ext uri="{FF2B5EF4-FFF2-40B4-BE49-F238E27FC236}">
                <a16:creationId xmlns:a16="http://schemas.microsoft.com/office/drawing/2014/main" id="{61BB4F7D-C036-3288-F756-79880BFD855A}"/>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0381896" y="4733011"/>
            <a:ext cx="1721204" cy="1143612"/>
          </a:xfrm>
          <a:prstGeom prst="rect">
            <a:avLst/>
          </a:prstGeom>
        </p:spPr>
      </p:pic>
      <p:pic>
        <p:nvPicPr>
          <p:cNvPr id="18" name="Picture 17" descr="Graphical user interface, application&#10;&#10;Description automatically generated">
            <a:extLst>
              <a:ext uri="{FF2B5EF4-FFF2-40B4-BE49-F238E27FC236}">
                <a16:creationId xmlns:a16="http://schemas.microsoft.com/office/drawing/2014/main" id="{DAD46119-BF44-24C8-6B93-557FD6D58E6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114207" y="4772480"/>
            <a:ext cx="1945018" cy="1143612"/>
          </a:xfrm>
          <a:prstGeom prst="rect">
            <a:avLst/>
          </a:prstGeom>
        </p:spPr>
      </p:pic>
      <p:sp>
        <p:nvSpPr>
          <p:cNvPr id="22" name="TextBox 21">
            <a:extLst>
              <a:ext uri="{FF2B5EF4-FFF2-40B4-BE49-F238E27FC236}">
                <a16:creationId xmlns:a16="http://schemas.microsoft.com/office/drawing/2014/main" id="{DE6FA606-9C15-9C08-23E0-CF5599D537C3}"/>
              </a:ext>
            </a:extLst>
          </p:cNvPr>
          <p:cNvSpPr txBox="1">
            <a:spLocks noChangeArrowheads="1"/>
          </p:cNvSpPr>
          <p:nvPr/>
        </p:nvSpPr>
        <p:spPr bwMode="auto">
          <a:xfrm>
            <a:off x="8858532" y="1646329"/>
            <a:ext cx="1356672" cy="36931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a:solidFill>
                  <a:schemeClr val="tx1"/>
                </a:solidFill>
              </a:rPr>
              <a:t>Protocol</a:t>
            </a:r>
            <a:endParaRPr lang="en-US" b="1" dirty="0"/>
          </a:p>
        </p:txBody>
      </p:sp>
      <p:sp>
        <p:nvSpPr>
          <p:cNvPr id="23" name="TextBox 22">
            <a:extLst>
              <a:ext uri="{FF2B5EF4-FFF2-40B4-BE49-F238E27FC236}">
                <a16:creationId xmlns:a16="http://schemas.microsoft.com/office/drawing/2014/main" id="{513CE618-893A-9A5F-849C-E1CE3ADD2D5A}"/>
              </a:ext>
            </a:extLst>
          </p:cNvPr>
          <p:cNvSpPr txBox="1">
            <a:spLocks noChangeArrowheads="1"/>
          </p:cNvSpPr>
          <p:nvPr/>
        </p:nvSpPr>
        <p:spPr bwMode="auto">
          <a:xfrm>
            <a:off x="6774177" y="4389296"/>
            <a:ext cx="1906466" cy="36931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a:solidFill>
                  <a:schemeClr val="tx1"/>
                </a:solidFill>
              </a:rPr>
              <a:t>Tools &amp; Resources</a:t>
            </a:r>
            <a:endParaRPr lang="en-US" b="1" dirty="0"/>
          </a:p>
        </p:txBody>
      </p:sp>
      <p:sp>
        <p:nvSpPr>
          <p:cNvPr id="25" name="TextBox 24">
            <a:extLst>
              <a:ext uri="{FF2B5EF4-FFF2-40B4-BE49-F238E27FC236}">
                <a16:creationId xmlns:a16="http://schemas.microsoft.com/office/drawing/2014/main" id="{8AF7B175-A104-6869-4E19-5D5E5BDAD0BD}"/>
              </a:ext>
            </a:extLst>
          </p:cNvPr>
          <p:cNvSpPr txBox="1">
            <a:spLocks noChangeArrowheads="1"/>
          </p:cNvSpPr>
          <p:nvPr/>
        </p:nvSpPr>
        <p:spPr bwMode="auto">
          <a:xfrm>
            <a:off x="10662066" y="2623407"/>
            <a:ext cx="720308" cy="36931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a:solidFill>
                  <a:schemeClr val="tx1"/>
                </a:solidFill>
              </a:rPr>
              <a:t>CRF</a:t>
            </a:r>
            <a:endParaRPr lang="en-US" b="1" dirty="0"/>
          </a:p>
        </p:txBody>
      </p:sp>
      <p:sp>
        <p:nvSpPr>
          <p:cNvPr id="28" name="TextBox 27">
            <a:extLst>
              <a:ext uri="{FF2B5EF4-FFF2-40B4-BE49-F238E27FC236}">
                <a16:creationId xmlns:a16="http://schemas.microsoft.com/office/drawing/2014/main" id="{2E661C52-F2F5-A860-160F-1990E6EC541F}"/>
              </a:ext>
            </a:extLst>
          </p:cNvPr>
          <p:cNvSpPr txBox="1">
            <a:spLocks noChangeArrowheads="1"/>
          </p:cNvSpPr>
          <p:nvPr/>
        </p:nvSpPr>
        <p:spPr bwMode="auto">
          <a:xfrm>
            <a:off x="10437982" y="4356706"/>
            <a:ext cx="1356672" cy="36931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a:solidFill>
                  <a:schemeClr val="tx1"/>
                </a:solidFill>
              </a:rPr>
              <a:t>Data System</a:t>
            </a:r>
            <a:endParaRPr lang="en-US" b="1" dirty="0"/>
          </a:p>
        </p:txBody>
      </p:sp>
      <p:sp>
        <p:nvSpPr>
          <p:cNvPr id="8" name="TextBox 7">
            <a:extLst>
              <a:ext uri="{FF2B5EF4-FFF2-40B4-BE49-F238E27FC236}">
                <a16:creationId xmlns:a16="http://schemas.microsoft.com/office/drawing/2014/main" id="{FC2DB42B-E2A7-312A-37A8-D177B6E4F6DC}"/>
              </a:ext>
            </a:extLst>
          </p:cNvPr>
          <p:cNvSpPr txBox="1"/>
          <p:nvPr/>
        </p:nvSpPr>
        <p:spPr>
          <a:xfrm>
            <a:off x="7114207" y="6032121"/>
            <a:ext cx="5077793" cy="646331"/>
          </a:xfrm>
          <a:prstGeom prst="rect">
            <a:avLst/>
          </a:prstGeom>
          <a:noFill/>
        </p:spPr>
        <p:txBody>
          <a:bodyPr wrap="square" rtlCol="0">
            <a:spAutoFit/>
          </a:bodyPr>
          <a:lstStyle/>
          <a:p>
            <a:r>
              <a:rPr lang="en-GB" b="1" dirty="0"/>
              <a:t>… data management, grant applications, modelling, implementation, ethics, DPIAs, etc…</a:t>
            </a:r>
          </a:p>
        </p:txBody>
      </p:sp>
    </p:spTree>
    <p:extLst>
      <p:ext uri="{BB962C8B-B14F-4D97-AF65-F5344CB8AC3E}">
        <p14:creationId xmlns:p14="http://schemas.microsoft.com/office/powerpoint/2010/main" val="4279905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CCS 21 – 12th Annual International Critical Care Conference">
            <a:extLst>
              <a:ext uri="{FF2B5EF4-FFF2-40B4-BE49-F238E27FC236}">
                <a16:creationId xmlns:a16="http://schemas.microsoft.com/office/drawing/2014/main" id="{DA4CFCB7-546C-5947-94A9-2B5B12C9B53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386328" y="3439314"/>
            <a:ext cx="1880468" cy="10090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me • ERGO">
            <a:extLst>
              <a:ext uri="{FF2B5EF4-FFF2-40B4-BE49-F238E27FC236}">
                <a16:creationId xmlns:a16="http://schemas.microsoft.com/office/drawing/2014/main" id="{6EE76374-18BC-C444-9119-6FAFEC8DC617}"/>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20647" t="-7534" r="17678"/>
          <a:stretch/>
        </p:blipFill>
        <p:spPr bwMode="auto">
          <a:xfrm>
            <a:off x="207431" y="3395231"/>
            <a:ext cx="1602986" cy="65796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ACTing - I3M / front-office">
            <a:extLst>
              <a:ext uri="{FF2B5EF4-FFF2-40B4-BE49-F238E27FC236}">
                <a16:creationId xmlns:a16="http://schemas.microsoft.com/office/drawing/2014/main" id="{011E834A-D293-1548-8052-5B8722C4502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420426" y="3748823"/>
            <a:ext cx="1832900" cy="65796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ther Research Activities">
            <a:extLst>
              <a:ext uri="{FF2B5EF4-FFF2-40B4-BE49-F238E27FC236}">
                <a16:creationId xmlns:a16="http://schemas.microsoft.com/office/drawing/2014/main" id="{B5276D78-37FA-774A-899F-EE83B372A62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987805" y="3656036"/>
            <a:ext cx="981898" cy="981898"/>
          </a:xfrm>
          <a:prstGeom prst="rect">
            <a:avLst/>
          </a:prstGeom>
          <a:noFill/>
          <a:extLst>
            <a:ext uri="{909E8E84-426E-40DD-AFC4-6F175D3DCCD1}">
              <a14:hiddenFill xmlns:a14="http://schemas.microsoft.com/office/drawing/2010/main">
                <a:solidFill>
                  <a:srgbClr val="FFFFFF"/>
                </a:solidFill>
              </a14:hiddenFill>
            </a:ext>
          </a:extLst>
        </p:spPr>
      </p:pic>
      <p:sp>
        <p:nvSpPr>
          <p:cNvPr id="6" name="Down Arrow 5">
            <a:extLst>
              <a:ext uri="{FF2B5EF4-FFF2-40B4-BE49-F238E27FC236}">
                <a16:creationId xmlns:a16="http://schemas.microsoft.com/office/drawing/2014/main" id="{60698A14-6616-4546-B622-50D0E2DA6C97}"/>
              </a:ext>
            </a:extLst>
          </p:cNvPr>
          <p:cNvSpPr/>
          <p:nvPr/>
        </p:nvSpPr>
        <p:spPr>
          <a:xfrm rot="1806705">
            <a:off x="617187" y="2440601"/>
            <a:ext cx="1880467"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Ebola</a:t>
            </a:r>
          </a:p>
        </p:txBody>
      </p:sp>
      <p:sp>
        <p:nvSpPr>
          <p:cNvPr id="2" name="TextBox 1">
            <a:extLst>
              <a:ext uri="{FF2B5EF4-FFF2-40B4-BE49-F238E27FC236}">
                <a16:creationId xmlns:a16="http://schemas.microsoft.com/office/drawing/2014/main" id="{D16BEC99-6223-DD43-81B2-1F73010A6214}"/>
              </a:ext>
            </a:extLst>
          </p:cNvPr>
          <p:cNvSpPr txBox="1"/>
          <p:nvPr/>
        </p:nvSpPr>
        <p:spPr>
          <a:xfrm>
            <a:off x="1631015" y="1021123"/>
            <a:ext cx="9645640" cy="913199"/>
          </a:xfrm>
          <a:prstGeom prst="rect">
            <a:avLst/>
          </a:prstGeom>
          <a:noFill/>
        </p:spPr>
        <p:txBody>
          <a:bodyPr wrap="square" rtlCol="0">
            <a:spAutoFit/>
          </a:bodyPr>
          <a:lstStyle/>
          <a:p>
            <a:pPr algn="ctr"/>
            <a:r>
              <a:rPr lang="en-GB" sz="2667" dirty="0">
                <a:solidFill>
                  <a:srgbClr val="C00000"/>
                </a:solidFill>
              </a:rPr>
              <a:t>ISARIC-WHO Clinical Characterisation Protocol &amp; Case Report Forms 2012-2019 </a:t>
            </a:r>
          </a:p>
        </p:txBody>
      </p:sp>
      <p:pic>
        <p:nvPicPr>
          <p:cNvPr id="1026" name="Picture 2" descr="SPRINT-SARI (Australia) - Australian and New Zealand Intensive Care  Research Centre (ANZIC-RC)">
            <a:extLst>
              <a:ext uri="{FF2B5EF4-FFF2-40B4-BE49-F238E27FC236}">
                <a16:creationId xmlns:a16="http://schemas.microsoft.com/office/drawing/2014/main" id="{A595FCFF-88DE-BB47-9482-5283ACB6C5A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416299" y="3893893"/>
            <a:ext cx="1905296" cy="844263"/>
          </a:xfrm>
          <a:prstGeom prst="rect">
            <a:avLst/>
          </a:prstGeom>
          <a:noFill/>
          <a:extLst>
            <a:ext uri="{909E8E84-426E-40DD-AFC4-6F175D3DCCD1}">
              <a14:hiddenFill xmlns:a14="http://schemas.microsoft.com/office/drawing/2010/main">
                <a:solidFill>
                  <a:srgbClr val="FFFFFF"/>
                </a:solidFill>
              </a14:hiddenFill>
            </a:ext>
          </a:extLst>
        </p:spPr>
      </p:pic>
      <p:sp>
        <p:nvSpPr>
          <p:cNvPr id="27" name="Down Arrow 26">
            <a:extLst>
              <a:ext uri="{FF2B5EF4-FFF2-40B4-BE49-F238E27FC236}">
                <a16:creationId xmlns:a16="http://schemas.microsoft.com/office/drawing/2014/main" id="{D9B956F7-FFC2-B746-92FC-952000FDD472}"/>
              </a:ext>
            </a:extLst>
          </p:cNvPr>
          <p:cNvSpPr/>
          <p:nvPr/>
        </p:nvSpPr>
        <p:spPr>
          <a:xfrm>
            <a:off x="2932687" y="2787932"/>
            <a:ext cx="1880467"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Zika</a:t>
            </a:r>
          </a:p>
        </p:txBody>
      </p:sp>
      <p:sp>
        <p:nvSpPr>
          <p:cNvPr id="29" name="Down Arrow 28">
            <a:extLst>
              <a:ext uri="{FF2B5EF4-FFF2-40B4-BE49-F238E27FC236}">
                <a16:creationId xmlns:a16="http://schemas.microsoft.com/office/drawing/2014/main" id="{C38DC441-D1C3-E241-889C-F59D943D0744}"/>
              </a:ext>
            </a:extLst>
          </p:cNvPr>
          <p:cNvSpPr/>
          <p:nvPr/>
        </p:nvSpPr>
        <p:spPr>
          <a:xfrm rot="20336408">
            <a:off x="10204369" y="2524589"/>
            <a:ext cx="1880467"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MERS</a:t>
            </a:r>
          </a:p>
        </p:txBody>
      </p:sp>
      <p:sp>
        <p:nvSpPr>
          <p:cNvPr id="31" name="Down Arrow 30">
            <a:extLst>
              <a:ext uri="{FF2B5EF4-FFF2-40B4-BE49-F238E27FC236}">
                <a16:creationId xmlns:a16="http://schemas.microsoft.com/office/drawing/2014/main" id="{79DE5530-4ACC-DE49-866B-F7A0DFDD6248}"/>
              </a:ext>
            </a:extLst>
          </p:cNvPr>
          <p:cNvSpPr/>
          <p:nvPr/>
        </p:nvSpPr>
        <p:spPr>
          <a:xfrm>
            <a:off x="5518083" y="2923724"/>
            <a:ext cx="1880467"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SARI</a:t>
            </a:r>
          </a:p>
        </p:txBody>
      </p:sp>
      <p:sp>
        <p:nvSpPr>
          <p:cNvPr id="35" name="Down Arrow 34">
            <a:extLst>
              <a:ext uri="{FF2B5EF4-FFF2-40B4-BE49-F238E27FC236}">
                <a16:creationId xmlns:a16="http://schemas.microsoft.com/office/drawing/2014/main" id="{F5AF16F5-5006-4E44-AFAB-6F346AC6475F}"/>
              </a:ext>
            </a:extLst>
          </p:cNvPr>
          <p:cNvSpPr/>
          <p:nvPr/>
        </p:nvSpPr>
        <p:spPr>
          <a:xfrm>
            <a:off x="1631015" y="1863797"/>
            <a:ext cx="9645641"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Adapted &amp; adopted</a:t>
            </a:r>
          </a:p>
        </p:txBody>
      </p:sp>
      <p:sp>
        <p:nvSpPr>
          <p:cNvPr id="37" name="Down Arrow 36">
            <a:extLst>
              <a:ext uri="{FF2B5EF4-FFF2-40B4-BE49-F238E27FC236}">
                <a16:creationId xmlns:a16="http://schemas.microsoft.com/office/drawing/2014/main" id="{AF64B9D0-4485-244B-8D49-C1655DEDA4E9}"/>
              </a:ext>
            </a:extLst>
          </p:cNvPr>
          <p:cNvSpPr/>
          <p:nvPr/>
        </p:nvSpPr>
        <p:spPr>
          <a:xfrm>
            <a:off x="7883860" y="2782741"/>
            <a:ext cx="1880467" cy="844264"/>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PPHI</a:t>
            </a:r>
          </a:p>
        </p:txBody>
      </p:sp>
      <p:pic>
        <p:nvPicPr>
          <p:cNvPr id="38" name="Picture 37" descr="ISARIC sites and MERS-CoV cases.tiff">
            <a:extLst>
              <a:ext uri="{FF2B5EF4-FFF2-40B4-BE49-F238E27FC236}">
                <a16:creationId xmlns:a16="http://schemas.microsoft.com/office/drawing/2014/main" id="{044060D4-3AB3-0840-A441-266F71200BAA}"/>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8043822" y="4890369"/>
            <a:ext cx="1720505" cy="1967631"/>
          </a:xfrm>
          <a:prstGeom prst="rect">
            <a:avLst/>
          </a:prstGeom>
        </p:spPr>
      </p:pic>
      <p:pic>
        <p:nvPicPr>
          <p:cNvPr id="8" name="Picture 2" descr="Middle East Respiratory Syndrome: Introduction | OpenWHO">
            <a:extLst>
              <a:ext uri="{FF2B5EF4-FFF2-40B4-BE49-F238E27FC236}">
                <a16:creationId xmlns:a16="http://schemas.microsoft.com/office/drawing/2014/main" id="{E8B1AB47-1180-5DC5-8EFA-B967C732C77C}"/>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864"/>
          <a:stretch/>
        </p:blipFill>
        <p:spPr bwMode="auto">
          <a:xfrm>
            <a:off x="9773352" y="4789317"/>
            <a:ext cx="2543534" cy="16308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29B27BF-4470-B24E-4882-37C028ACF655}"/>
              </a:ext>
            </a:extLst>
          </p:cNvPr>
          <p:cNvPicPr>
            <a:picLocks/>
          </p:cNvPicPr>
          <p:nvPr/>
        </p:nvPicPr>
        <p:blipFill rotWithShape="1">
          <a:blip r:embed="rId10" cstate="screen">
            <a:extLst>
              <a:ext uri="{28A0092B-C50C-407E-A947-70E740481C1C}">
                <a14:useLocalDpi xmlns:a14="http://schemas.microsoft.com/office/drawing/2010/main"/>
              </a:ext>
            </a:extLst>
          </a:blip>
          <a:srcRect/>
          <a:stretch/>
        </p:blipFill>
        <p:spPr>
          <a:xfrm>
            <a:off x="-33739" y="4890368"/>
            <a:ext cx="2234014" cy="1967631"/>
          </a:xfrm>
          <a:prstGeom prst="rect">
            <a:avLst/>
          </a:prstGeom>
          <a:ln>
            <a:solidFill>
              <a:schemeClr val="tx2"/>
            </a:solidFill>
          </a:ln>
        </p:spPr>
      </p:pic>
      <p:pic>
        <p:nvPicPr>
          <p:cNvPr id="10" name="Picture 3" descr="ISARIC4C">
            <a:extLst>
              <a:ext uri="{FF2B5EF4-FFF2-40B4-BE49-F238E27FC236}">
                <a16:creationId xmlns:a16="http://schemas.microsoft.com/office/drawing/2014/main" id="{B6B7EA22-ECC3-DD12-B393-A7F08C7CAA68}"/>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8141985" y="3666319"/>
            <a:ext cx="1364215" cy="114213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DA42E48-FCC3-3073-C478-CE77B186B426}"/>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a:stretch/>
        </p:blipFill>
        <p:spPr>
          <a:xfrm>
            <a:off x="2661750" y="4890368"/>
            <a:ext cx="2142327" cy="1962431"/>
          </a:xfrm>
          <a:prstGeom prst="rect">
            <a:avLst/>
          </a:prstGeom>
        </p:spPr>
      </p:pic>
      <p:pic>
        <p:nvPicPr>
          <p:cNvPr id="2052" name="Picture 4" descr="Cardiac Monitor – ICU Knowledge">
            <a:extLst>
              <a:ext uri="{FF2B5EF4-FFF2-40B4-BE49-F238E27FC236}">
                <a16:creationId xmlns:a16="http://schemas.microsoft.com/office/drawing/2014/main" id="{3CB9CA68-A5AA-A090-C55D-69799E82BA99}"/>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a:off x="5839991" y="4885168"/>
            <a:ext cx="1312619" cy="196763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53F8A6A4-D49E-B244-F1AC-E2530B84FF67}"/>
              </a:ext>
            </a:extLst>
          </p:cNvPr>
          <p:cNvSpPr txBox="1">
            <a:spLocks/>
          </p:cNvSpPr>
          <p:nvPr/>
        </p:nvSpPr>
        <p:spPr>
          <a:xfrm>
            <a:off x="144493" y="381299"/>
            <a:ext cx="9888248"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CCP IMPLEMENTATION for RESEARCH  RESPONSE</a:t>
            </a:r>
          </a:p>
        </p:txBody>
      </p:sp>
    </p:spTree>
    <p:extLst>
      <p:ext uri="{BB962C8B-B14F-4D97-AF65-F5344CB8AC3E}">
        <p14:creationId xmlns:p14="http://schemas.microsoft.com/office/powerpoint/2010/main" val="428998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2" descr="Home • ERGO">
            <a:extLst>
              <a:ext uri="{FF2B5EF4-FFF2-40B4-BE49-F238E27FC236}">
                <a16:creationId xmlns:a16="http://schemas.microsoft.com/office/drawing/2014/main" id="{9E001EE4-9628-4442-B045-9374D103FBA2}"/>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20130"/>
          <a:stretch/>
        </p:blipFill>
        <p:spPr bwMode="auto">
          <a:xfrm>
            <a:off x="94779" y="1648594"/>
            <a:ext cx="2461614" cy="7255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CS 21 – 12th Annual International Critical Care Conference">
            <a:extLst>
              <a:ext uri="{FF2B5EF4-FFF2-40B4-BE49-F238E27FC236}">
                <a16:creationId xmlns:a16="http://schemas.microsoft.com/office/drawing/2014/main" id="{DA4CFCB7-546C-5947-94A9-2B5B12C9B53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523829" y="1550334"/>
            <a:ext cx="1573392" cy="84426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ACTing - I3M / front-office">
            <a:extLst>
              <a:ext uri="{FF2B5EF4-FFF2-40B4-BE49-F238E27FC236}">
                <a16:creationId xmlns:a16="http://schemas.microsoft.com/office/drawing/2014/main" id="{011E834A-D293-1548-8052-5B8722C4502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292994" y="1586242"/>
            <a:ext cx="2021256" cy="72557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ther Research Activities">
            <a:extLst>
              <a:ext uri="{FF2B5EF4-FFF2-40B4-BE49-F238E27FC236}">
                <a16:creationId xmlns:a16="http://schemas.microsoft.com/office/drawing/2014/main" id="{B5276D78-37FA-774A-899F-EE83B372A62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664843" y="1535115"/>
            <a:ext cx="874556" cy="87455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PRINT-SARI (Australia) - Australian and New Zealand Intensive Care  Research Centre (ANZIC-RC)">
            <a:extLst>
              <a:ext uri="{FF2B5EF4-FFF2-40B4-BE49-F238E27FC236}">
                <a16:creationId xmlns:a16="http://schemas.microsoft.com/office/drawing/2014/main" id="{A595FCFF-88DE-BB47-9482-5283ACB6C5A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142494" y="1625686"/>
            <a:ext cx="1459429" cy="6466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8FEDC7-9943-26B3-0EA9-878B0B0F2B69}"/>
              </a:ext>
            </a:extLst>
          </p:cNvPr>
          <p:cNvSpPr txBox="1"/>
          <p:nvPr/>
        </p:nvSpPr>
        <p:spPr>
          <a:xfrm>
            <a:off x="1631015" y="1021123"/>
            <a:ext cx="9645640" cy="502767"/>
          </a:xfrm>
          <a:prstGeom prst="rect">
            <a:avLst/>
          </a:prstGeom>
          <a:noFill/>
        </p:spPr>
        <p:txBody>
          <a:bodyPr wrap="square" rtlCol="0">
            <a:spAutoFit/>
          </a:bodyPr>
          <a:lstStyle/>
          <a:p>
            <a:pPr algn="ctr"/>
            <a:r>
              <a:rPr lang="en-GB" sz="2667" dirty="0">
                <a:solidFill>
                  <a:srgbClr val="C00000"/>
                </a:solidFill>
              </a:rPr>
              <a:t>ISARIC-WHO Clinical Characterisation Protocol &amp; Case Report Forms </a:t>
            </a:r>
          </a:p>
        </p:txBody>
      </p:sp>
      <p:pic>
        <p:nvPicPr>
          <p:cNvPr id="7" name="Picture 3" descr="ISARIC4C">
            <a:extLst>
              <a:ext uri="{FF2B5EF4-FFF2-40B4-BE49-F238E27FC236}">
                <a16:creationId xmlns:a16="http://schemas.microsoft.com/office/drawing/2014/main" id="{3FC25F29-44EE-8F99-75C8-74371BAD33CB}"/>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524537" y="1508267"/>
            <a:ext cx="1076678" cy="901404"/>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4331F2F0-3C46-E4CF-8D2A-8740550204AC}"/>
              </a:ext>
            </a:extLst>
          </p:cNvPr>
          <p:cNvGrpSpPr/>
          <p:nvPr/>
        </p:nvGrpSpPr>
        <p:grpSpPr>
          <a:xfrm>
            <a:off x="23063" y="2325171"/>
            <a:ext cx="12145873" cy="2721311"/>
            <a:chOff x="440739" y="5054873"/>
            <a:chExt cx="12145873" cy="2721311"/>
          </a:xfrm>
        </p:grpSpPr>
        <p:sp>
          <p:nvSpPr>
            <p:cNvPr id="23" name="Down Arrow 22">
              <a:extLst>
                <a:ext uri="{FF2B5EF4-FFF2-40B4-BE49-F238E27FC236}">
                  <a16:creationId xmlns:a16="http://schemas.microsoft.com/office/drawing/2014/main" id="{2F744692-2450-B147-A796-FEF4C0CF720E}"/>
                </a:ext>
              </a:extLst>
            </p:cNvPr>
            <p:cNvSpPr/>
            <p:nvPr/>
          </p:nvSpPr>
          <p:spPr>
            <a:xfrm>
              <a:off x="1664884" y="5527762"/>
              <a:ext cx="9645641" cy="1521795"/>
            </a:xfrm>
            <a:prstGeom prst="downArrow">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Experience from many applications of the CCP informed a COVID-19 adaptation</a:t>
              </a:r>
            </a:p>
          </p:txBody>
        </p:sp>
        <p:sp>
          <p:nvSpPr>
            <p:cNvPr id="4" name="TextBox 3">
              <a:extLst>
                <a:ext uri="{FF2B5EF4-FFF2-40B4-BE49-F238E27FC236}">
                  <a16:creationId xmlns:a16="http://schemas.microsoft.com/office/drawing/2014/main" id="{5FE9CFDE-6082-2449-8FE9-68C539FEB41D}"/>
                </a:ext>
              </a:extLst>
            </p:cNvPr>
            <p:cNvSpPr txBox="1"/>
            <p:nvPr/>
          </p:nvSpPr>
          <p:spPr>
            <a:xfrm>
              <a:off x="4846255" y="5054873"/>
              <a:ext cx="3579185" cy="461665"/>
            </a:xfrm>
            <a:prstGeom prst="rect">
              <a:avLst/>
            </a:prstGeom>
            <a:noFill/>
          </p:spPr>
          <p:txBody>
            <a:bodyPr wrap="none" rtlCol="0">
              <a:spAutoFit/>
            </a:bodyPr>
            <a:lstStyle/>
            <a:p>
              <a:r>
                <a:rPr lang="en-GB" sz="2400" b="1" dirty="0"/>
                <a:t>2019 SARS-CoV2 EMERGES</a:t>
              </a:r>
            </a:p>
          </p:txBody>
        </p:sp>
        <p:sp>
          <p:nvSpPr>
            <p:cNvPr id="30" name="TextBox 29">
              <a:extLst>
                <a:ext uri="{FF2B5EF4-FFF2-40B4-BE49-F238E27FC236}">
                  <a16:creationId xmlns:a16="http://schemas.microsoft.com/office/drawing/2014/main" id="{81559027-5A10-6444-AB48-7976DEFC0A4A}"/>
                </a:ext>
              </a:extLst>
            </p:cNvPr>
            <p:cNvSpPr txBox="1"/>
            <p:nvPr/>
          </p:nvSpPr>
          <p:spPr>
            <a:xfrm>
              <a:off x="440739" y="7129853"/>
              <a:ext cx="12145873" cy="646331"/>
            </a:xfrm>
            <a:prstGeom prst="rect">
              <a:avLst/>
            </a:prstGeom>
            <a:noFill/>
          </p:spPr>
          <p:txBody>
            <a:bodyPr wrap="square" rtlCol="0">
              <a:spAutoFit/>
            </a:bodyPr>
            <a:lstStyle/>
            <a:p>
              <a:pPr algn="ctr"/>
              <a:r>
                <a:rPr lang="en-GB" sz="3600" dirty="0">
                  <a:solidFill>
                    <a:srgbClr val="C00000"/>
                  </a:solidFill>
                </a:rPr>
                <a:t>ISARIC-WHO COVID-19 Clinical Characterisation Protocol &amp; CRFs</a:t>
              </a:r>
            </a:p>
          </p:txBody>
        </p:sp>
      </p:grpSp>
      <p:sp>
        <p:nvSpPr>
          <p:cNvPr id="2" name="TextBox 1">
            <a:extLst>
              <a:ext uri="{FF2B5EF4-FFF2-40B4-BE49-F238E27FC236}">
                <a16:creationId xmlns:a16="http://schemas.microsoft.com/office/drawing/2014/main" id="{1A399846-B6E3-4628-8571-503A40DF9EEE}"/>
              </a:ext>
            </a:extLst>
          </p:cNvPr>
          <p:cNvSpPr txBox="1"/>
          <p:nvPr/>
        </p:nvSpPr>
        <p:spPr>
          <a:xfrm>
            <a:off x="2328172" y="5271758"/>
            <a:ext cx="7535653" cy="1477328"/>
          </a:xfrm>
          <a:prstGeom prst="rect">
            <a:avLst/>
          </a:prstGeom>
          <a:noFill/>
        </p:spPr>
        <p:txBody>
          <a:bodyPr wrap="none" rtlCol="0">
            <a:spAutoFit/>
          </a:bodyPr>
          <a:lstStyle/>
          <a:p>
            <a:r>
              <a:rPr lang="en-GB" sz="3000" b="1" dirty="0">
                <a:latin typeface="+mj-lt"/>
              </a:rPr>
              <a:t>~1 million hospitalised people with COVID-19</a:t>
            </a:r>
            <a:endParaRPr lang="en-GB" sz="3000" dirty="0">
              <a:latin typeface="+mj-lt"/>
            </a:endParaRPr>
          </a:p>
          <a:p>
            <a:r>
              <a:rPr lang="en-GB" sz="3000" dirty="0">
                <a:latin typeface="+mj-lt"/>
              </a:rPr>
              <a:t>83 countries,     &gt;1,800 sites,   &gt;50% from LMICs</a:t>
            </a:r>
          </a:p>
          <a:p>
            <a:endParaRPr lang="en-GB" sz="3000" dirty="0"/>
          </a:p>
        </p:txBody>
      </p:sp>
      <p:sp>
        <p:nvSpPr>
          <p:cNvPr id="3" name="Title 2">
            <a:extLst>
              <a:ext uri="{FF2B5EF4-FFF2-40B4-BE49-F238E27FC236}">
                <a16:creationId xmlns:a16="http://schemas.microsoft.com/office/drawing/2014/main" id="{4F6C8D51-37A9-DD90-3A0C-49468893A227}"/>
              </a:ext>
            </a:extLst>
          </p:cNvPr>
          <p:cNvSpPr txBox="1">
            <a:spLocks/>
          </p:cNvSpPr>
          <p:nvPr/>
        </p:nvSpPr>
        <p:spPr>
          <a:xfrm>
            <a:off x="144493" y="381299"/>
            <a:ext cx="9888248"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CCP IMPLEMENTATION for RESEARCH  RESPONSE</a:t>
            </a:r>
          </a:p>
        </p:txBody>
      </p:sp>
    </p:spTree>
    <p:extLst>
      <p:ext uri="{BB962C8B-B14F-4D97-AF65-F5344CB8AC3E}">
        <p14:creationId xmlns:p14="http://schemas.microsoft.com/office/powerpoint/2010/main" val="2847355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A screenshot of a cell phone&#10;&#10;Description automatically generated">
            <a:extLst>
              <a:ext uri="{FF2B5EF4-FFF2-40B4-BE49-F238E27FC236}">
                <a16:creationId xmlns:a16="http://schemas.microsoft.com/office/drawing/2014/main" id="{956C9949-9DDB-B2E9-7A61-67D70D3F73B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1648" y="2057103"/>
            <a:ext cx="5344752" cy="1431554"/>
          </a:xfrm>
          <a:prstGeom prst="rect">
            <a:avLst/>
          </a:prstGeom>
        </p:spPr>
      </p:pic>
      <p:pic>
        <p:nvPicPr>
          <p:cNvPr id="8" name="Picture 4" descr="A screenshot of a cell phone&#10;&#10;Description automatically generated">
            <a:extLst>
              <a:ext uri="{FF2B5EF4-FFF2-40B4-BE49-F238E27FC236}">
                <a16:creationId xmlns:a16="http://schemas.microsoft.com/office/drawing/2014/main" id="{508235EF-1ED8-C02D-B88D-165DF0878D4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11535" y="2123265"/>
            <a:ext cx="5118296" cy="1365392"/>
          </a:xfrm>
          <a:prstGeom prst="rect">
            <a:avLst/>
          </a:prstGeom>
        </p:spPr>
      </p:pic>
      <p:sp>
        <p:nvSpPr>
          <p:cNvPr id="9" name="Title 2">
            <a:extLst>
              <a:ext uri="{FF2B5EF4-FFF2-40B4-BE49-F238E27FC236}">
                <a16:creationId xmlns:a16="http://schemas.microsoft.com/office/drawing/2014/main" id="{2D90505B-95BC-0C4F-E897-634948177F17}"/>
              </a:ext>
            </a:extLst>
          </p:cNvPr>
          <p:cNvSpPr txBox="1">
            <a:spLocks/>
          </p:cNvSpPr>
          <p:nvPr/>
        </p:nvSpPr>
        <p:spPr>
          <a:xfrm>
            <a:off x="144492" y="381299"/>
            <a:ext cx="10129807"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CCP TOOLS USED FOR EARLY COVID-19 EVIDENCE</a:t>
            </a:r>
          </a:p>
        </p:txBody>
      </p:sp>
      <p:grpSp>
        <p:nvGrpSpPr>
          <p:cNvPr id="30" name="Group 29">
            <a:extLst>
              <a:ext uri="{FF2B5EF4-FFF2-40B4-BE49-F238E27FC236}">
                <a16:creationId xmlns:a16="http://schemas.microsoft.com/office/drawing/2014/main" id="{B831AFDB-AAFD-7809-FDAC-879D732D2360}"/>
              </a:ext>
            </a:extLst>
          </p:cNvPr>
          <p:cNvGrpSpPr/>
          <p:nvPr/>
        </p:nvGrpSpPr>
        <p:grpSpPr>
          <a:xfrm>
            <a:off x="6322752" y="1144960"/>
            <a:ext cx="5507080" cy="902677"/>
            <a:chOff x="242590" y="1609946"/>
            <a:chExt cx="5507080" cy="902677"/>
          </a:xfrm>
        </p:grpSpPr>
        <p:grpSp>
          <p:nvGrpSpPr>
            <p:cNvPr id="14" name="Group 13">
              <a:extLst>
                <a:ext uri="{FF2B5EF4-FFF2-40B4-BE49-F238E27FC236}">
                  <a16:creationId xmlns:a16="http://schemas.microsoft.com/office/drawing/2014/main" id="{0471B915-9B96-2E61-97AE-FB508FE4EF91}"/>
                </a:ext>
              </a:extLst>
            </p:cNvPr>
            <p:cNvGrpSpPr/>
            <p:nvPr/>
          </p:nvGrpSpPr>
          <p:grpSpPr>
            <a:xfrm>
              <a:off x="242590" y="1609946"/>
              <a:ext cx="1275589" cy="902677"/>
              <a:chOff x="171446" y="4319194"/>
              <a:chExt cx="1562883" cy="637088"/>
            </a:xfrm>
          </p:grpSpPr>
          <p:pic>
            <p:nvPicPr>
              <p:cNvPr id="11" name="Picture 10" descr="A screenshot of a computer&#10;&#10;Description automatically generated with medium confidence">
                <a:extLst>
                  <a:ext uri="{FF2B5EF4-FFF2-40B4-BE49-F238E27FC236}">
                    <a16:creationId xmlns:a16="http://schemas.microsoft.com/office/drawing/2014/main" id="{7127F898-0658-099B-E376-BDE6EB4C1F0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80305" t="31395" r="-139" b="-25189"/>
              <a:stretch/>
            </p:blipFill>
            <p:spPr>
              <a:xfrm>
                <a:off x="171446" y="4638986"/>
                <a:ext cx="1562883" cy="317296"/>
              </a:xfrm>
              <a:prstGeom prst="rect">
                <a:avLst/>
              </a:prstGeom>
            </p:spPr>
          </p:pic>
          <p:pic>
            <p:nvPicPr>
              <p:cNvPr id="13" name="Picture 12" descr="A screenshot of a computer&#10;&#10;Description automatically generated with medium confidence">
                <a:extLst>
                  <a:ext uri="{FF2B5EF4-FFF2-40B4-BE49-F238E27FC236}">
                    <a16:creationId xmlns:a16="http://schemas.microsoft.com/office/drawing/2014/main" id="{6A5FD5D9-F1BF-823A-A633-AF362D6458C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701" r="73887"/>
              <a:stretch/>
            </p:blipFill>
            <p:spPr>
              <a:xfrm>
                <a:off x="171446" y="4319194"/>
                <a:ext cx="1463157" cy="333670"/>
              </a:xfrm>
              <a:prstGeom prst="rect">
                <a:avLst/>
              </a:prstGeom>
            </p:spPr>
          </p:pic>
        </p:grpSp>
        <p:sp>
          <p:nvSpPr>
            <p:cNvPr id="24" name="TextBox 23">
              <a:extLst>
                <a:ext uri="{FF2B5EF4-FFF2-40B4-BE49-F238E27FC236}">
                  <a16:creationId xmlns:a16="http://schemas.microsoft.com/office/drawing/2014/main" id="{514EC372-0B58-EA50-429D-CBBD72BA46BF}"/>
                </a:ext>
              </a:extLst>
            </p:cNvPr>
            <p:cNvSpPr txBox="1"/>
            <p:nvPr/>
          </p:nvSpPr>
          <p:spPr>
            <a:xfrm>
              <a:off x="1436786" y="1652057"/>
              <a:ext cx="4312884" cy="738664"/>
            </a:xfrm>
            <a:prstGeom prst="rect">
              <a:avLst/>
            </a:prstGeom>
            <a:noFill/>
          </p:spPr>
          <p:txBody>
            <a:bodyPr wrap="square" rtlCol="0">
              <a:spAutoFit/>
            </a:bodyPr>
            <a:lstStyle/>
            <a:p>
              <a:r>
                <a:rPr lang="en-GB" sz="1400" dirty="0">
                  <a:latin typeface="Aptos Narrow" panose="020B0004020202020204" pitchFamily="34" charset="0"/>
                </a:rPr>
                <a:t>Features of 20 133 UK patients in hospital with covid-19 using the ISARIC WHO Clinical Characterisation Protocol: prospective observational study</a:t>
              </a:r>
            </a:p>
          </p:txBody>
        </p:sp>
      </p:grpSp>
      <p:grpSp>
        <p:nvGrpSpPr>
          <p:cNvPr id="29" name="Group 28">
            <a:extLst>
              <a:ext uri="{FF2B5EF4-FFF2-40B4-BE49-F238E27FC236}">
                <a16:creationId xmlns:a16="http://schemas.microsoft.com/office/drawing/2014/main" id="{0E119A7B-27F1-F031-FB6F-AA018799AD8B}"/>
              </a:ext>
            </a:extLst>
          </p:cNvPr>
          <p:cNvGrpSpPr/>
          <p:nvPr/>
        </p:nvGrpSpPr>
        <p:grpSpPr>
          <a:xfrm>
            <a:off x="141648" y="1175334"/>
            <a:ext cx="5727601" cy="738664"/>
            <a:chOff x="6176811" y="730480"/>
            <a:chExt cx="5727601" cy="738664"/>
          </a:xfrm>
        </p:grpSpPr>
        <p:pic>
          <p:nvPicPr>
            <p:cNvPr id="16" name="Picture 10" descr="A screenshot of a social media post&#10;&#10;Description automatically generated">
              <a:extLst>
                <a:ext uri="{FF2B5EF4-FFF2-40B4-BE49-F238E27FC236}">
                  <a16:creationId xmlns:a16="http://schemas.microsoft.com/office/drawing/2014/main" id="{46B0C4DA-EF1D-8AA6-FB09-2A789F35F25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t="-4"/>
            <a:stretch/>
          </p:blipFill>
          <p:spPr>
            <a:xfrm>
              <a:off x="6176811" y="736788"/>
              <a:ext cx="1966925" cy="688711"/>
            </a:xfrm>
            <a:prstGeom prst="rect">
              <a:avLst/>
            </a:prstGeom>
          </p:spPr>
        </p:pic>
        <p:sp>
          <p:nvSpPr>
            <p:cNvPr id="28" name="TextBox 27">
              <a:extLst>
                <a:ext uri="{FF2B5EF4-FFF2-40B4-BE49-F238E27FC236}">
                  <a16:creationId xmlns:a16="http://schemas.microsoft.com/office/drawing/2014/main" id="{0C711F39-3B1E-E19A-FC0B-A9154A2C7D52}"/>
                </a:ext>
              </a:extLst>
            </p:cNvPr>
            <p:cNvSpPr txBox="1"/>
            <p:nvPr/>
          </p:nvSpPr>
          <p:spPr>
            <a:xfrm>
              <a:off x="8057153" y="730480"/>
              <a:ext cx="3847259" cy="738664"/>
            </a:xfrm>
            <a:prstGeom prst="rect">
              <a:avLst/>
            </a:prstGeom>
            <a:noFill/>
          </p:spPr>
          <p:txBody>
            <a:bodyPr wrap="square" rtlCol="0">
              <a:spAutoFit/>
            </a:bodyPr>
            <a:lstStyle/>
            <a:p>
              <a:r>
                <a:rPr lang="en-GB" sz="1400" dirty="0">
                  <a:latin typeface="Baskerville Old Face" panose="02020602080505020303" pitchFamily="18" charset="77"/>
                  <a:cs typeface="Apple Chancery" panose="03020702040506060504" pitchFamily="66" charset="-79"/>
                </a:rPr>
                <a:t>Clinical course and outcomes of critically ill patients with SARS-CoV-2 pneumonia in Wuhan, China: a single-</a:t>
              </a:r>
              <a:r>
                <a:rPr lang="en-GB" sz="1400" dirty="0" err="1">
                  <a:latin typeface="Baskerville Old Face" panose="02020602080505020303" pitchFamily="18" charset="77"/>
                  <a:cs typeface="Apple Chancery" panose="03020702040506060504" pitchFamily="66" charset="-79"/>
                </a:rPr>
                <a:t>centered</a:t>
              </a:r>
              <a:r>
                <a:rPr lang="en-GB" sz="1400" dirty="0">
                  <a:latin typeface="Baskerville Old Face" panose="02020602080505020303" pitchFamily="18" charset="77"/>
                  <a:cs typeface="Apple Chancery" panose="03020702040506060504" pitchFamily="66" charset="-79"/>
                </a:rPr>
                <a:t>, retrospective, observational study</a:t>
              </a:r>
            </a:p>
          </p:txBody>
        </p:sp>
      </p:grpSp>
      <p:sp>
        <p:nvSpPr>
          <p:cNvPr id="31" name="Title 2">
            <a:extLst>
              <a:ext uri="{FF2B5EF4-FFF2-40B4-BE49-F238E27FC236}">
                <a16:creationId xmlns:a16="http://schemas.microsoft.com/office/drawing/2014/main" id="{F650DE88-423A-3150-F1C0-F8A52B45F461}"/>
              </a:ext>
            </a:extLst>
          </p:cNvPr>
          <p:cNvSpPr txBox="1">
            <a:spLocks/>
          </p:cNvSpPr>
          <p:nvPr/>
        </p:nvSpPr>
        <p:spPr>
          <a:xfrm>
            <a:off x="1" y="4514063"/>
            <a:ext cx="8582526"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CCP EVIDENCE INFORMED NATIONAL POLICY AND PLANNING ACROSS SEVERAL COUNTRIES, MANY CLINICAL TRIAL DESIGNS, REGULATORY SUBMISSIONS… </a:t>
            </a:r>
          </a:p>
        </p:txBody>
      </p:sp>
      <p:pic>
        <p:nvPicPr>
          <p:cNvPr id="12" name="Picture 11" descr="Graphical user interface&#10;&#10;Description automatically generated">
            <a:extLst>
              <a:ext uri="{FF2B5EF4-FFF2-40B4-BE49-F238E27FC236}">
                <a16:creationId xmlns:a16="http://schemas.microsoft.com/office/drawing/2014/main" id="{6F776C15-62F6-824B-93D6-E69C5F35A40B}"/>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8359719" y="4459705"/>
            <a:ext cx="3813244" cy="2446420"/>
          </a:xfrm>
          <a:prstGeom prst="rect">
            <a:avLst/>
          </a:prstGeom>
        </p:spPr>
      </p:pic>
      <p:pic>
        <p:nvPicPr>
          <p:cNvPr id="17" name="Picture 2" descr="COVID-19 Vulnerability Indicators – South African Risk &amp;amp; Vulnerability Atlas">
            <a:extLst>
              <a:ext uri="{FF2B5EF4-FFF2-40B4-BE49-F238E27FC236}">
                <a16:creationId xmlns:a16="http://schemas.microsoft.com/office/drawing/2014/main" id="{C84D8171-361D-AF69-FF20-86C1BB9C97DF}"/>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9895304" y="3803079"/>
            <a:ext cx="2296696" cy="688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97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A80C43E8-CA95-F967-16F8-7AEC728831B5}"/>
              </a:ext>
            </a:extLst>
          </p:cNvPr>
          <p:cNvGrpSpPr/>
          <p:nvPr/>
        </p:nvGrpSpPr>
        <p:grpSpPr>
          <a:xfrm>
            <a:off x="-281" y="1076841"/>
            <a:ext cx="12192281" cy="5781159"/>
            <a:chOff x="-281" y="1076841"/>
            <a:chExt cx="12192281" cy="5781159"/>
          </a:xfrm>
        </p:grpSpPr>
        <p:grpSp>
          <p:nvGrpSpPr>
            <p:cNvPr id="38" name="Group 37">
              <a:extLst>
                <a:ext uri="{FF2B5EF4-FFF2-40B4-BE49-F238E27FC236}">
                  <a16:creationId xmlns:a16="http://schemas.microsoft.com/office/drawing/2014/main" id="{661FA254-61A5-AEB0-C7A3-3D1A5E3B952A}"/>
                </a:ext>
              </a:extLst>
            </p:cNvPr>
            <p:cNvGrpSpPr/>
            <p:nvPr/>
          </p:nvGrpSpPr>
          <p:grpSpPr>
            <a:xfrm>
              <a:off x="-281" y="1076841"/>
              <a:ext cx="12192281" cy="5781159"/>
              <a:chOff x="-281" y="1076841"/>
              <a:chExt cx="12192281" cy="5781159"/>
            </a:xfrm>
          </p:grpSpPr>
          <p:grpSp>
            <p:nvGrpSpPr>
              <p:cNvPr id="36" name="Group 35">
                <a:extLst>
                  <a:ext uri="{FF2B5EF4-FFF2-40B4-BE49-F238E27FC236}">
                    <a16:creationId xmlns:a16="http://schemas.microsoft.com/office/drawing/2014/main" id="{A2C91508-7A63-8664-ECD6-2F327C21347A}"/>
                  </a:ext>
                </a:extLst>
              </p:cNvPr>
              <p:cNvGrpSpPr/>
              <p:nvPr/>
            </p:nvGrpSpPr>
            <p:grpSpPr>
              <a:xfrm>
                <a:off x="-281" y="1076841"/>
                <a:ext cx="12192281" cy="5781159"/>
                <a:chOff x="-281" y="1076841"/>
                <a:chExt cx="12192281" cy="5781159"/>
              </a:xfrm>
            </p:grpSpPr>
            <p:grpSp>
              <p:nvGrpSpPr>
                <p:cNvPr id="34" name="Group 33">
                  <a:extLst>
                    <a:ext uri="{FF2B5EF4-FFF2-40B4-BE49-F238E27FC236}">
                      <a16:creationId xmlns:a16="http://schemas.microsoft.com/office/drawing/2014/main" id="{E2D159E8-29F5-C542-AF7B-935A253F5064}"/>
                    </a:ext>
                  </a:extLst>
                </p:cNvPr>
                <p:cNvGrpSpPr/>
                <p:nvPr/>
              </p:nvGrpSpPr>
              <p:grpSpPr>
                <a:xfrm>
                  <a:off x="-281" y="1076841"/>
                  <a:ext cx="12192281" cy="5781159"/>
                  <a:chOff x="-281" y="1076841"/>
                  <a:chExt cx="12192281" cy="5781159"/>
                </a:xfrm>
              </p:grpSpPr>
              <p:pic>
                <p:nvPicPr>
                  <p:cNvPr id="3" name="Picture 2" descr="A map of the world&#10;&#10;Description automatically generated">
                    <a:extLst>
                      <a:ext uri="{FF2B5EF4-FFF2-40B4-BE49-F238E27FC236}">
                        <a16:creationId xmlns:a16="http://schemas.microsoft.com/office/drawing/2014/main" id="{BE0715B9-5802-03A0-5324-17C269936F9A}"/>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0" y="1076841"/>
                    <a:ext cx="12192000" cy="5781159"/>
                  </a:xfrm>
                  <a:prstGeom prst="rect">
                    <a:avLst/>
                  </a:prstGeom>
                </p:spPr>
              </p:pic>
              <p:pic>
                <p:nvPicPr>
                  <p:cNvPr id="33" name="Picture 32" descr="A map of the world&#10;&#10;Description automatically generated">
                    <a:extLst>
                      <a:ext uri="{FF2B5EF4-FFF2-40B4-BE49-F238E27FC236}">
                        <a16:creationId xmlns:a16="http://schemas.microsoft.com/office/drawing/2014/main" id="{875DDEA8-F5AD-0DF8-5FD1-2D0E92D8D872}"/>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281" y="5096285"/>
                    <a:ext cx="2184125" cy="1258459"/>
                  </a:xfrm>
                  <a:prstGeom prst="rect">
                    <a:avLst/>
                  </a:prstGeom>
                </p:spPr>
              </p:pic>
            </p:grpSp>
            <p:pic>
              <p:nvPicPr>
                <p:cNvPr id="35" name="Picture 34" descr="A map of the world&#10;&#10;Description automatically generated">
                  <a:extLst>
                    <a:ext uri="{FF2B5EF4-FFF2-40B4-BE49-F238E27FC236}">
                      <a16:creationId xmlns:a16="http://schemas.microsoft.com/office/drawing/2014/main" id="{BA94B5DC-726C-A860-6ECD-CB9EA74FEDDC}"/>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4715122" y="5159188"/>
                  <a:ext cx="1131075" cy="1645200"/>
                </a:xfrm>
                <a:prstGeom prst="rect">
                  <a:avLst/>
                </a:prstGeom>
              </p:spPr>
            </p:pic>
          </p:grpSp>
          <p:pic>
            <p:nvPicPr>
              <p:cNvPr id="37" name="Picture 36" descr="A map of the world&#10;&#10;Description automatically generated">
                <a:extLst>
                  <a:ext uri="{FF2B5EF4-FFF2-40B4-BE49-F238E27FC236}">
                    <a16:creationId xmlns:a16="http://schemas.microsoft.com/office/drawing/2014/main" id="{B72F6538-12FC-BD56-181D-C2C73CD766BC}"/>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7918105" y="5199799"/>
                <a:ext cx="1131075" cy="1645200"/>
              </a:xfrm>
              <a:prstGeom prst="rect">
                <a:avLst/>
              </a:prstGeom>
            </p:spPr>
          </p:pic>
        </p:grpSp>
        <p:pic>
          <p:nvPicPr>
            <p:cNvPr id="39" name="Picture 38" descr="A map of the world&#10;&#10;Description automatically generated">
              <a:extLst>
                <a:ext uri="{FF2B5EF4-FFF2-40B4-BE49-F238E27FC236}">
                  <a16:creationId xmlns:a16="http://schemas.microsoft.com/office/drawing/2014/main" id="{04907662-EF20-2935-3C7B-AEDABC10EF8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837623" y="3255992"/>
              <a:ext cx="760095" cy="1105593"/>
            </a:xfrm>
            <a:prstGeom prst="rect">
              <a:avLst/>
            </a:prstGeom>
          </p:spPr>
        </p:pic>
      </p:grpSp>
      <p:cxnSp>
        <p:nvCxnSpPr>
          <p:cNvPr id="5" name="Straight Arrow Connector 4">
            <a:extLst>
              <a:ext uri="{FF2B5EF4-FFF2-40B4-BE49-F238E27FC236}">
                <a16:creationId xmlns:a16="http://schemas.microsoft.com/office/drawing/2014/main" id="{3CC70A8C-55F0-AB91-B164-C0EC022E1B43}"/>
              </a:ext>
            </a:extLst>
          </p:cNvPr>
          <p:cNvCxnSpPr>
            <a:cxnSpLocks/>
          </p:cNvCxnSpPr>
          <p:nvPr/>
        </p:nvCxnSpPr>
        <p:spPr>
          <a:xfrm flipV="1">
            <a:off x="3246120" y="2477631"/>
            <a:ext cx="797366" cy="1489789"/>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97C6B0B-D84E-8A41-52F0-F42F13F131B2}"/>
              </a:ext>
            </a:extLst>
          </p:cNvPr>
          <p:cNvCxnSpPr>
            <a:cxnSpLocks/>
          </p:cNvCxnSpPr>
          <p:nvPr/>
        </p:nvCxnSpPr>
        <p:spPr>
          <a:xfrm flipV="1">
            <a:off x="3246120" y="2547411"/>
            <a:ext cx="955834" cy="3233748"/>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53EB357-18C9-11DA-F26C-08353FD23198}"/>
              </a:ext>
            </a:extLst>
          </p:cNvPr>
          <p:cNvCxnSpPr>
            <a:cxnSpLocks/>
          </p:cNvCxnSpPr>
          <p:nvPr/>
        </p:nvCxnSpPr>
        <p:spPr>
          <a:xfrm flipH="1" flipV="1">
            <a:off x="4487704" y="2577347"/>
            <a:ext cx="495776" cy="1446014"/>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2D98867-E82C-FE73-9A7A-C4F8C198F033}"/>
              </a:ext>
            </a:extLst>
          </p:cNvPr>
          <p:cNvCxnSpPr>
            <a:cxnSpLocks/>
          </p:cNvCxnSpPr>
          <p:nvPr/>
        </p:nvCxnSpPr>
        <p:spPr>
          <a:xfrm flipH="1" flipV="1">
            <a:off x="4634389" y="2428523"/>
            <a:ext cx="4943951" cy="3352636"/>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AFDD719-849F-0499-6591-10B9A563EEED}"/>
              </a:ext>
            </a:extLst>
          </p:cNvPr>
          <p:cNvCxnSpPr>
            <a:cxnSpLocks/>
          </p:cNvCxnSpPr>
          <p:nvPr/>
        </p:nvCxnSpPr>
        <p:spPr>
          <a:xfrm flipH="1" flipV="1">
            <a:off x="4756785" y="2205836"/>
            <a:ext cx="4250055" cy="2358633"/>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itle 2">
            <a:extLst>
              <a:ext uri="{FF2B5EF4-FFF2-40B4-BE49-F238E27FC236}">
                <a16:creationId xmlns:a16="http://schemas.microsoft.com/office/drawing/2014/main" id="{F90DEF67-47A3-F06B-3B00-61A205B9CEC5}"/>
              </a:ext>
            </a:extLst>
          </p:cNvPr>
          <p:cNvSpPr txBox="1">
            <a:spLocks/>
          </p:cNvSpPr>
          <p:nvPr/>
        </p:nvSpPr>
        <p:spPr>
          <a:xfrm>
            <a:off x="144492" y="381299"/>
            <a:ext cx="10325387"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DATA  SHARING and COLLABORATIVE ANALYSES</a:t>
            </a:r>
          </a:p>
        </p:txBody>
      </p:sp>
      <p:cxnSp>
        <p:nvCxnSpPr>
          <p:cNvPr id="21" name="Straight Arrow Connector 20">
            <a:extLst>
              <a:ext uri="{FF2B5EF4-FFF2-40B4-BE49-F238E27FC236}">
                <a16:creationId xmlns:a16="http://schemas.microsoft.com/office/drawing/2014/main" id="{4994FFDB-F863-1920-AC4D-F131374F72F8}"/>
              </a:ext>
            </a:extLst>
          </p:cNvPr>
          <p:cNvCxnSpPr>
            <a:cxnSpLocks/>
          </p:cNvCxnSpPr>
          <p:nvPr/>
        </p:nvCxnSpPr>
        <p:spPr>
          <a:xfrm flipV="1">
            <a:off x="2488883" y="2192836"/>
            <a:ext cx="1241584" cy="613834"/>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0C6FD2D-7AB5-573C-0EAD-ECE2C1B7A1AD}"/>
              </a:ext>
            </a:extLst>
          </p:cNvPr>
          <p:cNvCxnSpPr>
            <a:cxnSpLocks/>
          </p:cNvCxnSpPr>
          <p:nvPr/>
        </p:nvCxnSpPr>
        <p:spPr>
          <a:xfrm flipH="1" flipV="1">
            <a:off x="4331970" y="2547411"/>
            <a:ext cx="139065" cy="2182098"/>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9643420-C2C6-7FF1-5EDA-4A824036B85D}"/>
              </a:ext>
            </a:extLst>
          </p:cNvPr>
          <p:cNvCxnSpPr>
            <a:cxnSpLocks/>
          </p:cNvCxnSpPr>
          <p:nvPr/>
        </p:nvCxnSpPr>
        <p:spPr>
          <a:xfrm flipV="1">
            <a:off x="2124076" y="2366205"/>
            <a:ext cx="1713547" cy="1685126"/>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074" name="Picture 2" descr="Cloud database function line icon. Cloud with server rack symbol. Cloud  computing online storage. Infrastructure as a service IaaS. Web hosting and  data backup. Vector illustration, flat, clip art. Stock Vector |">
            <a:extLst>
              <a:ext uri="{FF2B5EF4-FFF2-40B4-BE49-F238E27FC236}">
                <a16:creationId xmlns:a16="http://schemas.microsoft.com/office/drawing/2014/main" id="{6029578F-FECD-24AA-C26A-3EFA0AC32B63}"/>
              </a:ext>
            </a:extLst>
          </p:cNvPr>
          <p:cNvPicPr>
            <a:picLocks noChangeAspect="1" noChangeArrowheads="1"/>
          </p:cNvPicPr>
          <p:nvPr/>
        </p:nvPicPr>
        <p:blipFill rotWithShape="1">
          <a:blip r:embed="rId6">
            <a:clrChange>
              <a:clrFrom>
                <a:srgbClr val="FEFEFE"/>
              </a:clrFrom>
              <a:clrTo>
                <a:srgbClr val="FEFEFE">
                  <a:alpha val="0"/>
                </a:srgbClr>
              </a:clrTo>
            </a:clrChange>
            <a:biLevel thresh="75000"/>
            <a:extLst>
              <a:ext uri="{BEBA8EAE-BF5A-486C-A8C5-ECC9F3942E4B}">
                <a14:imgProps xmlns:a14="http://schemas.microsoft.com/office/drawing/2010/main">
                  <a14:imgLayer r:embed="rId7">
                    <a14:imgEffect>
                      <a14:saturation sat="200000"/>
                    </a14:imgEffect>
                  </a14:imgLayer>
                </a14:imgProps>
              </a:ext>
              <a:ext uri="{28A0092B-C50C-407E-A947-70E740481C1C}">
                <a14:useLocalDpi xmlns:a14="http://schemas.microsoft.com/office/drawing/2010/main"/>
              </a:ext>
            </a:extLst>
          </a:blip>
          <a:srcRect/>
          <a:stretch/>
        </p:blipFill>
        <p:spPr bwMode="auto">
          <a:xfrm>
            <a:off x="3416472" y="935791"/>
            <a:ext cx="1554480" cy="1485900"/>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E5E44F5E-7E79-2558-6DA1-6B30197DE580}"/>
              </a:ext>
            </a:extLst>
          </p:cNvPr>
          <p:cNvCxnSpPr>
            <a:cxnSpLocks/>
          </p:cNvCxnSpPr>
          <p:nvPr/>
        </p:nvCxnSpPr>
        <p:spPr>
          <a:xfrm flipH="1">
            <a:off x="4715122" y="1405294"/>
            <a:ext cx="1504228" cy="601009"/>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26E64FF-02DC-1A83-9999-3D7515CF578D}"/>
              </a:ext>
            </a:extLst>
          </p:cNvPr>
          <p:cNvCxnSpPr>
            <a:cxnSpLocks/>
          </p:cNvCxnSpPr>
          <p:nvPr/>
        </p:nvCxnSpPr>
        <p:spPr>
          <a:xfrm flipH="1" flipV="1">
            <a:off x="4843037" y="2122949"/>
            <a:ext cx="2038775" cy="584028"/>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854779E-E77B-3800-CFC8-6FCD313AFC9D}"/>
              </a:ext>
            </a:extLst>
          </p:cNvPr>
          <p:cNvCxnSpPr>
            <a:cxnSpLocks/>
          </p:cNvCxnSpPr>
          <p:nvPr/>
        </p:nvCxnSpPr>
        <p:spPr>
          <a:xfrm flipV="1">
            <a:off x="1197997" y="2055872"/>
            <a:ext cx="2417217" cy="303501"/>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62B96D6-A0A2-1BD8-9BFF-D6AA16CE1247}"/>
              </a:ext>
            </a:extLst>
          </p:cNvPr>
          <p:cNvCxnSpPr>
            <a:cxnSpLocks/>
          </p:cNvCxnSpPr>
          <p:nvPr/>
        </p:nvCxnSpPr>
        <p:spPr>
          <a:xfrm flipH="1" flipV="1">
            <a:off x="4601051" y="2507423"/>
            <a:ext cx="1988582" cy="2945283"/>
          </a:xfrm>
          <a:prstGeom prst="straightConnector1">
            <a:avLst/>
          </a:prstGeom>
          <a:ln w="508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54F9721-3391-BBCB-285D-C41AFA1F5823}"/>
              </a:ext>
            </a:extLst>
          </p:cNvPr>
          <p:cNvSpPr txBox="1"/>
          <p:nvPr/>
        </p:nvSpPr>
        <p:spPr>
          <a:xfrm>
            <a:off x="6756233" y="5965260"/>
            <a:ext cx="4134037" cy="954107"/>
          </a:xfrm>
          <a:prstGeom prst="rect">
            <a:avLst/>
          </a:prstGeom>
          <a:noFill/>
        </p:spPr>
        <p:txBody>
          <a:bodyPr wrap="square">
            <a:spAutoFit/>
          </a:bodyPr>
          <a:lstStyle/>
          <a:p>
            <a:r>
              <a:rPr lang="en-GB" sz="2800" b="1" dirty="0"/>
              <a:t>19 clinical reports</a:t>
            </a:r>
          </a:p>
          <a:p>
            <a:r>
              <a:rPr lang="en-GB" sz="2800" b="1" dirty="0"/>
              <a:t>4 clinical dashboards</a:t>
            </a:r>
          </a:p>
        </p:txBody>
      </p:sp>
      <p:sp>
        <p:nvSpPr>
          <p:cNvPr id="3072" name="TextBox 3071">
            <a:extLst>
              <a:ext uri="{FF2B5EF4-FFF2-40B4-BE49-F238E27FC236}">
                <a16:creationId xmlns:a16="http://schemas.microsoft.com/office/drawing/2014/main" id="{B5B9834A-CC5B-71F4-C04B-67FDF1A2198E}"/>
              </a:ext>
            </a:extLst>
          </p:cNvPr>
          <p:cNvSpPr txBox="1"/>
          <p:nvPr/>
        </p:nvSpPr>
        <p:spPr>
          <a:xfrm>
            <a:off x="6987573" y="978683"/>
            <a:ext cx="5395530" cy="1477328"/>
          </a:xfrm>
          <a:prstGeom prst="rect">
            <a:avLst/>
          </a:prstGeom>
          <a:noFill/>
        </p:spPr>
        <p:txBody>
          <a:bodyPr wrap="square">
            <a:spAutoFit/>
          </a:bodyPr>
          <a:lstStyle/>
          <a:p>
            <a:r>
              <a:rPr lang="en-GB" sz="3200" b="1" dirty="0"/>
              <a:t>~1 million patient records</a:t>
            </a:r>
          </a:p>
          <a:p>
            <a:r>
              <a:rPr lang="en-GB" sz="3200" b="1" dirty="0"/>
              <a:t>&gt;180 manuscripts </a:t>
            </a:r>
          </a:p>
          <a:p>
            <a:r>
              <a:rPr lang="en-GB" sz="2600" dirty="0">
                <a:effectLst/>
              </a:rPr>
              <a:t>x̄ 1,250 cited</a:t>
            </a:r>
            <a:r>
              <a:rPr lang="en-GB" sz="2600" dirty="0"/>
              <a:t> contributors/manuscript</a:t>
            </a:r>
          </a:p>
        </p:txBody>
      </p:sp>
      <p:sp>
        <p:nvSpPr>
          <p:cNvPr id="3075" name="TextBox 3074">
            <a:extLst>
              <a:ext uri="{FF2B5EF4-FFF2-40B4-BE49-F238E27FC236}">
                <a16:creationId xmlns:a16="http://schemas.microsoft.com/office/drawing/2014/main" id="{2AAA4D80-57D8-4051-D36F-75BB7100DF5B}"/>
              </a:ext>
            </a:extLst>
          </p:cNvPr>
          <p:cNvSpPr txBox="1"/>
          <p:nvPr/>
        </p:nvSpPr>
        <p:spPr>
          <a:xfrm>
            <a:off x="-16151" y="5649162"/>
            <a:ext cx="3384901" cy="1292662"/>
          </a:xfrm>
          <a:prstGeom prst="rect">
            <a:avLst/>
          </a:prstGeom>
          <a:noFill/>
        </p:spPr>
        <p:txBody>
          <a:bodyPr wrap="square">
            <a:spAutoFit/>
          </a:bodyPr>
          <a:lstStyle/>
          <a:p>
            <a:r>
              <a:rPr lang="en-GB" sz="2600" b="1" dirty="0"/>
              <a:t>83 countries</a:t>
            </a:r>
          </a:p>
          <a:p>
            <a:r>
              <a:rPr lang="en-GB" sz="2600" b="1" dirty="0"/>
              <a:t>&gt;1,800 sites</a:t>
            </a:r>
          </a:p>
          <a:p>
            <a:r>
              <a:rPr lang="en-GB" sz="2600" b="1" dirty="0"/>
              <a:t>&gt;2,500 contributors</a:t>
            </a:r>
          </a:p>
        </p:txBody>
      </p:sp>
    </p:spTree>
    <p:extLst>
      <p:ext uri="{BB962C8B-B14F-4D97-AF65-F5344CB8AC3E}">
        <p14:creationId xmlns:p14="http://schemas.microsoft.com/office/powerpoint/2010/main" val="333175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4B8DE-9180-4951-A7E1-B190666B998A}"/>
              </a:ext>
            </a:extLst>
          </p:cNvPr>
          <p:cNvSpPr>
            <a:spLocks noGrp="1"/>
          </p:cNvSpPr>
          <p:nvPr>
            <p:ph type="title" idx="4294967295"/>
          </p:nvPr>
        </p:nvSpPr>
        <p:spPr>
          <a:xfrm>
            <a:off x="926153" y="5532437"/>
            <a:ext cx="10915650" cy="1325563"/>
          </a:xfrm>
        </p:spPr>
        <p:txBody>
          <a:bodyPr>
            <a:normAutofit/>
          </a:bodyPr>
          <a:lstStyle/>
          <a:p>
            <a:r>
              <a:rPr lang="en-GB" sz="3600" dirty="0"/>
              <a:t>Peer-reviewed publications using ISAIRC COVID-19 Dataset</a:t>
            </a:r>
          </a:p>
        </p:txBody>
      </p:sp>
      <p:pic>
        <p:nvPicPr>
          <p:cNvPr id="4" name="Picture 3">
            <a:extLst>
              <a:ext uri="{FF2B5EF4-FFF2-40B4-BE49-F238E27FC236}">
                <a16:creationId xmlns:a16="http://schemas.microsoft.com/office/drawing/2014/main" id="{27CBBC1F-494E-4711-9C9A-8D984DC3FF8D}"/>
              </a:ext>
            </a:extLst>
          </p:cNvPr>
          <p:cNvPicPr>
            <a:picLocks noChangeAspect="1"/>
          </p:cNvPicPr>
          <p:nvPr/>
        </p:nvPicPr>
        <p:blipFill rotWithShape="1">
          <a:blip r:embed="rId2"/>
          <a:srcRect t="13312"/>
          <a:stretch/>
        </p:blipFill>
        <p:spPr>
          <a:xfrm>
            <a:off x="1131447" y="1358040"/>
            <a:ext cx="9929106" cy="4503166"/>
          </a:xfrm>
          <a:prstGeom prst="rect">
            <a:avLst/>
          </a:prstGeom>
        </p:spPr>
      </p:pic>
      <p:sp>
        <p:nvSpPr>
          <p:cNvPr id="3" name="Title 2">
            <a:extLst>
              <a:ext uri="{FF2B5EF4-FFF2-40B4-BE49-F238E27FC236}">
                <a16:creationId xmlns:a16="http://schemas.microsoft.com/office/drawing/2014/main" id="{EBE3BB92-634D-39F3-D788-6BDCA48EBD1D}"/>
              </a:ext>
            </a:extLst>
          </p:cNvPr>
          <p:cNvSpPr txBox="1">
            <a:spLocks/>
          </p:cNvSpPr>
          <p:nvPr/>
        </p:nvSpPr>
        <p:spPr>
          <a:xfrm>
            <a:off x="144492" y="381299"/>
            <a:ext cx="10325387" cy="688710"/>
          </a:xfrm>
          <a:prstGeom prst="rect">
            <a:avLst/>
          </a:prstGeom>
        </p:spPr>
        <p:txBody>
          <a:bodyPr/>
          <a:lstStyle>
            <a:lvl1pPr algn="l" defTabSz="914400" rtl="0" eaLnBrk="1" latinLnBrk="0" hangingPunct="1">
              <a:lnSpc>
                <a:spcPct val="90000"/>
              </a:lnSpc>
              <a:spcBef>
                <a:spcPct val="0"/>
              </a:spcBef>
              <a:buNone/>
              <a:defRPr sz="3200" kern="1200" spc="-150">
                <a:solidFill>
                  <a:schemeClr val="tx1">
                    <a:lumMod val="65000"/>
                    <a:lumOff val="35000"/>
                  </a:schemeClr>
                </a:solidFill>
                <a:latin typeface="+mj-lt"/>
                <a:ea typeface="+mj-ea"/>
                <a:cs typeface="+mj-cs"/>
              </a:defRPr>
            </a:lvl1pPr>
          </a:lstStyle>
          <a:p>
            <a:r>
              <a:rPr lang="en-US" sz="3800" kern="0" dirty="0">
                <a:solidFill>
                  <a:schemeClr val="tx1"/>
                </a:solidFill>
                <a:latin typeface="Corbel" panose="020B0503020204020204" pitchFamily="34" charset="0"/>
                <a:cs typeface="Calibri Light" panose="020F0302020204030204" pitchFamily="34" charset="0"/>
              </a:rPr>
              <a:t>DATA  SHARING and COLLABORATIVE ANALYSES</a:t>
            </a:r>
          </a:p>
        </p:txBody>
      </p:sp>
    </p:spTree>
    <p:extLst>
      <p:ext uri="{BB962C8B-B14F-4D97-AF65-F5344CB8AC3E}">
        <p14:creationId xmlns:p14="http://schemas.microsoft.com/office/powerpoint/2010/main" val="1243250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3EFC3C2-C58A-DC96-831F-9B1500AA88CA}"/>
              </a:ext>
            </a:extLst>
          </p:cNvPr>
          <p:cNvSpPr txBox="1"/>
          <p:nvPr/>
        </p:nvSpPr>
        <p:spPr>
          <a:xfrm>
            <a:off x="3860191" y="5329494"/>
            <a:ext cx="8460703" cy="1600438"/>
          </a:xfrm>
          <a:prstGeom prst="rect">
            <a:avLst/>
          </a:prstGeom>
          <a:noFill/>
        </p:spPr>
        <p:txBody>
          <a:bodyPr wrap="square" rtlCol="0">
            <a:spAutoFit/>
          </a:bodyPr>
          <a:lstStyle/>
          <a:p>
            <a:r>
              <a:rPr lang="en-GB" sz="1400" b="1" i="1" u="none" strike="noStrike" baseline="0" dirty="0">
                <a:solidFill>
                  <a:srgbClr val="000000"/>
                </a:solidFill>
                <a:latin typeface="Arial" panose="020B0604020202020204" pitchFamily="34" charset="0"/>
              </a:rPr>
              <a:t>“…it has captured a large proportion of UK hospital cases and it has proven extremely useful to both SAGE and SPI-M. It has, for example, been vital in identifying risk factors associated with poor outcomes as well as well as early signs of the prevalence of hospital-acquired infection.”</a:t>
            </a:r>
          </a:p>
          <a:p>
            <a:endParaRPr lang="en-GB" sz="1400" b="0" i="0" u="none" strike="noStrike" baseline="0" dirty="0">
              <a:solidFill>
                <a:srgbClr val="000000"/>
              </a:solidFill>
              <a:latin typeface="Calibri" panose="020F0502020204030204" pitchFamily="34" charset="0"/>
            </a:endParaRPr>
          </a:p>
          <a:p>
            <a:r>
              <a:rPr lang="en-GB" sz="1400" b="1" i="0" u="none" strike="noStrike" baseline="0" dirty="0">
                <a:solidFill>
                  <a:srgbClr val="000000"/>
                </a:solidFill>
                <a:latin typeface="Calibri" panose="020F0502020204030204" pitchFamily="34" charset="0"/>
              </a:rPr>
              <a:t>Sir Patrick Vallance, UK Government Chief Scien</a:t>
            </a:r>
            <a:r>
              <a:rPr lang="en-GB" sz="1400" b="0" i="0" u="none" strike="noStrike" baseline="0" dirty="0">
                <a:solidFill>
                  <a:srgbClr val="000000"/>
                </a:solidFill>
                <a:latin typeface="Calibri" panose="020F0502020204030204" pitchFamily="34" charset="0"/>
              </a:rPr>
              <a:t>tifi</a:t>
            </a:r>
            <a:r>
              <a:rPr lang="en-GB" sz="1400" b="1" i="0" u="none" strike="noStrike" baseline="0" dirty="0">
                <a:solidFill>
                  <a:srgbClr val="000000"/>
                </a:solidFill>
                <a:latin typeface="Calibri" panose="020F0502020204030204" pitchFamily="34" charset="0"/>
              </a:rPr>
              <a:t>c Adviser and Head of the Government Science and Engineering Profession</a:t>
            </a:r>
            <a:r>
              <a:rPr lang="en-GB" sz="1400" b="1" dirty="0">
                <a:solidFill>
                  <a:srgbClr val="000000"/>
                </a:solidFill>
                <a:latin typeface="Arial" panose="020B0604020202020204" pitchFamily="34" charset="0"/>
              </a:rPr>
              <a:t>, </a:t>
            </a:r>
            <a:r>
              <a:rPr lang="en-GB" sz="1400" b="1" dirty="0">
                <a:solidFill>
                  <a:srgbClr val="000000"/>
                </a:solidFill>
                <a:latin typeface="Calibri" panose="020F0502020204030204" pitchFamily="34" charset="0"/>
              </a:rPr>
              <a:t>w</a:t>
            </a:r>
            <a:r>
              <a:rPr lang="en-GB" sz="1400" b="1" i="0" u="none" strike="noStrike" baseline="0" dirty="0">
                <a:solidFill>
                  <a:srgbClr val="000000"/>
                </a:solidFill>
                <a:latin typeface="Calibri" panose="020F0502020204030204" pitchFamily="34" charset="0"/>
              </a:rPr>
              <a:t>ri</a:t>
            </a:r>
            <a:r>
              <a:rPr lang="en-GB" sz="1400" b="0" i="0" u="none" strike="noStrike" baseline="0" dirty="0">
                <a:solidFill>
                  <a:srgbClr val="000000"/>
                </a:solidFill>
                <a:latin typeface="Calibri" panose="020F0502020204030204" pitchFamily="34" charset="0"/>
              </a:rPr>
              <a:t>tt</a:t>
            </a:r>
            <a:r>
              <a:rPr lang="en-GB" sz="1400" b="1" i="0" u="none" strike="noStrike" baseline="0" dirty="0">
                <a:solidFill>
                  <a:srgbClr val="000000"/>
                </a:solidFill>
                <a:latin typeface="Calibri" panose="020F0502020204030204" pitchFamily="34" charset="0"/>
              </a:rPr>
              <a:t>en </a:t>
            </a:r>
            <a:r>
              <a:rPr lang="en-GB" sz="1400" b="1" dirty="0">
                <a:solidFill>
                  <a:srgbClr val="000000"/>
                </a:solidFill>
                <a:latin typeface="Calibri" panose="020F0502020204030204" pitchFamily="34" charset="0"/>
              </a:rPr>
              <a:t>e</a:t>
            </a:r>
            <a:r>
              <a:rPr lang="en-GB" sz="1400" b="1" i="0" u="none" strike="noStrike" baseline="0" dirty="0">
                <a:solidFill>
                  <a:srgbClr val="000000"/>
                </a:solidFill>
                <a:latin typeface="Calibri" panose="020F0502020204030204" pitchFamily="34" charset="0"/>
              </a:rPr>
              <a:t>vidence to Parliament</a:t>
            </a:r>
            <a:endParaRPr lang="en-GB" sz="1400" b="0" i="0" u="none" strike="noStrike" baseline="0" dirty="0">
              <a:solidFill>
                <a:srgbClr val="000000"/>
              </a:solidFill>
              <a:latin typeface="Calibri" panose="020F0502020204030204" pitchFamily="34" charset="0"/>
            </a:endParaRPr>
          </a:p>
          <a:p>
            <a:r>
              <a:rPr lang="en-GB" sz="1400" b="1" i="1" u="none" strike="noStrike" baseline="0" dirty="0">
                <a:solidFill>
                  <a:srgbClr val="000000"/>
                </a:solidFill>
                <a:latin typeface="Calibri" panose="020F0502020204030204" pitchFamily="34" charset="0"/>
              </a:rPr>
              <a:t>24 July 2020</a:t>
            </a:r>
            <a:endParaRPr lang="en-GB" sz="1400" dirty="0"/>
          </a:p>
        </p:txBody>
      </p:sp>
      <p:pic>
        <p:nvPicPr>
          <p:cNvPr id="18" name="Picture 2">
            <a:extLst>
              <a:ext uri="{FF2B5EF4-FFF2-40B4-BE49-F238E27FC236}">
                <a16:creationId xmlns:a16="http://schemas.microsoft.com/office/drawing/2014/main" id="{63080541-33DE-7C89-2023-9FB9E87C4965}"/>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1" r="59398"/>
          <a:stretch/>
        </p:blipFill>
        <p:spPr bwMode="auto">
          <a:xfrm>
            <a:off x="10756786" y="6518670"/>
            <a:ext cx="655100" cy="331736"/>
          </a:xfrm>
          <a:prstGeom prst="rect">
            <a:avLst/>
          </a:prstGeom>
          <a:solidFill>
            <a:schemeClr val="bg1"/>
          </a:solidFill>
        </p:spPr>
      </p:pic>
      <p:pic>
        <p:nvPicPr>
          <p:cNvPr id="19" name="Picture 4" descr="Home - Medical Research Council">
            <a:extLst>
              <a:ext uri="{FF2B5EF4-FFF2-40B4-BE49-F238E27FC236}">
                <a16:creationId xmlns:a16="http://schemas.microsoft.com/office/drawing/2014/main" id="{9D28F3EA-C624-F758-9C3F-3C1B87AB8F89}"/>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r="35819"/>
          <a:stretch/>
        </p:blipFill>
        <p:spPr bwMode="auto">
          <a:xfrm>
            <a:off x="11465624" y="6473888"/>
            <a:ext cx="726376" cy="376518"/>
          </a:xfrm>
          <a:prstGeom prst="rect">
            <a:avLst/>
          </a:prstGeom>
          <a:solidFill>
            <a:schemeClr val="bg1"/>
          </a:solidFill>
        </p:spPr>
      </p:pic>
      <p:sp>
        <p:nvSpPr>
          <p:cNvPr id="4" name="Title 3">
            <a:extLst>
              <a:ext uri="{FF2B5EF4-FFF2-40B4-BE49-F238E27FC236}">
                <a16:creationId xmlns:a16="http://schemas.microsoft.com/office/drawing/2014/main" id="{9EDED5C4-34AB-4E81-6D1C-A0BCF12EB0A8}"/>
              </a:ext>
            </a:extLst>
          </p:cNvPr>
          <p:cNvSpPr>
            <a:spLocks noGrp="1"/>
          </p:cNvSpPr>
          <p:nvPr>
            <p:ph type="title"/>
          </p:nvPr>
        </p:nvSpPr>
        <p:spPr>
          <a:xfrm>
            <a:off x="112962" y="288775"/>
            <a:ext cx="9520501" cy="694418"/>
          </a:xfrm>
        </p:spPr>
        <p:txBody>
          <a:bodyPr/>
          <a:lstStyle/>
          <a:p>
            <a:r>
              <a:rPr lang="en-GB" sz="3800" kern="0" spc="-150" dirty="0">
                <a:latin typeface="Corbel" panose="020B0503020204020204" pitchFamily="34" charset="0"/>
                <a:cs typeface="Calibri Light" panose="020F0302020204030204" pitchFamily="34" charset="0"/>
              </a:rPr>
              <a:t>IMPACT of ISARIC’s CCP UK</a:t>
            </a:r>
          </a:p>
        </p:txBody>
      </p:sp>
      <p:sp>
        <p:nvSpPr>
          <p:cNvPr id="10" name="TextBox 9">
            <a:extLst>
              <a:ext uri="{FF2B5EF4-FFF2-40B4-BE49-F238E27FC236}">
                <a16:creationId xmlns:a16="http://schemas.microsoft.com/office/drawing/2014/main" id="{385A26F6-5756-28B0-20D6-421E29A25126}"/>
              </a:ext>
            </a:extLst>
          </p:cNvPr>
          <p:cNvSpPr txBox="1"/>
          <p:nvPr/>
        </p:nvSpPr>
        <p:spPr>
          <a:xfrm>
            <a:off x="5527019" y="1297962"/>
            <a:ext cx="6096000" cy="923330"/>
          </a:xfrm>
          <a:prstGeom prst="rect">
            <a:avLst/>
          </a:prstGeom>
          <a:noFill/>
        </p:spPr>
        <p:txBody>
          <a:bodyPr wrap="square" rtlCol="0">
            <a:spAutoFit/>
          </a:bodyPr>
          <a:lstStyle/>
          <a:p>
            <a:r>
              <a:rPr lang="en-GB" dirty="0"/>
              <a:t>From 11</a:t>
            </a:r>
            <a:r>
              <a:rPr lang="en-GB" baseline="30000" dirty="0"/>
              <a:t>th</a:t>
            </a:r>
            <a:r>
              <a:rPr lang="en-GB" dirty="0"/>
              <a:t> March 2020, real-time analysis fed directly to Cabinet Office via SAGE and line level data shared with public health agency modellers and WHO.</a:t>
            </a:r>
          </a:p>
        </p:txBody>
      </p:sp>
      <p:pic>
        <p:nvPicPr>
          <p:cNvPr id="13" name="Picture 12" descr="A person standing at a podium&#10;&#10;Description automatically generated with medium confidence">
            <a:extLst>
              <a:ext uri="{FF2B5EF4-FFF2-40B4-BE49-F238E27FC236}">
                <a16:creationId xmlns:a16="http://schemas.microsoft.com/office/drawing/2014/main" id="{EB7279EE-5D6C-CA09-050E-76EB2EEA770D}"/>
              </a:ext>
            </a:extLst>
          </p:cNvPr>
          <p:cNvPicPr>
            <a:picLocks noChangeAspect="1"/>
          </p:cNvPicPr>
          <p:nvPr/>
        </p:nvPicPr>
        <p:blipFill rotWithShape="1">
          <a:blip r:embed="rId5"/>
          <a:srcRect l="3465" t="24006" r="34400" b="44707"/>
          <a:stretch/>
        </p:blipFill>
        <p:spPr>
          <a:xfrm>
            <a:off x="5687498" y="2221292"/>
            <a:ext cx="6241517" cy="2145636"/>
          </a:xfrm>
          <a:prstGeom prst="rect">
            <a:avLst/>
          </a:prstGeom>
        </p:spPr>
      </p:pic>
      <p:sp>
        <p:nvSpPr>
          <p:cNvPr id="14" name="TextBox 13">
            <a:extLst>
              <a:ext uri="{FF2B5EF4-FFF2-40B4-BE49-F238E27FC236}">
                <a16:creationId xmlns:a16="http://schemas.microsoft.com/office/drawing/2014/main" id="{6C236277-D65A-7DF0-DEA7-A93A2ABF4DE8}"/>
              </a:ext>
            </a:extLst>
          </p:cNvPr>
          <p:cNvSpPr txBox="1"/>
          <p:nvPr/>
        </p:nvSpPr>
        <p:spPr>
          <a:xfrm>
            <a:off x="5616960" y="4401938"/>
            <a:ext cx="6391834" cy="646331"/>
          </a:xfrm>
          <a:prstGeom prst="rect">
            <a:avLst/>
          </a:prstGeom>
          <a:noFill/>
        </p:spPr>
        <p:txBody>
          <a:bodyPr wrap="square" rtlCol="0">
            <a:spAutoFit/>
          </a:bodyPr>
          <a:lstStyle/>
          <a:p>
            <a:r>
              <a:rPr lang="en-GB" dirty="0"/>
              <a:t>ISARIC4C’s </a:t>
            </a:r>
            <a:r>
              <a:rPr lang="en-GB" dirty="0" err="1"/>
              <a:t>demograph</a:t>
            </a:r>
            <a:r>
              <a:rPr lang="en-GB" dirty="0"/>
              <a:t> of COVID-19 outcome informed the vaccine rollout schedule in the UK endorsed by MHRA 2</a:t>
            </a:r>
            <a:r>
              <a:rPr lang="en-GB" baseline="30000" dirty="0"/>
              <a:t>nd</a:t>
            </a:r>
            <a:r>
              <a:rPr lang="en-GB" dirty="0"/>
              <a:t> December 2020</a:t>
            </a:r>
          </a:p>
        </p:txBody>
      </p:sp>
      <p:sp>
        <p:nvSpPr>
          <p:cNvPr id="3" name="TextBox 2">
            <a:extLst>
              <a:ext uri="{FF2B5EF4-FFF2-40B4-BE49-F238E27FC236}">
                <a16:creationId xmlns:a16="http://schemas.microsoft.com/office/drawing/2014/main" id="{59F368AB-12A2-C615-A4B9-95B55A49A19B}"/>
              </a:ext>
            </a:extLst>
          </p:cNvPr>
          <p:cNvSpPr txBox="1"/>
          <p:nvPr/>
        </p:nvSpPr>
        <p:spPr>
          <a:xfrm>
            <a:off x="3670524" y="3792303"/>
            <a:ext cx="1746753" cy="1077218"/>
          </a:xfrm>
          <a:prstGeom prst="rect">
            <a:avLst/>
          </a:prstGeom>
          <a:solidFill>
            <a:schemeClr val="bg1"/>
          </a:solidFill>
        </p:spPr>
        <p:txBody>
          <a:bodyPr wrap="square" rtlCol="0">
            <a:spAutoFit/>
          </a:bodyPr>
          <a:lstStyle/>
          <a:p>
            <a:r>
              <a:rPr lang="en-GB" sz="1600" dirty="0">
                <a:latin typeface="Avenir" panose="02000503020000020003"/>
              </a:rPr>
              <a:t>31</a:t>
            </a:r>
            <a:r>
              <a:rPr lang="en-GB" sz="1600" baseline="30000" dirty="0">
                <a:latin typeface="Avenir" panose="02000503020000020003"/>
              </a:rPr>
              <a:t>st</a:t>
            </a:r>
            <a:r>
              <a:rPr lang="en-GB" sz="1600" dirty="0">
                <a:latin typeface="Avenir" panose="02000503020000020003"/>
              </a:rPr>
              <a:t> Jan 2020 to </a:t>
            </a:r>
          </a:p>
          <a:p>
            <a:r>
              <a:rPr lang="en-GB" sz="1600" dirty="0">
                <a:latin typeface="Avenir" panose="02000503020000020003"/>
              </a:rPr>
              <a:t>28</a:t>
            </a:r>
            <a:r>
              <a:rPr lang="en-GB" sz="1600" baseline="30000" dirty="0">
                <a:latin typeface="Avenir" panose="02000503020000020003"/>
              </a:rPr>
              <a:t>th</a:t>
            </a:r>
            <a:r>
              <a:rPr lang="en-GB" sz="1600" dirty="0">
                <a:latin typeface="Avenir" panose="02000503020000020003"/>
              </a:rPr>
              <a:t> Feb 2022</a:t>
            </a:r>
          </a:p>
          <a:p>
            <a:r>
              <a:rPr lang="en-GB" sz="1600" dirty="0">
                <a:latin typeface="Avenir" panose="02000503020000020003"/>
              </a:rPr>
              <a:t>n = 303,251</a:t>
            </a:r>
          </a:p>
          <a:p>
            <a:r>
              <a:rPr lang="en-GB" sz="1600" dirty="0">
                <a:latin typeface="Avenir" panose="02000503020000020003"/>
              </a:rPr>
              <a:t>from 348 sites</a:t>
            </a:r>
          </a:p>
        </p:txBody>
      </p:sp>
      <p:grpSp>
        <p:nvGrpSpPr>
          <p:cNvPr id="7" name="Group 6">
            <a:extLst>
              <a:ext uri="{FF2B5EF4-FFF2-40B4-BE49-F238E27FC236}">
                <a16:creationId xmlns:a16="http://schemas.microsoft.com/office/drawing/2014/main" id="{70E26468-4430-876E-0854-F677F23F18B4}"/>
              </a:ext>
            </a:extLst>
          </p:cNvPr>
          <p:cNvGrpSpPr/>
          <p:nvPr/>
        </p:nvGrpSpPr>
        <p:grpSpPr>
          <a:xfrm>
            <a:off x="3320840" y="1214651"/>
            <a:ext cx="2125939" cy="2577652"/>
            <a:chOff x="3481320" y="4259799"/>
            <a:chExt cx="2125939" cy="2577652"/>
          </a:xfrm>
        </p:grpSpPr>
        <p:pic>
          <p:nvPicPr>
            <p:cNvPr id="2" name="Picture 1" descr="Map&#10;&#10;Description automatically generated">
              <a:extLst>
                <a:ext uri="{FF2B5EF4-FFF2-40B4-BE49-F238E27FC236}">
                  <a16:creationId xmlns:a16="http://schemas.microsoft.com/office/drawing/2014/main" id="{7851D6A8-A742-A1D8-AAA2-499523B5E815}"/>
                </a:ext>
              </a:extLst>
            </p:cNvPr>
            <p:cNvPicPr>
              <a:picLocks noChangeAspect="1"/>
            </p:cNvPicPr>
            <p:nvPr/>
          </p:nvPicPr>
          <p:blipFill>
            <a:blip r:embed="rId6"/>
            <a:stretch>
              <a:fillRect/>
            </a:stretch>
          </p:blipFill>
          <p:spPr>
            <a:xfrm>
              <a:off x="3641799" y="4259799"/>
              <a:ext cx="1965460" cy="2577652"/>
            </a:xfrm>
            <a:prstGeom prst="rect">
              <a:avLst/>
            </a:prstGeom>
          </p:spPr>
        </p:pic>
        <p:sp>
          <p:nvSpPr>
            <p:cNvPr id="6" name="Rectangle 5">
              <a:extLst>
                <a:ext uri="{FF2B5EF4-FFF2-40B4-BE49-F238E27FC236}">
                  <a16:creationId xmlns:a16="http://schemas.microsoft.com/office/drawing/2014/main" id="{E243F430-55DC-08A4-11A9-C9DB5B0511C1}"/>
                </a:ext>
              </a:extLst>
            </p:cNvPr>
            <p:cNvSpPr/>
            <p:nvPr/>
          </p:nvSpPr>
          <p:spPr>
            <a:xfrm>
              <a:off x="3481320" y="5992846"/>
              <a:ext cx="699369" cy="2177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8" name="Picture 7" descr="A close up of a sign&#10;&#10;Description automatically generated">
            <a:extLst>
              <a:ext uri="{FF2B5EF4-FFF2-40B4-BE49-F238E27FC236}">
                <a16:creationId xmlns:a16="http://schemas.microsoft.com/office/drawing/2014/main" id="{8331C6F1-2E1D-1E86-FD53-DB45CE9B692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807892" y="0"/>
            <a:ext cx="1394047" cy="1394047"/>
          </a:xfrm>
          <a:prstGeom prst="rect">
            <a:avLst/>
          </a:prstGeom>
          <a:solidFill>
            <a:schemeClr val="bg1"/>
          </a:solidFill>
        </p:spPr>
      </p:pic>
      <p:sp>
        <p:nvSpPr>
          <p:cNvPr id="5" name="Content Placeholder 4">
            <a:extLst>
              <a:ext uri="{FF2B5EF4-FFF2-40B4-BE49-F238E27FC236}">
                <a16:creationId xmlns:a16="http://schemas.microsoft.com/office/drawing/2014/main" id="{9B8D52AF-8C2B-94E7-F8ED-D707E3181648}"/>
              </a:ext>
            </a:extLst>
          </p:cNvPr>
          <p:cNvSpPr>
            <a:spLocks noGrp="1"/>
          </p:cNvSpPr>
          <p:nvPr>
            <p:ph sz="half" idx="1"/>
          </p:nvPr>
        </p:nvSpPr>
        <p:spPr>
          <a:xfrm>
            <a:off x="112962" y="1565752"/>
            <a:ext cx="3747229" cy="5096395"/>
          </a:xfrm>
        </p:spPr>
        <p:txBody>
          <a:bodyPr>
            <a:normAutofit fontScale="55000" lnSpcReduction="20000"/>
          </a:bodyPr>
          <a:lstStyle/>
          <a:p>
            <a:r>
              <a:rPr lang="en-GB" dirty="0">
                <a:solidFill>
                  <a:srgbClr val="C00000"/>
                </a:solidFill>
                <a:latin typeface="Avenir" panose="02000503020000020003"/>
              </a:rPr>
              <a:t>Identified risk factors</a:t>
            </a:r>
          </a:p>
          <a:p>
            <a:r>
              <a:rPr lang="en-GB" sz="2900" dirty="0">
                <a:solidFill>
                  <a:srgbClr val="C00000"/>
                </a:solidFill>
                <a:latin typeface="Avenir" panose="02000503020000020003"/>
              </a:rPr>
              <a:t>Dynamic report on demography severity, and outcome </a:t>
            </a:r>
          </a:p>
          <a:p>
            <a:r>
              <a:rPr lang="en-GB" sz="2900" dirty="0">
                <a:solidFill>
                  <a:srgbClr val="C00000"/>
                </a:solidFill>
                <a:latin typeface="Avenir" panose="02000503020000020003"/>
              </a:rPr>
              <a:t>Resource planning</a:t>
            </a:r>
          </a:p>
          <a:p>
            <a:r>
              <a:rPr lang="en-GB" sz="2900" dirty="0">
                <a:solidFill>
                  <a:srgbClr val="C00000"/>
                </a:solidFill>
                <a:latin typeface="Avenir" panose="02000503020000020003"/>
              </a:rPr>
              <a:t>International Standards</a:t>
            </a:r>
          </a:p>
          <a:p>
            <a:r>
              <a:rPr lang="en-GB" sz="2900" dirty="0">
                <a:solidFill>
                  <a:srgbClr val="C00000"/>
                </a:solidFill>
                <a:latin typeface="Avenir" panose="02000503020000020003"/>
              </a:rPr>
              <a:t>Assay development and validation</a:t>
            </a:r>
          </a:p>
          <a:p>
            <a:r>
              <a:rPr lang="en-GB" sz="2900" dirty="0">
                <a:solidFill>
                  <a:srgbClr val="C00000"/>
                </a:solidFill>
                <a:latin typeface="Avenir" panose="02000503020000020003"/>
              </a:rPr>
              <a:t>Vaccine development</a:t>
            </a:r>
          </a:p>
          <a:p>
            <a:r>
              <a:rPr lang="en-GB" sz="2900" dirty="0">
                <a:solidFill>
                  <a:srgbClr val="C00000"/>
                </a:solidFill>
                <a:latin typeface="Avenir" panose="02000503020000020003"/>
              </a:rPr>
              <a:t>Vaccine efficacy &amp; failure</a:t>
            </a:r>
          </a:p>
          <a:p>
            <a:r>
              <a:rPr lang="en-GB" sz="2900" dirty="0">
                <a:solidFill>
                  <a:srgbClr val="C00000"/>
                </a:solidFill>
                <a:latin typeface="Avenir" panose="02000503020000020003"/>
              </a:rPr>
              <a:t>Human Challenge Study</a:t>
            </a:r>
          </a:p>
          <a:p>
            <a:r>
              <a:rPr lang="en-GB" sz="2900" dirty="0">
                <a:solidFill>
                  <a:srgbClr val="C00000"/>
                </a:solidFill>
                <a:latin typeface="Avenir" panose="02000503020000020003"/>
              </a:rPr>
              <a:t>Harm identification &amp; reduction</a:t>
            </a:r>
          </a:p>
          <a:p>
            <a:r>
              <a:rPr lang="en-GB" sz="2900" dirty="0">
                <a:solidFill>
                  <a:srgbClr val="C00000"/>
                </a:solidFill>
                <a:latin typeface="Avenir" panose="02000503020000020003"/>
              </a:rPr>
              <a:t>Public Health Policy</a:t>
            </a:r>
          </a:p>
          <a:p>
            <a:r>
              <a:rPr lang="en-GB" sz="2900" dirty="0">
                <a:solidFill>
                  <a:srgbClr val="C00000"/>
                </a:solidFill>
                <a:latin typeface="Avenir" panose="02000503020000020003"/>
              </a:rPr>
              <a:t>Patient Care Guidance</a:t>
            </a:r>
          </a:p>
          <a:p>
            <a:r>
              <a:rPr lang="en-GB" sz="2900" dirty="0">
                <a:solidFill>
                  <a:srgbClr val="C00000"/>
                </a:solidFill>
                <a:latin typeface="Avenir" panose="02000503020000020003"/>
              </a:rPr>
              <a:t>Audit of adoption of guidance</a:t>
            </a:r>
          </a:p>
          <a:p>
            <a:r>
              <a:rPr lang="en-GB" sz="2900" dirty="0">
                <a:solidFill>
                  <a:srgbClr val="C00000"/>
                </a:solidFill>
                <a:latin typeface="Avenir" panose="02000503020000020003"/>
              </a:rPr>
              <a:t>Pathogenesis</a:t>
            </a:r>
          </a:p>
          <a:p>
            <a:r>
              <a:rPr lang="en-GB" sz="2900" dirty="0">
                <a:solidFill>
                  <a:srgbClr val="C00000"/>
                </a:solidFill>
                <a:latin typeface="Avenir" panose="02000503020000020003"/>
              </a:rPr>
              <a:t>Genomic susceptibility</a:t>
            </a:r>
          </a:p>
          <a:p>
            <a:r>
              <a:rPr lang="en-GB" sz="2900" dirty="0">
                <a:solidFill>
                  <a:srgbClr val="C00000"/>
                </a:solidFill>
                <a:latin typeface="Avenir" panose="02000503020000020003"/>
              </a:rPr>
              <a:t>Enabled daughter studies </a:t>
            </a:r>
          </a:p>
        </p:txBody>
      </p:sp>
    </p:spTree>
    <p:extLst>
      <p:ext uri="{BB962C8B-B14F-4D97-AF65-F5344CB8AC3E}">
        <p14:creationId xmlns:p14="http://schemas.microsoft.com/office/powerpoint/2010/main" val="3807887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D9A9506-039C-74CF-76D6-CC0EE4138207}"/>
              </a:ext>
            </a:extLst>
          </p:cNvPr>
          <p:cNvSpPr txBox="1">
            <a:spLocks/>
          </p:cNvSpPr>
          <p:nvPr/>
        </p:nvSpPr>
        <p:spPr>
          <a:xfrm>
            <a:off x="144493" y="381299"/>
            <a:ext cx="9888248" cy="688710"/>
          </a:xfrm>
          <a:prstGeom prst="rect">
            <a:avLst/>
          </a:prstGeom>
        </p:spPr>
        <p:txBody>
          <a:bodyPr/>
          <a:lstStyle>
            <a:defPPr>
              <a:defRPr lang="en-US"/>
            </a:defPPr>
            <a:lvl1pPr>
              <a:lnSpc>
                <a:spcPct val="90000"/>
              </a:lnSpc>
              <a:spcBef>
                <a:spcPct val="0"/>
              </a:spcBef>
              <a:buNone/>
              <a:defRPr sz="3800" kern="0" spc="-150">
                <a:latin typeface="Corbel" panose="020B0503020204020204" pitchFamily="34" charset="0"/>
                <a:ea typeface="+mj-ea"/>
                <a:cs typeface="Calibri Light" panose="020F0302020204030204" pitchFamily="34" charset="0"/>
              </a:defRPr>
            </a:lvl1pPr>
          </a:lstStyle>
          <a:p>
            <a:r>
              <a:rPr lang="en-US" dirty="0"/>
              <a:t>CCP COVID-19 in France - "French COVID"</a:t>
            </a:r>
          </a:p>
        </p:txBody>
      </p:sp>
      <p:sp>
        <p:nvSpPr>
          <p:cNvPr id="4" name="Content Placeholder 3">
            <a:extLst>
              <a:ext uri="{FF2B5EF4-FFF2-40B4-BE49-F238E27FC236}">
                <a16:creationId xmlns:a16="http://schemas.microsoft.com/office/drawing/2014/main" id="{EE659485-27B4-4F2D-A589-B8DF64318522}"/>
              </a:ext>
            </a:extLst>
          </p:cNvPr>
          <p:cNvSpPr txBox="1">
            <a:spLocks/>
          </p:cNvSpPr>
          <p:nvPr/>
        </p:nvSpPr>
        <p:spPr>
          <a:xfrm>
            <a:off x="771525" y="1484784"/>
            <a:ext cx="11013107" cy="561662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Rectangle 2">
            <a:extLst>
              <a:ext uri="{FF2B5EF4-FFF2-40B4-BE49-F238E27FC236}">
                <a16:creationId xmlns:a16="http://schemas.microsoft.com/office/drawing/2014/main" id="{5A0F0617-A932-45F6-ABB8-C5294A8A37F4}"/>
              </a:ext>
            </a:extLst>
          </p:cNvPr>
          <p:cNvSpPr/>
          <p:nvPr/>
        </p:nvSpPr>
        <p:spPr>
          <a:xfrm>
            <a:off x="188637" y="1213722"/>
            <a:ext cx="5385445" cy="6001643"/>
          </a:xfrm>
          <a:prstGeom prst="rect">
            <a:avLst/>
          </a:prstGeom>
        </p:spPr>
        <p:txBody>
          <a:bodyPr wrap="square" lIns="91440" tIns="45720" rIns="91440" bIns="45720" anchor="t">
            <a:spAutoFit/>
          </a:bodyPr>
          <a:lstStyle/>
          <a:p>
            <a:r>
              <a:rPr lang="fr-FR" sz="2400" dirty="0" err="1"/>
              <a:t>Sponsored</a:t>
            </a:r>
            <a:r>
              <a:rPr lang="fr-FR" sz="2400" dirty="0"/>
              <a:t> by INSERM</a:t>
            </a:r>
          </a:p>
          <a:p>
            <a:r>
              <a:rPr lang="fr-FR" sz="2400" dirty="0">
                <a:cs typeface="Calibri"/>
              </a:rPr>
              <a:t>Multiple </a:t>
            </a:r>
            <a:r>
              <a:rPr lang="fr-FR" sz="2400" dirty="0" err="1">
                <a:cs typeface="Calibri"/>
              </a:rPr>
              <a:t>funders</a:t>
            </a:r>
            <a:endParaRPr lang="fr-FR" dirty="0"/>
          </a:p>
          <a:p>
            <a:r>
              <a:rPr lang="fr-FR" sz="2400" dirty="0"/>
              <a:t>ISARIC </a:t>
            </a:r>
            <a:r>
              <a:rPr lang="fr-FR" sz="2400" dirty="0" err="1"/>
              <a:t>template</a:t>
            </a:r>
            <a:r>
              <a:rPr lang="fr-FR" sz="2400" dirty="0"/>
              <a:t> </a:t>
            </a:r>
            <a:r>
              <a:rPr lang="fr-FR" sz="2400" dirty="0" err="1"/>
              <a:t>protocol</a:t>
            </a:r>
            <a:r>
              <a:rPr lang="fr-FR" sz="2400" dirty="0"/>
              <a:t> </a:t>
            </a:r>
            <a:r>
              <a:rPr lang="fr-FR" sz="2400" dirty="0" err="1"/>
              <a:t>approved</a:t>
            </a:r>
            <a:r>
              <a:rPr lang="fr-FR" sz="2400" dirty="0"/>
              <a:t> by the Comité de Protection des </a:t>
            </a:r>
            <a:r>
              <a:rPr lang="fr-FR" sz="2400" dirty="0" err="1"/>
              <a:t>Pesonnes</a:t>
            </a:r>
            <a:endParaRPr lang="fr-FR" sz="2400" dirty="0" err="1">
              <a:cs typeface="Calibri"/>
            </a:endParaRPr>
          </a:p>
          <a:p>
            <a:endParaRPr lang="fr-FR" sz="2400" dirty="0">
              <a:cs typeface="Calibri"/>
            </a:endParaRPr>
          </a:p>
          <a:p>
            <a:r>
              <a:rPr lang="fr-FR" sz="2400" dirty="0">
                <a:cs typeface="Calibri"/>
              </a:rPr>
              <a:t>ISARIC </a:t>
            </a:r>
            <a:r>
              <a:rPr lang="fr-FR" sz="2400" dirty="0" err="1">
                <a:cs typeface="Calibri"/>
              </a:rPr>
              <a:t>template</a:t>
            </a:r>
            <a:r>
              <a:rPr lang="fr-FR" sz="2400" dirty="0">
                <a:cs typeface="Calibri"/>
              </a:rPr>
              <a:t> CRF </a:t>
            </a:r>
            <a:r>
              <a:rPr lang="fr-FR" sz="2400" dirty="0" err="1">
                <a:cs typeface="Calibri"/>
              </a:rPr>
              <a:t>adapted</a:t>
            </a:r>
            <a:r>
              <a:rPr lang="fr-FR" sz="2400" dirty="0">
                <a:cs typeface="Calibri"/>
              </a:rPr>
              <a:t>, data </a:t>
            </a:r>
            <a:r>
              <a:rPr lang="fr-FR" sz="2400" dirty="0" err="1">
                <a:cs typeface="Calibri"/>
              </a:rPr>
              <a:t>collected</a:t>
            </a:r>
            <a:r>
              <a:rPr lang="fr-FR" sz="2400" dirty="0">
                <a:cs typeface="Calibri"/>
              </a:rPr>
              <a:t> via REDCap and </a:t>
            </a:r>
            <a:r>
              <a:rPr lang="fr-FR" sz="2400" dirty="0" err="1">
                <a:cs typeface="Calibri"/>
              </a:rPr>
              <a:t>hosted</a:t>
            </a:r>
            <a:r>
              <a:rPr lang="fr-FR" sz="2400" dirty="0">
                <a:cs typeface="Calibri"/>
              </a:rPr>
              <a:t> at APHP.</a:t>
            </a:r>
            <a:endParaRPr lang="fr-FR" sz="2400" dirty="0"/>
          </a:p>
          <a:p>
            <a:endParaRPr lang="fr-FR" sz="2400" dirty="0"/>
          </a:p>
          <a:p>
            <a:endParaRPr lang="fr-FR" sz="2400" dirty="0">
              <a:cs typeface="Calibri"/>
            </a:endParaRPr>
          </a:p>
          <a:p>
            <a:r>
              <a:rPr lang="fr-FR" sz="2400" dirty="0">
                <a:cs typeface="Calibri"/>
              </a:rPr>
              <a:t>Excellent collaboration </a:t>
            </a:r>
            <a:r>
              <a:rPr lang="fr-FR" sz="2400" dirty="0" err="1">
                <a:cs typeface="Calibri"/>
              </a:rPr>
              <a:t>with</a:t>
            </a:r>
            <a:r>
              <a:rPr lang="fr-FR" sz="2400" dirty="0">
                <a:cs typeface="Calibri"/>
              </a:rPr>
              <a:t> </a:t>
            </a:r>
            <a:r>
              <a:rPr lang="fr-FR" sz="2400" dirty="0" err="1">
                <a:cs typeface="Calibri"/>
              </a:rPr>
              <a:t>clinical</a:t>
            </a:r>
            <a:r>
              <a:rPr lang="fr-FR" sz="2400" dirty="0">
                <a:cs typeface="Calibri"/>
              </a:rPr>
              <a:t> and </a:t>
            </a:r>
            <a:r>
              <a:rPr lang="fr-FR" sz="2400" dirty="0" err="1">
                <a:cs typeface="Calibri"/>
              </a:rPr>
              <a:t>research</a:t>
            </a:r>
            <a:r>
              <a:rPr lang="fr-FR" sz="2400" dirty="0">
                <a:cs typeface="Calibri"/>
              </a:rPr>
              <a:t> staff </a:t>
            </a:r>
            <a:r>
              <a:rPr lang="fr-FR" sz="2400" dirty="0" err="1">
                <a:cs typeface="Calibri"/>
              </a:rPr>
              <a:t>across</a:t>
            </a:r>
            <a:r>
              <a:rPr lang="fr-FR" sz="2400" dirty="0">
                <a:cs typeface="Calibri"/>
              </a:rPr>
              <a:t> France. </a:t>
            </a:r>
          </a:p>
          <a:p>
            <a:endParaRPr lang="fr-FR" sz="2400" dirty="0">
              <a:cs typeface="Calibri"/>
            </a:endParaRPr>
          </a:p>
          <a:p>
            <a:r>
              <a:rPr lang="fr-FR" sz="2400" dirty="0">
                <a:cs typeface="Calibri"/>
              </a:rPr>
              <a:t>Data</a:t>
            </a:r>
            <a:r>
              <a:rPr lang="fr-FR" sz="2400" dirty="0"/>
              <a:t> sharing agreement </a:t>
            </a:r>
            <a:r>
              <a:rPr lang="fr-FR" sz="2400" dirty="0" err="1"/>
              <a:t>with</a:t>
            </a:r>
            <a:r>
              <a:rPr lang="fr-FR" sz="2400" dirty="0"/>
              <a:t> Oxford to pool and </a:t>
            </a:r>
            <a:r>
              <a:rPr lang="fr-FR" sz="2400" dirty="0" err="1"/>
              <a:t>access</a:t>
            </a:r>
            <a:r>
              <a:rPr lang="fr-FR" sz="2400" dirty="0"/>
              <a:t> data.</a:t>
            </a:r>
            <a:endParaRPr lang="en-US" sz="2400" dirty="0"/>
          </a:p>
          <a:p>
            <a:pPr marL="342900" indent="-342900">
              <a:buFontTx/>
              <a:buChar char="-"/>
            </a:pPr>
            <a:endParaRPr lang="en-US" sz="2400" dirty="0"/>
          </a:p>
          <a:p>
            <a:endParaRPr lang="en-US" sz="2400" dirty="0">
              <a:cs typeface="Calibri"/>
            </a:endParaRPr>
          </a:p>
        </p:txBody>
      </p:sp>
      <p:pic>
        <p:nvPicPr>
          <p:cNvPr id="6" name="Picture 5">
            <a:extLst>
              <a:ext uri="{FF2B5EF4-FFF2-40B4-BE49-F238E27FC236}">
                <a16:creationId xmlns:a16="http://schemas.microsoft.com/office/drawing/2014/main" id="{99677010-05B4-4FD6-92C2-D1163184CE9F}"/>
              </a:ext>
            </a:extLst>
          </p:cNvPr>
          <p:cNvPicPr>
            <a:picLocks noChangeAspect="1"/>
          </p:cNvPicPr>
          <p:nvPr/>
        </p:nvPicPr>
        <p:blipFill>
          <a:blip r:embed="rId3"/>
          <a:stretch>
            <a:fillRect/>
          </a:stretch>
        </p:blipFill>
        <p:spPr>
          <a:xfrm>
            <a:off x="5431013" y="3429000"/>
            <a:ext cx="6878054" cy="3429000"/>
          </a:xfrm>
          <a:prstGeom prst="rect">
            <a:avLst/>
          </a:prstGeom>
        </p:spPr>
      </p:pic>
      <p:sp>
        <p:nvSpPr>
          <p:cNvPr id="5" name="TextBox 4">
            <a:extLst>
              <a:ext uri="{FF2B5EF4-FFF2-40B4-BE49-F238E27FC236}">
                <a16:creationId xmlns:a16="http://schemas.microsoft.com/office/drawing/2014/main" id="{1C7E81A8-4F20-2FE9-4396-6A3ABBDED506}"/>
              </a:ext>
            </a:extLst>
          </p:cNvPr>
          <p:cNvSpPr txBox="1"/>
          <p:nvPr/>
        </p:nvSpPr>
        <p:spPr>
          <a:xfrm>
            <a:off x="6454239" y="1070009"/>
            <a:ext cx="5290255" cy="1569660"/>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dirty="0">
                <a:cs typeface="Segoe UI"/>
              </a:rPr>
              <a:t>​</a:t>
            </a:r>
            <a:r>
              <a:rPr lang="fr-FR" sz="2400" b="1" dirty="0">
                <a:cs typeface="Segoe UI"/>
              </a:rPr>
              <a:t>94 sites </a:t>
            </a:r>
            <a:r>
              <a:rPr lang="fr-FR" sz="2400" b="1" dirty="0" err="1">
                <a:cs typeface="Segoe UI"/>
              </a:rPr>
              <a:t>activated</a:t>
            </a:r>
            <a:r>
              <a:rPr lang="fr-FR" sz="2400" dirty="0">
                <a:cs typeface="Segoe UI"/>
              </a:rPr>
              <a:t>​</a:t>
            </a:r>
            <a:endParaRPr lang="en-US"/>
          </a:p>
          <a:p>
            <a:r>
              <a:rPr lang="fr-FR" sz="2400" b="1" dirty="0">
                <a:cs typeface="Segoe UI"/>
              </a:rPr>
              <a:t>+4 300 patients </a:t>
            </a:r>
            <a:r>
              <a:rPr lang="fr-FR" sz="2400" b="1" err="1">
                <a:cs typeface="Segoe UI"/>
              </a:rPr>
              <a:t>recruited</a:t>
            </a:r>
            <a:r>
              <a:rPr lang="fr-FR" sz="2400" dirty="0">
                <a:cs typeface="Segoe UI"/>
              </a:rPr>
              <a:t>​</a:t>
            </a:r>
          </a:p>
          <a:p>
            <a:r>
              <a:rPr lang="en-US" sz="2400" b="1" dirty="0">
                <a:cs typeface="Segoe UI"/>
              </a:rPr>
              <a:t>415 </a:t>
            </a:r>
            <a:r>
              <a:rPr lang="en-GB" sz="2400" b="1" dirty="0">
                <a:cs typeface="Segoe UI"/>
              </a:rPr>
              <a:t>contributors</a:t>
            </a:r>
            <a:r>
              <a:rPr lang="fr-FR" sz="2400" b="1" dirty="0">
                <a:cs typeface="Segoe UI"/>
              </a:rPr>
              <a:t> </a:t>
            </a:r>
            <a:r>
              <a:rPr lang="fr-FR" sz="2400" b="1" dirty="0" err="1">
                <a:cs typeface="Segoe UI"/>
              </a:rPr>
              <a:t>cited</a:t>
            </a:r>
            <a:r>
              <a:rPr lang="fr-FR" sz="2400" b="1" dirty="0">
                <a:cs typeface="Segoe UI"/>
              </a:rPr>
              <a:t> in 16 </a:t>
            </a:r>
            <a:r>
              <a:rPr lang="fr-FR" sz="2400" b="1" dirty="0" err="1">
                <a:cs typeface="Segoe UI"/>
              </a:rPr>
              <a:t>manuscripts</a:t>
            </a:r>
            <a:r>
              <a:rPr lang="fr-FR" sz="2400" b="1" dirty="0">
                <a:cs typeface="Segoe UI"/>
              </a:rPr>
              <a:t>.</a:t>
            </a:r>
          </a:p>
        </p:txBody>
      </p:sp>
    </p:spTree>
    <p:extLst>
      <p:ext uri="{BB962C8B-B14F-4D97-AF65-F5344CB8AC3E}">
        <p14:creationId xmlns:p14="http://schemas.microsoft.com/office/powerpoint/2010/main" val="1033995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24562A-7B0D-81BD-5442-697531535C1E}"/>
              </a:ext>
            </a:extLst>
          </p:cNvPr>
          <p:cNvSpPr txBox="1"/>
          <p:nvPr/>
        </p:nvSpPr>
        <p:spPr>
          <a:xfrm>
            <a:off x="131815" y="2305615"/>
            <a:ext cx="4589718" cy="1785104"/>
          </a:xfrm>
          <a:prstGeom prst="rect">
            <a:avLst/>
          </a:prstGeom>
          <a:noFill/>
        </p:spPr>
        <p:txBody>
          <a:bodyPr wrap="none" rtlCol="0">
            <a:spAutoFit/>
          </a:bodyPr>
          <a:lstStyle/>
          <a:p>
            <a:r>
              <a:rPr lang="en-GB" sz="2200" b="1" dirty="0"/>
              <a:t>CURRENT ACTIVATIONS</a:t>
            </a:r>
          </a:p>
          <a:p>
            <a:r>
              <a:rPr lang="en-GB" sz="2200" b="1" dirty="0"/>
              <a:t>SARI</a:t>
            </a:r>
          </a:p>
          <a:p>
            <a:r>
              <a:rPr lang="en-GB" sz="2200" b="1" dirty="0"/>
              <a:t>Mpox</a:t>
            </a:r>
          </a:p>
          <a:p>
            <a:r>
              <a:rPr lang="en-GB" sz="2200" b="1" dirty="0"/>
              <a:t>Nipah &amp; Acute encephalitis syndrome</a:t>
            </a:r>
          </a:p>
          <a:p>
            <a:r>
              <a:rPr lang="en-GB" sz="2200" b="1" dirty="0"/>
              <a:t>Dengue</a:t>
            </a:r>
          </a:p>
        </p:txBody>
      </p:sp>
      <p:sp>
        <p:nvSpPr>
          <p:cNvPr id="3" name="TextBox 2">
            <a:extLst>
              <a:ext uri="{FF2B5EF4-FFF2-40B4-BE49-F238E27FC236}">
                <a16:creationId xmlns:a16="http://schemas.microsoft.com/office/drawing/2014/main" id="{F1F1F5B5-0934-510C-2230-38D7AD9907A1}"/>
              </a:ext>
            </a:extLst>
          </p:cNvPr>
          <p:cNvSpPr txBox="1"/>
          <p:nvPr/>
        </p:nvSpPr>
        <p:spPr>
          <a:xfrm>
            <a:off x="5977114" y="2304175"/>
            <a:ext cx="2464329" cy="1785104"/>
          </a:xfrm>
          <a:prstGeom prst="rect">
            <a:avLst/>
          </a:prstGeom>
          <a:noFill/>
        </p:spPr>
        <p:txBody>
          <a:bodyPr wrap="square" rtlCol="0">
            <a:spAutoFit/>
          </a:bodyPr>
          <a:lstStyle/>
          <a:p>
            <a:r>
              <a:rPr lang="en-GB" sz="2200" b="1" dirty="0"/>
              <a:t>COLLABORATION</a:t>
            </a:r>
          </a:p>
          <a:p>
            <a:r>
              <a:rPr lang="en-GB" sz="2200" dirty="0"/>
              <a:t>&gt;1,000,000 patients </a:t>
            </a:r>
          </a:p>
          <a:p>
            <a:r>
              <a:rPr lang="en-GB" sz="2200" dirty="0"/>
              <a:t>&gt;1,800 hospitals </a:t>
            </a:r>
          </a:p>
          <a:p>
            <a:r>
              <a:rPr lang="en-GB" sz="2200" dirty="0"/>
              <a:t>82 countries</a:t>
            </a:r>
          </a:p>
          <a:p>
            <a:endParaRPr lang="en-GB" sz="2200" dirty="0"/>
          </a:p>
        </p:txBody>
      </p:sp>
      <p:sp>
        <p:nvSpPr>
          <p:cNvPr id="4" name="TextBox 3">
            <a:extLst>
              <a:ext uri="{FF2B5EF4-FFF2-40B4-BE49-F238E27FC236}">
                <a16:creationId xmlns:a16="http://schemas.microsoft.com/office/drawing/2014/main" id="{B79463F5-A922-596E-9634-BD53ED475C79}"/>
              </a:ext>
            </a:extLst>
          </p:cNvPr>
          <p:cNvSpPr txBox="1"/>
          <p:nvPr/>
        </p:nvSpPr>
        <p:spPr>
          <a:xfrm>
            <a:off x="9427798" y="2305615"/>
            <a:ext cx="2871940" cy="2462213"/>
          </a:xfrm>
          <a:prstGeom prst="rect">
            <a:avLst/>
          </a:prstGeom>
          <a:noFill/>
        </p:spPr>
        <p:txBody>
          <a:bodyPr wrap="none" rtlCol="0">
            <a:spAutoFit/>
          </a:bodyPr>
          <a:lstStyle/>
          <a:p>
            <a:r>
              <a:rPr lang="en-GB" sz="2200" b="1" dirty="0"/>
              <a:t>OUTPUTS</a:t>
            </a:r>
          </a:p>
          <a:p>
            <a:r>
              <a:rPr lang="en-GB" sz="2200" dirty="0"/>
              <a:t>&gt;200 Manuscripts</a:t>
            </a:r>
          </a:p>
          <a:p>
            <a:r>
              <a:rPr lang="en-GB" sz="2200" dirty="0"/>
              <a:t>&gt;9,300 Citations</a:t>
            </a:r>
          </a:p>
          <a:p>
            <a:r>
              <a:rPr lang="en-GB" sz="2200" dirty="0"/>
              <a:t>Dashboards</a:t>
            </a:r>
          </a:p>
          <a:p>
            <a:r>
              <a:rPr lang="en-GB" sz="2200" dirty="0"/>
              <a:t>Policy &amp; Planning</a:t>
            </a:r>
          </a:p>
          <a:p>
            <a:r>
              <a:rPr lang="en-GB" sz="2200" dirty="0"/>
              <a:t>Clinical trial designs</a:t>
            </a:r>
          </a:p>
          <a:p>
            <a:r>
              <a:rPr lang="en-GB" sz="2200" dirty="0"/>
              <a:t>Regulatory submissions</a:t>
            </a:r>
          </a:p>
        </p:txBody>
      </p:sp>
      <p:sp>
        <p:nvSpPr>
          <p:cNvPr id="5" name="TextBox 4">
            <a:extLst>
              <a:ext uri="{FF2B5EF4-FFF2-40B4-BE49-F238E27FC236}">
                <a16:creationId xmlns:a16="http://schemas.microsoft.com/office/drawing/2014/main" id="{ECC7B19C-0735-C43F-AECC-20A34B95C4C1}"/>
              </a:ext>
            </a:extLst>
          </p:cNvPr>
          <p:cNvSpPr txBox="1">
            <a:spLocks noChangeArrowheads="1"/>
          </p:cNvSpPr>
          <p:nvPr/>
        </p:nvSpPr>
        <p:spPr bwMode="auto">
          <a:xfrm>
            <a:off x="1183" y="1287646"/>
            <a:ext cx="12167923" cy="769423"/>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200" b="1" dirty="0">
                <a:solidFill>
                  <a:schemeClr val="tx1"/>
                </a:solidFill>
              </a:rPr>
              <a:t>A flexible protocol designed to </a:t>
            </a:r>
            <a:r>
              <a:rPr lang="en-US" sz="2200" b="1" dirty="0">
                <a:solidFill>
                  <a:srgbClr val="C00000"/>
                </a:solidFill>
              </a:rPr>
              <a:t>inform the major questions of acute illness from an emerging pathogen</a:t>
            </a:r>
            <a:r>
              <a:rPr lang="en-US" sz="2200" b="1" dirty="0">
                <a:solidFill>
                  <a:schemeClr val="tx1"/>
                </a:solidFill>
              </a:rPr>
              <a:t>: transmission, natural history (pathogen &amp; host), mechanisms of severity and how to influence them.</a:t>
            </a:r>
            <a:endParaRPr lang="en-US" sz="2200" b="1" dirty="0"/>
          </a:p>
        </p:txBody>
      </p:sp>
      <p:sp>
        <p:nvSpPr>
          <p:cNvPr id="6" name="TextBox 5">
            <a:extLst>
              <a:ext uri="{FF2B5EF4-FFF2-40B4-BE49-F238E27FC236}">
                <a16:creationId xmlns:a16="http://schemas.microsoft.com/office/drawing/2014/main" id="{67218859-C9C1-DD36-33F3-37F9C8C9D4BD}"/>
              </a:ext>
            </a:extLst>
          </p:cNvPr>
          <p:cNvSpPr txBox="1">
            <a:spLocks noChangeArrowheads="1"/>
          </p:cNvSpPr>
          <p:nvPr/>
        </p:nvSpPr>
        <p:spPr bwMode="auto">
          <a:xfrm>
            <a:off x="117832" y="376003"/>
            <a:ext cx="11160553" cy="646313"/>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rPr>
              <a:t>ISARIC-WHO Clinical </a:t>
            </a:r>
            <a:r>
              <a:rPr lang="en-US" sz="3600" b="1" dirty="0" err="1"/>
              <a:t>Characterisation</a:t>
            </a:r>
            <a:r>
              <a:rPr lang="en-US" sz="3600" b="1" dirty="0"/>
              <a:t> Protocol</a:t>
            </a:r>
          </a:p>
        </p:txBody>
      </p:sp>
      <p:grpSp>
        <p:nvGrpSpPr>
          <p:cNvPr id="7" name="Group 6">
            <a:extLst>
              <a:ext uri="{FF2B5EF4-FFF2-40B4-BE49-F238E27FC236}">
                <a16:creationId xmlns:a16="http://schemas.microsoft.com/office/drawing/2014/main" id="{C3281716-D916-090E-F7AB-059DA63B6D87}"/>
              </a:ext>
            </a:extLst>
          </p:cNvPr>
          <p:cNvGrpSpPr/>
          <p:nvPr/>
        </p:nvGrpSpPr>
        <p:grpSpPr>
          <a:xfrm>
            <a:off x="3136867" y="4049487"/>
            <a:ext cx="5923067" cy="2808514"/>
            <a:chOff x="-281" y="1076841"/>
            <a:chExt cx="12192281" cy="5781159"/>
          </a:xfrm>
        </p:grpSpPr>
        <p:grpSp>
          <p:nvGrpSpPr>
            <p:cNvPr id="8" name="Group 7">
              <a:extLst>
                <a:ext uri="{FF2B5EF4-FFF2-40B4-BE49-F238E27FC236}">
                  <a16:creationId xmlns:a16="http://schemas.microsoft.com/office/drawing/2014/main" id="{340C3149-B124-38A5-356F-7819ACFE5BD3}"/>
                </a:ext>
              </a:extLst>
            </p:cNvPr>
            <p:cNvGrpSpPr/>
            <p:nvPr/>
          </p:nvGrpSpPr>
          <p:grpSpPr>
            <a:xfrm>
              <a:off x="-281" y="1076841"/>
              <a:ext cx="12192281" cy="5781159"/>
              <a:chOff x="-281" y="1076841"/>
              <a:chExt cx="12192281" cy="5781159"/>
            </a:xfrm>
          </p:grpSpPr>
          <p:grpSp>
            <p:nvGrpSpPr>
              <p:cNvPr id="10" name="Group 9">
                <a:extLst>
                  <a:ext uri="{FF2B5EF4-FFF2-40B4-BE49-F238E27FC236}">
                    <a16:creationId xmlns:a16="http://schemas.microsoft.com/office/drawing/2014/main" id="{BE92E973-29A1-996C-1A5A-7C4F81D0B9B2}"/>
                  </a:ext>
                </a:extLst>
              </p:cNvPr>
              <p:cNvGrpSpPr/>
              <p:nvPr/>
            </p:nvGrpSpPr>
            <p:grpSpPr>
              <a:xfrm>
                <a:off x="-281" y="1076841"/>
                <a:ext cx="12192281" cy="5781159"/>
                <a:chOff x="-281" y="1076841"/>
                <a:chExt cx="12192281" cy="5781159"/>
              </a:xfrm>
            </p:grpSpPr>
            <p:grpSp>
              <p:nvGrpSpPr>
                <p:cNvPr id="12" name="Group 11">
                  <a:extLst>
                    <a:ext uri="{FF2B5EF4-FFF2-40B4-BE49-F238E27FC236}">
                      <a16:creationId xmlns:a16="http://schemas.microsoft.com/office/drawing/2014/main" id="{89D9268C-56D8-4DF2-BA60-0A89C313C44A}"/>
                    </a:ext>
                  </a:extLst>
                </p:cNvPr>
                <p:cNvGrpSpPr/>
                <p:nvPr/>
              </p:nvGrpSpPr>
              <p:grpSpPr>
                <a:xfrm>
                  <a:off x="-281" y="1076841"/>
                  <a:ext cx="12192281" cy="5781159"/>
                  <a:chOff x="-281" y="1076841"/>
                  <a:chExt cx="12192281" cy="5781159"/>
                </a:xfrm>
              </p:grpSpPr>
              <p:pic>
                <p:nvPicPr>
                  <p:cNvPr id="14" name="Picture 13" descr="A map of the world&#10;&#10;Description automatically generated">
                    <a:extLst>
                      <a:ext uri="{FF2B5EF4-FFF2-40B4-BE49-F238E27FC236}">
                        <a16:creationId xmlns:a16="http://schemas.microsoft.com/office/drawing/2014/main" id="{D4D1F91C-FE5C-93CA-7334-4E3A1EE20F1F}"/>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0" y="1076841"/>
                    <a:ext cx="12192000" cy="5781159"/>
                  </a:xfrm>
                  <a:prstGeom prst="rect">
                    <a:avLst/>
                  </a:prstGeom>
                </p:spPr>
              </p:pic>
              <p:pic>
                <p:nvPicPr>
                  <p:cNvPr id="15" name="Picture 14" descr="A map of the world&#10;&#10;Description automatically generated">
                    <a:extLst>
                      <a:ext uri="{FF2B5EF4-FFF2-40B4-BE49-F238E27FC236}">
                        <a16:creationId xmlns:a16="http://schemas.microsoft.com/office/drawing/2014/main" id="{936ADDED-2171-048B-E944-7D66F304FFF2}"/>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281" y="5096285"/>
                    <a:ext cx="2184125" cy="1258459"/>
                  </a:xfrm>
                  <a:prstGeom prst="rect">
                    <a:avLst/>
                  </a:prstGeom>
                </p:spPr>
              </p:pic>
            </p:grpSp>
            <p:pic>
              <p:nvPicPr>
                <p:cNvPr id="13" name="Picture 12" descr="A map of the world&#10;&#10;Description automatically generated">
                  <a:extLst>
                    <a:ext uri="{FF2B5EF4-FFF2-40B4-BE49-F238E27FC236}">
                      <a16:creationId xmlns:a16="http://schemas.microsoft.com/office/drawing/2014/main" id="{915A2323-85E5-2A7F-D1B5-7F063A6F50EE}"/>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4715122" y="5159188"/>
                  <a:ext cx="1131075" cy="1645200"/>
                </a:xfrm>
                <a:prstGeom prst="rect">
                  <a:avLst/>
                </a:prstGeom>
              </p:spPr>
            </p:pic>
          </p:grpSp>
          <p:pic>
            <p:nvPicPr>
              <p:cNvPr id="11" name="Picture 10" descr="A map of the world&#10;&#10;Description automatically generated">
                <a:extLst>
                  <a:ext uri="{FF2B5EF4-FFF2-40B4-BE49-F238E27FC236}">
                    <a16:creationId xmlns:a16="http://schemas.microsoft.com/office/drawing/2014/main" id="{63978239-D079-B0FB-C38D-4A78D968731A}"/>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7918105" y="5199799"/>
                <a:ext cx="1131075" cy="1645200"/>
              </a:xfrm>
              <a:prstGeom prst="rect">
                <a:avLst/>
              </a:prstGeom>
            </p:spPr>
          </p:pic>
        </p:grpSp>
        <p:pic>
          <p:nvPicPr>
            <p:cNvPr id="9" name="Picture 8" descr="A map of the world&#10;&#10;Description automatically generated">
              <a:extLst>
                <a:ext uri="{FF2B5EF4-FFF2-40B4-BE49-F238E27FC236}">
                  <a16:creationId xmlns:a16="http://schemas.microsoft.com/office/drawing/2014/main" id="{101B3E2B-5E76-233E-2DE7-B3E62892712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837623" y="3255992"/>
              <a:ext cx="760095" cy="1105593"/>
            </a:xfrm>
            <a:prstGeom prst="rect">
              <a:avLst/>
            </a:prstGeom>
          </p:spPr>
        </p:pic>
      </p:grpSp>
      <p:sp>
        <p:nvSpPr>
          <p:cNvPr id="16" name="TextBox 15">
            <a:extLst>
              <a:ext uri="{FF2B5EF4-FFF2-40B4-BE49-F238E27FC236}">
                <a16:creationId xmlns:a16="http://schemas.microsoft.com/office/drawing/2014/main" id="{9F2003CE-E4AB-BA23-9E10-0C47AB699A7B}"/>
              </a:ext>
            </a:extLst>
          </p:cNvPr>
          <p:cNvSpPr txBox="1"/>
          <p:nvPr/>
        </p:nvSpPr>
        <p:spPr>
          <a:xfrm>
            <a:off x="131815" y="4892964"/>
            <a:ext cx="2862194" cy="1938992"/>
          </a:xfrm>
          <a:prstGeom prst="rect">
            <a:avLst/>
          </a:prstGeom>
          <a:noFill/>
        </p:spPr>
        <p:txBody>
          <a:bodyPr wrap="none" rtlCol="0">
            <a:spAutoFit/>
          </a:bodyPr>
          <a:lstStyle/>
          <a:p>
            <a:r>
              <a:rPr lang="en-GB" sz="2000" b="1" dirty="0"/>
              <a:t>PAST ACTIVATIONS</a:t>
            </a:r>
          </a:p>
          <a:p>
            <a:r>
              <a:rPr lang="en-GB" sz="2000" dirty="0"/>
              <a:t>Ebola</a:t>
            </a:r>
          </a:p>
          <a:p>
            <a:r>
              <a:rPr lang="en-GB" sz="2000" dirty="0"/>
              <a:t>Zika</a:t>
            </a:r>
          </a:p>
          <a:p>
            <a:r>
              <a:rPr lang="en-GB" sz="2000" dirty="0"/>
              <a:t>MERS-</a:t>
            </a:r>
            <a:r>
              <a:rPr lang="en-GB" sz="2000" dirty="0" err="1"/>
              <a:t>CoV</a:t>
            </a:r>
            <a:endParaRPr lang="en-GB" sz="2000" dirty="0"/>
          </a:p>
          <a:p>
            <a:r>
              <a:rPr lang="en-GB" sz="2000" dirty="0"/>
              <a:t>COVID-19</a:t>
            </a:r>
          </a:p>
          <a:p>
            <a:r>
              <a:rPr lang="en-GB" sz="2000" dirty="0"/>
              <a:t>Acute paediatric hepatitis</a:t>
            </a:r>
          </a:p>
        </p:txBody>
      </p:sp>
      <p:sp>
        <p:nvSpPr>
          <p:cNvPr id="18" name="TextBox 17">
            <a:extLst>
              <a:ext uri="{FF2B5EF4-FFF2-40B4-BE49-F238E27FC236}">
                <a16:creationId xmlns:a16="http://schemas.microsoft.com/office/drawing/2014/main" id="{AC0B3DF7-87CF-D4EE-275F-DC836F2A7F86}"/>
              </a:ext>
            </a:extLst>
          </p:cNvPr>
          <p:cNvSpPr txBox="1"/>
          <p:nvPr/>
        </p:nvSpPr>
        <p:spPr>
          <a:xfrm>
            <a:off x="9427798" y="4892964"/>
            <a:ext cx="2143536" cy="1938992"/>
          </a:xfrm>
          <a:prstGeom prst="rect">
            <a:avLst/>
          </a:prstGeom>
          <a:noFill/>
        </p:spPr>
        <p:txBody>
          <a:bodyPr wrap="none" rtlCol="0">
            <a:spAutoFit/>
          </a:bodyPr>
          <a:lstStyle/>
          <a:p>
            <a:r>
              <a:rPr lang="en-GB" sz="2000" b="1" dirty="0"/>
              <a:t>TOOLS</a:t>
            </a:r>
          </a:p>
          <a:p>
            <a:r>
              <a:rPr lang="en-GB" sz="2000" dirty="0"/>
              <a:t>Protocol</a:t>
            </a:r>
          </a:p>
          <a:p>
            <a:r>
              <a:rPr lang="en-GB" sz="2000" dirty="0"/>
              <a:t>Case Report Forms</a:t>
            </a:r>
          </a:p>
          <a:p>
            <a:r>
              <a:rPr lang="en-GB" sz="2000" dirty="0"/>
              <a:t>Operational tools</a:t>
            </a:r>
          </a:p>
          <a:p>
            <a:r>
              <a:rPr lang="en-GB" sz="2000" dirty="0"/>
              <a:t>Procedures</a:t>
            </a:r>
          </a:p>
          <a:p>
            <a:r>
              <a:rPr lang="en-GB" sz="2000" dirty="0"/>
              <a:t>Analytic pipeline</a:t>
            </a:r>
          </a:p>
        </p:txBody>
      </p:sp>
      <p:pic>
        <p:nvPicPr>
          <p:cNvPr id="20" name="Picture 19" descr="A red and black logo&#10;&#10;Description automatically generated">
            <a:extLst>
              <a:ext uri="{FF2B5EF4-FFF2-40B4-BE49-F238E27FC236}">
                <a16:creationId xmlns:a16="http://schemas.microsoft.com/office/drawing/2014/main" id="{D17586EA-AAD5-B717-8FF1-6C96A1E6EA27}"/>
              </a:ext>
            </a:extLst>
          </p:cNvPr>
          <p:cNvPicPr>
            <a:picLocks noChangeAspect="1"/>
          </p:cNvPicPr>
          <p:nvPr/>
        </p:nvPicPr>
        <p:blipFill>
          <a:blip r:embed="rId6"/>
          <a:stretch>
            <a:fillRect/>
          </a:stretch>
        </p:blipFill>
        <p:spPr>
          <a:xfrm>
            <a:off x="9967484" y="129502"/>
            <a:ext cx="2095529" cy="909598"/>
          </a:xfrm>
          <a:prstGeom prst="rect">
            <a:avLst/>
          </a:prstGeom>
        </p:spPr>
      </p:pic>
    </p:spTree>
    <p:extLst>
      <p:ext uri="{BB962C8B-B14F-4D97-AF65-F5344CB8AC3E}">
        <p14:creationId xmlns:p14="http://schemas.microsoft.com/office/powerpoint/2010/main" val="2892106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37839</TotalTime>
  <Words>1206</Words>
  <Application>Microsoft Macintosh PowerPoint</Application>
  <PresentationFormat>Widescreen</PresentationFormat>
  <Paragraphs>171</Paragraphs>
  <Slides>11</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MS PGothic</vt:lpstr>
      <vt:lpstr>Aptos Narrow</vt:lpstr>
      <vt:lpstr>Arial</vt:lpstr>
      <vt:lpstr>Avenir</vt:lpstr>
      <vt:lpstr>Baskerville Old Face</vt:lpstr>
      <vt:lpstr>Calibri</vt:lpstr>
      <vt:lpstr>Calibri Light</vt:lpstr>
      <vt:lpstr>Corbel</vt:lpstr>
      <vt:lpstr>Segoe UI</vt:lpstr>
      <vt:lpstr>Office Theme</vt:lpstr>
      <vt:lpstr>Laura Merson</vt:lpstr>
      <vt:lpstr>PowerPoint Presentation</vt:lpstr>
      <vt:lpstr>PowerPoint Presentation</vt:lpstr>
      <vt:lpstr>PowerPoint Presentation</vt:lpstr>
      <vt:lpstr>PowerPoint Presentation</vt:lpstr>
      <vt:lpstr>PowerPoint Presentation</vt:lpstr>
      <vt:lpstr>PowerPoint Presentation</vt:lpstr>
      <vt:lpstr>Peer-reviewed publications using ISAIRC COVID-19 Dataset</vt:lpstr>
      <vt:lpstr>IMPACT of ISARIC’s CCP UK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ISARIC COVID-19 Data Platform:  a global patient registry… and so much more</dc:title>
  <dc:creator>Laura Merson</dc:creator>
  <cp:lastModifiedBy>Laura Merson</cp:lastModifiedBy>
  <cp:revision>130</cp:revision>
  <dcterms:created xsi:type="dcterms:W3CDTF">2021-08-31T09:35:58Z</dcterms:created>
  <dcterms:modified xsi:type="dcterms:W3CDTF">2026-09-10T13:00:35Z</dcterms:modified>
</cp:coreProperties>
</file>